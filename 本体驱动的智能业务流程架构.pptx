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3"/>
    <p:sldMasterId id="2147483671" r:id="rId4"/>
  </p:sldMasterIdLst>
  <p:notesMasterIdLst>
    <p:notesMasterId r:id="rId6"/>
  </p:notesMasterIdLst>
  <p:handoutMasterIdLst>
    <p:handoutMasterId r:id="rId30"/>
  </p:handoutMasterIdLst>
  <p:sldIdLst>
    <p:sldId id="278" r:id="rId5"/>
    <p:sldId id="632" r:id="rId7"/>
    <p:sldId id="633" r:id="rId8"/>
    <p:sldId id="634" r:id="rId9"/>
    <p:sldId id="626" r:id="rId10"/>
    <p:sldId id="627" r:id="rId11"/>
    <p:sldId id="628" r:id="rId12"/>
    <p:sldId id="613" r:id="rId13"/>
    <p:sldId id="620" r:id="rId14"/>
    <p:sldId id="637" r:id="rId15"/>
    <p:sldId id="624" r:id="rId16"/>
    <p:sldId id="621" r:id="rId17"/>
    <p:sldId id="635" r:id="rId18"/>
    <p:sldId id="647" r:id="rId19"/>
    <p:sldId id="639" r:id="rId20"/>
    <p:sldId id="640" r:id="rId21"/>
    <p:sldId id="641" r:id="rId22"/>
    <p:sldId id="645" r:id="rId23"/>
    <p:sldId id="646" r:id="rId24"/>
    <p:sldId id="625" r:id="rId25"/>
    <p:sldId id="629" r:id="rId26"/>
    <p:sldId id="630" r:id="rId27"/>
    <p:sldId id="638" r:id="rId28"/>
    <p:sldId id="616" r:id="rId29"/>
  </p:sldIdLst>
  <p:sldSz cx="12195175" cy="6859270"/>
  <p:notesSz cx="6858000" cy="9144000"/>
  <p:custDataLst>
    <p:tags r:id="rId34"/>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1394D3D6-CC5F-471B-8DDC-08E252BCCD14}">
          <p14:sldIdLst>
            <p14:sldId id="278"/>
          </p14:sldIdLst>
        </p14:section>
        <p14:section name="趋势及挑战" id="{E0BD05D7-D997-4A18-B4D1-A59AB93E2BB7}">
          <p14:sldIdLst>
            <p14:sldId id="632"/>
            <p14:sldId id="633"/>
            <p14:sldId id="634"/>
            <p14:sldId id="626"/>
            <p14:sldId id="627"/>
            <p14:sldId id="628"/>
            <p14:sldId id="613"/>
            <p14:sldId id="620"/>
            <p14:sldId id="637"/>
            <p14:sldId id="624"/>
            <p14:sldId id="621"/>
            <p14:sldId id="635"/>
            <p14:sldId id="647"/>
            <p14:sldId id="639"/>
            <p14:sldId id="640"/>
            <p14:sldId id="641"/>
            <p14:sldId id="645"/>
            <p14:sldId id="646"/>
            <p14:sldId id="625"/>
            <p14:sldId id="629"/>
            <p14:sldId id="630"/>
            <p14:sldId id="638"/>
            <p14:sldId id="616"/>
          </p14:sldIdLst>
        </p14:section>
      </p14:sectionLst>
    </p:ext>
    <p:ext uri="{EFAFB233-063F-42B5-8137-9DF3F51BA10A}">
      <p15:sldGuideLst xmlns:p15="http://schemas.microsoft.com/office/powerpoint/2012/main">
        <p15:guide id="1" orient="horz" pos="736" userDrawn="1">
          <p15:clr>
            <a:srgbClr val="A4A3A4"/>
          </p15:clr>
        </p15:guide>
        <p15:guide id="2" orient="horz" pos="119" userDrawn="1">
          <p15:clr>
            <a:srgbClr val="A4A3A4"/>
          </p15:clr>
        </p15:guide>
        <p15:guide id="3" orient="horz" pos="4001" userDrawn="1">
          <p15:clr>
            <a:srgbClr val="A4A3A4"/>
          </p15:clr>
        </p15:guide>
        <p15:guide id="4" orient="horz" pos="992" userDrawn="1">
          <p15:clr>
            <a:srgbClr val="A4A3A4"/>
          </p15:clr>
        </p15:guide>
        <p15:guide id="5" pos="512" userDrawn="1">
          <p15:clr>
            <a:srgbClr val="A4A3A4"/>
          </p15:clr>
        </p15:guide>
        <p15:guide id="6" pos="74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0000"/>
    <a:srgbClr val="1D4ED8"/>
    <a:srgbClr val="FCF0F0"/>
    <a:srgbClr val="FFFFFF"/>
    <a:srgbClr val="FFFF99"/>
    <a:srgbClr val="9ACAF1"/>
    <a:srgbClr val="990000"/>
    <a:srgbClr val="92D050"/>
    <a:srgbClr val="FFC000"/>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E57F032-6C35-45B4-AE73-DC719C47D059}" styleName="表样式 1 12">
    <a:wholeTbl>
      <a:tcTxStyle>
        <a:fontRef idx="none">
          <a:srgbClr val="000000"/>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rgbClr val="FFFFFF"/>
          </a:solidFill>
        </a:fill>
      </a:tcStyle>
    </a:wholeTbl>
    <a:band2H>
      <a:tcStyle>
        <a:tcBdr/>
        <a:fill>
          <a:solidFill>
            <a:schemeClr val="accent1">
              <a:lumMod val="10000"/>
              <a:lumOff val="90000"/>
            </a:schemeClr>
          </a:solidFill>
        </a:fill>
      </a:tcStyle>
    </a:band2H>
    <a:band1V>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71" autoAdjust="0"/>
    <p:restoredTop sz="71914" autoAdjust="0"/>
  </p:normalViewPr>
  <p:slideViewPr>
    <p:cSldViewPr snapToObjects="1" showGuides="1">
      <p:cViewPr varScale="1">
        <p:scale>
          <a:sx n="102" d="100"/>
          <a:sy n="102" d="100"/>
        </p:scale>
        <p:origin x="3008" y="184"/>
      </p:cViewPr>
      <p:guideLst>
        <p:guide orient="horz" pos="736"/>
        <p:guide orient="horz" pos="119"/>
        <p:guide orient="horz" pos="4001"/>
        <p:guide orient="horz" pos="992"/>
        <p:guide pos="512"/>
        <p:guide pos="7414"/>
      </p:guideLst>
    </p:cSldViewPr>
  </p:slideViewPr>
  <p:outlineViewPr>
    <p:cViewPr>
      <p:scale>
        <a:sx n="33" d="100"/>
        <a:sy n="33" d="100"/>
      </p:scale>
      <p:origin x="0" y="-588"/>
    </p:cViewPr>
  </p:outlineViewPr>
  <p:notesTextViewPr>
    <p:cViewPr>
      <p:scale>
        <a:sx n="100" d="100"/>
        <a:sy n="100" d="100"/>
      </p:scale>
      <p:origin x="0" y="0"/>
    </p:cViewPr>
  </p:notesTextViewPr>
  <p:sorterViewPr>
    <p:cViewPr>
      <p:scale>
        <a:sx n="100" d="100"/>
        <a:sy n="100" d="100"/>
      </p:scale>
      <p:origin x="0" y="0"/>
    </p:cViewPr>
  </p:sorterViewPr>
  <p:notesViewPr>
    <p:cSldViewPr snapToObjects="1">
      <p:cViewPr varScale="1">
        <p:scale>
          <a:sx n="89" d="100"/>
          <a:sy n="89" d="100"/>
        </p:scale>
        <p:origin x="381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4" Type="http://schemas.openxmlformats.org/officeDocument/2006/relationships/tags" Target="tags/tag176.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handoutMaster" Target="handoutMasters/handoutMaster1.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E37AC6-CD63-43A6-A8AF-DA6897023C72}"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91B85BE-7573-414C-BEC9-C51CBD1DD4A9}"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823AE0-7C5E-4220-98A9-0B1C42272D4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88A852-0174-4862-BFD2-BA07348D402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整体思路</a:t>
            </a:r>
            <a:r>
              <a:rPr lang="en-US" altLang="zh-CN" dirty="0" smtClean="0"/>
              <a:t>---</a:t>
            </a:r>
            <a:endParaRPr lang="en-US" altLang="zh-CN" dirty="0" smtClean="0"/>
          </a:p>
          <a:p>
            <a:r>
              <a:rPr lang="en-US" altLang="zh-CN" dirty="0" smtClean="0"/>
              <a:t>1-7</a:t>
            </a:r>
            <a:r>
              <a:rPr lang="zh-CN" altLang="en-US" dirty="0" smtClean="0"/>
              <a:t>页</a:t>
            </a:r>
            <a:r>
              <a:rPr lang="zh-CN" altLang="en-US" baseline="0" dirty="0" smtClean="0"/>
              <a:t> 介绍企业业务上云机遇和挑战</a:t>
            </a:r>
            <a:endParaRPr lang="en-US" altLang="zh-CN" baseline="0" dirty="0" smtClean="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8-12</a:t>
            </a:r>
            <a:r>
              <a:rPr lang="zh-CN" altLang="en-US" dirty="0" smtClean="0"/>
              <a:t>页</a:t>
            </a:r>
            <a:r>
              <a:rPr lang="zh-CN" altLang="en-US" baseline="0" dirty="0" smtClean="0"/>
              <a:t> 介绍</a:t>
            </a:r>
            <a:r>
              <a:rPr lang="en-US" altLang="zh-CN" baseline="0" dirty="0" smtClean="0"/>
              <a:t>DeC</a:t>
            </a:r>
            <a:r>
              <a:rPr lang="zh-CN" altLang="en-US" baseline="0" dirty="0" smtClean="0"/>
              <a:t>解决方案</a:t>
            </a:r>
            <a:endParaRPr lang="en-US" altLang="zh-CN" baseline="0" dirty="0" smtClean="0"/>
          </a:p>
          <a:p>
            <a:pPr marL="0" marR="0" lvl="0" indent="0" algn="l" defTabSz="914400" rtl="0" eaLnBrk="1" fontAlgn="auto" latinLnBrk="0" hangingPunct="1">
              <a:lnSpc>
                <a:spcPct val="100000"/>
              </a:lnSpc>
              <a:spcBef>
                <a:spcPts val="0"/>
              </a:spcBef>
              <a:spcAft>
                <a:spcPts val="0"/>
              </a:spcAft>
              <a:buClrTx/>
              <a:buSzTx/>
              <a:buFontTx/>
              <a:buNone/>
              <a:defRPr/>
            </a:pPr>
            <a:r>
              <a:rPr lang="en-US" altLang="zh-CN" baseline="0" dirty="0" smtClean="0"/>
              <a:t>13-21</a:t>
            </a:r>
            <a:r>
              <a:rPr lang="zh-CN" altLang="en-US" baseline="0" dirty="0" smtClean="0"/>
              <a:t>页 竞争力介绍</a:t>
            </a:r>
            <a:endParaRPr lang="en-US" altLang="zh-CN" baseline="0" dirty="0" smtClean="0"/>
          </a:p>
          <a:p>
            <a:pPr marL="0" marR="0" lvl="0" indent="0" algn="l" defTabSz="914400" rtl="0" eaLnBrk="1" fontAlgn="auto" latinLnBrk="0" hangingPunct="1">
              <a:lnSpc>
                <a:spcPct val="100000"/>
              </a:lnSpc>
              <a:spcBef>
                <a:spcPts val="0"/>
              </a:spcBef>
              <a:spcAft>
                <a:spcPts val="0"/>
              </a:spcAft>
              <a:buClrTx/>
              <a:buSzTx/>
              <a:buFontTx/>
              <a:buNone/>
              <a:defRPr/>
            </a:pPr>
            <a:r>
              <a:rPr lang="en-US" altLang="zh-CN" baseline="0" dirty="0" smtClean="0"/>
              <a:t>22-</a:t>
            </a:r>
            <a:r>
              <a:rPr lang="zh-CN" altLang="en-US" baseline="0" dirty="0" smtClean="0"/>
              <a:t>方案和场景</a:t>
            </a:r>
            <a:endParaRPr lang="en-US" altLang="zh-CN" baseline="0" dirty="0" smtClean="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baseline="0" dirty="0" smtClean="0"/>
          </a:p>
          <a:p>
            <a:endParaRPr lang="zh-CN" altLang="en-US" dirty="0"/>
          </a:p>
        </p:txBody>
      </p:sp>
      <p:sp>
        <p:nvSpPr>
          <p:cNvPr id="4" name="灯片编号占位符 3"/>
          <p:cNvSpPr>
            <a:spLocks noGrp="1"/>
          </p:cNvSpPr>
          <p:nvPr>
            <p:ph type="sldNum" sz="quarter" idx="10"/>
          </p:nvPr>
        </p:nvSpPr>
        <p:spPr/>
        <p:txBody>
          <a:bodyPr/>
          <a:lstStyle/>
          <a:p>
            <a:fld id="{2988A852-0174-4862-BFD2-BA07348D402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LLM面临的第一个挑战是准确性和可靠性。我们经常听到的“幻觉”问题，就是模型会一本正经地胡说八道。这在工业领域是致命的。同时，它为了迎合用户可能会“谄媚”，给出不客观的答案。第二个挑战是可解释性，LLM的决策过程就像一个黑箱，我们不知道它为什么会做出某个判断，这在需要严格审计和追责的行业中是无法接受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个挑战是安全性。LLM容易受到“越狱”攻击，被诱导输出有害内容。更危险的是“提示词注入”，攻击者可以通过AI处理的文档来控制它。第四个挑战是对齐问题，也就是模型的目标和我们的真实意图可能不一致。它可能会为了完成任务而走捷径，甚至做出有害的行为。而为了解决这些问题，我们又不得不牺牲模型的部分能力，这就是所谓的“对齐税”。</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defTabSz="914400">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那么，本体是如何解决这些问题的呢？首先，本体提供了一个确定性的知识底座。它所有的知识都来自于企业内部经过验证的数据，从根本上杜绝了幻觉。其次，本体的推理过程是完全透明的，每一步决策都可以被追溯和审计，解决了可解释性问题。最后，通过严格的权限和操作控制，本体为AI建立了安全的边界，有效防止了各种攻击。</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defTabSz="914400">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alantir的本体技术，核心是构建一个可执行的语义层。它由三大要素组成：首先是“数据”，它将现实世界的实体和关系映射成数字对象；其次是“逻辑”，它将业务规则代码化，让AI的决策变得可控；最后是“操作”，它定义了具体的业务动作，实现了从分析到执行的闭环。</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Palantir本体的发展经历了三个重要阶段。从2003年开始，它作为一种理念在政府项目中得到验证。2016年后，随着Foundry平台的推出，它走向商业化，成为企业级的核心技术。而从2023年开始，随着AIP平台的发布，本体与大语言模型深度融合，开启了AI运营企业的新时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那么，本体和我们熟悉的传统技术有什么区别呢？与数据中台相比，它更强调动态执行而非静态查询。与知识图谱相比，它不仅用于分析，更用于操作。与数字孪生相比，它更侧重逻辑和决策，是孪生系统的大脑。可以说，本体是一种更高级、更主动的技术形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让我们总结一下今天的核心洞察。首先，LLM的“创造性”和工业领域的“确定性”需求之间存在天然的矛盾。其次，本体技术通过提供一个稳定的事实基础，完美解决了这个矛盾。最后，结合本体和LLM的神经符号架构，是未来企业AI发展的必然方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好，我们进入第二章——诊断流程。</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很多人对中医诊断的印象就是"把脉"，觉得老中医三个手指搭在手腕上，什么病都能知道。但实际上，经方派的诊断流程远不止把脉这么简单。</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我们来看看，从病人进门到开出处方，中间到底经历了哪些步骤。</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经方派的核心定义，就是以张仲景的《伤寒杂病论》为依据，用六经辨证和方证对应的思路来看病的学派。</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注意一个关键点：经方派不是"守旧派"，它的核心是临床验证——这个方子用了有效，就留下来；没效，就不用。这一点和很多人想象的"中医都是老古董"完全不同。</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从东汉到现在，经方派经历了多次复兴和争论，近现代以胡希恕先生为代表的医家重新阐发了经方的临床价值。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经方的医理可以分成两层。第一层是辨六经——先判断这个病现在处于哪个阶段，是在表、在里，还是半表半里？是寒是热？是虚是实？</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第二层是辨方证——在六经的大框架下，进一步精准匹配到具体的方子。核心原则就是"有是证用是方"，症状组合和方剂对得上就用。</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这和西医"先定病名再开药"的思路完全不同——经方派不关心你叫什么病名，只关心你现在表现出来的症状组合和哪个方子对应。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我们来看一个具体的例子——小柴胡汤证。</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病人来看病，说他一会儿冷一会儿热，胸口和胁肋部胀得很，没胃口，心烦还容易恶心，嘴里发苦、咽喉干、眼睛发眩，脉摸起来弦弦的。</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医生怎么推理呢？第一步辨六经：这些症状组合起来，病在半表半里，属于少阳病。第二步辨寒热虚实：胆热胃逆，本虚标实。第三步抓主证：往来寒热、胸胁苦满、默默不欲饮食、心烦喜呕——小柴胡汤的四大主症全齐了。</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最后开出处方就是小柴胡汤。注意，整个过程不是在判断"你得了什么病"，而是在匹配"你现在的症状组合对应哪个经典方"。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好，我们来小结一下。</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经方诊断难，难在三个层面：第一，症状是主观的，没有化验指标那样的客观标准，全靠病人说和医生判断；第二，方证对应是精密的，差一点都不行，用错了反而加重病情；第三，病情是动态变化的，证在变，人在变，方子也得跟着变，尤其是复合病机更需要灵活处理。</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所以说，经方的"方证对应"看起来像是一套公式——有什么证就用什么方——但实际上，它面对的是一个个活生生的、不断变化的、表达模糊的人。这就是为什么说经方易学难精，也是为什么真正的经方家需要大量临床积累才能练成。</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各位来宾，感谢大家的聆听。</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本次分享到此结束，期待与大家进一步交流。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b="1" dirty="0"/>
          </a:p>
        </p:txBody>
      </p:sp>
      <p:sp>
        <p:nvSpPr>
          <p:cNvPr id="4" name="幻灯片编号占位符 3"/>
          <p:cNvSpPr>
            <a:spLocks noGrp="1"/>
          </p:cNvSpPr>
          <p:nvPr>
            <p:ph type="sldNum" sz="quarter" idx="10"/>
          </p:nvPr>
        </p:nvSpPr>
        <p:spPr/>
        <p:txBody>
          <a:bodyPr/>
          <a:lstStyle/>
          <a:p>
            <a:fld id="{2988A852-0174-4862-BFD2-BA07348D402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emf"/><Relationship Id="rId3" Type="http://schemas.openxmlformats.org/officeDocument/2006/relationships/oleObject" Target="../embeddings/oleObject1.bin"/><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007797" y="1806326"/>
            <a:ext cx="7490717" cy="1325620"/>
          </a:xfrm>
        </p:spPr>
        <p:txBody>
          <a:bodyPr/>
          <a:lstStyle>
            <a:lvl1pPr>
              <a:defRPr sz="4000">
                <a:solidFill>
                  <a:schemeClr val="tx1">
                    <a:lumMod val="95000"/>
                    <a:lumOff val="5000"/>
                  </a:schemeClr>
                </a:solidFill>
                <a:latin typeface="+mj-lt"/>
                <a:ea typeface="+mj-ea"/>
                <a:cs typeface="Arial" panose="020B0604020202020204" pitchFamily="34" charset="0"/>
              </a:defRPr>
            </a:lvl1pPr>
          </a:lstStyle>
          <a:p>
            <a:r>
              <a:rPr lang="en-US" altLang="zh-CN" dirty="0" smtClean="0"/>
              <a:t>Headline in Arial Regular 40 point</a:t>
            </a:r>
            <a:endParaRPr lang="zh-CN" altLang="en-US" dirty="0"/>
          </a:p>
        </p:txBody>
      </p:sp>
      <p:sp>
        <p:nvSpPr>
          <p:cNvPr id="8" name="副标题 2"/>
          <p:cNvSpPr>
            <a:spLocks noGrp="1"/>
          </p:cNvSpPr>
          <p:nvPr>
            <p:ph type="subTitle" idx="11" hasCustomPrompt="1"/>
          </p:nvPr>
        </p:nvSpPr>
        <p:spPr>
          <a:xfrm>
            <a:off x="1007796" y="3069350"/>
            <a:ext cx="4153688" cy="461665"/>
          </a:xfrm>
          <a:prstGeom prst="rect">
            <a:avLst/>
          </a:prstGeom>
        </p:spPr>
        <p:txBody>
          <a:bodyPr/>
          <a:lstStyle>
            <a:lvl1pPr marL="342900" marR="0" indent="-342900" algn="l" defTabSz="914400" rtl="0" eaLnBrk="1" fontAlgn="base" latinLnBrk="0" hangingPunct="1">
              <a:lnSpc>
                <a:spcPct val="100000"/>
              </a:lnSpc>
              <a:spcBef>
                <a:spcPct val="20000"/>
              </a:spcBef>
              <a:spcAft>
                <a:spcPct val="0"/>
              </a:spcAft>
              <a:buClr>
                <a:srgbClr val="990000"/>
              </a:buClr>
              <a:buSzTx/>
              <a:buFontTx/>
              <a:buNone/>
              <a:defRPr>
                <a:solidFill>
                  <a:schemeClr val="tx1">
                    <a:lumMod val="95000"/>
                    <a:lumOff val="5000"/>
                  </a:schemeClr>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9435" indent="0" algn="ctr">
              <a:buNone/>
              <a:defRPr>
                <a:solidFill>
                  <a:schemeClr val="tx1">
                    <a:tint val="75000"/>
                  </a:schemeClr>
                </a:solidFill>
              </a:defRPr>
            </a:lvl5pPr>
            <a:lvl6pPr marL="2286635" indent="0" algn="ctr">
              <a:buNone/>
              <a:defRPr>
                <a:solidFill>
                  <a:schemeClr val="tx1">
                    <a:tint val="75000"/>
                  </a:schemeClr>
                </a:solidFill>
              </a:defRPr>
            </a:lvl6pPr>
            <a:lvl7pPr marL="2743835" indent="0" algn="ctr">
              <a:buNone/>
              <a:defRPr>
                <a:solidFill>
                  <a:schemeClr val="tx1">
                    <a:tint val="75000"/>
                  </a:schemeClr>
                </a:solidFill>
              </a:defRPr>
            </a:lvl7pPr>
            <a:lvl8pPr marL="3201035" indent="0" algn="ctr">
              <a:buNone/>
              <a:defRPr>
                <a:solidFill>
                  <a:schemeClr val="tx1">
                    <a:tint val="75000"/>
                  </a:schemeClr>
                </a:solidFill>
              </a:defRPr>
            </a:lvl8pPr>
            <a:lvl9pPr marL="3658235" indent="0" algn="ctr">
              <a:buNone/>
              <a:defRPr>
                <a:solidFill>
                  <a:schemeClr val="tx1">
                    <a:tint val="75000"/>
                  </a:schemeClr>
                </a:solidFill>
              </a:defRPr>
            </a:lvl9pPr>
          </a:lstStyle>
          <a:p>
            <a:pPr marL="342900" marR="0" lvl="0" indent="-342900" algn="l" defTabSz="914400" rtl="0" eaLnBrk="1" fontAlgn="base" latinLnBrk="0" hangingPunct="1">
              <a:lnSpc>
                <a:spcPct val="100000"/>
              </a:lnSpc>
              <a:spcBef>
                <a:spcPct val="20000"/>
              </a:spcBef>
              <a:spcAft>
                <a:spcPct val="0"/>
              </a:spcAft>
              <a:buClr>
                <a:srgbClr val="990000"/>
              </a:buClr>
              <a:buSzTx/>
              <a:buFontTx/>
              <a:buNone/>
              <a:defRPr/>
            </a:pPr>
            <a:r>
              <a:rPr lang="en-US" altLang="zh-CN" dirty="0" smtClean="0"/>
              <a:t>Department name</a:t>
            </a:r>
            <a:endParaRPr lang="zh-CN" altLang="en-US" dirty="0" smtClean="0"/>
          </a:p>
        </p:txBody>
      </p:sp>
    </p:spTree>
  </p:cSld>
  <p:clrMapOvr>
    <a:masterClrMapping/>
  </p:clrMapOvr>
  <p:transition advClick="0" advTm="8000">
    <p:fade thruBlk="1"/>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35268" y="1"/>
            <a:ext cx="10179584" cy="871739"/>
          </a:xfrm>
          <a:prstGeom prst="rect">
            <a:avLst/>
          </a:prstGeom>
        </p:spPr>
        <p:txBody>
          <a:bodyPr anchor="ctr">
            <a:normAutofit/>
          </a:bodyPr>
          <a:lstStyle>
            <a:lvl1pPr algn="l" defTabSz="1218565" rtl="0" fontAlgn="auto">
              <a:spcBef>
                <a:spcPct val="0"/>
              </a:spcBef>
              <a:spcAft>
                <a:spcPts val="0"/>
              </a:spcAft>
              <a:defRPr lang="zh-CN" altLang="en-US" sz="2800" b="1" kern="1200" dirty="0">
                <a:solidFill>
                  <a:schemeClr val="tx1"/>
                </a:solidFill>
                <a:latin typeface="+mj-ea"/>
                <a:ea typeface="+mj-ea"/>
                <a:cs typeface="+mn-cs"/>
              </a:defRPr>
            </a:lvl1pPr>
          </a:lstStyle>
          <a:p>
            <a:r>
              <a:rPr lang="zh-CN" altLang="en-US" dirty="0" smtClean="0"/>
              <a:t>单击此处编辑母版标题样式</a:t>
            </a:r>
            <a:endParaRPr lang="zh-CN" altLang="en-US" dirty="0"/>
          </a:p>
        </p:txBody>
      </p:sp>
    </p:spTree>
  </p:cSld>
  <p:clrMapOvr>
    <a:masterClrMapping/>
  </p:clrMapOvr>
  <p:transition advClick="0" advTm="8000">
    <p:fade thruBlk="1"/>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transition advClick="0" advTm="8000">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17588" y="165139"/>
            <a:ext cx="11160000" cy="888392"/>
          </a:xfrm>
        </p:spPr>
        <p:txBody>
          <a:bodyPr>
            <a:noAutofit/>
          </a:bodyPr>
          <a:lstStyle>
            <a:lvl1pPr marL="0" marR="0" indent="0" algn="l" defTabSz="1219200" rtl="0" eaLnBrk="1" fontAlgn="auto" latinLnBrk="0" hangingPunct="1">
              <a:lnSpc>
                <a:spcPct val="100000"/>
              </a:lnSpc>
              <a:spcBef>
                <a:spcPct val="0"/>
              </a:spcBef>
              <a:spcAft>
                <a:spcPts val="0"/>
              </a:spcAft>
              <a:buClrTx/>
              <a:buSzTx/>
              <a:buFontTx/>
              <a:buNone/>
              <a:defRPr sz="3600" b="0">
                <a:solidFill>
                  <a:schemeClr val="tx1">
                    <a:lumMod val="65000"/>
                    <a:lumOff val="35000"/>
                  </a:schemeClr>
                </a:solidFill>
              </a:defRPr>
            </a:lvl1pPr>
          </a:lstStyle>
          <a:p>
            <a:r>
              <a:rPr lang="en-US" altLang="zh-CN" dirty="0" smtClean="0"/>
              <a:t>Headline in Arial Regular 36 point</a:t>
            </a:r>
            <a:endParaRPr lang="en-US" altLang="zh-CN" dirty="0" smtClean="0"/>
          </a:p>
        </p:txBody>
      </p:sp>
      <p:sp>
        <p:nvSpPr>
          <p:cNvPr id="3" name="副标题 2"/>
          <p:cNvSpPr>
            <a:spLocks noGrp="1"/>
          </p:cNvSpPr>
          <p:nvPr>
            <p:ph type="subTitle" idx="1" hasCustomPrompt="1"/>
          </p:nvPr>
        </p:nvSpPr>
        <p:spPr>
          <a:xfrm>
            <a:off x="517588" y="1269555"/>
            <a:ext cx="11160000" cy="5032758"/>
          </a:xfrm>
        </p:spPr>
        <p:txBody>
          <a:bodyPr>
            <a:normAutofit/>
          </a:bodyPr>
          <a:lstStyle>
            <a:lvl1pPr marL="0" marR="0" indent="0" algn="l" defTabSz="1219200" rtl="0" eaLnBrk="1" fontAlgn="auto" latinLnBrk="0" hangingPunct="1">
              <a:lnSpc>
                <a:spcPct val="100000"/>
              </a:lnSpc>
              <a:spcBef>
                <a:spcPct val="20000"/>
              </a:spcBef>
              <a:spcAft>
                <a:spcPts val="0"/>
              </a:spcAft>
              <a:buClrTx/>
              <a:buSzTx/>
              <a:buFont typeface="Arial" panose="020B0604020202020204" pitchFamily="34" charset="0"/>
              <a:buNone/>
              <a:defRPr sz="2400" baseline="0">
                <a:solidFill>
                  <a:schemeClr val="tx1">
                    <a:lumMod val="65000"/>
                    <a:lumOff val="3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9435" indent="0" algn="ctr">
              <a:buNone/>
              <a:defRPr>
                <a:solidFill>
                  <a:schemeClr val="tx1">
                    <a:tint val="75000"/>
                  </a:schemeClr>
                </a:solidFill>
              </a:defRPr>
            </a:lvl4pPr>
            <a:lvl5pPr marL="2439035" indent="0" algn="ctr">
              <a:buNone/>
              <a:defRPr>
                <a:solidFill>
                  <a:schemeClr val="tx1">
                    <a:tint val="75000"/>
                  </a:schemeClr>
                </a:solidFill>
              </a:defRPr>
            </a:lvl5pPr>
            <a:lvl6pPr marL="3048635" indent="0" algn="ctr">
              <a:buNone/>
              <a:defRPr>
                <a:solidFill>
                  <a:schemeClr val="tx1">
                    <a:tint val="75000"/>
                  </a:schemeClr>
                </a:solidFill>
              </a:defRPr>
            </a:lvl6pPr>
            <a:lvl7pPr marL="3658235" indent="0" algn="ctr">
              <a:buNone/>
              <a:defRPr>
                <a:solidFill>
                  <a:schemeClr val="tx1">
                    <a:tint val="75000"/>
                  </a:schemeClr>
                </a:solidFill>
              </a:defRPr>
            </a:lvl7pPr>
            <a:lvl8pPr marL="4267835" indent="0" algn="ctr">
              <a:buNone/>
              <a:defRPr>
                <a:solidFill>
                  <a:schemeClr val="tx1">
                    <a:tint val="75000"/>
                  </a:schemeClr>
                </a:solidFill>
              </a:defRPr>
            </a:lvl8pPr>
            <a:lvl9pPr marL="4878070" indent="0" algn="ctr">
              <a:buNone/>
              <a:defRPr>
                <a:solidFill>
                  <a:schemeClr val="tx1">
                    <a:tint val="75000"/>
                  </a:schemeClr>
                </a:solidFill>
              </a:defRPr>
            </a:lvl9pPr>
          </a:lstStyle>
          <a:p>
            <a:r>
              <a:rPr lang="en-US" altLang="zh-CN" dirty="0" smtClean="0"/>
              <a:t>Copy text in Arial Regular 20 - 32 point </a:t>
            </a:r>
            <a:endParaRPr lang="en-US" altLang="zh-CN" dirty="0" smtClean="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35268" y="1"/>
            <a:ext cx="10179584" cy="871739"/>
          </a:xfrm>
          <a:prstGeom prst="rect">
            <a:avLst/>
          </a:prstGeom>
        </p:spPr>
        <p:txBody>
          <a:bodyPr anchor="ctr">
            <a:normAutofit/>
          </a:bodyPr>
          <a:lstStyle>
            <a:lvl1pPr algn="l" defTabSz="1218565" rtl="0" fontAlgn="auto">
              <a:spcBef>
                <a:spcPct val="0"/>
              </a:spcBef>
              <a:spcAft>
                <a:spcPts val="0"/>
              </a:spcAft>
              <a:defRPr lang="zh-CN" altLang="en-US" sz="2800" b="1" kern="1200" dirty="0">
                <a:solidFill>
                  <a:srgbClr val="C00000"/>
                </a:solidFill>
                <a:latin typeface="+mj-ea"/>
                <a:ea typeface="+mj-ea"/>
                <a:cs typeface="+mn-cs"/>
              </a:defRPr>
            </a:lvl1pPr>
          </a:lstStyle>
          <a:p>
            <a:r>
              <a:rPr lang="zh-CN" altLang="en-US" dirty="0" smtClean="0"/>
              <a:t>单击此处编辑母版标题样式</a:t>
            </a:r>
            <a:endParaRPr lang="zh-CN" alt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2081" y="361182"/>
            <a:ext cx="10330229" cy="395818"/>
          </a:xfrm>
          <a:prstGeom prst="rect">
            <a:avLst/>
          </a:prstGeom>
          <a:noFill/>
          <a:ln>
            <a:noFill/>
          </a:ln>
          <a:effectLst/>
        </p:spPr>
        <p:txBody>
          <a:bodyPr lIns="35993" tIns="35993" rIns="35993" bIns="35993" anchor="t">
            <a:spAutoFit/>
          </a:bodyPr>
          <a:lstStyle>
            <a:lvl1pPr>
              <a:defRPr lang="zh-CN" altLang="en-US" sz="2100" b="0" kern="1200">
                <a:latin typeface="FrutigerNext LT Medium" pitchFamily="34" charset="0"/>
              </a:defRPr>
            </a:lvl1pPr>
          </a:lstStyle>
          <a:p>
            <a:pPr lvl="0"/>
            <a:r>
              <a:rPr lang="zh-CN" altLang="en-US" dirty="0" smtClean="0"/>
              <a:t>单击此处编辑母版标题样式</a:t>
            </a:r>
            <a:endParaRPr lang="zh-CN" altLang="en-US" dirty="0"/>
          </a:p>
        </p:txBody>
      </p:sp>
      <p:sp>
        <p:nvSpPr>
          <p:cNvPr id="3" name="Rectangle 10"/>
          <p:cNvSpPr>
            <a:spLocks noGrp="1" noChangeArrowheads="1"/>
          </p:cNvSpPr>
          <p:nvPr>
            <p:ph type="dt" sz="half" idx="10"/>
          </p:nvPr>
        </p:nvSpPr>
        <p:spPr>
          <a:xfrm>
            <a:off x="8483602" y="6491205"/>
            <a:ext cx="2797175" cy="455718"/>
          </a:xfrm>
          <a:prstGeom prst="rect">
            <a:avLst/>
          </a:prstGeom>
        </p:spPr>
        <p:txBody>
          <a:bodyPr/>
          <a:lstStyle>
            <a:lvl1pPr fontAlgn="auto">
              <a:spcBef>
                <a:spcPts val="0"/>
              </a:spcBef>
              <a:spcAft>
                <a:spcPts val="0"/>
              </a:spcAft>
              <a:defRPr>
                <a:latin typeface="+mn-lt"/>
                <a:ea typeface="+mn-ea"/>
              </a:defRPr>
            </a:lvl1pPr>
          </a:lstStyle>
          <a:p>
            <a:pPr defTabSz="914400">
              <a:defRPr/>
            </a:pPr>
            <a:r>
              <a:rPr lang="de-DE" altLang="zh-CN" sz="1800" smtClean="0">
                <a:solidFill>
                  <a:prstClr val="black"/>
                </a:solidFill>
              </a:rPr>
              <a:t>Page </a:t>
            </a:r>
            <a:fld id="{4D68E431-D50B-4967-A898-D249B3BA2823}" type="slidenum">
              <a:rPr lang="de-DE" altLang="zh-CN" sz="1800" smtClean="0">
                <a:solidFill>
                  <a:prstClr val="black"/>
                </a:solidFill>
              </a:rPr>
            </a:fld>
            <a:endParaRPr lang="en-GB" altLang="zh-CN" sz="1800">
              <a:solidFill>
                <a:prstClr val="black"/>
              </a:solidFill>
            </a:endParaRPr>
          </a:p>
        </p:txBody>
      </p:sp>
    </p:spTree>
  </p:cSld>
  <p:clrMapOvr>
    <a:masterClrMapping/>
  </p:clrMapOvr>
  <p:transition advClick="0"/>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graphicFrame>
        <p:nvGraphicFramePr>
          <p:cNvPr id="2" name="对象 1" hidden="1"/>
          <p:cNvGraphicFramePr>
            <a:graphicFrameLocks noChangeAspect="1"/>
          </p:cNvGraphicFramePr>
          <p:nvPr userDrawn="1">
            <p:custDataLst>
              <p:tags r:id="rId2"/>
            </p:custDataLst>
          </p:nvPr>
        </p:nvGraphicFramePr>
        <p:xfrm>
          <a:off x="2117" y="2120"/>
          <a:ext cx="2117" cy="2116"/>
        </p:xfrm>
        <a:graphic>
          <a:graphicData uri="http://schemas.openxmlformats.org/presentationml/2006/ole">
            <mc:AlternateContent xmlns:mc="http://schemas.openxmlformats.org/markup-compatibility/2006">
              <mc:Choice xmlns:v="urn:schemas-microsoft-com:vml" Requires="v">
                <p:oleObj spid="_x0000_s1391" name="think-cell Slide" r:id="rId3" imgW="12700" imgH="12700" progId="">
                  <p:embed/>
                </p:oleObj>
              </mc:Choice>
              <mc:Fallback>
                <p:oleObj name="think-cell Slide" r:id="rId3" imgW="12700" imgH="12700" progId="">
                  <p:embed/>
                  <p:pic>
                    <p:nvPicPr>
                      <p:cNvPr id="0" name="Picture 4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7" y="2120"/>
                        <a:ext cx="2117"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1" name="图片 10"/>
          <p:cNvPicPr>
            <a:picLocks noChangeAspect="1"/>
          </p:cNvPicPr>
          <p:nvPr userDrawn="1"/>
        </p:nvPicPr>
        <p:blipFill rotWithShape="1">
          <a:blip r:embed="rId5" cstate="email">
            <a:extLst>
              <a:ext uri="{28A0092B-C50C-407E-A947-70E740481C1C}">
                <a14:useLocalDpi xmlns:a14="http://schemas.microsoft.com/office/drawing/2010/main" val="0"/>
              </a:ext>
            </a:extLst>
          </a:blip>
          <a:srcRect/>
          <a:stretch>
            <a:fillRect/>
          </a:stretch>
        </p:blipFill>
        <p:spPr>
          <a:xfrm>
            <a:off x="11172350" y="6509886"/>
            <a:ext cx="398835" cy="316275"/>
          </a:xfrm>
          <a:prstGeom prst="rect">
            <a:avLst/>
          </a:prstGeom>
        </p:spPr>
      </p:pic>
      <p:cxnSp>
        <p:nvCxnSpPr>
          <p:cNvPr id="8" name="直接连接符 7"/>
          <p:cNvCxnSpPr/>
          <p:nvPr userDrawn="1"/>
        </p:nvCxnSpPr>
        <p:spPr>
          <a:xfrm>
            <a:off x="0" y="6491408"/>
            <a:ext cx="12195175" cy="0"/>
          </a:xfrm>
          <a:prstGeom prst="line">
            <a:avLst/>
          </a:prstGeom>
          <a:ln w="9525">
            <a:solidFill>
              <a:srgbClr val="DEDEDE"/>
            </a:solidFill>
          </a:ln>
        </p:spPr>
        <p:style>
          <a:lnRef idx="1">
            <a:schemeClr val="accent1"/>
          </a:lnRef>
          <a:fillRef idx="0">
            <a:schemeClr val="accent1"/>
          </a:fillRef>
          <a:effectRef idx="0">
            <a:schemeClr val="accent1"/>
          </a:effectRef>
          <a:fontRef idx="minor">
            <a:schemeClr val="tx1"/>
          </a:fontRef>
        </p:style>
      </p:cxnSp>
      <p:pic>
        <p:nvPicPr>
          <p:cNvPr id="9" name="Picture 2"/>
          <p:cNvPicPr>
            <a:picLocks noChangeAspect="1" noChangeArrowheads="1"/>
          </p:cNvPicPr>
          <p:nvPr userDrawn="1"/>
        </p:nvPicPr>
        <p:blipFill rotWithShape="1">
          <a:blip r:embed="rId6" cstate="email">
            <a:extLst>
              <a:ext uri="{28A0092B-C50C-407E-A947-70E740481C1C}">
                <a14:useLocalDpi xmlns:a14="http://schemas.microsoft.com/office/drawing/2010/main" val="0"/>
              </a:ext>
            </a:extLst>
          </a:blip>
          <a:srcRect l="2832" t="12923" r="3105" b="23642"/>
          <a:stretch>
            <a:fillRect/>
          </a:stretch>
        </p:blipFill>
        <p:spPr bwMode="auto">
          <a:xfrm>
            <a:off x="4557866" y="6517932"/>
            <a:ext cx="2537486" cy="317574"/>
          </a:xfrm>
          <a:prstGeom prst="rect">
            <a:avLst/>
          </a:prstGeom>
          <a:noFill/>
          <a:ln>
            <a:noFill/>
          </a:ln>
          <a:effectLst/>
        </p:spPr>
      </p:pic>
      <p:sp>
        <p:nvSpPr>
          <p:cNvPr id="6" name="标题 1"/>
          <p:cNvSpPr txBox="1"/>
          <p:nvPr userDrawn="1"/>
        </p:nvSpPr>
        <p:spPr>
          <a:xfrm>
            <a:off x="621482" y="194221"/>
            <a:ext cx="10246904" cy="726442"/>
          </a:xfrm>
          <a:prstGeom prst="rect">
            <a:avLst/>
          </a:prstGeom>
        </p:spPr>
        <p:txBody>
          <a:bodyPr lIns="121934" tIns="60966" rIns="121934" bIns="60966" anchor="ctr">
            <a:noAutofit/>
          </a:bodyPr>
          <a:lstStyle>
            <a:lvl1pPr marL="0" marR="0" indent="0" algn="l" defTabSz="950595" rtl="0" eaLnBrk="1" fontAlgn="auto" latinLnBrk="0" hangingPunct="1">
              <a:lnSpc>
                <a:spcPct val="100000"/>
              </a:lnSpc>
              <a:spcBef>
                <a:spcPct val="0"/>
              </a:spcBef>
              <a:spcAft>
                <a:spcPts val="0"/>
              </a:spcAft>
              <a:buClrTx/>
              <a:buSzTx/>
              <a:buFontTx/>
              <a:buNone/>
              <a:defRPr sz="3700" b="1" kern="1200">
                <a:solidFill>
                  <a:schemeClr val="bg1"/>
                </a:solidFill>
                <a:latin typeface="+mj-lt"/>
                <a:ea typeface="微软雅黑" panose="020B0503020204020204" pitchFamily="34" charset="-122"/>
                <a:cs typeface="+mj-cs"/>
              </a:defRPr>
            </a:lvl1pPr>
          </a:lstStyle>
          <a:p>
            <a:endParaRPr lang="en-US" altLang="zh-CN" sz="3200" dirty="0" smtClean="0">
              <a:solidFill>
                <a:srgbClr val="D4000A"/>
              </a:solidFill>
              <a:latin typeface="微软雅黑" panose="020B0503020204020204" pitchFamily="34" charset="-122"/>
              <a:cs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007796" y="449387"/>
            <a:ext cx="10179584" cy="871739"/>
          </a:xfrm>
          <a:prstGeom prst="rect">
            <a:avLst/>
          </a:prstGeom>
        </p:spPr>
        <p:txBody>
          <a:bodyPr/>
          <a:lstStyle/>
          <a:p>
            <a:r>
              <a:rPr lang="en-US" smtClean="0"/>
              <a:t>Click to edit Master title style</a:t>
            </a:r>
            <a:endParaRPr lang="en-US"/>
          </a:p>
        </p:txBody>
      </p:sp>
      <p:sp>
        <p:nvSpPr>
          <p:cNvPr id="4" name="Content Placeholder 3"/>
          <p:cNvSpPr>
            <a:spLocks noGrp="1"/>
          </p:cNvSpPr>
          <p:nvPr>
            <p:ph sz="quarter" idx="10"/>
          </p:nvPr>
        </p:nvSpPr>
        <p:spPr>
          <a:xfrm>
            <a:off x="1019050" y="1628761"/>
            <a:ext cx="10157076" cy="4585806"/>
          </a:xfrm>
          <a:prstGeom prst="rect">
            <a:avLst/>
          </a:prstGeom>
        </p:spPr>
        <p:txBody>
          <a:bodyPr/>
          <a:lstStyle>
            <a:lvl1pPr>
              <a:defRPr sz="3200"/>
            </a:lvl1pPr>
            <a:lvl2pPr>
              <a:defRPr sz="2665"/>
            </a:lvl2p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US" dirty="0"/>
          </a:p>
        </p:txBody>
      </p:sp>
    </p:spTree>
  </p:cSld>
  <p:clrMapOvr>
    <a:masterClrMapping/>
  </p:clrMapOvr>
  <p:transition advClick="0" advTm="8000">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8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36915" y="86420"/>
            <a:ext cx="11311745" cy="873802"/>
          </a:xfrm>
          <a:prstGeom prst="rect">
            <a:avLst/>
          </a:prstGeom>
        </p:spPr>
        <p:txBody>
          <a:bodyPr lIns="91434" tIns="45717" rIns="91434" bIns="45717"/>
          <a:lstStyle>
            <a:lvl1pPr>
              <a:defRPr b="0">
                <a:latin typeface="微软雅黑" panose="020B0503020204020204" pitchFamily="34" charset="-122"/>
                <a:ea typeface="微软雅黑" panose="020B0503020204020204" pitchFamily="34" charset="-122"/>
              </a:defRPr>
            </a:lvl1pPr>
          </a:lstStyle>
          <a:p>
            <a:r>
              <a:rPr lang="en-US" dirty="0" smtClean="0"/>
              <a:t>Click to edit Master title style</a:t>
            </a:r>
            <a:endParaRPr lang="en-US" dirty="0"/>
          </a:p>
        </p:txBody>
      </p:sp>
    </p:spTree>
  </p:cSld>
  <p:clrMapOvr>
    <a:masterClrMapping/>
  </p:clrMapOvr>
  <p:transition advClick="0" advTm="8000">
    <p:fade thruBlk="1"/>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9" name="标题 1"/>
          <p:cNvSpPr>
            <a:spLocks noGrp="1"/>
          </p:cNvSpPr>
          <p:nvPr>
            <p:ph type="title"/>
          </p:nvPr>
        </p:nvSpPr>
        <p:spPr>
          <a:xfrm>
            <a:off x="335453" y="71461"/>
            <a:ext cx="11524279" cy="636898"/>
          </a:xfrm>
          <a:prstGeom prst="rect">
            <a:avLst/>
          </a:prstGeom>
        </p:spPr>
        <p:txBody>
          <a:bodyPr lIns="68557" tIns="34279" rIns="68557" bIns="34279" anchor="ctr"/>
          <a:lstStyle>
            <a:lvl1pPr>
              <a:defRPr sz="3200" b="1">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zh-CN" altLang="en-US"/>
          </a:p>
        </p:txBody>
      </p:sp>
      <p:sp>
        <p:nvSpPr>
          <p:cNvPr id="10" name="内容占位符 2"/>
          <p:cNvSpPr>
            <a:spLocks noGrp="1"/>
          </p:cNvSpPr>
          <p:nvPr>
            <p:ph idx="1"/>
          </p:nvPr>
        </p:nvSpPr>
        <p:spPr>
          <a:xfrm>
            <a:off x="335450" y="836907"/>
            <a:ext cx="11524280" cy="5569908"/>
          </a:xfrm>
          <a:prstGeom prst="rect">
            <a:avLst/>
          </a:prstGeom>
        </p:spPr>
        <p:txBody>
          <a:bodyPr lIns="68557" tIns="34279" rIns="68557" bIns="34279"/>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Click="0" advTm="8000"/>
    </mc:Choice>
    <mc:Fallback>
      <p:transition advClick="0" advTm="8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007796" y="164676"/>
            <a:ext cx="10179584" cy="871739"/>
          </a:xfrm>
          <a:prstGeom prst="rect">
            <a:avLst/>
          </a:prstGeom>
        </p:spPr>
        <p:txBody>
          <a:bodyPr lIns="91391" tIns="45697" rIns="91391" bIns="45697"/>
          <a:lstStyle>
            <a:lvl1pPr>
              <a:defRPr sz="3200">
                <a:latin typeface="微软雅黑" panose="020B0503020204020204" pitchFamily="34" charset="-122"/>
                <a:ea typeface="微软雅黑" panose="020B0503020204020204" pitchFamily="34" charset="-122"/>
              </a:defRPr>
            </a:lvl1pPr>
          </a:lstStyle>
          <a:p>
            <a:r>
              <a:rPr lang="en-US" dirty="0" smtClean="0"/>
              <a:t>Click to edit Master title style</a:t>
            </a:r>
            <a:endParaRPr lang="en-US" dirty="0"/>
          </a:p>
        </p:txBody>
      </p:sp>
    </p:spTree>
  </p:cSld>
  <p:clrMapOvr>
    <a:masterClrMapping/>
  </p:clrMapOvr>
  <p:transition>
    <p:fade thruBlk="1"/>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0" y="19915"/>
            <a:ext cx="10179584" cy="871739"/>
          </a:xfrm>
          <a:prstGeom prst="rect">
            <a:avLst/>
          </a:prstGeom>
        </p:spPr>
        <p:txBody>
          <a:body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1007796" y="1629160"/>
            <a:ext cx="10179584" cy="4195146"/>
          </a:xfrm>
          <a:prstGeom prst="rect">
            <a:avLst/>
          </a:prstGeo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transition advClick="0" advTm="800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581181" y="240513"/>
            <a:ext cx="10910738" cy="1080250"/>
          </a:xfrm>
          <a:prstGeom prst="rect">
            <a:avLst/>
          </a:prstGeom>
          <a:noFill/>
          <a:ln w="9525" algn="ctr">
            <a:noFill/>
            <a:miter lim="800000"/>
          </a:ln>
          <a:effectLst/>
        </p:spPr>
        <p:txBody>
          <a:bodyPr vert="horz" wrap="square" lIns="68552" tIns="34276" rIns="68552" bIns="34276" numCol="1" anchor="ctr" anchorCtr="0" compatLnSpc="1"/>
          <a:lstStyle>
            <a:lvl1pPr marL="0" indent="0">
              <a:buFont typeface="Arial" panose="020B0604020202020204" pitchFamily="34" charset="0"/>
              <a:buNone/>
              <a:defRPr lang="zh-CN" altLang="en-US" dirty="0">
                <a:latin typeface="+mj-lt"/>
                <a:ea typeface="黑体" panose="02010609060101010101" pitchFamily="49" charset="-122"/>
              </a:defRPr>
            </a:lvl1pPr>
          </a:lstStyle>
          <a:p>
            <a:pPr lvl="0"/>
            <a:r>
              <a:rPr lang="zh-CN" altLang="en-US" smtClean="0"/>
              <a:t>单击此处编辑母版标题样式</a:t>
            </a:r>
            <a:endParaRPr lang="zh-CN" altLang="en-US" dirty="0"/>
          </a:p>
        </p:txBody>
      </p:sp>
    </p:spTree>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79501" y="332734"/>
            <a:ext cx="10518338" cy="471696"/>
          </a:xfrm>
          <a:prstGeom prst="rect">
            <a:avLst/>
          </a:prstGeom>
        </p:spPr>
        <p:txBody>
          <a:bodyPr/>
          <a:lstStyle>
            <a:lvl1pPr>
              <a:defRPr sz="2800">
                <a:solidFill>
                  <a:schemeClr val="tx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Tree>
  </p:cSld>
  <p:clrMapOvr>
    <a:masterClrMapping/>
  </p:clrMapOvr>
  <p:transition advClick="0" advTm="8000">
    <p:fade thruBlk="1"/>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两栏内容">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9"/>
            <a:ext cx="12195175" cy="6858731"/>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4" name="标题 1"/>
          <p:cNvSpPr>
            <a:spLocks noGrp="1"/>
          </p:cNvSpPr>
          <p:nvPr>
            <p:ph type="ctrTitle" hasCustomPrompt="1"/>
          </p:nvPr>
        </p:nvSpPr>
        <p:spPr>
          <a:xfrm>
            <a:off x="913014" y="1154757"/>
            <a:ext cx="9993315" cy="779055"/>
          </a:xfrm>
        </p:spPr>
        <p:txBody>
          <a:bodyPr>
            <a:normAutofit/>
          </a:bodyPr>
          <a:lstStyle>
            <a:lvl1pPr marL="0" marR="0" indent="0" algn="l" defTabSz="1330960" rtl="0" eaLnBrk="1" fontAlgn="auto" latinLnBrk="0" hangingPunct="1">
              <a:lnSpc>
                <a:spcPct val="100000"/>
              </a:lnSpc>
              <a:spcBef>
                <a:spcPct val="0"/>
              </a:spcBef>
              <a:spcAft>
                <a:spcPts val="0"/>
              </a:spcAft>
              <a:buClrTx/>
              <a:buSzTx/>
              <a:buFontTx/>
              <a:buNone/>
              <a:defRPr sz="3900" b="0" baseline="0">
                <a:solidFill>
                  <a:schemeClr val="bg1"/>
                </a:solidFill>
                <a:latin typeface="+mj-lt"/>
              </a:defRPr>
            </a:lvl1pPr>
          </a:lstStyle>
          <a:p>
            <a:r>
              <a:rPr lang="en-US" altLang="zh-CN" dirty="0" smtClean="0"/>
              <a:t>Slide Title</a:t>
            </a:r>
            <a:endParaRPr lang="en-US" altLang="zh-CN" dirty="0" smtClean="0"/>
          </a:p>
        </p:txBody>
      </p:sp>
      <p:sp>
        <p:nvSpPr>
          <p:cNvPr id="5" name="副标题 2"/>
          <p:cNvSpPr>
            <a:spLocks noGrp="1"/>
          </p:cNvSpPr>
          <p:nvPr>
            <p:ph type="subTitle" idx="1" hasCustomPrompt="1"/>
          </p:nvPr>
        </p:nvSpPr>
        <p:spPr>
          <a:xfrm>
            <a:off x="913014" y="2133651"/>
            <a:ext cx="9993315" cy="4097592"/>
          </a:xfrm>
        </p:spPr>
        <p:txBody>
          <a:bodyPr>
            <a:normAutofit/>
          </a:bodyPr>
          <a:lstStyle>
            <a:lvl1pPr marL="0" marR="0" indent="0" algn="l" defTabSz="1330960" rtl="0" eaLnBrk="1" fontAlgn="auto" latinLnBrk="0" hangingPunct="1">
              <a:lnSpc>
                <a:spcPct val="100000"/>
              </a:lnSpc>
              <a:spcBef>
                <a:spcPct val="20000"/>
              </a:spcBef>
              <a:spcAft>
                <a:spcPts val="0"/>
              </a:spcAft>
              <a:buClrTx/>
              <a:buSzTx/>
              <a:buFont typeface="Arial" panose="020B0604020202020204" pitchFamily="34" charset="0"/>
              <a:buNone/>
              <a:defRPr sz="2600" baseline="0">
                <a:solidFill>
                  <a:schemeClr val="bg1"/>
                </a:solidFill>
                <a:latin typeface="+mn-lt"/>
              </a:defRPr>
            </a:lvl1pPr>
            <a:lvl2pPr marL="665480" indent="0" algn="ctr">
              <a:buNone/>
              <a:defRPr>
                <a:solidFill>
                  <a:schemeClr val="tx1">
                    <a:tint val="75000"/>
                  </a:schemeClr>
                </a:solidFill>
              </a:defRPr>
            </a:lvl2pPr>
            <a:lvl3pPr marL="1330960" indent="0" algn="ctr">
              <a:buNone/>
              <a:defRPr>
                <a:solidFill>
                  <a:schemeClr val="tx1">
                    <a:tint val="75000"/>
                  </a:schemeClr>
                </a:solidFill>
              </a:defRPr>
            </a:lvl3pPr>
            <a:lvl4pPr marL="1995805" indent="0" algn="ctr">
              <a:buNone/>
              <a:defRPr>
                <a:solidFill>
                  <a:schemeClr val="tx1">
                    <a:tint val="75000"/>
                  </a:schemeClr>
                </a:solidFill>
              </a:defRPr>
            </a:lvl4pPr>
            <a:lvl5pPr marL="2661285" indent="0" algn="ctr">
              <a:buNone/>
              <a:defRPr>
                <a:solidFill>
                  <a:schemeClr val="tx1">
                    <a:tint val="75000"/>
                  </a:schemeClr>
                </a:solidFill>
              </a:defRPr>
            </a:lvl5pPr>
            <a:lvl6pPr marL="3326765" indent="0" algn="ctr">
              <a:buNone/>
              <a:defRPr>
                <a:solidFill>
                  <a:schemeClr val="tx1">
                    <a:tint val="75000"/>
                  </a:schemeClr>
                </a:solidFill>
              </a:defRPr>
            </a:lvl6pPr>
            <a:lvl7pPr marL="3992245" indent="0" algn="ctr">
              <a:buNone/>
              <a:defRPr>
                <a:solidFill>
                  <a:schemeClr val="tx1">
                    <a:tint val="75000"/>
                  </a:schemeClr>
                </a:solidFill>
              </a:defRPr>
            </a:lvl7pPr>
            <a:lvl8pPr marL="4657725" indent="0" algn="ctr">
              <a:buNone/>
              <a:defRPr>
                <a:solidFill>
                  <a:schemeClr val="tx1">
                    <a:tint val="75000"/>
                  </a:schemeClr>
                </a:solidFill>
              </a:defRPr>
            </a:lvl8pPr>
            <a:lvl9pPr marL="5322570" indent="0" algn="ctr">
              <a:buNone/>
              <a:defRPr>
                <a:solidFill>
                  <a:schemeClr val="tx1">
                    <a:tint val="75000"/>
                  </a:schemeClr>
                </a:solidFill>
              </a:defRPr>
            </a:lvl9pPr>
          </a:lstStyle>
          <a:p>
            <a:r>
              <a:rPr lang="en-US" altLang="zh-CN" dirty="0" smtClean="0"/>
              <a:t>Headline in Arial Regular 24 - 32 point</a:t>
            </a:r>
            <a:endParaRPr lang="en-US" altLang="zh-CN" dirty="0" smtClean="0"/>
          </a:p>
        </p:txBody>
      </p:sp>
    </p:spTree>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1.jpe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slideLayout" Target="../slideLayouts/slideLayout11.xml"/><Relationship Id="rId7" Type="http://schemas.openxmlformats.org/officeDocument/2006/relationships/slideLayout" Target="../slideLayouts/slideLayout10.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 Id="rId3" Type="http://schemas.openxmlformats.org/officeDocument/2006/relationships/slideLayout" Target="../slideLayouts/slideLayout6.xml"/><Relationship Id="rId20" Type="http://schemas.openxmlformats.org/officeDocument/2006/relationships/theme" Target="../theme/theme2.xml"/><Relationship Id="rId2" Type="http://schemas.openxmlformats.org/officeDocument/2006/relationships/slideLayout" Target="../slideLayouts/slideLayout5.xml"/><Relationship Id="rId19" Type="http://schemas.openxmlformats.org/officeDocument/2006/relationships/image" Target="../media/image6.jpeg"/><Relationship Id="rId18" Type="http://schemas.openxmlformats.org/officeDocument/2006/relationships/slideLayout" Target="../slideLayouts/slideLayout21.xml"/><Relationship Id="rId17" Type="http://schemas.openxmlformats.org/officeDocument/2006/relationships/slideLayout" Target="../slideLayouts/slideLayout20.xml"/><Relationship Id="rId16" Type="http://schemas.openxmlformats.org/officeDocument/2006/relationships/slideLayout" Target="../slideLayouts/slideLayout19.xml"/><Relationship Id="rId15" Type="http://schemas.openxmlformats.org/officeDocument/2006/relationships/slideLayout" Target="../slideLayouts/slideLayout18.xml"/><Relationship Id="rId14" Type="http://schemas.openxmlformats.org/officeDocument/2006/relationships/slideLayout" Target="../slideLayouts/slideLayout17.xml"/><Relationship Id="rId13" Type="http://schemas.openxmlformats.org/officeDocument/2006/relationships/slideLayout" Target="../slideLayouts/slideLayout16.xml"/><Relationship Id="rId12" Type="http://schemas.openxmlformats.org/officeDocument/2006/relationships/slideLayout" Target="../slideLayouts/slideLayout15.xml"/><Relationship Id="rId11" Type="http://schemas.openxmlformats.org/officeDocument/2006/relationships/slideLayout" Target="../slideLayouts/slideLayout14.xml"/><Relationship Id="rId10" Type="http://schemas.openxmlformats.org/officeDocument/2006/relationships/slideLayout" Target="../slideLayouts/slideLayout13.xml"/><Relationship Id="rId1" Type="http://schemas.openxmlformats.org/officeDocument/2006/relationships/slideLayout" Target="../slideLayouts/slideLayout4.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image" Target="../media/image7.jpeg"/><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rect">
            <a:fillToRect l="100000" t="100000"/>
          </a:path>
          <a:tileRect r="-100000" b="-100000"/>
        </a:gra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587" y="794"/>
            <a:ext cx="12192000" cy="6858000"/>
          </a:xfrm>
          <a:prstGeom prst="rect">
            <a:avLst/>
          </a:prstGeom>
        </p:spPr>
      </p:pic>
      <p:sp>
        <p:nvSpPr>
          <p:cNvPr id="1031" name="Rectangle 2"/>
          <p:cNvSpPr>
            <a:spLocks noGrp="1" noChangeArrowheads="1"/>
          </p:cNvSpPr>
          <p:nvPr>
            <p:ph type="title"/>
          </p:nvPr>
        </p:nvSpPr>
        <p:spPr bwMode="auto">
          <a:xfrm>
            <a:off x="1007797" y="1805533"/>
            <a:ext cx="7250029" cy="1325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6800" rIns="91440" bIns="46800" numCol="1" anchor="ctr" anchorCtr="0" compatLnSpc="1">
            <a:spAutoFit/>
          </a:bodyPr>
          <a:lstStyle/>
          <a:p>
            <a:pPr lvl="0"/>
            <a:r>
              <a:rPr lang="en-US" altLang="zh-CN" dirty="0" smtClean="0"/>
              <a:t>Headline in Arial Regular 40 point</a:t>
            </a:r>
            <a:endParaRPr lang="zh-CN" altLang="en-US" dirty="0" smtClean="0"/>
          </a:p>
        </p:txBody>
      </p:sp>
      <p:sp>
        <p:nvSpPr>
          <p:cNvPr id="1032" name="Rectangle 3"/>
          <p:cNvSpPr>
            <a:spLocks noGrp="1" noChangeArrowheads="1"/>
          </p:cNvSpPr>
          <p:nvPr>
            <p:ph type="body" idx="1"/>
          </p:nvPr>
        </p:nvSpPr>
        <p:spPr bwMode="auto">
          <a:xfrm>
            <a:off x="1007796" y="3069348"/>
            <a:ext cx="458573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spAutoFit/>
          </a:bodyPr>
          <a:lstStyle/>
          <a:p>
            <a:pPr marL="342900" marR="0" lvl="0" indent="-342900" algn="l" defTabSz="914400" rtl="0" eaLnBrk="1" fontAlgn="base" latinLnBrk="0" hangingPunct="1">
              <a:lnSpc>
                <a:spcPct val="100000"/>
              </a:lnSpc>
              <a:spcBef>
                <a:spcPct val="20000"/>
              </a:spcBef>
              <a:spcAft>
                <a:spcPct val="0"/>
              </a:spcAft>
              <a:buClr>
                <a:srgbClr val="990000"/>
              </a:buClr>
              <a:buSzTx/>
              <a:buFontTx/>
              <a:buNone/>
              <a:defRPr/>
            </a:pPr>
            <a:r>
              <a:rPr lang="en-US" altLang="zh-CN" dirty="0" smtClean="0"/>
              <a:t>Department name</a:t>
            </a:r>
            <a:endParaRPr lang="zh-CN" altLang="en-US" dirty="0" smtClean="0"/>
          </a:p>
        </p:txBody>
      </p:sp>
      <p:sp>
        <p:nvSpPr>
          <p:cNvPr id="6" name="Rectangle 13"/>
          <p:cNvSpPr>
            <a:spLocks noChangeArrowheads="1"/>
          </p:cNvSpPr>
          <p:nvPr userDrawn="1"/>
        </p:nvSpPr>
        <p:spPr bwMode="auto">
          <a:xfrm>
            <a:off x="10322246" y="429698"/>
            <a:ext cx="1368152"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spAutoFit/>
          </a:bodyPr>
          <a:lstStyle/>
          <a:p>
            <a:pPr defTabSz="784225" eaLnBrk="0" hangingPunct="0"/>
            <a:r>
              <a:rPr lang="en-US" altLang="zh-CN" sz="1000" b="1" dirty="0">
                <a:solidFill>
                  <a:srgbClr val="666666"/>
                </a:solidFill>
                <a:latin typeface="Arial" panose="020B0604020202020204" pitchFamily="34" charset="0"/>
                <a:ea typeface="MS PGothic" panose="020B0600070205080204" pitchFamily="34" charset="-128"/>
                <a:cs typeface="Arial" panose="020B0604020202020204" pitchFamily="34" charset="0"/>
              </a:rPr>
              <a:t>Security Level: </a:t>
            </a:r>
            <a:endParaRPr lang="en-US" altLang="zh-CN" sz="1000" b="1" dirty="0">
              <a:solidFill>
                <a:srgbClr val="666666"/>
              </a:solidFill>
              <a:latin typeface="Arial" panose="020B0604020202020204" pitchFamily="34" charset="0"/>
              <a:ea typeface="MS PGothic" panose="020B0600070205080204" pitchFamily="34" charset="-128"/>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advClick="0" advTm="8000">
    <p:fade thruBlk="1"/>
  </p:transition>
  <p:timing>
    <p:tnLst>
      <p:par>
        <p:cTn id="1" dur="indefinite" restart="never" nodeType="tmRoot"/>
      </p:par>
    </p:tnLst>
  </p:timing>
  <p:txStyles>
    <p:titleStyle>
      <a:lvl1pPr algn="l" rtl="0" eaLnBrk="1" fontAlgn="base" hangingPunct="1">
        <a:spcBef>
          <a:spcPct val="0"/>
        </a:spcBef>
        <a:spcAft>
          <a:spcPct val="0"/>
        </a:spcAft>
        <a:defRPr lang="zh-CN" altLang="en-US" sz="4000" b="0" dirty="0">
          <a:solidFill>
            <a:schemeClr val="tx1">
              <a:lumMod val="95000"/>
              <a:lumOff val="5000"/>
            </a:schemeClr>
          </a:solidFill>
          <a:latin typeface="+mj-lt"/>
          <a:ea typeface="Arial Unicode MS" panose="020B0604020202020204" pitchFamily="34" charset="-122"/>
          <a:cs typeface="Arial" panose="020B0604020202020204" pitchFamily="34" charset="0"/>
        </a:defRPr>
      </a:lvl1pPr>
      <a:lvl2pPr algn="l" rtl="0" eaLnBrk="1" fontAlgn="base" hangingPunct="1">
        <a:spcBef>
          <a:spcPct val="0"/>
        </a:spcBef>
        <a:spcAft>
          <a:spcPct val="0"/>
        </a:spcAft>
        <a:defRPr sz="3200" b="1">
          <a:solidFill>
            <a:schemeClr val="bg1"/>
          </a:solidFill>
          <a:latin typeface="黑体" panose="02010609060101010101" pitchFamily="49" charset="-122"/>
          <a:ea typeface="黑体" panose="02010609060101010101" pitchFamily="49" charset="-122"/>
          <a:cs typeface="宋体" panose="02010600030101010101" pitchFamily="2" charset="-122"/>
        </a:defRPr>
      </a:lvl2pPr>
      <a:lvl3pPr algn="l" rtl="0" eaLnBrk="1" fontAlgn="base" hangingPunct="1">
        <a:spcBef>
          <a:spcPct val="0"/>
        </a:spcBef>
        <a:spcAft>
          <a:spcPct val="0"/>
        </a:spcAft>
        <a:defRPr sz="3200" b="1">
          <a:solidFill>
            <a:schemeClr val="bg1"/>
          </a:solidFill>
          <a:latin typeface="黑体" panose="02010609060101010101" pitchFamily="49" charset="-122"/>
          <a:ea typeface="黑体" panose="02010609060101010101" pitchFamily="49" charset="-122"/>
          <a:cs typeface="宋体" panose="02010600030101010101" pitchFamily="2" charset="-122"/>
        </a:defRPr>
      </a:lvl3pPr>
      <a:lvl4pPr algn="l" rtl="0" eaLnBrk="1" fontAlgn="base" hangingPunct="1">
        <a:spcBef>
          <a:spcPct val="0"/>
        </a:spcBef>
        <a:spcAft>
          <a:spcPct val="0"/>
        </a:spcAft>
        <a:defRPr sz="3200" b="1">
          <a:solidFill>
            <a:schemeClr val="bg1"/>
          </a:solidFill>
          <a:latin typeface="黑体" panose="02010609060101010101" pitchFamily="49" charset="-122"/>
          <a:ea typeface="黑体" panose="02010609060101010101" pitchFamily="49" charset="-122"/>
          <a:cs typeface="宋体" panose="02010600030101010101" pitchFamily="2" charset="-122"/>
        </a:defRPr>
      </a:lvl4pPr>
      <a:lvl5pPr algn="l" rtl="0" eaLnBrk="1" fontAlgn="base" hangingPunct="1">
        <a:spcBef>
          <a:spcPct val="0"/>
        </a:spcBef>
        <a:spcAft>
          <a:spcPct val="0"/>
        </a:spcAft>
        <a:defRPr sz="3200" b="1">
          <a:solidFill>
            <a:schemeClr val="bg1"/>
          </a:solidFill>
          <a:latin typeface="黑体" panose="02010609060101010101" pitchFamily="49" charset="-122"/>
          <a:ea typeface="黑体" panose="02010609060101010101" pitchFamily="49" charset="-122"/>
          <a:cs typeface="宋体" panose="02010600030101010101" pitchFamily="2"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anose="02010600040101010101" pitchFamily="2" charset="-122"/>
          <a:cs typeface="宋体" panose="02010600030101010101" pitchFamily="2"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anose="02010600040101010101" pitchFamily="2" charset="-122"/>
          <a:cs typeface="宋体" panose="02010600030101010101" pitchFamily="2"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anose="02010600040101010101" pitchFamily="2" charset="-122"/>
          <a:cs typeface="宋体" panose="02010600030101010101" pitchFamily="2" charset="-122"/>
        </a:defRPr>
      </a:lvl8pPr>
      <a:lvl9pPr marL="1829435" algn="l" rtl="0" eaLnBrk="1" fontAlgn="base" hangingPunct="1">
        <a:spcBef>
          <a:spcPct val="0"/>
        </a:spcBef>
        <a:spcAft>
          <a:spcPct val="0"/>
        </a:spcAft>
        <a:defRPr sz="3200" b="1">
          <a:solidFill>
            <a:srgbClr val="990000"/>
          </a:solidFill>
          <a:latin typeface="FrutigerNext LT Medium" pitchFamily="34" charset="0"/>
          <a:ea typeface="华文细黑" panose="02010600040101010101" pitchFamily="2" charset="-122"/>
          <a:cs typeface="宋体" panose="02010600030101010101" pitchFamily="2" charset="-122"/>
        </a:defRPr>
      </a:lvl9pPr>
    </p:titleStyle>
    <p:bodyStyle>
      <a:lvl1pPr marL="342900" marR="0" indent="-342900" algn="l" defTabSz="914400" rtl="0" eaLnBrk="1" fontAlgn="base" latinLnBrk="0" hangingPunct="1">
        <a:lnSpc>
          <a:spcPct val="100000"/>
        </a:lnSpc>
        <a:spcBef>
          <a:spcPct val="20000"/>
        </a:spcBef>
        <a:spcAft>
          <a:spcPct val="0"/>
        </a:spcAft>
        <a:buClr>
          <a:srgbClr val="990000"/>
        </a:buClr>
        <a:buSzTx/>
        <a:buFontTx/>
        <a:buNone/>
        <a:defRPr sz="2400" b="0">
          <a:solidFill>
            <a:schemeClr val="tx1">
              <a:lumMod val="95000"/>
              <a:lumOff val="5000"/>
            </a:schemeClr>
          </a:solidFill>
          <a:latin typeface="+mj-lt"/>
          <a:ea typeface="+mj-ea"/>
          <a:cs typeface="Arial" panose="020B0604020202020204" pitchFamily="34" charset="0"/>
        </a:defRPr>
      </a:lvl1pPr>
      <a:lvl2pPr marL="742950" indent="-285750" algn="l" rtl="0" eaLnBrk="1" fontAlgn="base" hangingPunct="1">
        <a:spcBef>
          <a:spcPct val="20000"/>
        </a:spcBef>
        <a:spcAft>
          <a:spcPct val="0"/>
        </a:spcAft>
        <a:buFont typeface="Arial" panose="020B0604020202020204" pitchFamily="34" charset="0"/>
        <a:buChar char="›"/>
        <a:defRPr sz="2000">
          <a:solidFill>
            <a:schemeClr val="tx1"/>
          </a:solidFill>
          <a:latin typeface="+mn-lt"/>
          <a:ea typeface="+mn-ea"/>
          <a:cs typeface="+mn-cs"/>
        </a:defRPr>
      </a:lvl2pPr>
      <a:lvl3pPr marL="1143000" indent="-228600" algn="l" rtl="0" eaLnBrk="1" fontAlgn="base" hangingPunct="1">
        <a:spcBef>
          <a:spcPct val="20000"/>
        </a:spcBef>
        <a:spcAft>
          <a:spcPct val="0"/>
        </a:spcAft>
        <a:buFont typeface="FrutigerNext LT Medium" pitchFamily="34" charset="0"/>
        <a:buChar char="»"/>
        <a:defRPr>
          <a:solidFill>
            <a:schemeClr val="tx1"/>
          </a:solidFill>
          <a:latin typeface="+mn-lt"/>
          <a:ea typeface="+mn-ea"/>
          <a:cs typeface="+mn-cs"/>
        </a:defRPr>
      </a:lvl3pPr>
      <a:lvl4pPr marL="1600835" indent="-228600" algn="l" rtl="0" eaLnBrk="1" fontAlgn="base" hangingPunct="1">
        <a:spcBef>
          <a:spcPct val="20000"/>
        </a:spcBef>
        <a:spcAft>
          <a:spcPct val="0"/>
        </a:spcAft>
        <a:buChar char="–"/>
        <a:defRPr sz="1600">
          <a:solidFill>
            <a:schemeClr val="tx1"/>
          </a:solidFill>
          <a:latin typeface="+mn-lt"/>
          <a:ea typeface="+mn-ea"/>
          <a:cs typeface="+mn-cs"/>
        </a:defRPr>
      </a:lvl4pPr>
      <a:lvl5pPr marL="20580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5pPr>
      <a:lvl6pPr marL="25152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6pPr>
      <a:lvl7pPr marL="29724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7pPr>
      <a:lvl8pPr marL="34296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8pPr>
      <a:lvl9pPr marL="38868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9435" algn="l" defTabSz="914400" rtl="0" eaLnBrk="1" latinLnBrk="0" hangingPunct="1">
        <a:defRPr sz="1800" kern="1200">
          <a:solidFill>
            <a:schemeClr val="tx1"/>
          </a:solidFill>
          <a:latin typeface="+mn-lt"/>
          <a:ea typeface="+mn-ea"/>
          <a:cs typeface="+mn-cs"/>
        </a:defRPr>
      </a:lvl5pPr>
      <a:lvl6pPr marL="2286635" algn="l" defTabSz="914400" rtl="0" eaLnBrk="1" latinLnBrk="0" hangingPunct="1">
        <a:defRPr sz="1800" kern="1200">
          <a:solidFill>
            <a:schemeClr val="tx1"/>
          </a:solidFill>
          <a:latin typeface="+mn-lt"/>
          <a:ea typeface="+mn-ea"/>
          <a:cs typeface="+mn-cs"/>
        </a:defRPr>
      </a:lvl6pPr>
      <a:lvl7pPr marL="2743835" algn="l" defTabSz="914400" rtl="0" eaLnBrk="1" latinLnBrk="0" hangingPunct="1">
        <a:defRPr sz="1800" kern="1200">
          <a:solidFill>
            <a:schemeClr val="tx1"/>
          </a:solidFill>
          <a:latin typeface="+mn-lt"/>
          <a:ea typeface="+mn-ea"/>
          <a:cs typeface="+mn-cs"/>
        </a:defRPr>
      </a:lvl7pPr>
      <a:lvl8pPr marL="3201035" algn="l" defTabSz="914400" rtl="0" eaLnBrk="1" latinLnBrk="0" hangingPunct="1">
        <a:defRPr sz="1800" kern="1200">
          <a:solidFill>
            <a:schemeClr val="tx1"/>
          </a:solidFill>
          <a:latin typeface="+mn-lt"/>
          <a:ea typeface="+mn-ea"/>
          <a:cs typeface="+mn-cs"/>
        </a:defRPr>
      </a:lvl8pPr>
      <a:lvl9pPr marL="365823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rect">
            <a:fillToRect l="100000" t="100000"/>
          </a:path>
          <a:tileRect r="-100000" b="-100000"/>
        </a:gradFill>
        <a:effectLst/>
      </p:bgPr>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1587" y="794"/>
            <a:ext cx="12192000" cy="6858000"/>
          </a:xfrm>
          <a:prstGeom prst="rect">
            <a:avLst/>
          </a:prstGeom>
        </p:spPr>
      </p:pic>
      <p:sp>
        <p:nvSpPr>
          <p:cNvPr id="2" name="标题占位符 1"/>
          <p:cNvSpPr>
            <a:spLocks noGrp="1"/>
          </p:cNvSpPr>
          <p:nvPr>
            <p:ph type="title"/>
          </p:nvPr>
        </p:nvSpPr>
        <p:spPr>
          <a:xfrm>
            <a:off x="609759" y="275231"/>
            <a:ext cx="10975658" cy="1143264"/>
          </a:xfrm>
          <a:prstGeom prst="rect">
            <a:avLst/>
          </a:prstGeom>
        </p:spPr>
        <p:txBody>
          <a:bodyPr vert="horz" lIns="121944" tIns="60972" rIns="121944" bIns="60972"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759" y="1600572"/>
            <a:ext cx="10975658" cy="4526481"/>
          </a:xfrm>
          <a:prstGeom prst="rect">
            <a:avLst/>
          </a:prstGeom>
        </p:spPr>
        <p:txBody>
          <a:bodyPr vert="horz" lIns="121944" tIns="60972" rIns="121944" bIns="60972"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2"/>
          </p:nvPr>
        </p:nvSpPr>
        <p:spPr>
          <a:xfrm>
            <a:off x="609759" y="6357824"/>
            <a:ext cx="2845541" cy="366267"/>
          </a:xfrm>
          <a:prstGeom prst="rect">
            <a:avLst/>
          </a:prstGeom>
        </p:spPr>
        <p:txBody>
          <a:bodyPr vert="horz" lIns="121944" tIns="60972" rIns="121944" bIns="60972" rtlCol="0" anchor="ctr"/>
          <a:lstStyle>
            <a:lvl1pPr algn="l">
              <a:defRPr sz="1600">
                <a:solidFill>
                  <a:schemeClr val="tx1"/>
                </a:solidFill>
              </a:defRPr>
            </a:lvl1pPr>
          </a:lstStyle>
          <a:p>
            <a:fld id="{1A5B2B23-E5F0-44D7-A9FF-4B8E82156B39}" type="datetimeFigureOut">
              <a:rPr lang="zh-CN" altLang="en-US" smtClean="0"/>
            </a:fld>
            <a:endParaRPr lang="zh-CN" altLang="en-US"/>
          </a:p>
        </p:txBody>
      </p:sp>
      <p:sp>
        <p:nvSpPr>
          <p:cNvPr id="5" name="页脚占位符 4"/>
          <p:cNvSpPr>
            <a:spLocks noGrp="1"/>
          </p:cNvSpPr>
          <p:nvPr>
            <p:ph type="ftr" sz="quarter" idx="3"/>
          </p:nvPr>
        </p:nvSpPr>
        <p:spPr>
          <a:xfrm>
            <a:off x="4166685" y="6357824"/>
            <a:ext cx="3861805" cy="366267"/>
          </a:xfrm>
          <a:prstGeom prst="rect">
            <a:avLst/>
          </a:prstGeom>
        </p:spPr>
        <p:txBody>
          <a:bodyPr vert="horz" lIns="121944" tIns="60972" rIns="121944" bIns="60972" rtlCol="0" anchor="ctr"/>
          <a:lstStyle>
            <a:lvl1pPr algn="ctr">
              <a:defRPr sz="1600">
                <a:solidFill>
                  <a:schemeClr val="tx1"/>
                </a:solidFill>
              </a:defRPr>
            </a:lvl1pPr>
          </a:lstStyle>
          <a:p>
            <a:endParaRPr lang="zh-CN" altLang="en-US"/>
          </a:p>
        </p:txBody>
      </p:sp>
      <p:sp>
        <p:nvSpPr>
          <p:cNvPr id="6" name="灯片编号占位符 5"/>
          <p:cNvSpPr>
            <a:spLocks noGrp="1"/>
          </p:cNvSpPr>
          <p:nvPr>
            <p:ph type="sldNum" sz="quarter" idx="4"/>
          </p:nvPr>
        </p:nvSpPr>
        <p:spPr>
          <a:xfrm>
            <a:off x="8739876" y="6357824"/>
            <a:ext cx="2845541" cy="366267"/>
          </a:xfrm>
          <a:prstGeom prst="rect">
            <a:avLst/>
          </a:prstGeom>
        </p:spPr>
        <p:txBody>
          <a:bodyPr vert="horz" lIns="121944" tIns="60972" rIns="121944" bIns="60972" rtlCol="0" anchor="ctr"/>
          <a:lstStyle>
            <a:lvl1pPr algn="r">
              <a:defRPr sz="1600">
                <a:solidFill>
                  <a:schemeClr val="tx1"/>
                </a:solidFill>
              </a:defRPr>
            </a:lvl1pPr>
          </a:lstStyle>
          <a:p>
            <a:fld id="{B2563A90-55EF-4D2C-B954-EDF55F24A661}" type="slidenum">
              <a:rPr lang="zh-CN" altLang="en-US" smtClean="0"/>
            </a:fld>
            <a:endParaRPr lang="zh-CN" altLang="en-US"/>
          </a:p>
        </p:txBody>
      </p:sp>
      <p:sp>
        <p:nvSpPr>
          <p:cNvPr id="10" name="Rectangle 86"/>
          <p:cNvSpPr>
            <a:spLocks noChangeArrowheads="1"/>
          </p:cNvSpPr>
          <p:nvPr userDrawn="1"/>
        </p:nvSpPr>
        <p:spPr bwMode="auto">
          <a:xfrm>
            <a:off x="11842256" y="6350438"/>
            <a:ext cx="328279" cy="426162"/>
          </a:xfrm>
          <a:prstGeom prst="rect">
            <a:avLst/>
          </a:prstGeom>
          <a:noFill/>
          <a:ln w="9525">
            <a:noFill/>
            <a:miter lim="800000"/>
          </a:ln>
          <a:effectLst/>
        </p:spPr>
        <p:txBody>
          <a:bodyPr lIns="0" tIns="0" rIns="0" bIns="0"/>
          <a:lstStyle/>
          <a:p>
            <a:pPr defTabSz="988060" eaLnBrk="0" hangingPunct="0">
              <a:lnSpc>
                <a:spcPct val="85000"/>
              </a:lnSpc>
              <a:buClrTx/>
              <a:buFontTx/>
              <a:buNone/>
            </a:pPr>
            <a:endParaRPr lang="de-DE" sz="1300" b="0" dirty="0">
              <a:solidFill>
                <a:schemeClr val="tx1"/>
              </a:solidFill>
              <a:latin typeface="FrutigerNext LT Light" pitchFamily="34" charset="0"/>
              <a:ea typeface="MS PGothic" panose="020B0600070205080204" pitchFamily="34" charset="-128"/>
            </a:endParaRPr>
          </a:p>
          <a:p>
            <a:pPr defTabSz="988060" eaLnBrk="0" hangingPunct="0">
              <a:lnSpc>
                <a:spcPct val="85000"/>
              </a:lnSpc>
              <a:buClrTx/>
              <a:buFontTx/>
              <a:buNone/>
            </a:pPr>
            <a:fld id="{E68EC476-442B-4BB7-9603-F1440C241F3D}" type="slidenum">
              <a:rPr lang="de-DE" sz="900" b="0" smtClean="0">
                <a:solidFill>
                  <a:schemeClr val="bg1">
                    <a:lumMod val="50000"/>
                  </a:schemeClr>
                </a:solidFill>
                <a:latin typeface="Arial" panose="020B0604020202020204" pitchFamily="34" charset="0"/>
                <a:ea typeface="MS PGothic" panose="020B0600070205080204" pitchFamily="34" charset="-128"/>
                <a:cs typeface="Arial" panose="020B0604020202020204" pitchFamily="34" charset="0"/>
              </a:rPr>
            </a:fld>
            <a:endParaRPr lang="en-GB" sz="900" b="0" dirty="0">
              <a:solidFill>
                <a:schemeClr val="bg1">
                  <a:lumMod val="50000"/>
                </a:schemeClr>
              </a:solidFill>
              <a:latin typeface="Arial" panose="020B0604020202020204" pitchFamily="34" charset="0"/>
              <a:ea typeface="MS PGothic" panose="020B0600070205080204" pitchFamily="34" charset="-128"/>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 id="2147483666" r:id="rId14"/>
    <p:sldLayoutId id="2147483667" r:id="rId15"/>
    <p:sldLayoutId id="2147483668" r:id="rId16"/>
    <p:sldLayoutId id="2147483669" r:id="rId17"/>
    <p:sldLayoutId id="2147483670" r:id="rId18"/>
  </p:sldLayoutIdLst>
  <p:timing>
    <p:tnLst>
      <p:par>
        <p:cTn id="1" dur="indefinite" restart="never" nodeType="tmRoot"/>
      </p:par>
    </p:tnLst>
  </p:timing>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8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34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0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6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28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9435" algn="l" defTabSz="1219200" rtl="0" eaLnBrk="1" latinLnBrk="0" hangingPunct="1">
        <a:defRPr sz="2400" kern="1200">
          <a:solidFill>
            <a:schemeClr val="tx1"/>
          </a:solidFill>
          <a:latin typeface="+mn-lt"/>
          <a:ea typeface="+mn-ea"/>
          <a:cs typeface="+mn-cs"/>
        </a:defRPr>
      </a:lvl4pPr>
      <a:lvl5pPr marL="2439035" algn="l" defTabSz="1219200" rtl="0" eaLnBrk="1" latinLnBrk="0" hangingPunct="1">
        <a:defRPr sz="2400" kern="1200">
          <a:solidFill>
            <a:schemeClr val="tx1"/>
          </a:solidFill>
          <a:latin typeface="+mn-lt"/>
          <a:ea typeface="+mn-ea"/>
          <a:cs typeface="+mn-cs"/>
        </a:defRPr>
      </a:lvl5pPr>
      <a:lvl6pPr marL="3048635" algn="l" defTabSz="1219200" rtl="0" eaLnBrk="1" latinLnBrk="0" hangingPunct="1">
        <a:defRPr sz="2400" kern="1200">
          <a:solidFill>
            <a:schemeClr val="tx1"/>
          </a:solidFill>
          <a:latin typeface="+mn-lt"/>
          <a:ea typeface="+mn-ea"/>
          <a:cs typeface="+mn-cs"/>
        </a:defRPr>
      </a:lvl6pPr>
      <a:lvl7pPr marL="3658235" algn="l" defTabSz="1219200" rtl="0" eaLnBrk="1" latinLnBrk="0" hangingPunct="1">
        <a:defRPr sz="2400" kern="1200">
          <a:solidFill>
            <a:schemeClr val="tx1"/>
          </a:solidFill>
          <a:latin typeface="+mn-lt"/>
          <a:ea typeface="+mn-ea"/>
          <a:cs typeface="+mn-cs"/>
        </a:defRPr>
      </a:lvl7pPr>
      <a:lvl8pPr marL="4267835" algn="l" defTabSz="1219200" rtl="0" eaLnBrk="1" latinLnBrk="0" hangingPunct="1">
        <a:defRPr sz="2400" kern="1200">
          <a:solidFill>
            <a:schemeClr val="tx1"/>
          </a:solidFill>
          <a:latin typeface="+mn-lt"/>
          <a:ea typeface="+mn-ea"/>
          <a:cs typeface="+mn-cs"/>
        </a:defRPr>
      </a:lvl8pPr>
      <a:lvl9pPr marL="487807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rect">
            <a:fillToRect l="100000" t="100000"/>
          </a:path>
          <a:tileRect r="-100000" b="-100000"/>
        </a:gradFill>
        <a:effectLst/>
      </p:bgPr>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87" y="794"/>
            <a:ext cx="12192000" cy="6858000"/>
          </a:xfrm>
          <a:prstGeom prst="rect">
            <a:avLst/>
          </a:prstGeom>
        </p:spPr>
      </p:pic>
      <p:grpSp>
        <p:nvGrpSpPr>
          <p:cNvPr id="3" name="组合 2"/>
          <p:cNvGrpSpPr/>
          <p:nvPr userDrawn="1"/>
        </p:nvGrpSpPr>
        <p:grpSpPr>
          <a:xfrm>
            <a:off x="737805" y="3518130"/>
            <a:ext cx="4778680" cy="2048106"/>
            <a:chOff x="1896389" y="2298415"/>
            <a:chExt cx="4778680" cy="2048105"/>
          </a:xfrm>
        </p:grpSpPr>
        <p:sp>
          <p:nvSpPr>
            <p:cNvPr id="10" name="TextBox 6"/>
            <p:cNvSpPr txBox="1"/>
            <p:nvPr userDrawn="1"/>
          </p:nvSpPr>
          <p:spPr>
            <a:xfrm>
              <a:off x="2066557" y="3146182"/>
              <a:ext cx="4608512" cy="1200338"/>
            </a:xfrm>
            <a:prstGeom prst="rect">
              <a:avLst/>
            </a:prstGeom>
            <a:noFill/>
          </p:spPr>
          <p:txBody>
            <a:bodyPr wrap="square" lIns="91450" tIns="45725" rIns="91450" bIns="45725">
              <a:spAutoFit/>
            </a:bodyPr>
            <a:lstStyle/>
            <a:p>
              <a:pPr algn="l">
                <a:defRPr/>
              </a:pPr>
              <a:r>
                <a:rPr lang="en-US" altLang="zh-CN" sz="900" b="1" dirty="0" smtClean="0">
                  <a:solidFill>
                    <a:schemeClr val="tx1">
                      <a:lumMod val="65000"/>
                      <a:lumOff val="35000"/>
                    </a:schemeClr>
                  </a:solidFill>
                </a:rPr>
                <a:t>Copyright©2016 </a:t>
              </a:r>
              <a:r>
                <a:rPr lang="en-US" altLang="zh-CN" sz="900" b="1" dirty="0">
                  <a:solidFill>
                    <a:schemeClr val="tx1">
                      <a:lumMod val="65000"/>
                      <a:lumOff val="35000"/>
                    </a:schemeClr>
                  </a:solidFill>
                </a:rPr>
                <a:t>Huawei Technologies Co., Ltd. All Rights Reserved</a:t>
              </a:r>
              <a:r>
                <a:rPr lang="en-US" altLang="zh-CN" sz="900" b="1" dirty="0" smtClean="0">
                  <a:solidFill>
                    <a:schemeClr val="tx1">
                      <a:lumMod val="65000"/>
                      <a:lumOff val="35000"/>
                    </a:schemeClr>
                  </a:solidFill>
                </a:rPr>
                <a:t>.</a:t>
              </a:r>
              <a:endParaRPr lang="en-US" altLang="zh-CN" sz="900" b="1" dirty="0" smtClean="0">
                <a:solidFill>
                  <a:schemeClr val="tx1">
                    <a:lumMod val="65000"/>
                    <a:lumOff val="35000"/>
                  </a:schemeClr>
                </a:solidFill>
              </a:endParaRPr>
            </a:p>
            <a:p>
              <a:pPr algn="l">
                <a:defRPr/>
              </a:pPr>
              <a:r>
                <a:rPr lang="en-US" altLang="zh-CN" sz="900" dirty="0" smtClean="0">
                  <a:solidFill>
                    <a:schemeClr val="tx1">
                      <a:lumMod val="65000"/>
                      <a:lumOff val="35000"/>
                    </a:schemeClr>
                  </a:solidFill>
                </a:rPr>
                <a:t>The </a:t>
              </a:r>
              <a:r>
                <a:rPr lang="en-US" altLang="zh-CN" sz="900" dirty="0">
                  <a:solidFill>
                    <a:schemeClr val="tx1">
                      <a:lumMod val="65000"/>
                      <a:lumOff val="35000"/>
                    </a:schemeClr>
                  </a:solidFill>
                </a:rPr>
                <a:t>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lang="zh-CN" altLang="zh-CN" sz="900" dirty="0">
                <a:solidFill>
                  <a:schemeClr val="tx1">
                    <a:lumMod val="65000"/>
                    <a:lumOff val="35000"/>
                  </a:schemeClr>
                </a:solidFill>
              </a:endParaRPr>
            </a:p>
          </p:txBody>
        </p:sp>
        <p:sp>
          <p:nvSpPr>
            <p:cNvPr id="11" name="TextBox 6"/>
            <p:cNvSpPr txBox="1"/>
            <p:nvPr userDrawn="1"/>
          </p:nvSpPr>
          <p:spPr>
            <a:xfrm>
              <a:off x="1896389" y="2298415"/>
              <a:ext cx="2873864" cy="677119"/>
            </a:xfrm>
            <a:prstGeom prst="rect">
              <a:avLst/>
            </a:prstGeom>
            <a:noFill/>
          </p:spPr>
          <p:txBody>
            <a:bodyPr wrap="square" lIns="91450" tIns="45725" rIns="91450" bIns="45725">
              <a:spAutoFit/>
            </a:bodyPr>
            <a:lstStyle/>
            <a:p>
              <a:pPr algn="ctr">
                <a:defRPr/>
              </a:pPr>
              <a:r>
                <a:rPr lang="en-US" altLang="zh-CN" sz="3800" dirty="0" smtClean="0">
                  <a:solidFill>
                    <a:schemeClr val="tx1">
                      <a:lumMod val="65000"/>
                      <a:lumOff val="35000"/>
                    </a:schemeClr>
                  </a:solidFill>
                </a:rPr>
                <a:t>Thank You.</a:t>
              </a:r>
              <a:endParaRPr lang="zh-CN" altLang="zh-CN" sz="3800" dirty="0">
                <a:solidFill>
                  <a:schemeClr val="tx1">
                    <a:lumMod val="65000"/>
                    <a:lumOff val="35000"/>
                  </a:schemeClr>
                </a:solidFill>
              </a:endParaRPr>
            </a:p>
          </p:txBody>
        </p:sp>
      </p:grpSp>
    </p:spTree>
  </p:cSld>
  <p:clrMap bg1="lt1" tx1="dk1" bg2="lt2" tx2="dk2" accent1="accent1" accent2="accent2" accent3="accent3" accent4="accent4" accent5="accent5" accent6="accent6" hlink="hlink" folHlink="folHlink"/>
  <p:sldLayoutIdLst>
    <p:sldLayoutId id="2147483672" r:id="rId1"/>
  </p:sldLayoutIdLst>
  <p:timing>
    <p:tnLst>
      <p:par>
        <p:cTn id="1" dur="indefinite" restart="never" nodeType="tmRoot"/>
      </p:par>
    </p:tnLst>
  </p:timing>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8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34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0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6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28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9435" algn="l" defTabSz="1219200" rtl="0" eaLnBrk="1" latinLnBrk="0" hangingPunct="1">
        <a:defRPr sz="2400" kern="1200">
          <a:solidFill>
            <a:schemeClr val="tx1"/>
          </a:solidFill>
          <a:latin typeface="+mn-lt"/>
          <a:ea typeface="+mn-ea"/>
          <a:cs typeface="+mn-cs"/>
        </a:defRPr>
      </a:lvl4pPr>
      <a:lvl5pPr marL="2439035" algn="l" defTabSz="1219200" rtl="0" eaLnBrk="1" latinLnBrk="0" hangingPunct="1">
        <a:defRPr sz="2400" kern="1200">
          <a:solidFill>
            <a:schemeClr val="tx1"/>
          </a:solidFill>
          <a:latin typeface="+mn-lt"/>
          <a:ea typeface="+mn-ea"/>
          <a:cs typeface="+mn-cs"/>
        </a:defRPr>
      </a:lvl5pPr>
      <a:lvl6pPr marL="3048635" algn="l" defTabSz="1219200" rtl="0" eaLnBrk="1" latinLnBrk="0" hangingPunct="1">
        <a:defRPr sz="2400" kern="1200">
          <a:solidFill>
            <a:schemeClr val="tx1"/>
          </a:solidFill>
          <a:latin typeface="+mn-lt"/>
          <a:ea typeface="+mn-ea"/>
          <a:cs typeface="+mn-cs"/>
        </a:defRPr>
      </a:lvl6pPr>
      <a:lvl7pPr marL="3658235" algn="l" defTabSz="1219200" rtl="0" eaLnBrk="1" latinLnBrk="0" hangingPunct="1">
        <a:defRPr sz="2400" kern="1200">
          <a:solidFill>
            <a:schemeClr val="tx1"/>
          </a:solidFill>
          <a:latin typeface="+mn-lt"/>
          <a:ea typeface="+mn-ea"/>
          <a:cs typeface="+mn-cs"/>
        </a:defRPr>
      </a:lvl7pPr>
      <a:lvl8pPr marL="4267835" algn="l" defTabSz="1219200" rtl="0" eaLnBrk="1" latinLnBrk="0" hangingPunct="1">
        <a:defRPr sz="2400" kern="1200">
          <a:solidFill>
            <a:schemeClr val="tx1"/>
          </a:solidFill>
          <a:latin typeface="+mn-lt"/>
          <a:ea typeface="+mn-ea"/>
          <a:cs typeface="+mn-cs"/>
        </a:defRPr>
      </a:lvl8pPr>
      <a:lvl9pPr marL="487807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2.xml"/><Relationship Id="rId8" Type="http://schemas.openxmlformats.org/officeDocument/2006/relationships/image" Target="../media/image15.svg"/><Relationship Id="rId7" Type="http://schemas.openxmlformats.org/officeDocument/2006/relationships/image" Target="../media/image14.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 Id="rId3" Type="http://schemas.openxmlformats.org/officeDocument/2006/relationships/image" Target="../media/image10.png"/><Relationship Id="rId2" Type="http://schemas.openxmlformats.org/officeDocument/2006/relationships/image" Target="../media/image9.svg"/><Relationship Id="rId11" Type="http://schemas.openxmlformats.org/officeDocument/2006/relationships/notesSlide" Target="../notesSlides/notesSlide2.xml"/><Relationship Id="rId10" Type="http://schemas.openxmlformats.org/officeDocument/2006/relationships/slideLayout" Target="../slideLayouts/slideLayout4.xml"/><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9" Type="http://schemas.openxmlformats.org/officeDocument/2006/relationships/tags" Target="../tags/tag3.xml"/><Relationship Id="rId8" Type="http://schemas.openxmlformats.org/officeDocument/2006/relationships/image" Target="../media/image23.svg"/><Relationship Id="rId7" Type="http://schemas.openxmlformats.org/officeDocument/2006/relationships/image" Target="../media/image22.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 Id="rId3" Type="http://schemas.openxmlformats.org/officeDocument/2006/relationships/image" Target="../media/image18.png"/><Relationship Id="rId2" Type="http://schemas.openxmlformats.org/officeDocument/2006/relationships/image" Target="../media/image17.svg"/><Relationship Id="rId11" Type="http://schemas.openxmlformats.org/officeDocument/2006/relationships/notesSlide" Target="../notesSlides/notesSlide3.xml"/><Relationship Id="rId10" Type="http://schemas.openxmlformats.org/officeDocument/2006/relationships/slideLayout" Target="../slideLayouts/slideLayout4.xml"/><Relationship Id="rId1" Type="http://schemas.openxmlformats.org/officeDocument/2006/relationships/image" Target="../media/image16.png"/></Relationships>
</file>

<file path=ppt/slides/_rels/slide4.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4" Type="http://schemas.openxmlformats.org/officeDocument/2006/relationships/notesSlide" Target="../notesSlides/notesSlide4.xml"/><Relationship Id="rId23" Type="http://schemas.openxmlformats.org/officeDocument/2006/relationships/slideLayout" Target="../slideLayouts/slideLayout4.xml"/><Relationship Id="rId22" Type="http://schemas.openxmlformats.org/officeDocument/2006/relationships/tags" Target="../tags/tag24.xml"/><Relationship Id="rId21" Type="http://schemas.openxmlformats.org/officeDocument/2006/relationships/tags" Target="../tags/tag23.xml"/><Relationship Id="rId20" Type="http://schemas.openxmlformats.org/officeDocument/2006/relationships/tags" Target="../tags/tag22.xml"/><Relationship Id="rId2" Type="http://schemas.openxmlformats.org/officeDocument/2006/relationships/tags" Target="../tags/tag4.xml"/><Relationship Id="rId19" Type="http://schemas.openxmlformats.org/officeDocument/2006/relationships/tags" Target="../tags/tag21.xml"/><Relationship Id="rId18" Type="http://schemas.openxmlformats.org/officeDocument/2006/relationships/tags" Target="../tags/tag20.xml"/><Relationship Id="rId17" Type="http://schemas.openxmlformats.org/officeDocument/2006/relationships/tags" Target="../tags/tag19.xml"/><Relationship Id="rId16" Type="http://schemas.openxmlformats.org/officeDocument/2006/relationships/tags" Target="../tags/tag18.xml"/><Relationship Id="rId15" Type="http://schemas.openxmlformats.org/officeDocument/2006/relationships/tags" Target="../tags/tag17.xml"/><Relationship Id="rId14" Type="http://schemas.openxmlformats.org/officeDocument/2006/relationships/tags" Target="../tags/tag16.xml"/><Relationship Id="rId13" Type="http://schemas.openxmlformats.org/officeDocument/2006/relationships/tags" Target="../tags/tag15.xml"/><Relationship Id="rId12" Type="http://schemas.openxmlformats.org/officeDocument/2006/relationships/tags" Target="../tags/tag14.xml"/><Relationship Id="rId11" Type="http://schemas.openxmlformats.org/officeDocument/2006/relationships/tags" Target="../tags/tag13.xml"/><Relationship Id="rId10" Type="http://schemas.openxmlformats.org/officeDocument/2006/relationships/tags" Target="../tags/tag12.xml"/><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9" Type="http://schemas.openxmlformats.org/officeDocument/2006/relationships/tags" Target="../tags/tag32.xml"/><Relationship Id="rId8" Type="http://schemas.openxmlformats.org/officeDocument/2006/relationships/tags" Target="../tags/tag31.xml"/><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4" Type="http://schemas.openxmlformats.org/officeDocument/2006/relationships/notesSlide" Target="../notesSlides/notesSlide5.xml"/><Relationship Id="rId23" Type="http://schemas.openxmlformats.org/officeDocument/2006/relationships/slideLayout" Target="../slideLayouts/slideLayout3.xml"/><Relationship Id="rId22" Type="http://schemas.openxmlformats.org/officeDocument/2006/relationships/tags" Target="../tags/tag45.xml"/><Relationship Id="rId21" Type="http://schemas.openxmlformats.org/officeDocument/2006/relationships/tags" Target="../tags/tag44.xml"/><Relationship Id="rId20" Type="http://schemas.openxmlformats.org/officeDocument/2006/relationships/tags" Target="../tags/tag43.xml"/><Relationship Id="rId2" Type="http://schemas.openxmlformats.org/officeDocument/2006/relationships/tags" Target="../tags/tag25.xml"/><Relationship Id="rId19" Type="http://schemas.openxmlformats.org/officeDocument/2006/relationships/tags" Target="../tags/tag42.xml"/><Relationship Id="rId18" Type="http://schemas.openxmlformats.org/officeDocument/2006/relationships/tags" Target="../tags/tag41.xml"/><Relationship Id="rId17" Type="http://schemas.openxmlformats.org/officeDocument/2006/relationships/tags" Target="../tags/tag40.xml"/><Relationship Id="rId16" Type="http://schemas.openxmlformats.org/officeDocument/2006/relationships/tags" Target="../tags/tag39.xml"/><Relationship Id="rId15" Type="http://schemas.openxmlformats.org/officeDocument/2006/relationships/tags" Target="../tags/tag38.xml"/><Relationship Id="rId14" Type="http://schemas.openxmlformats.org/officeDocument/2006/relationships/tags" Target="../tags/tag37.xml"/><Relationship Id="rId13" Type="http://schemas.openxmlformats.org/officeDocument/2006/relationships/tags" Target="../tags/tag36.xml"/><Relationship Id="rId12" Type="http://schemas.openxmlformats.org/officeDocument/2006/relationships/tags" Target="../tags/tag35.xml"/><Relationship Id="rId11" Type="http://schemas.openxmlformats.org/officeDocument/2006/relationships/tags" Target="../tags/tag34.xml"/><Relationship Id="rId10" Type="http://schemas.openxmlformats.org/officeDocument/2006/relationships/tags" Target="../tags/tag33.xml"/><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0" Type="http://schemas.openxmlformats.org/officeDocument/2006/relationships/notesSlide" Target="../notesSlides/notesSlide7.xml"/><Relationship Id="rId3" Type="http://schemas.openxmlformats.org/officeDocument/2006/relationships/tags" Target="../tags/tag47.xml"/><Relationship Id="rId29" Type="http://schemas.openxmlformats.org/officeDocument/2006/relationships/slideLayout" Target="../slideLayouts/slideLayout3.xml"/><Relationship Id="rId28" Type="http://schemas.openxmlformats.org/officeDocument/2006/relationships/tags" Target="../tags/tag71.xml"/><Relationship Id="rId27" Type="http://schemas.openxmlformats.org/officeDocument/2006/relationships/image" Target="../media/image24.png"/><Relationship Id="rId26" Type="http://schemas.openxmlformats.org/officeDocument/2006/relationships/tags" Target="../tags/tag70.xml"/><Relationship Id="rId25" Type="http://schemas.openxmlformats.org/officeDocument/2006/relationships/tags" Target="../tags/tag69.xml"/><Relationship Id="rId24" Type="http://schemas.openxmlformats.org/officeDocument/2006/relationships/tags" Target="../tags/tag68.xml"/><Relationship Id="rId23" Type="http://schemas.openxmlformats.org/officeDocument/2006/relationships/tags" Target="../tags/tag67.xml"/><Relationship Id="rId22" Type="http://schemas.openxmlformats.org/officeDocument/2006/relationships/tags" Target="../tags/tag66.xml"/><Relationship Id="rId21" Type="http://schemas.openxmlformats.org/officeDocument/2006/relationships/tags" Target="../tags/tag65.xml"/><Relationship Id="rId20" Type="http://schemas.openxmlformats.org/officeDocument/2006/relationships/tags" Target="../tags/tag64.xml"/><Relationship Id="rId2" Type="http://schemas.openxmlformats.org/officeDocument/2006/relationships/tags" Target="../tags/tag46.xml"/><Relationship Id="rId19" Type="http://schemas.openxmlformats.org/officeDocument/2006/relationships/tags" Target="../tags/tag63.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tags" Target="../tags/tag55.xml"/><Relationship Id="rId10" Type="http://schemas.openxmlformats.org/officeDocument/2006/relationships/tags" Target="../tags/tag54.xml"/><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9" Type="http://schemas.openxmlformats.org/officeDocument/2006/relationships/image" Target="../media/image33.png"/><Relationship Id="rId8" Type="http://schemas.openxmlformats.org/officeDocument/2006/relationships/image" Target="../media/image32.svg"/><Relationship Id="rId7" Type="http://schemas.openxmlformats.org/officeDocument/2006/relationships/image" Target="../media/image31.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 Id="rId3" Type="http://schemas.openxmlformats.org/officeDocument/2006/relationships/image" Target="../media/image27.png"/><Relationship Id="rId2" Type="http://schemas.openxmlformats.org/officeDocument/2006/relationships/image" Target="../media/image26.svg"/><Relationship Id="rId18" Type="http://schemas.openxmlformats.org/officeDocument/2006/relationships/notesSlide" Target="../notesSlides/notesSlide8.xml"/><Relationship Id="rId17" Type="http://schemas.openxmlformats.org/officeDocument/2006/relationships/slideLayout" Target="../slideLayouts/slideLayout5.xml"/><Relationship Id="rId16" Type="http://schemas.openxmlformats.org/officeDocument/2006/relationships/image" Target="../media/image40.svg"/><Relationship Id="rId15" Type="http://schemas.openxmlformats.org/officeDocument/2006/relationships/image" Target="../media/image39.png"/><Relationship Id="rId14" Type="http://schemas.openxmlformats.org/officeDocument/2006/relationships/image" Target="../media/image38.svg"/><Relationship Id="rId13" Type="http://schemas.openxmlformats.org/officeDocument/2006/relationships/image" Target="../media/image37.png"/><Relationship Id="rId12" Type="http://schemas.openxmlformats.org/officeDocument/2006/relationships/image" Target="../media/image36.svg"/><Relationship Id="rId11" Type="http://schemas.openxmlformats.org/officeDocument/2006/relationships/image" Target="../media/image35.png"/><Relationship Id="rId10" Type="http://schemas.openxmlformats.org/officeDocument/2006/relationships/image" Target="../media/image34.svg"/><Relationship Id="rId1"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5.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image" Target="../media/image41.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43.png"/><Relationship Id="rId1" Type="http://schemas.openxmlformats.org/officeDocument/2006/relationships/image" Target="../media/image42.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s>
</file>

<file path=ppt/slides/_rels/slide13.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7" Type="http://schemas.openxmlformats.org/officeDocument/2006/relationships/notesSlide" Target="../notesSlides/notesSlide9.xml"/><Relationship Id="rId26" Type="http://schemas.openxmlformats.org/officeDocument/2006/relationships/slideLayout" Target="../slideLayouts/slideLayout4.xml"/><Relationship Id="rId25" Type="http://schemas.openxmlformats.org/officeDocument/2006/relationships/tags" Target="../tags/tag102.xml"/><Relationship Id="rId24" Type="http://schemas.openxmlformats.org/officeDocument/2006/relationships/tags" Target="../tags/tag101.xml"/><Relationship Id="rId23" Type="http://schemas.openxmlformats.org/officeDocument/2006/relationships/tags" Target="../tags/tag100.xml"/><Relationship Id="rId22" Type="http://schemas.openxmlformats.org/officeDocument/2006/relationships/tags" Target="../tags/tag99.xml"/><Relationship Id="rId21" Type="http://schemas.openxmlformats.org/officeDocument/2006/relationships/tags" Target="../tags/tag98.xml"/><Relationship Id="rId20" Type="http://schemas.openxmlformats.org/officeDocument/2006/relationships/tags" Target="../tags/tag97.xml"/><Relationship Id="rId2" Type="http://schemas.openxmlformats.org/officeDocument/2006/relationships/tags" Target="../tags/tag79.xml"/><Relationship Id="rId19" Type="http://schemas.openxmlformats.org/officeDocument/2006/relationships/tags" Target="../tags/tag96.xml"/><Relationship Id="rId18" Type="http://schemas.openxmlformats.org/officeDocument/2006/relationships/tags" Target="../tags/tag95.xml"/><Relationship Id="rId17" Type="http://schemas.openxmlformats.org/officeDocument/2006/relationships/tags" Target="../tags/tag94.xml"/><Relationship Id="rId16" Type="http://schemas.openxmlformats.org/officeDocument/2006/relationships/tags" Target="../tags/tag93.xml"/><Relationship Id="rId15" Type="http://schemas.openxmlformats.org/officeDocument/2006/relationships/tags" Target="../tags/tag92.xml"/><Relationship Id="rId14" Type="http://schemas.openxmlformats.org/officeDocument/2006/relationships/tags" Target="../tags/tag91.xml"/><Relationship Id="rId13" Type="http://schemas.openxmlformats.org/officeDocument/2006/relationships/tags" Target="../tags/tag90.xml"/><Relationship Id="rId12" Type="http://schemas.openxmlformats.org/officeDocument/2006/relationships/tags" Target="../tags/tag89.xml"/><Relationship Id="rId11" Type="http://schemas.openxmlformats.org/officeDocument/2006/relationships/tags" Target="../tags/tag88.xml"/><Relationship Id="rId10" Type="http://schemas.openxmlformats.org/officeDocument/2006/relationships/tags" Target="../tags/tag87.xml"/><Relationship Id="rId1" Type="http://schemas.openxmlformats.org/officeDocument/2006/relationships/image" Target="../media/image6.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10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image" Target="../media/image44.png"/></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4.xml"/><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tags" Target="../tags/tag10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image" Target="../media/image45.png"/></Relationships>
</file>

<file path=ppt/slides/_rels/slide20.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5.xml"/><Relationship Id="rId6" Type="http://schemas.openxmlformats.org/officeDocument/2006/relationships/image" Target="../media/image48.wmf"/><Relationship Id="rId5" Type="http://schemas.openxmlformats.org/officeDocument/2006/relationships/oleObject" Target="../embeddings/oleObject4.bin"/><Relationship Id="rId4" Type="http://schemas.openxmlformats.org/officeDocument/2006/relationships/image" Target="../media/image47.wmf"/><Relationship Id="rId3" Type="http://schemas.openxmlformats.org/officeDocument/2006/relationships/oleObject" Target="../embeddings/oleObject3.bin"/><Relationship Id="rId2" Type="http://schemas.openxmlformats.org/officeDocument/2006/relationships/image" Target="../media/image46.wmf"/><Relationship Id="rId1" Type="http://schemas.openxmlformats.org/officeDocument/2006/relationships/oleObject" Target="../embeddings/oleObject2.bin"/></Relationships>
</file>

<file path=ppt/slides/_rels/slide21.xml.rels><?xml version="1.0" encoding="UTF-8" standalone="yes"?>
<Relationships xmlns="http://schemas.openxmlformats.org/package/2006/relationships"><Relationship Id="rId9" Type="http://schemas.openxmlformats.org/officeDocument/2006/relationships/tags" Target="../tags/tag117.xml"/><Relationship Id="rId8" Type="http://schemas.openxmlformats.org/officeDocument/2006/relationships/tags" Target="../tags/tag116.xml"/><Relationship Id="rId7" Type="http://schemas.openxmlformats.org/officeDocument/2006/relationships/tags" Target="../tags/tag115.xml"/><Relationship Id="rId6" Type="http://schemas.openxmlformats.org/officeDocument/2006/relationships/tags" Target="../tags/tag114.xml"/><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4" Type="http://schemas.openxmlformats.org/officeDocument/2006/relationships/notesSlide" Target="../notesSlides/notesSlide16.xml"/><Relationship Id="rId23" Type="http://schemas.openxmlformats.org/officeDocument/2006/relationships/slideLayout" Target="../slideLayouts/slideLayout5.xml"/><Relationship Id="rId22" Type="http://schemas.openxmlformats.org/officeDocument/2006/relationships/tags" Target="../tags/tag130.xml"/><Relationship Id="rId21" Type="http://schemas.openxmlformats.org/officeDocument/2006/relationships/tags" Target="../tags/tag129.xml"/><Relationship Id="rId20" Type="http://schemas.openxmlformats.org/officeDocument/2006/relationships/tags" Target="../tags/tag128.xml"/><Relationship Id="rId2" Type="http://schemas.openxmlformats.org/officeDocument/2006/relationships/tags" Target="../tags/tag110.xml"/><Relationship Id="rId19" Type="http://schemas.openxmlformats.org/officeDocument/2006/relationships/tags" Target="../tags/tag127.xml"/><Relationship Id="rId18" Type="http://schemas.openxmlformats.org/officeDocument/2006/relationships/tags" Target="../tags/tag126.xml"/><Relationship Id="rId17" Type="http://schemas.openxmlformats.org/officeDocument/2006/relationships/tags" Target="../tags/tag125.xml"/><Relationship Id="rId16" Type="http://schemas.openxmlformats.org/officeDocument/2006/relationships/tags" Target="../tags/tag124.xml"/><Relationship Id="rId15" Type="http://schemas.openxmlformats.org/officeDocument/2006/relationships/tags" Target="../tags/tag123.xml"/><Relationship Id="rId14" Type="http://schemas.openxmlformats.org/officeDocument/2006/relationships/tags" Target="../tags/tag122.xml"/><Relationship Id="rId13" Type="http://schemas.openxmlformats.org/officeDocument/2006/relationships/tags" Target="../tags/tag121.xml"/><Relationship Id="rId12" Type="http://schemas.openxmlformats.org/officeDocument/2006/relationships/tags" Target="../tags/tag120.xml"/><Relationship Id="rId11" Type="http://schemas.openxmlformats.org/officeDocument/2006/relationships/tags" Target="../tags/tag119.xml"/><Relationship Id="rId10" Type="http://schemas.openxmlformats.org/officeDocument/2006/relationships/tags" Target="../tags/tag118.xml"/><Relationship Id="rId1" Type="http://schemas.openxmlformats.org/officeDocument/2006/relationships/image" Target="../media/image49.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0.png"/></Relationships>
</file>

<file path=ppt/slides/_rels/slide23.xml.rels><?xml version="1.0" encoding="UTF-8" standalone="yes"?>
<Relationships xmlns="http://schemas.openxmlformats.org/package/2006/relationships"><Relationship Id="rId9" Type="http://schemas.openxmlformats.org/officeDocument/2006/relationships/tags" Target="../tags/tag139.xml"/><Relationship Id="rId8" Type="http://schemas.openxmlformats.org/officeDocument/2006/relationships/tags" Target="../tags/tag138.xml"/><Relationship Id="rId7" Type="http://schemas.openxmlformats.org/officeDocument/2006/relationships/tags" Target="../tags/tag137.xml"/><Relationship Id="rId6" Type="http://schemas.openxmlformats.org/officeDocument/2006/relationships/tags" Target="../tags/tag136.xml"/><Relationship Id="rId5" Type="http://schemas.openxmlformats.org/officeDocument/2006/relationships/tags" Target="../tags/tag135.xml"/><Relationship Id="rId4" Type="http://schemas.openxmlformats.org/officeDocument/2006/relationships/tags" Target="../tags/tag134.xml"/><Relationship Id="rId3" Type="http://schemas.openxmlformats.org/officeDocument/2006/relationships/tags" Target="../tags/tag133.xml"/><Relationship Id="rId26" Type="http://schemas.openxmlformats.org/officeDocument/2006/relationships/slideLayout" Target="../slideLayouts/slideLayout5.xml"/><Relationship Id="rId25" Type="http://schemas.openxmlformats.org/officeDocument/2006/relationships/image" Target="../media/image55.png"/><Relationship Id="rId24" Type="http://schemas.openxmlformats.org/officeDocument/2006/relationships/image" Target="../media/image54.png"/><Relationship Id="rId23" Type="http://schemas.openxmlformats.org/officeDocument/2006/relationships/image" Target="../media/image53.png"/><Relationship Id="rId22" Type="http://schemas.openxmlformats.org/officeDocument/2006/relationships/image" Target="../media/image52.png"/><Relationship Id="rId21" Type="http://schemas.openxmlformats.org/officeDocument/2006/relationships/image" Target="../media/image51.png"/><Relationship Id="rId20" Type="http://schemas.openxmlformats.org/officeDocument/2006/relationships/tags" Target="../tags/tag150.xml"/><Relationship Id="rId2" Type="http://schemas.openxmlformats.org/officeDocument/2006/relationships/tags" Target="../tags/tag132.xml"/><Relationship Id="rId19" Type="http://schemas.openxmlformats.org/officeDocument/2006/relationships/tags" Target="../tags/tag149.xml"/><Relationship Id="rId18" Type="http://schemas.openxmlformats.org/officeDocument/2006/relationships/tags" Target="../tags/tag148.xml"/><Relationship Id="rId17" Type="http://schemas.openxmlformats.org/officeDocument/2006/relationships/tags" Target="../tags/tag147.xml"/><Relationship Id="rId16" Type="http://schemas.openxmlformats.org/officeDocument/2006/relationships/tags" Target="../tags/tag146.xml"/><Relationship Id="rId15" Type="http://schemas.openxmlformats.org/officeDocument/2006/relationships/tags" Target="../tags/tag145.xml"/><Relationship Id="rId14" Type="http://schemas.openxmlformats.org/officeDocument/2006/relationships/tags" Target="../tags/tag144.xml"/><Relationship Id="rId13" Type="http://schemas.openxmlformats.org/officeDocument/2006/relationships/tags" Target="../tags/tag143.xml"/><Relationship Id="rId12" Type="http://schemas.openxmlformats.org/officeDocument/2006/relationships/tags" Target="../tags/tag142.xml"/><Relationship Id="rId11" Type="http://schemas.openxmlformats.org/officeDocument/2006/relationships/tags" Target="../tags/tag141.xml"/><Relationship Id="rId10" Type="http://schemas.openxmlformats.org/officeDocument/2006/relationships/tags" Target="../tags/tag140.xml"/><Relationship Id="rId1" Type="http://schemas.openxmlformats.org/officeDocument/2006/relationships/tags" Target="../tags/tag131.xml"/></Relationships>
</file>

<file path=ppt/slides/_rels/slide24.xml.rels><?xml version="1.0" encoding="UTF-8" standalone="yes"?>
<Relationships xmlns="http://schemas.openxmlformats.org/package/2006/relationships"><Relationship Id="rId9" Type="http://schemas.openxmlformats.org/officeDocument/2006/relationships/tags" Target="../tags/tag158.xml"/><Relationship Id="rId8" Type="http://schemas.openxmlformats.org/officeDocument/2006/relationships/tags" Target="../tags/tag157.xml"/><Relationship Id="rId7" Type="http://schemas.openxmlformats.org/officeDocument/2006/relationships/tags" Target="../tags/tag156.xml"/><Relationship Id="rId6" Type="http://schemas.openxmlformats.org/officeDocument/2006/relationships/tags" Target="../tags/tag155.xml"/><Relationship Id="rId5" Type="http://schemas.openxmlformats.org/officeDocument/2006/relationships/tags" Target="../tags/tag154.xml"/><Relationship Id="rId4" Type="http://schemas.openxmlformats.org/officeDocument/2006/relationships/tags" Target="../tags/tag153.xml"/><Relationship Id="rId3" Type="http://schemas.openxmlformats.org/officeDocument/2006/relationships/tags" Target="../tags/tag152.xml"/><Relationship Id="rId27" Type="http://schemas.openxmlformats.org/officeDocument/2006/relationships/slideLayout" Target="../slideLayouts/slideLayout5.xml"/><Relationship Id="rId26" Type="http://schemas.openxmlformats.org/officeDocument/2006/relationships/tags" Target="../tags/tag175.xml"/><Relationship Id="rId25" Type="http://schemas.openxmlformats.org/officeDocument/2006/relationships/tags" Target="../tags/tag174.xml"/><Relationship Id="rId24" Type="http://schemas.openxmlformats.org/officeDocument/2006/relationships/tags" Target="../tags/tag173.xml"/><Relationship Id="rId23" Type="http://schemas.openxmlformats.org/officeDocument/2006/relationships/tags" Target="../tags/tag172.xml"/><Relationship Id="rId22" Type="http://schemas.openxmlformats.org/officeDocument/2006/relationships/tags" Target="../tags/tag171.xml"/><Relationship Id="rId21" Type="http://schemas.openxmlformats.org/officeDocument/2006/relationships/tags" Target="../tags/tag170.xml"/><Relationship Id="rId20" Type="http://schemas.openxmlformats.org/officeDocument/2006/relationships/tags" Target="../tags/tag169.xml"/><Relationship Id="rId2" Type="http://schemas.openxmlformats.org/officeDocument/2006/relationships/tags" Target="../tags/tag151.xml"/><Relationship Id="rId19" Type="http://schemas.openxmlformats.org/officeDocument/2006/relationships/tags" Target="../tags/tag168.xml"/><Relationship Id="rId18" Type="http://schemas.openxmlformats.org/officeDocument/2006/relationships/tags" Target="../tags/tag167.xml"/><Relationship Id="rId17" Type="http://schemas.openxmlformats.org/officeDocument/2006/relationships/tags" Target="../tags/tag166.xml"/><Relationship Id="rId16" Type="http://schemas.openxmlformats.org/officeDocument/2006/relationships/tags" Target="../tags/tag165.xml"/><Relationship Id="rId15" Type="http://schemas.openxmlformats.org/officeDocument/2006/relationships/tags" Target="../tags/tag164.xml"/><Relationship Id="rId14" Type="http://schemas.openxmlformats.org/officeDocument/2006/relationships/tags" Target="../tags/tag163.xml"/><Relationship Id="rId13" Type="http://schemas.openxmlformats.org/officeDocument/2006/relationships/tags" Target="../tags/tag162.xml"/><Relationship Id="rId12" Type="http://schemas.openxmlformats.org/officeDocument/2006/relationships/tags" Target="../tags/tag161.xml"/><Relationship Id="rId11" Type="http://schemas.openxmlformats.org/officeDocument/2006/relationships/tags" Target="../tags/tag160.xml"/><Relationship Id="rId10" Type="http://schemas.openxmlformats.org/officeDocument/2006/relationships/tags" Target="../tags/tag159.xml"/><Relationship Id="rId1"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8995" y="2277666"/>
            <a:ext cx="11161240" cy="646430"/>
          </a:xfrm>
        </p:spPr>
        <p:txBody>
          <a:bodyPr/>
          <a:lstStyle/>
          <a:p>
            <a:r>
              <a:rPr lang="zh-CN" altLang="en-US" sz="3600" b="1" dirty="0" smtClean="0">
                <a:solidFill>
                  <a:srgbClr val="C00000"/>
                </a:solidFill>
                <a:sym typeface="+mn-ea"/>
              </a:rPr>
              <a:t>本体驱动的智能业务流程架构</a:t>
            </a:r>
            <a:endParaRPr lang="zh-CN" altLang="en-US" sz="3600" b="1" dirty="0" smtClean="0">
              <a:solidFill>
                <a:srgbClr val="C00000"/>
              </a:solidFill>
              <a:sym typeface="+mn-ea"/>
            </a:endParaRPr>
          </a:p>
        </p:txBody>
      </p:sp>
      <p:sp>
        <p:nvSpPr>
          <p:cNvPr id="3" name="文本框 2"/>
          <p:cNvSpPr txBox="1"/>
          <p:nvPr/>
        </p:nvSpPr>
        <p:spPr>
          <a:xfrm>
            <a:off x="792392" y="3717826"/>
            <a:ext cx="2758440" cy="460375"/>
          </a:xfrm>
          <a:prstGeom prst="rect">
            <a:avLst/>
          </a:prstGeom>
          <a:noFill/>
        </p:spPr>
        <p:txBody>
          <a:bodyPr wrap="none" rtlCol="0">
            <a:spAutoFit/>
          </a:bodyPr>
          <a:lstStyle/>
          <a:p>
            <a:r>
              <a:rPr kumimoji="1" lang="zh-CN" altLang="en-US" dirty="0" smtClean="0"/>
              <a:t>张俊（</a:t>
            </a:r>
            <a:r>
              <a:rPr kumimoji="1" lang="en-US" altLang="zh-CN" dirty="0" smtClean="0"/>
              <a:t>00896153</a:t>
            </a:r>
            <a:r>
              <a:rPr kumimoji="1" lang="zh-CN" altLang="en-US" dirty="0" smtClean="0"/>
              <a:t>）</a:t>
            </a:r>
            <a:endParaRPr kumimoji="1" lang="zh-CN" altLang="en-US" dirty="0"/>
          </a:p>
        </p:txBody>
      </p:sp>
    </p:spTree>
  </p:cSld>
  <p:clrMapOvr>
    <a:masterClrMapping/>
  </p:clrMapOvr>
  <p:transition advClick="0">
    <p:fade thruBlk="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408834" y="261702"/>
            <a:ext cx="11432117" cy="762141"/>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LLM的核心挑战（一）：准确性与可解释性</a:t>
            </a:r>
            <a:endParaRPr lang="en-US" sz="1100"/>
          </a:p>
        </p:txBody>
      </p:sp>
      <p:sp>
        <p:nvSpPr>
          <p:cNvPr id="4" name="AutoShape 4"/>
          <p:cNvSpPr/>
          <p:nvPr/>
        </p:nvSpPr>
        <p:spPr>
          <a:xfrm>
            <a:off x="381529" y="1397259"/>
            <a:ext cx="5525523" cy="508094"/>
          </a:xfrm>
          <a:prstGeom prst="roundRect">
            <a:avLst>
              <a:gd name="adj" fmla="val 0"/>
            </a:avLst>
          </a:prstGeom>
          <a:solidFill>
            <a:srgbClr val="FEF2F2">
              <a:alpha val="100000"/>
            </a:srgbClr>
          </a:solidFill>
          <a:ln w="25400" cap="flat" cmpd="sng">
            <a:noFill/>
            <a:prstDash val="solid"/>
            <a:round/>
          </a:ln>
        </p:spPr>
        <p:txBody>
          <a:bodyPr vert="horz" wrap="square" lIns="63511" tIns="63511" rIns="63511" bIns="63511" rtlCol="0" anchor="ctr"/>
          <a:lstStyle/>
          <a:p>
            <a:pPr algn="ctr">
              <a:defRPr/>
            </a:pPr>
          </a:p>
        </p:txBody>
      </p:sp>
      <p:sp>
        <p:nvSpPr>
          <p:cNvPr id="5" name="AutoShape 5"/>
          <p:cNvSpPr/>
          <p:nvPr/>
        </p:nvSpPr>
        <p:spPr>
          <a:xfrm>
            <a:off x="508553" y="1473473"/>
            <a:ext cx="5271476" cy="381071"/>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01 准确性与可靠性：幻觉与谄媚的双重陷阱</a:t>
            </a:r>
            <a:endParaRPr lang="en-US" sz="1100"/>
          </a:p>
        </p:txBody>
      </p:sp>
      <p:sp>
        <p:nvSpPr>
          <p:cNvPr id="6" name="AutoShape 6"/>
          <p:cNvSpPr/>
          <p:nvPr/>
        </p:nvSpPr>
        <p:spPr>
          <a:xfrm>
            <a:off x="381529" y="2095888"/>
            <a:ext cx="5525523" cy="146077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11" tIns="63511" rIns="63511" bIns="63511"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2064" y="2286423"/>
            <a:ext cx="406475" cy="406475"/>
          </a:xfrm>
          <a:prstGeom prst="rect">
            <a:avLst/>
          </a:prstGeom>
        </p:spPr>
      </p:pic>
      <p:sp>
        <p:nvSpPr>
          <p:cNvPr id="8" name="AutoShape 8"/>
          <p:cNvSpPr/>
          <p:nvPr/>
        </p:nvSpPr>
        <p:spPr>
          <a:xfrm>
            <a:off x="1080159" y="2286423"/>
            <a:ext cx="4572847" cy="304856"/>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幻觉 (Hallucination)：无中生有的“编造”</a:t>
            </a:r>
            <a:endParaRPr lang="en-US" sz="1100"/>
          </a:p>
        </p:txBody>
      </p:sp>
      <p:sp>
        <p:nvSpPr>
          <p:cNvPr id="9" name="AutoShape 9"/>
          <p:cNvSpPr/>
          <p:nvPr/>
        </p:nvSpPr>
        <p:spPr>
          <a:xfrm>
            <a:off x="572064" y="2731006"/>
            <a:ext cx="4953917" cy="762141"/>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基于统计规律生成文本，缺乏事实依据时易编造看似合理的虚假信息。在工业质检、精密制造等高精度场景中，这种“一本正经的胡说八道”会引发严重的安全与质量风险。</a:t>
            </a:r>
            <a:endParaRPr lang="en-US" sz="1100"/>
          </a:p>
        </p:txBody>
      </p:sp>
      <p:sp>
        <p:nvSpPr>
          <p:cNvPr id="10" name="AutoShape 10"/>
          <p:cNvSpPr/>
          <p:nvPr/>
        </p:nvSpPr>
        <p:spPr>
          <a:xfrm>
            <a:off x="381529" y="3747194"/>
            <a:ext cx="5525523" cy="146077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11" tIns="63511" rIns="63511" bIns="63511"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2064" y="3937729"/>
            <a:ext cx="406475" cy="406475"/>
          </a:xfrm>
          <a:prstGeom prst="rect">
            <a:avLst/>
          </a:prstGeom>
        </p:spPr>
      </p:pic>
      <p:sp>
        <p:nvSpPr>
          <p:cNvPr id="12" name="AutoShape 12"/>
          <p:cNvSpPr/>
          <p:nvPr/>
        </p:nvSpPr>
        <p:spPr>
          <a:xfrm>
            <a:off x="1080159" y="3937729"/>
            <a:ext cx="4572847" cy="304856"/>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谄媚 (Sycophancy)：违背客观的“迎合”</a:t>
            </a:r>
            <a:endParaRPr lang="en-US" sz="1100"/>
          </a:p>
        </p:txBody>
      </p:sp>
      <p:sp>
        <p:nvSpPr>
          <p:cNvPr id="13" name="AutoShape 13"/>
          <p:cNvSpPr/>
          <p:nvPr/>
        </p:nvSpPr>
        <p:spPr>
          <a:xfrm>
            <a:off x="572064" y="4382311"/>
            <a:ext cx="4953917" cy="762141"/>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为迎合用户偏好而牺牲事实，输出用户“想听”而非“正确”的答案。这破坏了AI的中立性，导致决策偏倚，在需要客观分析的金融研判、舆情分析场景中尤为致命。</a:t>
            </a:r>
            <a:endParaRPr lang="en-US" sz="1100"/>
          </a:p>
        </p:txBody>
      </p:sp>
      <p:sp>
        <p:nvSpPr>
          <p:cNvPr id="14" name="AutoShape 14"/>
          <p:cNvSpPr/>
          <p:nvPr/>
        </p:nvSpPr>
        <p:spPr>
          <a:xfrm>
            <a:off x="381529" y="5462011"/>
            <a:ext cx="5525523" cy="698629"/>
          </a:xfrm>
          <a:prstGeom prst="roundRect">
            <a:avLst>
              <a:gd name="adj" fmla="val 0"/>
            </a:avLst>
          </a:prstGeom>
          <a:solidFill>
            <a:srgbClr val="FEE2E2">
              <a:alpha val="50000"/>
            </a:srgbClr>
          </a:solidFill>
          <a:ln w="25400" cap="flat" cmpd="sng">
            <a:noFill/>
            <a:prstDash val="solid"/>
            <a:round/>
          </a:ln>
        </p:spPr>
        <p:txBody>
          <a:bodyPr vert="horz" wrap="square" lIns="63511" tIns="63511" rIns="63511" bIns="63511" rtlCol="0" anchor="ctr"/>
          <a:lstStyle/>
          <a:p>
            <a:pPr algn="ctr">
              <a:defRPr/>
            </a:pPr>
          </a:p>
        </p:txBody>
      </p:sp>
      <p:sp>
        <p:nvSpPr>
          <p:cNvPr id="15" name="AutoShape 15"/>
          <p:cNvSpPr/>
          <p:nvPr/>
        </p:nvSpPr>
        <p:spPr>
          <a:xfrm>
            <a:off x="508553" y="5563630"/>
            <a:ext cx="5271476" cy="571606"/>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991B1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核心痛点：</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输出结果不可控，无法满足高可靠业务场景对“事实准确性”的硬性要求，成为工业化落地的第一道关卡。</a:t>
            </a:r>
            <a:endParaRPr lang="en-US" sz="1100"/>
          </a:p>
        </p:txBody>
      </p:sp>
      <p:sp>
        <p:nvSpPr>
          <p:cNvPr id="16" name="AutoShape 16"/>
          <p:cNvSpPr/>
          <p:nvPr/>
        </p:nvSpPr>
        <p:spPr>
          <a:xfrm>
            <a:off x="6288123" y="1397259"/>
            <a:ext cx="5525523" cy="508094"/>
          </a:xfrm>
          <a:prstGeom prst="roundRect">
            <a:avLst>
              <a:gd name="adj" fmla="val 0"/>
            </a:avLst>
          </a:prstGeom>
          <a:solidFill>
            <a:srgbClr val="EFF6FF">
              <a:alpha val="100000"/>
            </a:srgbClr>
          </a:solidFill>
          <a:ln w="25400" cap="flat" cmpd="sng">
            <a:noFill/>
            <a:prstDash val="solid"/>
            <a:round/>
          </a:ln>
        </p:spPr>
        <p:txBody>
          <a:bodyPr vert="horz" wrap="square" lIns="63511" tIns="63511" rIns="63511" bIns="63511" rtlCol="0" anchor="ctr"/>
          <a:lstStyle/>
          <a:p>
            <a:pPr algn="ctr">
              <a:defRPr/>
            </a:pPr>
          </a:p>
        </p:txBody>
      </p:sp>
      <p:sp>
        <p:nvSpPr>
          <p:cNvPr id="17" name="AutoShape 17"/>
          <p:cNvSpPr/>
          <p:nvPr/>
        </p:nvSpPr>
        <p:spPr>
          <a:xfrm>
            <a:off x="6415146" y="1473473"/>
            <a:ext cx="5271476" cy="381071"/>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D4ED8"/>
                </a:solidFill>
                <a:latin typeface="Noto Sans SC" panose="020B0200000000000000" charset="-122"/>
                <a:ea typeface="Noto Sans SC" panose="020B0200000000000000" charset="-122"/>
                <a:cs typeface="Noto Sans SC" panose="020B0200000000000000" charset="-122"/>
                <a:sym typeface="Noto Sans SC" panose="020B0200000000000000" charset="-122"/>
              </a:rPr>
              <a:t>02 可解释性困境：AI决策的“黑箱”壁垒</a:t>
            </a:r>
            <a:endParaRPr lang="en-US" sz="1100"/>
          </a:p>
        </p:txBody>
      </p:sp>
      <p:sp>
        <p:nvSpPr>
          <p:cNvPr id="18" name="AutoShape 18"/>
          <p:cNvSpPr/>
          <p:nvPr/>
        </p:nvSpPr>
        <p:spPr>
          <a:xfrm>
            <a:off x="6288123" y="2095888"/>
            <a:ext cx="5525523" cy="146077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11" tIns="63511" rIns="63511" bIns="63511" rtlCol="0" anchor="ctr"/>
          <a:lstStyle/>
          <a:p>
            <a:pPr algn="ctr">
              <a:defRPr/>
            </a:pPr>
          </a:p>
        </p:txBody>
      </p:sp>
      <p:pic>
        <p:nvPicPr>
          <p:cNvPr id="19" name="Picture 1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8658" y="2286423"/>
            <a:ext cx="406475" cy="406475"/>
          </a:xfrm>
          <a:prstGeom prst="rect">
            <a:avLst/>
          </a:prstGeom>
        </p:spPr>
      </p:pic>
      <p:sp>
        <p:nvSpPr>
          <p:cNvPr id="20" name="AutoShape 20"/>
          <p:cNvSpPr/>
          <p:nvPr/>
        </p:nvSpPr>
        <p:spPr>
          <a:xfrm>
            <a:off x="6986752" y="2286423"/>
            <a:ext cx="4572847" cy="304856"/>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黑箱决策：无法追溯的推理逻辑</a:t>
            </a:r>
            <a:endParaRPr lang="en-US" sz="1100"/>
          </a:p>
        </p:txBody>
      </p:sp>
      <p:sp>
        <p:nvSpPr>
          <p:cNvPr id="21" name="AutoShape 21"/>
          <p:cNvSpPr/>
          <p:nvPr/>
        </p:nvSpPr>
        <p:spPr>
          <a:xfrm>
            <a:off x="6478658" y="2731006"/>
            <a:ext cx="4953917" cy="762141"/>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基于深层神经网络的万亿级参数运算，内部决策逻辑如同“黑箱”，无法直观拆解推导路径。这导致我们只知其输出结果，却无法解释“为什么得出这个结论”。</a:t>
            </a:r>
            <a:endParaRPr lang="en-US" sz="1100"/>
          </a:p>
        </p:txBody>
      </p:sp>
      <p:sp>
        <p:nvSpPr>
          <p:cNvPr id="22" name="AutoShape 22"/>
          <p:cNvSpPr/>
          <p:nvPr/>
        </p:nvSpPr>
        <p:spPr>
          <a:xfrm>
            <a:off x="6288123" y="3747194"/>
            <a:ext cx="5525523" cy="146077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11" tIns="63511" rIns="63511" bIns="63511" rtlCol="0" anchor="ctr"/>
          <a:lstStyle/>
          <a:p>
            <a:pPr algn="ctr">
              <a:defRPr/>
            </a:pPr>
          </a:p>
        </p:txBody>
      </p:sp>
      <p:pic>
        <p:nvPicPr>
          <p:cNvPr id="23" name="Picture 2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8658" y="3937729"/>
            <a:ext cx="406475" cy="406475"/>
          </a:xfrm>
          <a:prstGeom prst="rect">
            <a:avLst/>
          </a:prstGeom>
        </p:spPr>
      </p:pic>
      <p:sp>
        <p:nvSpPr>
          <p:cNvPr id="24" name="AutoShape 24"/>
          <p:cNvSpPr/>
          <p:nvPr/>
        </p:nvSpPr>
        <p:spPr>
          <a:xfrm>
            <a:off x="6986752" y="3937729"/>
            <a:ext cx="4572847" cy="304856"/>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合规壁垒：监管与追责的盲区</a:t>
            </a:r>
            <a:endParaRPr lang="en-US" sz="1100"/>
          </a:p>
        </p:txBody>
      </p:sp>
      <p:sp>
        <p:nvSpPr>
          <p:cNvPr id="25" name="AutoShape 25"/>
          <p:cNvSpPr/>
          <p:nvPr/>
        </p:nvSpPr>
        <p:spPr>
          <a:xfrm>
            <a:off x="6478658" y="4382311"/>
            <a:ext cx="4953917" cy="762141"/>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在金融风控、医疗诊断、司法辅助等强监管领域，要求决策过程必须透明可审计。黑箱特性导致无法满足合规与追责要求，成为规模化商用的核心阻碍。</a:t>
            </a:r>
            <a:endParaRPr lang="en-US" sz="1100"/>
          </a:p>
        </p:txBody>
      </p:sp>
      <p:sp>
        <p:nvSpPr>
          <p:cNvPr id="26" name="AutoShape 26"/>
          <p:cNvSpPr/>
          <p:nvPr/>
        </p:nvSpPr>
        <p:spPr>
          <a:xfrm>
            <a:off x="6288123" y="5462011"/>
            <a:ext cx="5525523" cy="698629"/>
          </a:xfrm>
          <a:prstGeom prst="roundRect">
            <a:avLst>
              <a:gd name="adj" fmla="val 0"/>
            </a:avLst>
          </a:prstGeom>
          <a:solidFill>
            <a:srgbClr val="DBEAFE">
              <a:alpha val="50000"/>
            </a:srgbClr>
          </a:solidFill>
          <a:ln w="25400" cap="flat" cmpd="sng">
            <a:noFill/>
            <a:prstDash val="solid"/>
            <a:round/>
          </a:ln>
        </p:spPr>
        <p:txBody>
          <a:bodyPr vert="horz" wrap="square" lIns="63511" tIns="63511" rIns="63511" bIns="63511" rtlCol="0" anchor="ctr"/>
          <a:lstStyle/>
          <a:p>
            <a:pPr algn="ctr">
              <a:defRPr/>
            </a:pPr>
          </a:p>
        </p:txBody>
      </p:sp>
      <p:sp>
        <p:nvSpPr>
          <p:cNvPr id="27" name="AutoShape 27"/>
          <p:cNvSpPr/>
          <p:nvPr/>
        </p:nvSpPr>
        <p:spPr>
          <a:xfrm>
            <a:off x="6415146" y="5563630"/>
            <a:ext cx="5271476" cy="571606"/>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核心痛点：</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决策逻辑不可溯，无法满足关键行业的合规审计要求，制约了LLM在高价值、高监管领域的深度应用。</a:t>
            </a:r>
            <a:endParaRPr lang="en-US" sz="1100"/>
          </a:p>
        </p:txBody>
      </p:sp>
    </p:spTree>
    <p:custDataLst>
      <p:tags r:id="rId9"/>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AutoShape 16"/>
          <p:cNvSpPr/>
          <p:nvPr/>
        </p:nvSpPr>
        <p:spPr>
          <a:xfrm>
            <a:off x="6224623" y="1197869"/>
            <a:ext cx="5525523" cy="508094"/>
          </a:xfrm>
          <a:prstGeom prst="roundRect">
            <a:avLst>
              <a:gd name="adj" fmla="val 0"/>
            </a:avLst>
          </a:prstGeom>
          <a:solidFill>
            <a:srgbClr val="EFF6FF">
              <a:alpha val="100000"/>
            </a:srgbClr>
          </a:solidFill>
          <a:ln w="25400" cap="flat" cmpd="sng">
            <a:noFill/>
            <a:prstDash val="solid"/>
            <a:round/>
          </a:ln>
        </p:spPr>
        <p:txBody>
          <a:bodyPr vert="horz" wrap="square" lIns="63511" tIns="63511" rIns="63511" bIns="63511" rtlCol="0" anchor="ctr"/>
          <a:lstStyle/>
          <a:p>
            <a:pPr algn="ctr">
              <a:defRPr/>
            </a:pPr>
          </a:p>
        </p:txBody>
      </p:sp>
      <p:sp>
        <p:nvSpPr>
          <p:cNvPr id="3" name="AutoShape 3"/>
          <p:cNvSpPr/>
          <p:nvPr/>
        </p:nvSpPr>
        <p:spPr>
          <a:xfrm>
            <a:off x="508553" y="381071"/>
            <a:ext cx="11178070" cy="762141"/>
          </a:xfrm>
          <a:prstGeom prst="rect">
            <a:avLst/>
          </a:prstGeom>
          <a:noFill/>
          <a:ln w="12700" cap="flat" cmpd="sng">
            <a:noFill/>
            <a:prstDash val="solid"/>
            <a:round/>
          </a:ln>
        </p:spPr>
        <p:txBody>
          <a:bodyPr vert="horz" wrap="square" lIns="127023" tIns="63511" rIns="127023" bIns="63511" rtlCol="0" anchor="ctr" anchorCtr="0">
            <a:noAutofit/>
          </a:bodyPr>
          <a:lstStyle/>
          <a:p>
            <a:pPr lvl="0" algn="l">
              <a:buClrTx/>
              <a:buSzTx/>
              <a:buFontTx/>
              <a:defRPr/>
            </a:pPr>
            <a:r>
              <a:rPr lang="en-US" sz="28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LLM的核心挑战（二）：安全性与对齐</a:t>
            </a:r>
            <a:endParaRPr lang="en-US" sz="28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grpSp>
        <p:nvGrpSpPr>
          <p:cNvPr id="23" name="组合 22"/>
          <p:cNvGrpSpPr/>
          <p:nvPr/>
        </p:nvGrpSpPr>
        <p:grpSpPr>
          <a:xfrm>
            <a:off x="516255" y="1196975"/>
            <a:ext cx="5533684" cy="515949"/>
            <a:chOff x="801" y="1801"/>
            <a:chExt cx="8714" cy="813"/>
          </a:xfrm>
        </p:grpSpPr>
        <p:sp>
          <p:nvSpPr>
            <p:cNvPr id="2" name="AutoShape 4"/>
            <p:cNvSpPr/>
            <p:nvPr/>
          </p:nvSpPr>
          <p:spPr>
            <a:xfrm>
              <a:off x="801" y="1801"/>
              <a:ext cx="8588" cy="800"/>
            </a:xfrm>
            <a:prstGeom prst="roundRect">
              <a:avLst>
                <a:gd name="adj" fmla="val 0"/>
              </a:avLst>
            </a:prstGeom>
            <a:solidFill>
              <a:srgbClr val="FEF2F2">
                <a:alpha val="100000"/>
              </a:srgbClr>
            </a:solidFill>
            <a:ln w="25400" cap="flat" cmpd="sng">
              <a:noFill/>
              <a:prstDash val="solid"/>
              <a:round/>
            </a:ln>
          </p:spPr>
          <p:txBody>
            <a:bodyPr vert="horz" wrap="square" lIns="63511" tIns="63511" rIns="63511" bIns="63511" rtlCol="0" anchor="ctr"/>
            <a:lstStyle/>
            <a:p>
              <a:pPr algn="ctr">
                <a:defRPr/>
              </a:pPr>
            </a:p>
          </p:txBody>
        </p:sp>
        <p:sp>
          <p:nvSpPr>
            <p:cNvPr id="4" name="AutoShape 4"/>
            <p:cNvSpPr/>
            <p:nvPr/>
          </p:nvSpPr>
          <p:spPr>
            <a:xfrm>
              <a:off x="914" y="1813"/>
              <a:ext cx="8602" cy="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01 安全性问题：越狱与注入攻击</a:t>
              </a:r>
              <a:endParaRPr lang="en-US" sz="1100"/>
            </a:p>
          </p:txBody>
        </p:sp>
      </p:grpSp>
      <p:sp>
        <p:nvSpPr>
          <p:cNvPr id="5" name="AutoShape 5"/>
          <p:cNvSpPr/>
          <p:nvPr/>
        </p:nvSpPr>
        <p:spPr>
          <a:xfrm>
            <a:off x="508553" y="1905353"/>
            <a:ext cx="5462011" cy="1206723"/>
          </a:xfrm>
          <a:prstGeom prst="roundRect">
            <a:avLst>
              <a:gd name="adj" fmla="val 0"/>
            </a:avLst>
          </a:prstGeom>
          <a:solidFill>
            <a:srgbClr val="FEF2F2">
              <a:alpha val="100000"/>
            </a:srgbClr>
          </a:solidFill>
          <a:ln w="12700" cap="flat" cmpd="sng">
            <a:solidFill>
              <a:srgbClr val="FCA5A5">
                <a:alpha val="100000"/>
              </a:srgbClr>
            </a:solidFill>
            <a:prstDash val="solid"/>
            <a:round/>
          </a:ln>
        </p:spPr>
        <p:txBody>
          <a:bodyPr vert="horz" wrap="square" lIns="63511" tIns="63511" rIns="63511" bIns="63511"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9088" y="2095888"/>
            <a:ext cx="406475" cy="406475"/>
          </a:xfrm>
          <a:prstGeom prst="rect">
            <a:avLst/>
          </a:prstGeom>
        </p:spPr>
      </p:pic>
      <p:sp>
        <p:nvSpPr>
          <p:cNvPr id="7" name="AutoShape 7"/>
          <p:cNvSpPr/>
          <p:nvPr/>
        </p:nvSpPr>
        <p:spPr>
          <a:xfrm>
            <a:off x="1207182" y="2032376"/>
            <a:ext cx="4699870" cy="1016188"/>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越狱攻击 (Jailbreak)</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攻击者通过精心构造的“提示词咒语”绕过模型安全护栏，诱导模型输出违法、暴力等有害信息，或执行未授权的危险操作，直接突破内容风控防线。</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508553" y="3302611"/>
            <a:ext cx="5462011" cy="1206723"/>
          </a:xfrm>
          <a:prstGeom prst="roundRect">
            <a:avLst>
              <a:gd name="adj" fmla="val 0"/>
            </a:avLst>
          </a:prstGeom>
          <a:solidFill>
            <a:srgbClr val="FEF2F2">
              <a:alpha val="100000"/>
            </a:srgbClr>
          </a:solidFill>
          <a:ln w="12700" cap="flat" cmpd="sng">
            <a:solidFill>
              <a:srgbClr val="FCA5A5">
                <a:alpha val="100000"/>
              </a:srgbClr>
            </a:solidFill>
            <a:prstDash val="solid"/>
            <a:round/>
          </a:ln>
        </p:spPr>
        <p:txBody>
          <a:bodyPr vert="horz" wrap="square" lIns="63511" tIns="63511" rIns="63511" bIns="63511"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9088" y="3493147"/>
            <a:ext cx="406475" cy="406475"/>
          </a:xfrm>
          <a:prstGeom prst="rect">
            <a:avLst/>
          </a:prstGeom>
        </p:spPr>
      </p:pic>
      <p:sp>
        <p:nvSpPr>
          <p:cNvPr id="10" name="AutoShape 10"/>
          <p:cNvSpPr/>
          <p:nvPr/>
        </p:nvSpPr>
        <p:spPr>
          <a:xfrm>
            <a:off x="1207182" y="3429635"/>
            <a:ext cx="4699870" cy="1016188"/>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提示词注入 (Prompt Injection)</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恶意指令隐藏在用户上传的文档、链接或输入文本中，模型读取时误将其作为合法指令执行，可能导致数据泄露、系统被操控，甚至沦为网络攻击的跳板。</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6245566" y="1200385"/>
            <a:ext cx="5462011" cy="508094"/>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ClrTx/>
              <a:buSzTx/>
              <a:buFontTx/>
              <a:defRPr/>
            </a:pPr>
            <a:r>
              <a:rPr lang="en-US" sz="1800" b="1">
                <a:solidFill>
                  <a:srgbClr val="1D4ED8"/>
                </a:solidFill>
                <a:latin typeface="Noto Sans SC" panose="020B0200000000000000" charset="-122"/>
                <a:ea typeface="Noto Sans SC" panose="020B0200000000000000" charset="-122"/>
                <a:cs typeface="Noto Sans SC" panose="020B0200000000000000" charset="-122"/>
                <a:sym typeface="Noto Sans SC" panose="020B0200000000000000" charset="-122"/>
              </a:rPr>
              <a:t>02 对齐难题：目标与现实的偏差</a:t>
            </a:r>
            <a:endParaRPr lang="en-US" sz="1800" b="1">
              <a:solidFill>
                <a:srgbClr val="1D4ED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6224611" y="1905353"/>
            <a:ext cx="5462011" cy="1206723"/>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11" tIns="63511" rIns="63511" bIns="63511"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15146" y="2095888"/>
            <a:ext cx="406475" cy="406475"/>
          </a:xfrm>
          <a:prstGeom prst="rect">
            <a:avLst/>
          </a:prstGeom>
        </p:spPr>
      </p:pic>
      <p:sp>
        <p:nvSpPr>
          <p:cNvPr id="14" name="AutoShape 14"/>
          <p:cNvSpPr/>
          <p:nvPr/>
        </p:nvSpPr>
        <p:spPr>
          <a:xfrm>
            <a:off x="6923240" y="2032376"/>
            <a:ext cx="4699870" cy="1016188"/>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规范博弈 (Specification Gaming)</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模型为达成预设目标，利用规则漏洞寻找“捷径”，产生违背人类真实意图的结果。例如为了“降低成本”而牺牲质量，或为了“完成任务”而编造虚假信息。</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6224611" y="3302611"/>
            <a:ext cx="5462011" cy="1206723"/>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11" tIns="63511" rIns="63511" bIns="63511"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5146" y="3493147"/>
            <a:ext cx="406475" cy="406475"/>
          </a:xfrm>
          <a:prstGeom prst="rect">
            <a:avLst/>
          </a:prstGeom>
        </p:spPr>
      </p:pic>
      <p:sp>
        <p:nvSpPr>
          <p:cNvPr id="17" name="AutoShape 17"/>
          <p:cNvSpPr/>
          <p:nvPr/>
        </p:nvSpPr>
        <p:spPr>
          <a:xfrm>
            <a:off x="6923240" y="3429635"/>
            <a:ext cx="4699870" cy="1016188"/>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对齐税 (Alignment Tax)</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为让模型更安全、更符合人类价值观，需通过微调、RLHF等手段限制其“自由发挥”，这往往会牺牲模型的推理能力或生成效率，陷入“更安全却更笨拙”的性能损耗困境。</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508553" y="4826894"/>
            <a:ext cx="5462011" cy="1143212"/>
          </a:xfrm>
          <a:prstGeom prst="roundRect">
            <a:avLst>
              <a:gd name="adj" fmla="val 0"/>
            </a:avLst>
          </a:prstGeom>
          <a:solidFill>
            <a:srgbClr val="FEF2F2">
              <a:alpha val="100000"/>
            </a:srgbClr>
          </a:solidFill>
          <a:ln w="12700" cap="flat" cmpd="sng">
            <a:solidFill>
              <a:srgbClr val="FCA5A5">
                <a:alpha val="100000"/>
              </a:srgbClr>
            </a:solidFill>
            <a:prstDash val="solid"/>
            <a:round/>
          </a:ln>
        </p:spPr>
        <p:txBody>
          <a:bodyPr vert="horz" wrap="square" lIns="63511" tIns="63511" rIns="63511" bIns="63511" rtlCol="0" anchor="ctr">
            <a:noAutofit/>
          </a:bodyPr>
          <a:lstStyle/>
          <a:p>
            <a:pPr lvl="0" algn="ctr">
              <a:buClrTx/>
              <a:buSzTx/>
              <a:buFontTx/>
              <a:defRPr/>
            </a:pPr>
            <a:endParaRPr>
              <a:sym typeface="+mn-ea"/>
            </a:endParaRPr>
          </a:p>
        </p:txBody>
      </p:sp>
      <p:sp>
        <p:nvSpPr>
          <p:cNvPr id="19" name="AutoShape 19"/>
          <p:cNvSpPr/>
          <p:nvPr/>
        </p:nvSpPr>
        <p:spPr>
          <a:xfrm>
            <a:off x="635576" y="4928513"/>
            <a:ext cx="5207964" cy="1016188"/>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核心风险：防线脆弱与失控风险</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LLM的开放性交互模式使其成为网络攻击的高价值目标。安全漏洞不仅破坏内容合规，更可能引发隐私泄露、品牌风险，甚至被用于诈骗、虚假信息传播等恶意行为。</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6224611" y="4826894"/>
            <a:ext cx="5462011" cy="1143212"/>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11" tIns="63511" rIns="63511" bIns="63511" rtlCol="0" anchor="ctr">
            <a:noAutofit/>
          </a:bodyPr>
          <a:lstStyle/>
          <a:p>
            <a:pPr lvl="0" algn="ctr">
              <a:buClrTx/>
              <a:buSzTx/>
              <a:buFontTx/>
              <a:defRPr/>
            </a:pPr>
            <a:endParaRPr>
              <a:sym typeface="+mn-ea"/>
            </a:endParaRPr>
          </a:p>
        </p:txBody>
      </p:sp>
      <p:sp>
        <p:nvSpPr>
          <p:cNvPr id="21" name="AutoShape 21"/>
          <p:cNvSpPr/>
          <p:nvPr/>
        </p:nvSpPr>
        <p:spPr>
          <a:xfrm>
            <a:off x="6389100" y="4890413"/>
            <a:ext cx="5207964" cy="1016188"/>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D4ED8"/>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关键挑战：平衡安全与效能</a:t>
            </a:r>
            <a:endParaRPr lang="en-US" sz="1100">
              <a:solidFill>
                <a:srgbClr val="1D4ED8"/>
              </a:solidFill>
            </a:endParaRPr>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解决对齐问题往往意味着在模型能力上做出妥协。如何通过技术创新（如更高效的对齐算法）减少“对齐税”，同时建立动态防御机制抵御越狱攻击，是LLM规模化落地的关键。</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2"/>
          <p:cNvSpPr/>
          <p:nvPr/>
        </p:nvSpPr>
        <p:spPr>
          <a:xfrm>
            <a:off x="459" y="6351176"/>
            <a:ext cx="12194258" cy="50809"/>
          </a:xfrm>
          <a:prstGeom prst="roundRect">
            <a:avLst>
              <a:gd name="adj" fmla="val 0"/>
            </a:avLst>
          </a:prstGeom>
          <a:solidFill>
            <a:srgbClr val="F3F4F6">
              <a:alpha val="100000"/>
            </a:srgbClr>
          </a:solidFill>
          <a:ln w="25400" cap="flat" cmpd="sng">
            <a:noFill/>
            <a:prstDash val="solid"/>
            <a:round/>
          </a:ln>
        </p:spPr>
        <p:txBody>
          <a:bodyPr vert="horz" wrap="square" lIns="63511" tIns="63511" rIns="63511" bIns="63511" rtlCol="0" anchor="ctr"/>
          <a:lstStyle/>
          <a:p>
            <a:pPr algn="ctr">
              <a:defRPr/>
            </a:pPr>
          </a:p>
        </p:txBody>
      </p:sp>
    </p:spTree>
    <p:custDataLst>
      <p:tags r:id="rId9"/>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1983" y="762"/>
            <a:ext cx="12194258" cy="6859270"/>
          </a:xfrm>
          <a:prstGeom prst="rect">
            <a:avLst/>
          </a:prstGeom>
          <a:noFill/>
          <a:ln w="25400" cap="flat" cmpd="sng">
            <a:noFill/>
            <a:prstDash val="solid"/>
            <a:round/>
          </a:ln>
        </p:spPr>
      </p:pic>
      <p:sp>
        <p:nvSpPr>
          <p:cNvPr id="3" name="AutoShape 3"/>
          <p:cNvSpPr/>
          <p:nvPr/>
        </p:nvSpPr>
        <p:spPr>
          <a:xfrm>
            <a:off x="11839051" y="6351176"/>
            <a:ext cx="330261" cy="431880"/>
          </a:xfrm>
          <a:prstGeom prst="roundRect">
            <a:avLst>
              <a:gd name="adj" fmla="val 0"/>
            </a:avLst>
          </a:prstGeom>
          <a:noFill/>
          <a:ln w="25400" cap="flat" cmpd="sng">
            <a:noFill/>
            <a:prstDash val="solid"/>
            <a:round/>
          </a:ln>
        </p:spPr>
        <p:txBody>
          <a:bodyPr vert="horz" wrap="square" lIns="63511" tIns="63511" rIns="63511" bIns="63511" rtlCol="0" anchor="ctr"/>
          <a:lstStyle/>
          <a:p>
            <a:pPr algn="ctr">
              <a:defRPr/>
            </a:pPr>
          </a:p>
        </p:txBody>
      </p:sp>
      <p:sp>
        <p:nvSpPr>
          <p:cNvPr id="4" name="AutoShape 4"/>
          <p:cNvSpPr/>
          <p:nvPr/>
        </p:nvSpPr>
        <p:spPr>
          <a:xfrm>
            <a:off x="838814" y="1066998"/>
            <a:ext cx="10669976" cy="660522"/>
          </a:xfrm>
          <a:prstGeom prst="roundRect">
            <a:avLst>
              <a:gd name="adj" fmla="val 0"/>
            </a:avLst>
          </a:prstGeom>
          <a:solidFill>
            <a:schemeClr val="bg1">
              <a:lumMod val="95000"/>
            </a:schemeClr>
          </a:solidFill>
          <a:ln w="25400" cap="flat" cmpd="sng">
            <a:noFill/>
            <a:prstDash val="solid"/>
            <a:round/>
          </a:ln>
        </p:spPr>
        <p:txBody>
          <a:bodyPr vert="horz" wrap="square" lIns="63511" tIns="63511" rIns="63511" bIns="63511" rtlCol="0" anchor="ctr"/>
          <a:lstStyle/>
          <a:p>
            <a:pPr algn="ctr">
              <a:defRPr/>
            </a:pPr>
            <a:endParaRPr>
              <a:solidFill>
                <a:schemeClr val="bg1">
                  <a:lumMod val="95000"/>
                </a:schemeClr>
              </a:solidFill>
            </a:endParaRPr>
          </a:p>
        </p:txBody>
      </p:sp>
      <p:sp>
        <p:nvSpPr>
          <p:cNvPr id="5" name="AutoShape 5"/>
          <p:cNvSpPr/>
          <p:nvPr/>
        </p:nvSpPr>
        <p:spPr>
          <a:xfrm>
            <a:off x="330720" y="165131"/>
            <a:ext cx="10187286" cy="876462"/>
          </a:xfrm>
          <a:prstGeom prst="rect">
            <a:avLst/>
          </a:prstGeom>
          <a:noFill/>
          <a:ln w="12700" cap="flat" cmpd="sng">
            <a:noFill/>
            <a:prstDash val="solid"/>
            <a:round/>
          </a:ln>
        </p:spPr>
        <p:txBody>
          <a:bodyPr vert="horz" wrap="square" lIns="127023" tIns="63511" rIns="127023" bIns="63511" rtlCol="0" anchor="ctr" anchorCtr="0"/>
          <a:lstStyle/>
          <a:p>
            <a:pPr marL="0" indent="0" algn="l" defTabSz="1219200">
              <a:lnSpc>
                <a:spcPct val="100000"/>
              </a:lnSpc>
              <a:defRPr/>
            </a:pPr>
            <a:r>
              <a:rPr lang="en-US" sz="28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本体如何解决LLM的核心问题</a:t>
            </a:r>
            <a:endParaRPr lang="en-US" sz="1100"/>
          </a:p>
        </p:txBody>
      </p:sp>
      <p:sp>
        <p:nvSpPr>
          <p:cNvPr id="6" name="AutoShape 6"/>
          <p:cNvSpPr/>
          <p:nvPr>
            <p:custDataLst>
              <p:tags r:id="rId2"/>
            </p:custDataLst>
          </p:nvPr>
        </p:nvSpPr>
        <p:spPr>
          <a:xfrm>
            <a:off x="915028" y="1930757"/>
            <a:ext cx="3429635" cy="4090157"/>
          </a:xfrm>
          <a:prstGeom prst="roundRect">
            <a:avLst>
              <a:gd name="adj" fmla="val 1481"/>
            </a:avLst>
          </a:prstGeom>
          <a:solidFill>
            <a:srgbClr val="FFFFFF">
              <a:alpha val="100000"/>
            </a:srgbClr>
          </a:solidFill>
          <a:ln w="12700" cap="flat" cmpd="sng">
            <a:solidFill>
              <a:srgbClr val="ECECEC">
                <a:alpha val="100000"/>
              </a:srgbClr>
            </a:solidFill>
            <a:prstDash val="solid"/>
            <a:miter lim="1000000"/>
          </a:ln>
        </p:spPr>
        <p:txBody>
          <a:bodyPr vert="horz" wrap="square" lIns="63511" tIns="63511" rIns="63511" bIns="63511" rtlCol="0" anchor="ctr"/>
          <a:lstStyle/>
          <a:p>
            <a:pPr algn="ctr">
              <a:defRPr/>
            </a:pPr>
          </a:p>
        </p:txBody>
      </p:sp>
      <p:sp>
        <p:nvSpPr>
          <p:cNvPr id="7" name="AutoShape 7"/>
          <p:cNvSpPr/>
          <p:nvPr>
            <p:custDataLst>
              <p:tags r:id="rId3"/>
            </p:custDataLst>
          </p:nvPr>
        </p:nvSpPr>
        <p:spPr>
          <a:xfrm>
            <a:off x="1156373" y="2235614"/>
            <a:ext cx="419178" cy="457285"/>
          </a:xfrm>
          <a:prstGeom prst="ellipse">
            <a:avLst/>
          </a:prstGeom>
          <a:solidFill>
            <a:schemeClr val="tx2">
              <a:lumMod val="40000"/>
              <a:lumOff val="60000"/>
            </a:schemeClr>
          </a:solidFill>
          <a:ln w="25400" cap="flat" cmpd="sng">
            <a:noFill/>
            <a:prstDash val="solid"/>
            <a:round/>
          </a:ln>
        </p:spPr>
        <p:txBody>
          <a:bodyPr vert="horz" wrap="square" lIns="63511" tIns="63511" rIns="63511" bIns="63511" rtlCol="0" anchor="ctr"/>
          <a:lstStyle/>
          <a:p>
            <a:pPr algn="ctr">
              <a:defRPr/>
            </a:pPr>
          </a:p>
        </p:txBody>
      </p:sp>
      <p:sp>
        <p:nvSpPr>
          <p:cNvPr id="8" name="Freeform 8"/>
          <p:cNvSpPr/>
          <p:nvPr>
            <p:custDataLst>
              <p:tags r:id="rId4"/>
            </p:custDataLst>
          </p:nvPr>
        </p:nvSpPr>
        <p:spPr>
          <a:xfrm>
            <a:off x="1270694" y="2362637"/>
            <a:ext cx="190535" cy="207683"/>
          </a:xfrm>
          <a:custGeom>
            <a:avLst/>
            <a:gdLst/>
            <a:ahLst/>
            <a:cxnLst/>
            <a:rect l="l" t="t" r="r" b="b"/>
            <a:pathLst>
              <a:path w="190500" h="207645">
                <a:moveTo>
                  <a:pt x="154774" y="84366"/>
                </a:moveTo>
                <a:cubicBezTo>
                  <a:pt x="154526" y="103283"/>
                  <a:pt x="149573" y="119915"/>
                  <a:pt x="139893" y="134243"/>
                </a:cubicBezTo>
                <a:lnTo>
                  <a:pt x="187146" y="185344"/>
                </a:lnTo>
                <a:cubicBezTo>
                  <a:pt x="189376" y="188044"/>
                  <a:pt x="190500" y="191138"/>
                  <a:pt x="190500" y="194667"/>
                </a:cubicBezTo>
                <a:cubicBezTo>
                  <a:pt x="190500" y="198176"/>
                  <a:pt x="189376" y="201291"/>
                  <a:pt x="187146" y="203990"/>
                </a:cubicBezTo>
                <a:cubicBezTo>
                  <a:pt x="184669" y="206419"/>
                  <a:pt x="181812" y="207645"/>
                  <a:pt x="178591" y="207645"/>
                </a:cubicBezTo>
                <a:cubicBezTo>
                  <a:pt x="175353" y="207645"/>
                  <a:pt x="172513" y="206419"/>
                  <a:pt x="170036" y="203990"/>
                </a:cubicBezTo>
                <a:lnTo>
                  <a:pt x="123163" y="152494"/>
                </a:lnTo>
                <a:cubicBezTo>
                  <a:pt x="110016" y="163022"/>
                  <a:pt x="94755" y="168421"/>
                  <a:pt x="77396" y="168712"/>
                </a:cubicBezTo>
                <a:cubicBezTo>
                  <a:pt x="55561" y="168172"/>
                  <a:pt x="37327" y="159929"/>
                  <a:pt x="22694" y="143981"/>
                </a:cubicBezTo>
                <a:cubicBezTo>
                  <a:pt x="8059" y="128013"/>
                  <a:pt x="495" y="108142"/>
                  <a:pt x="0" y="84366"/>
                </a:cubicBezTo>
                <a:cubicBezTo>
                  <a:pt x="495" y="60570"/>
                  <a:pt x="8059" y="40678"/>
                  <a:pt x="22694" y="24731"/>
                </a:cubicBezTo>
                <a:cubicBezTo>
                  <a:pt x="37327" y="8783"/>
                  <a:pt x="55561" y="540"/>
                  <a:pt x="77396" y="0"/>
                </a:cubicBezTo>
                <a:cubicBezTo>
                  <a:pt x="99214" y="540"/>
                  <a:pt x="117447" y="8783"/>
                  <a:pt x="132081" y="24731"/>
                </a:cubicBezTo>
                <a:cubicBezTo>
                  <a:pt x="146714" y="40678"/>
                  <a:pt x="154278" y="60570"/>
                  <a:pt x="154774" y="84366"/>
                </a:cubicBezTo>
                <a:moveTo>
                  <a:pt x="77396" y="142756"/>
                </a:moveTo>
                <a:cubicBezTo>
                  <a:pt x="87057" y="142756"/>
                  <a:pt x="95993" y="140181"/>
                  <a:pt x="104186" y="135052"/>
                </a:cubicBezTo>
                <a:cubicBezTo>
                  <a:pt x="112361" y="129903"/>
                  <a:pt x="118934" y="122739"/>
                  <a:pt x="123908" y="113561"/>
                </a:cubicBezTo>
                <a:cubicBezTo>
                  <a:pt x="128613" y="104362"/>
                  <a:pt x="130976" y="94624"/>
                  <a:pt x="130976" y="84366"/>
                </a:cubicBezTo>
                <a:cubicBezTo>
                  <a:pt x="130976" y="74066"/>
                  <a:pt x="128613" y="64328"/>
                  <a:pt x="123908" y="55151"/>
                </a:cubicBezTo>
                <a:cubicBezTo>
                  <a:pt x="118934" y="45952"/>
                  <a:pt x="112361" y="38788"/>
                  <a:pt x="104186" y="33659"/>
                </a:cubicBezTo>
                <a:cubicBezTo>
                  <a:pt x="95993" y="28510"/>
                  <a:pt x="87057" y="25956"/>
                  <a:pt x="77396" y="25956"/>
                </a:cubicBezTo>
                <a:cubicBezTo>
                  <a:pt x="67718" y="25956"/>
                  <a:pt x="58781" y="28510"/>
                  <a:pt x="50607" y="33659"/>
                </a:cubicBezTo>
                <a:cubicBezTo>
                  <a:pt x="42414" y="38788"/>
                  <a:pt x="35841" y="45952"/>
                  <a:pt x="30886" y="55151"/>
                </a:cubicBezTo>
                <a:cubicBezTo>
                  <a:pt x="26161" y="64328"/>
                  <a:pt x="23818" y="74066"/>
                  <a:pt x="23818" y="84366"/>
                </a:cubicBezTo>
                <a:cubicBezTo>
                  <a:pt x="23818" y="94624"/>
                  <a:pt x="26161" y="104362"/>
                  <a:pt x="30886" y="113561"/>
                </a:cubicBezTo>
                <a:cubicBezTo>
                  <a:pt x="35841" y="122739"/>
                  <a:pt x="42414" y="129903"/>
                  <a:pt x="50607" y="135052"/>
                </a:cubicBezTo>
                <a:cubicBezTo>
                  <a:pt x="58781" y="140181"/>
                  <a:pt x="67718" y="142756"/>
                  <a:pt x="77396" y="142756"/>
                </a:cubicBezTo>
              </a:path>
            </a:pathLst>
          </a:custGeom>
          <a:solidFill>
            <a:srgbClr val="FFFFFF">
              <a:alpha val="100000"/>
            </a:srgbClr>
          </a:solidFill>
          <a:ln w="25400" cap="flat" cmpd="sng">
            <a:noFill/>
            <a:prstDash val="solid"/>
            <a:round/>
          </a:ln>
        </p:spPr>
        <p:txBody>
          <a:bodyPr vert="horz" wrap="square" lIns="63511" tIns="63511" rIns="63511" bIns="63511" rtlCol="0" anchor="ctr"/>
          <a:lstStyle/>
          <a:p>
            <a:pPr algn="ctr">
              <a:defRPr/>
            </a:pPr>
          </a:p>
        </p:txBody>
      </p:sp>
      <p:sp>
        <p:nvSpPr>
          <p:cNvPr id="9" name="AutoShape 9"/>
          <p:cNvSpPr/>
          <p:nvPr>
            <p:custDataLst>
              <p:tags r:id="rId5"/>
            </p:custDataLst>
          </p:nvPr>
        </p:nvSpPr>
        <p:spPr>
          <a:xfrm>
            <a:off x="1689871" y="2324530"/>
            <a:ext cx="2540470" cy="254047"/>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2000" b="1" i="0" u="none" strike="noStrike">
                <a:solidFill>
                  <a:srgbClr val="0A1F3D"/>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提供确定性的知识底座</a:t>
            </a:r>
            <a:endParaRPr lang="en-US" sz="1100"/>
          </a:p>
        </p:txBody>
      </p:sp>
      <p:cxnSp>
        <p:nvCxnSpPr>
          <p:cNvPr id="10" name="Connector 10"/>
          <p:cNvCxnSpPr/>
          <p:nvPr>
            <p:custDataLst>
              <p:tags r:id="rId6"/>
            </p:custDataLst>
          </p:nvPr>
        </p:nvCxnSpPr>
        <p:spPr>
          <a:xfrm>
            <a:off x="1156373" y="5970105"/>
            <a:ext cx="2946973" cy="12702"/>
          </a:xfrm>
          <a:prstGeom prst="line">
            <a:avLst/>
          </a:prstGeom>
          <a:solidFill>
            <a:srgbClr val="DEE0E3">
              <a:alpha val="100000"/>
            </a:srgbClr>
          </a:solidFill>
          <a:ln w="12700" cap="sq" cmpd="sng">
            <a:solidFill>
              <a:srgbClr val="ECECEC">
                <a:alpha val="100000"/>
              </a:srgbClr>
            </a:solidFill>
            <a:prstDash val="solid"/>
            <a:miter lim="1000000"/>
            <a:headEnd type="none" w="med" len="med"/>
            <a:tailEnd type="none" w="med" len="med"/>
          </a:ln>
        </p:spPr>
      </p:cxnSp>
      <p:sp>
        <p:nvSpPr>
          <p:cNvPr id="11" name="AutoShape 11"/>
          <p:cNvSpPr/>
          <p:nvPr>
            <p:custDataLst>
              <p:tags r:id="rId7"/>
            </p:custDataLst>
          </p:nvPr>
        </p:nvSpPr>
        <p:spPr>
          <a:xfrm>
            <a:off x="1156373" y="6020915"/>
            <a:ext cx="2946946" cy="127024"/>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2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KNOWLEDGE BASE</a:t>
            </a:r>
            <a:endParaRPr lang="en-US" sz="1100"/>
          </a:p>
        </p:txBody>
      </p:sp>
      <p:sp>
        <p:nvSpPr>
          <p:cNvPr id="12" name="AutoShape 12"/>
          <p:cNvSpPr/>
          <p:nvPr>
            <p:custDataLst>
              <p:tags r:id="rId8"/>
            </p:custDataLst>
          </p:nvPr>
        </p:nvSpPr>
        <p:spPr>
          <a:xfrm>
            <a:off x="4535198" y="1930757"/>
            <a:ext cx="3429635" cy="4090157"/>
          </a:xfrm>
          <a:prstGeom prst="roundRect">
            <a:avLst>
              <a:gd name="adj" fmla="val 1481"/>
            </a:avLst>
          </a:prstGeom>
          <a:solidFill>
            <a:srgbClr val="FFFFFF">
              <a:alpha val="100000"/>
            </a:srgbClr>
          </a:solidFill>
          <a:ln w="12700" cap="flat" cmpd="sng">
            <a:solidFill>
              <a:srgbClr val="ECECEC">
                <a:alpha val="100000"/>
              </a:srgbClr>
            </a:solidFill>
            <a:prstDash val="solid"/>
            <a:miter lim="1000000"/>
          </a:ln>
        </p:spPr>
        <p:txBody>
          <a:bodyPr vert="horz" wrap="square" lIns="63511" tIns="63511" rIns="63511" bIns="63511" rtlCol="0" anchor="ctr"/>
          <a:lstStyle/>
          <a:p>
            <a:pPr algn="ctr">
              <a:defRPr/>
            </a:pPr>
          </a:p>
        </p:txBody>
      </p:sp>
      <p:sp>
        <p:nvSpPr>
          <p:cNvPr id="13" name="AutoShape 13"/>
          <p:cNvSpPr/>
          <p:nvPr>
            <p:custDataLst>
              <p:tags r:id="rId9"/>
            </p:custDataLst>
          </p:nvPr>
        </p:nvSpPr>
        <p:spPr>
          <a:xfrm>
            <a:off x="4776543" y="2235614"/>
            <a:ext cx="419178" cy="457285"/>
          </a:xfrm>
          <a:prstGeom prst="ellipse">
            <a:avLst/>
          </a:prstGeom>
          <a:solidFill>
            <a:schemeClr val="tx2">
              <a:lumMod val="40000"/>
              <a:lumOff val="60000"/>
            </a:schemeClr>
          </a:solidFill>
          <a:ln w="25400" cap="flat" cmpd="sng">
            <a:noFill/>
            <a:prstDash val="solid"/>
            <a:round/>
          </a:ln>
        </p:spPr>
        <p:txBody>
          <a:bodyPr vert="horz" wrap="square" lIns="63511" tIns="63511" rIns="63511" bIns="63511" rtlCol="0" anchor="ctr"/>
          <a:lstStyle/>
          <a:p>
            <a:pPr algn="ctr">
              <a:defRPr/>
            </a:pPr>
          </a:p>
        </p:txBody>
      </p:sp>
      <p:sp>
        <p:nvSpPr>
          <p:cNvPr id="14" name="Freeform 14"/>
          <p:cNvSpPr/>
          <p:nvPr>
            <p:custDataLst>
              <p:tags r:id="rId10"/>
            </p:custDataLst>
          </p:nvPr>
        </p:nvSpPr>
        <p:spPr>
          <a:xfrm>
            <a:off x="4890864" y="2361474"/>
            <a:ext cx="190535" cy="210011"/>
          </a:xfrm>
          <a:custGeom>
            <a:avLst/>
            <a:gdLst/>
            <a:ahLst/>
            <a:cxnLst/>
            <a:rect l="l" t="t" r="r" b="b"/>
            <a:pathLst>
              <a:path w="190500" h="209972">
                <a:moveTo>
                  <a:pt x="177258" y="110280"/>
                </a:moveTo>
                <a:cubicBezTo>
                  <a:pt x="186079" y="97033"/>
                  <a:pt x="190500" y="81854"/>
                  <a:pt x="190500" y="64785"/>
                </a:cubicBezTo>
                <a:cubicBezTo>
                  <a:pt x="190500" y="47987"/>
                  <a:pt x="186079" y="32974"/>
                  <a:pt x="177258" y="19727"/>
                </a:cubicBezTo>
                <a:cubicBezTo>
                  <a:pt x="169046" y="8805"/>
                  <a:pt x="159480" y="2617"/>
                  <a:pt x="148543" y="1163"/>
                </a:cubicBezTo>
                <a:cubicBezTo>
                  <a:pt x="137817" y="0"/>
                  <a:pt x="127832" y="3946"/>
                  <a:pt x="118591" y="13082"/>
                </a:cubicBezTo>
                <a:lnTo>
                  <a:pt x="117963" y="13539"/>
                </a:lnTo>
                <a:cubicBezTo>
                  <a:pt x="115637" y="15885"/>
                  <a:pt x="114285" y="18979"/>
                  <a:pt x="113866" y="22820"/>
                </a:cubicBezTo>
                <a:cubicBezTo>
                  <a:pt x="113447" y="26351"/>
                  <a:pt x="114075" y="29880"/>
                  <a:pt x="115752" y="33411"/>
                </a:cubicBezTo>
                <a:cubicBezTo>
                  <a:pt x="117428" y="36359"/>
                  <a:pt x="119525" y="38124"/>
                  <a:pt x="122058" y="38726"/>
                </a:cubicBezTo>
                <a:cubicBezTo>
                  <a:pt x="124784" y="39598"/>
                  <a:pt x="127298" y="38850"/>
                  <a:pt x="129623" y="36505"/>
                </a:cubicBezTo>
                <a:lnTo>
                  <a:pt x="130252" y="36068"/>
                </a:lnTo>
                <a:cubicBezTo>
                  <a:pt x="135510" y="31044"/>
                  <a:pt x="141074" y="28843"/>
                  <a:pt x="146981" y="29445"/>
                </a:cubicBezTo>
                <a:cubicBezTo>
                  <a:pt x="153078" y="30026"/>
                  <a:pt x="158432" y="33411"/>
                  <a:pt x="163063" y="39598"/>
                </a:cubicBezTo>
                <a:cubicBezTo>
                  <a:pt x="167902" y="46949"/>
                  <a:pt x="170322" y="55359"/>
                  <a:pt x="170322" y="64785"/>
                </a:cubicBezTo>
                <a:cubicBezTo>
                  <a:pt x="170322" y="74503"/>
                  <a:pt x="167902" y="82893"/>
                  <a:pt x="163063" y="89973"/>
                </a:cubicBezTo>
                <a:lnTo>
                  <a:pt x="127413" y="139890"/>
                </a:lnTo>
                <a:cubicBezTo>
                  <a:pt x="122154" y="146659"/>
                  <a:pt x="116171" y="150045"/>
                  <a:pt x="109445" y="150045"/>
                </a:cubicBezTo>
                <a:cubicBezTo>
                  <a:pt x="102700" y="150045"/>
                  <a:pt x="96717" y="146659"/>
                  <a:pt x="91458" y="139890"/>
                </a:cubicBezTo>
                <a:cubicBezTo>
                  <a:pt x="87038" y="133412"/>
                  <a:pt x="84637" y="125895"/>
                  <a:pt x="84218" y="117362"/>
                </a:cubicBezTo>
                <a:cubicBezTo>
                  <a:pt x="83798" y="109096"/>
                  <a:pt x="85361" y="101290"/>
                  <a:pt x="88943" y="93939"/>
                </a:cubicBezTo>
                <a:lnTo>
                  <a:pt x="89248" y="93067"/>
                </a:lnTo>
                <a:cubicBezTo>
                  <a:pt x="90715" y="89806"/>
                  <a:pt x="91248" y="86422"/>
                  <a:pt x="90829" y="82893"/>
                </a:cubicBezTo>
                <a:cubicBezTo>
                  <a:pt x="90410" y="79071"/>
                  <a:pt x="89038" y="75977"/>
                  <a:pt x="86733" y="73610"/>
                </a:cubicBezTo>
                <a:cubicBezTo>
                  <a:pt x="84408" y="71243"/>
                  <a:pt x="81989" y="70372"/>
                  <a:pt x="79474" y="70974"/>
                </a:cubicBezTo>
                <a:cubicBezTo>
                  <a:pt x="76730" y="71555"/>
                  <a:pt x="74539" y="73465"/>
                  <a:pt x="72861" y="76704"/>
                </a:cubicBezTo>
                <a:lnTo>
                  <a:pt x="72537" y="77597"/>
                </a:lnTo>
                <a:cubicBezTo>
                  <a:pt x="66021" y="90554"/>
                  <a:pt x="63182" y="104674"/>
                  <a:pt x="64021" y="119998"/>
                </a:cubicBezTo>
                <a:cubicBezTo>
                  <a:pt x="64859" y="135031"/>
                  <a:pt x="69261" y="148280"/>
                  <a:pt x="77263" y="159762"/>
                </a:cubicBezTo>
                <a:cubicBezTo>
                  <a:pt x="86714" y="172138"/>
                  <a:pt x="97441" y="178325"/>
                  <a:pt x="109445" y="178325"/>
                </a:cubicBezTo>
                <a:cubicBezTo>
                  <a:pt x="121639" y="178325"/>
                  <a:pt x="132462" y="172138"/>
                  <a:pt x="141931" y="159762"/>
                </a:cubicBezTo>
                <a:lnTo>
                  <a:pt x="177258" y="110280"/>
                </a:lnTo>
                <a:moveTo>
                  <a:pt x="13242" y="99691"/>
                </a:moveTo>
                <a:cubicBezTo>
                  <a:pt x="4402" y="112938"/>
                  <a:pt x="0" y="128097"/>
                  <a:pt x="0" y="145186"/>
                </a:cubicBezTo>
                <a:cubicBezTo>
                  <a:pt x="0" y="161963"/>
                  <a:pt x="4402" y="176997"/>
                  <a:pt x="13242" y="190244"/>
                </a:cubicBezTo>
                <a:cubicBezTo>
                  <a:pt x="21435" y="201146"/>
                  <a:pt x="31020" y="207334"/>
                  <a:pt x="41957" y="208808"/>
                </a:cubicBezTo>
                <a:cubicBezTo>
                  <a:pt x="52664" y="209971"/>
                  <a:pt x="62763" y="206005"/>
                  <a:pt x="72233" y="196889"/>
                </a:cubicBezTo>
                <a:lnTo>
                  <a:pt x="72537" y="196432"/>
                </a:lnTo>
                <a:cubicBezTo>
                  <a:pt x="74844" y="194066"/>
                  <a:pt x="76215" y="190971"/>
                  <a:pt x="76634" y="187151"/>
                </a:cubicBezTo>
                <a:cubicBezTo>
                  <a:pt x="77053" y="183620"/>
                  <a:pt x="76520" y="180091"/>
                  <a:pt x="75072" y="176560"/>
                </a:cubicBezTo>
                <a:cubicBezTo>
                  <a:pt x="73167" y="173612"/>
                  <a:pt x="70956" y="171827"/>
                  <a:pt x="68442" y="171245"/>
                </a:cubicBezTo>
                <a:cubicBezTo>
                  <a:pt x="65697" y="170373"/>
                  <a:pt x="63182" y="171099"/>
                  <a:pt x="60877" y="173466"/>
                </a:cubicBezTo>
                <a:lnTo>
                  <a:pt x="60248" y="173903"/>
                </a:lnTo>
                <a:cubicBezTo>
                  <a:pt x="54990" y="178907"/>
                  <a:pt x="49407" y="181108"/>
                  <a:pt x="43519" y="180526"/>
                </a:cubicBezTo>
                <a:cubicBezTo>
                  <a:pt x="37422" y="179946"/>
                  <a:pt x="32048" y="176560"/>
                  <a:pt x="27437" y="170373"/>
                </a:cubicBezTo>
                <a:cubicBezTo>
                  <a:pt x="22598" y="163002"/>
                  <a:pt x="20178" y="154613"/>
                  <a:pt x="20178" y="145186"/>
                </a:cubicBezTo>
                <a:cubicBezTo>
                  <a:pt x="20178" y="135468"/>
                  <a:pt x="22694" y="127058"/>
                  <a:pt x="27761" y="119998"/>
                </a:cubicBezTo>
                <a:lnTo>
                  <a:pt x="63087" y="70081"/>
                </a:lnTo>
                <a:cubicBezTo>
                  <a:pt x="68327" y="63312"/>
                  <a:pt x="74310" y="59927"/>
                  <a:pt x="81055" y="59927"/>
                </a:cubicBezTo>
                <a:cubicBezTo>
                  <a:pt x="87781" y="59927"/>
                  <a:pt x="93783" y="63312"/>
                  <a:pt x="99042" y="70081"/>
                </a:cubicBezTo>
                <a:cubicBezTo>
                  <a:pt x="103443" y="76559"/>
                  <a:pt x="105863" y="84055"/>
                  <a:pt x="106282" y="92609"/>
                </a:cubicBezTo>
                <a:cubicBezTo>
                  <a:pt x="106702" y="100853"/>
                  <a:pt x="105120" y="108661"/>
                  <a:pt x="101557" y="116032"/>
                </a:cubicBezTo>
                <a:lnTo>
                  <a:pt x="101252" y="116904"/>
                </a:lnTo>
                <a:cubicBezTo>
                  <a:pt x="99766" y="120144"/>
                  <a:pt x="99252" y="123694"/>
                  <a:pt x="99671" y="127515"/>
                </a:cubicBezTo>
                <a:cubicBezTo>
                  <a:pt x="100090" y="131045"/>
                  <a:pt x="101443" y="133994"/>
                  <a:pt x="103767" y="136361"/>
                </a:cubicBezTo>
                <a:cubicBezTo>
                  <a:pt x="106073" y="138707"/>
                  <a:pt x="108492" y="139579"/>
                  <a:pt x="111026" y="138997"/>
                </a:cubicBezTo>
                <a:cubicBezTo>
                  <a:pt x="113751" y="138417"/>
                  <a:pt x="115961" y="136506"/>
                  <a:pt x="117639" y="133267"/>
                </a:cubicBezTo>
                <a:lnTo>
                  <a:pt x="117963" y="132374"/>
                </a:lnTo>
                <a:cubicBezTo>
                  <a:pt x="124479" y="119417"/>
                  <a:pt x="127318" y="105276"/>
                  <a:pt x="126479" y="89973"/>
                </a:cubicBezTo>
                <a:cubicBezTo>
                  <a:pt x="125641" y="74940"/>
                  <a:pt x="121220" y="61671"/>
                  <a:pt x="113237" y="50209"/>
                </a:cubicBezTo>
                <a:cubicBezTo>
                  <a:pt x="103767" y="37833"/>
                  <a:pt x="93040" y="31646"/>
                  <a:pt x="81055" y="31646"/>
                </a:cubicBezTo>
                <a:cubicBezTo>
                  <a:pt x="68861" y="31646"/>
                  <a:pt x="58133" y="37833"/>
                  <a:pt x="48892" y="50209"/>
                </a:cubicBezTo>
              </a:path>
            </a:pathLst>
          </a:custGeom>
          <a:solidFill>
            <a:srgbClr val="FFFFFF">
              <a:alpha val="100000"/>
            </a:srgbClr>
          </a:solidFill>
          <a:ln w="25400" cap="flat" cmpd="sng">
            <a:noFill/>
            <a:prstDash val="solid"/>
            <a:round/>
          </a:ln>
        </p:spPr>
        <p:txBody>
          <a:bodyPr vert="horz" wrap="square" lIns="63511" tIns="63511" rIns="63511" bIns="63511" rtlCol="0" anchor="ctr"/>
          <a:lstStyle/>
          <a:p>
            <a:pPr algn="ctr">
              <a:defRPr/>
            </a:pPr>
          </a:p>
        </p:txBody>
      </p:sp>
      <p:sp>
        <p:nvSpPr>
          <p:cNvPr id="15" name="AutoShape 15"/>
          <p:cNvSpPr/>
          <p:nvPr>
            <p:custDataLst>
              <p:tags r:id="rId11"/>
            </p:custDataLst>
          </p:nvPr>
        </p:nvSpPr>
        <p:spPr>
          <a:xfrm>
            <a:off x="5310042" y="2324530"/>
            <a:ext cx="2540470" cy="254047"/>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2000" b="1" i="0" u="none" strike="noStrike">
                <a:solidFill>
                  <a:srgbClr val="0A1F3D"/>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实现透明的推理路径</a:t>
            </a:r>
            <a:endParaRPr lang="en-US" sz="1100"/>
          </a:p>
        </p:txBody>
      </p:sp>
      <p:cxnSp>
        <p:nvCxnSpPr>
          <p:cNvPr id="16" name="Connector 16"/>
          <p:cNvCxnSpPr/>
          <p:nvPr>
            <p:custDataLst>
              <p:tags r:id="rId12"/>
            </p:custDataLst>
          </p:nvPr>
        </p:nvCxnSpPr>
        <p:spPr>
          <a:xfrm>
            <a:off x="4776543" y="5970105"/>
            <a:ext cx="2946973" cy="12702"/>
          </a:xfrm>
          <a:prstGeom prst="line">
            <a:avLst/>
          </a:prstGeom>
          <a:solidFill>
            <a:srgbClr val="DEE0E3">
              <a:alpha val="100000"/>
            </a:srgbClr>
          </a:solidFill>
          <a:ln w="12700" cap="sq" cmpd="sng">
            <a:solidFill>
              <a:srgbClr val="ECECEC">
                <a:alpha val="100000"/>
              </a:srgbClr>
            </a:solidFill>
            <a:prstDash val="solid"/>
            <a:miter lim="1000000"/>
            <a:headEnd type="none" w="med" len="med"/>
            <a:tailEnd type="none" w="med" len="med"/>
          </a:ln>
        </p:spPr>
      </p:cxnSp>
      <p:sp>
        <p:nvSpPr>
          <p:cNvPr id="17" name="AutoShape 17"/>
          <p:cNvSpPr/>
          <p:nvPr>
            <p:custDataLst>
              <p:tags r:id="rId13"/>
            </p:custDataLst>
          </p:nvPr>
        </p:nvSpPr>
        <p:spPr>
          <a:xfrm>
            <a:off x="4776543" y="6020915"/>
            <a:ext cx="2946946" cy="127024"/>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2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TRANSPARENT INFERENCE</a:t>
            </a:r>
            <a:endParaRPr lang="en-US" sz="1100"/>
          </a:p>
        </p:txBody>
      </p:sp>
      <p:sp>
        <p:nvSpPr>
          <p:cNvPr id="18" name="AutoShape 18"/>
          <p:cNvSpPr/>
          <p:nvPr>
            <p:custDataLst>
              <p:tags r:id="rId14"/>
            </p:custDataLst>
          </p:nvPr>
        </p:nvSpPr>
        <p:spPr>
          <a:xfrm>
            <a:off x="8155369" y="1930757"/>
            <a:ext cx="3429635" cy="4090157"/>
          </a:xfrm>
          <a:prstGeom prst="roundRect">
            <a:avLst>
              <a:gd name="adj" fmla="val 1481"/>
            </a:avLst>
          </a:prstGeom>
          <a:solidFill>
            <a:srgbClr val="FFFFFF">
              <a:alpha val="100000"/>
            </a:srgbClr>
          </a:solidFill>
          <a:ln w="12700" cap="flat" cmpd="sng">
            <a:solidFill>
              <a:srgbClr val="ECECEC">
                <a:alpha val="100000"/>
              </a:srgbClr>
            </a:solidFill>
            <a:prstDash val="solid"/>
            <a:miter lim="1000000"/>
          </a:ln>
        </p:spPr>
        <p:txBody>
          <a:bodyPr vert="horz" wrap="square" lIns="63511" tIns="63511" rIns="63511" bIns="63511" rtlCol="0" anchor="ctr"/>
          <a:lstStyle/>
          <a:p>
            <a:pPr algn="ctr">
              <a:defRPr/>
            </a:pPr>
          </a:p>
        </p:txBody>
      </p:sp>
      <p:sp>
        <p:nvSpPr>
          <p:cNvPr id="19" name="AutoShape 19"/>
          <p:cNvSpPr/>
          <p:nvPr>
            <p:custDataLst>
              <p:tags r:id="rId15"/>
            </p:custDataLst>
          </p:nvPr>
        </p:nvSpPr>
        <p:spPr>
          <a:xfrm>
            <a:off x="8396713" y="2235614"/>
            <a:ext cx="419178" cy="457285"/>
          </a:xfrm>
          <a:prstGeom prst="ellipse">
            <a:avLst/>
          </a:prstGeom>
          <a:solidFill>
            <a:schemeClr val="tx2">
              <a:lumMod val="40000"/>
              <a:lumOff val="60000"/>
            </a:schemeClr>
          </a:solidFill>
          <a:ln w="25400" cap="flat" cmpd="sng">
            <a:noFill/>
            <a:prstDash val="solid"/>
            <a:round/>
          </a:ln>
        </p:spPr>
        <p:txBody>
          <a:bodyPr vert="horz" wrap="square" lIns="63511" tIns="63511" rIns="63511" bIns="63511" rtlCol="0" anchor="ctr"/>
          <a:lstStyle/>
          <a:p>
            <a:pPr algn="ctr">
              <a:defRPr/>
            </a:pPr>
          </a:p>
        </p:txBody>
      </p:sp>
      <p:sp>
        <p:nvSpPr>
          <p:cNvPr id="20" name="Freeform 20"/>
          <p:cNvSpPr/>
          <p:nvPr>
            <p:custDataLst>
              <p:tags r:id="rId16"/>
            </p:custDataLst>
          </p:nvPr>
        </p:nvSpPr>
        <p:spPr>
          <a:xfrm>
            <a:off x="8511034" y="2360436"/>
            <a:ext cx="190535" cy="212626"/>
          </a:xfrm>
          <a:custGeom>
            <a:avLst/>
            <a:gdLst/>
            <a:ahLst/>
            <a:cxnLst/>
            <a:rect l="l" t="t" r="r" b="b"/>
            <a:pathLst>
              <a:path w="190500" h="212587">
                <a:moveTo>
                  <a:pt x="96241" y="20785"/>
                </a:moveTo>
                <a:lnTo>
                  <a:pt x="122039" y="32746"/>
                </a:lnTo>
                <a:lnTo>
                  <a:pt x="96241" y="20785"/>
                </a:lnTo>
                <a:lnTo>
                  <a:pt x="122039" y="32746"/>
                </a:lnTo>
                <a:lnTo>
                  <a:pt x="95250" y="45951"/>
                </a:lnTo>
                <a:lnTo>
                  <a:pt x="68461" y="32746"/>
                </a:lnTo>
                <a:lnTo>
                  <a:pt x="94259" y="20785"/>
                </a:lnTo>
                <a:cubicBezTo>
                  <a:pt x="94907" y="20494"/>
                  <a:pt x="95574" y="20494"/>
                  <a:pt x="96241" y="20785"/>
                </a:cubicBezTo>
                <a:moveTo>
                  <a:pt x="44986" y="38933"/>
                </a:moveTo>
                <a:lnTo>
                  <a:pt x="44986" y="85176"/>
                </a:lnTo>
                <a:lnTo>
                  <a:pt x="44986" y="38933"/>
                </a:lnTo>
                <a:lnTo>
                  <a:pt x="44986" y="85176"/>
                </a:lnTo>
                <a:cubicBezTo>
                  <a:pt x="44529" y="85176"/>
                  <a:pt x="44091" y="85301"/>
                  <a:pt x="43652" y="85592"/>
                </a:cubicBezTo>
                <a:lnTo>
                  <a:pt x="11909" y="100458"/>
                </a:lnTo>
                <a:cubicBezTo>
                  <a:pt x="4402" y="104571"/>
                  <a:pt x="438" y="111858"/>
                  <a:pt x="0" y="122324"/>
                </a:cubicBezTo>
                <a:lnTo>
                  <a:pt x="0" y="171453"/>
                </a:lnTo>
                <a:cubicBezTo>
                  <a:pt x="210" y="181087"/>
                  <a:pt x="3964" y="188106"/>
                  <a:pt x="11242" y="192508"/>
                </a:cubicBezTo>
                <a:lnTo>
                  <a:pt x="42986" y="209846"/>
                </a:lnTo>
                <a:cubicBezTo>
                  <a:pt x="47826" y="212587"/>
                  <a:pt x="52798" y="212587"/>
                  <a:pt x="57885" y="209846"/>
                </a:cubicBezTo>
                <a:lnTo>
                  <a:pt x="95250" y="189621"/>
                </a:lnTo>
                <a:lnTo>
                  <a:pt x="132958" y="209846"/>
                </a:lnTo>
                <a:cubicBezTo>
                  <a:pt x="137798" y="212587"/>
                  <a:pt x="142770" y="212587"/>
                  <a:pt x="147838" y="209846"/>
                </a:cubicBezTo>
                <a:lnTo>
                  <a:pt x="179582" y="192508"/>
                </a:lnTo>
                <a:cubicBezTo>
                  <a:pt x="186632" y="188375"/>
                  <a:pt x="190271" y="181357"/>
                  <a:pt x="190500" y="171453"/>
                </a:cubicBezTo>
                <a:lnTo>
                  <a:pt x="190500" y="122324"/>
                </a:lnTo>
                <a:cubicBezTo>
                  <a:pt x="190043" y="111858"/>
                  <a:pt x="186079" y="104571"/>
                  <a:pt x="178591" y="100458"/>
                </a:cubicBezTo>
                <a:lnTo>
                  <a:pt x="146848" y="85592"/>
                </a:lnTo>
                <a:cubicBezTo>
                  <a:pt x="146390" y="85301"/>
                  <a:pt x="145952" y="85176"/>
                  <a:pt x="145514" y="85176"/>
                </a:cubicBezTo>
                <a:cubicBezTo>
                  <a:pt x="145514" y="85176"/>
                  <a:pt x="145514" y="85176"/>
                  <a:pt x="145514" y="85176"/>
                </a:cubicBezTo>
                <a:lnTo>
                  <a:pt x="145514" y="38933"/>
                </a:lnTo>
                <a:cubicBezTo>
                  <a:pt x="145076" y="28468"/>
                  <a:pt x="141112" y="21180"/>
                  <a:pt x="133605" y="17069"/>
                </a:cubicBezTo>
                <a:lnTo>
                  <a:pt x="101862" y="2201"/>
                </a:lnTo>
                <a:cubicBezTo>
                  <a:pt x="97441" y="0"/>
                  <a:pt x="93040" y="0"/>
                  <a:pt x="88638" y="2201"/>
                </a:cubicBezTo>
                <a:lnTo>
                  <a:pt x="56895" y="17069"/>
                </a:lnTo>
                <a:cubicBezTo>
                  <a:pt x="49388" y="21180"/>
                  <a:pt x="45405" y="28468"/>
                  <a:pt x="44986" y="38933"/>
                </a:cubicBezTo>
                <a:moveTo>
                  <a:pt x="129642" y="87647"/>
                </a:moveTo>
                <a:lnTo>
                  <a:pt x="102528" y="100458"/>
                </a:lnTo>
                <a:lnTo>
                  <a:pt x="129642" y="87647"/>
                </a:lnTo>
                <a:lnTo>
                  <a:pt x="102528" y="100458"/>
                </a:lnTo>
                <a:lnTo>
                  <a:pt x="102528" y="63706"/>
                </a:lnTo>
                <a:lnTo>
                  <a:pt x="129642" y="50499"/>
                </a:lnTo>
                <a:lnTo>
                  <a:pt x="129642" y="87647"/>
                </a:lnTo>
                <a:moveTo>
                  <a:pt x="51255" y="104176"/>
                </a:moveTo>
                <a:lnTo>
                  <a:pt x="77053" y="116551"/>
                </a:lnTo>
                <a:lnTo>
                  <a:pt x="51255" y="104176"/>
                </a:lnTo>
                <a:lnTo>
                  <a:pt x="77053" y="116551"/>
                </a:lnTo>
                <a:lnTo>
                  <a:pt x="50264" y="129342"/>
                </a:lnTo>
                <a:lnTo>
                  <a:pt x="23475" y="116551"/>
                </a:lnTo>
                <a:lnTo>
                  <a:pt x="49273" y="104176"/>
                </a:lnTo>
                <a:cubicBezTo>
                  <a:pt x="49921" y="103885"/>
                  <a:pt x="50588" y="103885"/>
                  <a:pt x="51255" y="104176"/>
                </a:cubicBezTo>
                <a:moveTo>
                  <a:pt x="57542" y="188375"/>
                </a:moveTo>
                <a:lnTo>
                  <a:pt x="57542" y="147095"/>
                </a:lnTo>
                <a:lnTo>
                  <a:pt x="57542" y="188375"/>
                </a:lnTo>
                <a:lnTo>
                  <a:pt x="57542" y="147095"/>
                </a:lnTo>
                <a:lnTo>
                  <a:pt x="84675" y="133890"/>
                </a:lnTo>
                <a:lnTo>
                  <a:pt x="84675" y="173509"/>
                </a:lnTo>
                <a:lnTo>
                  <a:pt x="57542" y="188375"/>
                </a:lnTo>
                <a:moveTo>
                  <a:pt x="139245" y="104176"/>
                </a:moveTo>
                <a:cubicBezTo>
                  <a:pt x="139893" y="103885"/>
                  <a:pt x="140560" y="103885"/>
                  <a:pt x="141227" y="104176"/>
                </a:cubicBezTo>
                <a:lnTo>
                  <a:pt x="167025" y="116551"/>
                </a:lnTo>
                <a:lnTo>
                  <a:pt x="140236" y="129342"/>
                </a:lnTo>
                <a:lnTo>
                  <a:pt x="113447" y="116551"/>
                </a:lnTo>
                <a:lnTo>
                  <a:pt x="139245" y="104176"/>
                </a:lnTo>
                <a:moveTo>
                  <a:pt x="172970" y="174339"/>
                </a:moveTo>
                <a:lnTo>
                  <a:pt x="147514" y="188375"/>
                </a:lnTo>
                <a:lnTo>
                  <a:pt x="172970" y="174339"/>
                </a:lnTo>
                <a:lnTo>
                  <a:pt x="147514" y="188375"/>
                </a:lnTo>
                <a:lnTo>
                  <a:pt x="147514" y="147095"/>
                </a:lnTo>
                <a:lnTo>
                  <a:pt x="174629" y="133890"/>
                </a:lnTo>
                <a:lnTo>
                  <a:pt x="174629" y="171453"/>
                </a:lnTo>
                <a:cubicBezTo>
                  <a:pt x="174629" y="172823"/>
                  <a:pt x="174075" y="173778"/>
                  <a:pt x="172970" y="174339"/>
                </a:cubicBezTo>
              </a:path>
            </a:pathLst>
          </a:custGeom>
          <a:solidFill>
            <a:srgbClr val="FFFFFF">
              <a:alpha val="100000"/>
            </a:srgbClr>
          </a:solidFill>
          <a:ln w="25400" cap="flat" cmpd="sng">
            <a:noFill/>
            <a:prstDash val="solid"/>
            <a:round/>
          </a:ln>
        </p:spPr>
        <p:txBody>
          <a:bodyPr vert="horz" wrap="square" lIns="63511" tIns="63511" rIns="63511" bIns="63511" rtlCol="0" anchor="ctr"/>
          <a:lstStyle/>
          <a:p>
            <a:pPr algn="ctr">
              <a:defRPr/>
            </a:pPr>
          </a:p>
        </p:txBody>
      </p:sp>
      <p:sp>
        <p:nvSpPr>
          <p:cNvPr id="21" name="AutoShape 21"/>
          <p:cNvSpPr/>
          <p:nvPr>
            <p:custDataLst>
              <p:tags r:id="rId17"/>
            </p:custDataLst>
          </p:nvPr>
        </p:nvSpPr>
        <p:spPr>
          <a:xfrm>
            <a:off x="8930212" y="2324530"/>
            <a:ext cx="2540470" cy="254047"/>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2000" b="1" i="0" u="none" strike="noStrike">
                <a:solidFill>
                  <a:srgbClr val="0A1F3D"/>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建立安全的操作边界</a:t>
            </a:r>
            <a:endParaRPr lang="en-US" sz="1100"/>
          </a:p>
        </p:txBody>
      </p:sp>
      <p:cxnSp>
        <p:nvCxnSpPr>
          <p:cNvPr id="22" name="Connector 22"/>
          <p:cNvCxnSpPr/>
          <p:nvPr>
            <p:custDataLst>
              <p:tags r:id="rId18"/>
            </p:custDataLst>
          </p:nvPr>
        </p:nvCxnSpPr>
        <p:spPr>
          <a:xfrm>
            <a:off x="8396713" y="5970105"/>
            <a:ext cx="2946973" cy="12702"/>
          </a:xfrm>
          <a:prstGeom prst="line">
            <a:avLst/>
          </a:prstGeom>
          <a:solidFill>
            <a:srgbClr val="DEE0E3">
              <a:alpha val="100000"/>
            </a:srgbClr>
          </a:solidFill>
          <a:ln w="12700" cap="sq" cmpd="sng">
            <a:solidFill>
              <a:srgbClr val="ECECEC">
                <a:alpha val="100000"/>
              </a:srgbClr>
            </a:solidFill>
            <a:prstDash val="solid"/>
            <a:miter lim="1000000"/>
            <a:headEnd type="none" w="med" len="med"/>
            <a:tailEnd type="none" w="med" len="med"/>
          </a:ln>
        </p:spPr>
      </p:cxnSp>
      <p:sp>
        <p:nvSpPr>
          <p:cNvPr id="23" name="AutoShape 23"/>
          <p:cNvSpPr/>
          <p:nvPr>
            <p:custDataLst>
              <p:tags r:id="rId19"/>
            </p:custDataLst>
          </p:nvPr>
        </p:nvSpPr>
        <p:spPr>
          <a:xfrm>
            <a:off x="8396713" y="6020915"/>
            <a:ext cx="2946946" cy="127024"/>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2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SECURITY BOUNDARY</a:t>
            </a:r>
            <a:endParaRPr lang="en-US" sz="1100"/>
          </a:p>
        </p:txBody>
      </p:sp>
      <p:sp>
        <p:nvSpPr>
          <p:cNvPr id="24" name="AutoShape 24"/>
          <p:cNvSpPr/>
          <p:nvPr/>
        </p:nvSpPr>
        <p:spPr>
          <a:xfrm>
            <a:off x="991242" y="1143212"/>
            <a:ext cx="10352417" cy="457285"/>
          </a:xfrm>
          <a:prstGeom prst="rect">
            <a:avLst/>
          </a:prstGeom>
          <a:noFill/>
          <a:ln w="12700" cap="flat" cmpd="sng">
            <a:noFill/>
            <a:prstDash val="solid"/>
            <a:round/>
          </a:ln>
        </p:spPr>
        <p:txBody>
          <a:bodyPr vert="horz" wrap="square" lIns="0" tIns="0" rIns="0" bIns="0" rtlCol="0" anchor="t" anchorCtr="0"/>
          <a:lstStyle/>
          <a:p>
            <a:pPr marL="0" indent="0" algn="l" defTabSz="1219200">
              <a:lnSpc>
                <a:spcPct val="100000"/>
              </a:lnSpc>
              <a:defRPr/>
            </a:pPr>
            <a:r>
              <a:rPr lang="en-US" sz="1600" b="0" i="1" u="none"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本体通过构建受控的知识底座、可追溯的推理路径与严格的安全边界，从根源上解决大模型的幻觉、黑箱与安全风险，为企业级AI应用提供可靠的信任基础与安全保障。</a:t>
            </a:r>
            <a:endParaRPr lang="en-US" sz="1100"/>
          </a:p>
        </p:txBody>
      </p:sp>
      <p:sp>
        <p:nvSpPr>
          <p:cNvPr id="25" name="AutoShape 25"/>
          <p:cNvSpPr/>
          <p:nvPr>
            <p:custDataLst>
              <p:tags r:id="rId20"/>
            </p:custDataLst>
          </p:nvPr>
        </p:nvSpPr>
        <p:spPr>
          <a:xfrm>
            <a:off x="1042051" y="2807220"/>
            <a:ext cx="3366123" cy="2095888"/>
          </a:xfrm>
          <a:prstGeom prst="rect">
            <a:avLst/>
          </a:prstGeom>
          <a:noFill/>
          <a:ln w="12700" cap="flat" cmpd="sng">
            <a:noFill/>
            <a:prstDash val="solid"/>
            <a:round/>
          </a:ln>
        </p:spPr>
        <p:txBody>
          <a:bodyPr vert="horz" wrap="square" lIns="88916" tIns="50809" rIns="88916" bIns="50809" rtlCol="0" anchor="t" anchorCtr="0"/>
          <a:lstStyle>
            <a:lvl1pPr marL="495300" indent="-203200"/>
            <a:lvl2pPr marL="952500" indent="-203200"/>
            <a:lvl3pPr marL="1409700" indent="-203200"/>
            <a:lvl4pPr marL="1866900" indent="-203200"/>
            <a:lvl5pPr marL="2324100" indent="-203200"/>
            <a:lvl6pPr marL="2781300" indent="-203200"/>
            <a:lvl7pPr marL="3238500" indent="-203200"/>
            <a:lvl8pPr marL="3695700" indent="-203200"/>
            <a:lvl9pPr marL="4152900" indent="-203200"/>
          </a:lstStyle>
          <a:p>
            <a:pPr marL="292100" indent="-279400" algn="l" defTabSz="1219200">
              <a:lnSpc>
                <a:spcPct val="100000"/>
              </a:lnSpc>
              <a:buClr>
                <a:srgbClr val="0A1F3D"/>
              </a:buClr>
              <a:buFont typeface="Wingdings" panose="05000000000000000000"/>
              <a:buChar char="Ø"/>
              <a:defRPr/>
            </a:pPr>
            <a:r>
              <a:rPr lang="en-US" sz="16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基于企业内部受控、实时的业务数据进行推理，确保所有信息均有明确来源与版本控制，从根本上杜绝大模型“幻觉”问题的产生。</a:t>
            </a:r>
            <a:endParaRPr lang="en-US" sz="1100"/>
          </a:p>
          <a:p>
            <a:pPr marL="292100" indent="-279400" algn="l" defTabSz="1219200">
              <a:lnSpc>
                <a:spcPct val="100000"/>
              </a:lnSpc>
              <a:buClr>
                <a:srgbClr val="0A1F3D"/>
              </a:buClr>
              <a:buFont typeface="Wingdings" panose="05000000000000000000"/>
              <a:buChar char="Ø"/>
            </a:pPr>
            <a:r>
              <a:rPr lang="en-US" sz="16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知识底座与业务系统实时同步，保证AI获取的信息始终是最新、最准确的业务数据，避免数据滞后带来的决策偏差。</a:t>
            </a:r>
            <a:endParaRPr lang="en-US" sz="16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6" name="AutoShape 26"/>
          <p:cNvSpPr/>
          <p:nvPr>
            <p:custDataLst>
              <p:tags r:id="rId21"/>
            </p:custDataLst>
          </p:nvPr>
        </p:nvSpPr>
        <p:spPr>
          <a:xfrm>
            <a:off x="4573305" y="2743708"/>
            <a:ext cx="3378826" cy="2794517"/>
          </a:xfrm>
          <a:prstGeom prst="rect">
            <a:avLst/>
          </a:prstGeom>
          <a:noFill/>
          <a:ln w="12700" cap="flat" cmpd="sng">
            <a:noFill/>
            <a:prstDash val="solid"/>
            <a:round/>
          </a:ln>
        </p:spPr>
        <p:txBody>
          <a:bodyPr vert="horz" wrap="square" lIns="88916" tIns="50809" rIns="88916" bIns="50809" rtlCol="0" anchor="t" anchorCtr="0"/>
          <a:lstStyle>
            <a:lvl1pPr marL="495300" indent="-203200"/>
            <a:lvl2pPr marL="952500" indent="-203200"/>
            <a:lvl3pPr marL="1409700" indent="-203200"/>
            <a:lvl4pPr marL="1866900" indent="-203200"/>
            <a:lvl5pPr marL="2324100" indent="-203200"/>
            <a:lvl6pPr marL="2781300" indent="-203200"/>
            <a:lvl7pPr marL="3238500" indent="-203200"/>
            <a:lvl8pPr marL="3695700" indent="-203200"/>
            <a:lvl9pPr marL="4152900" indent="-203200"/>
          </a:lstStyle>
          <a:p>
            <a:pPr marL="292100" indent="-279400" algn="l" defTabSz="1219200">
              <a:lnSpc>
                <a:spcPct val="100000"/>
              </a:lnSpc>
              <a:buClr>
                <a:srgbClr val="0A1F3D"/>
              </a:buClr>
              <a:buFont typeface="Wingdings" panose="05000000000000000000"/>
              <a:buChar char="Ø"/>
              <a:defRPr/>
            </a:pPr>
            <a:r>
              <a:rPr lang="en-US" sz="16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推理过程基于明确的逻辑规则与知识关系，每一步决策均可被完整记录、审计与追溯，彻底解决AI决策的“黑箱”难题。</a:t>
            </a:r>
            <a:endParaRPr lang="en-US" sz="1100"/>
          </a:p>
          <a:p>
            <a:pPr marL="292100" indent="-279400" algn="l" defTabSz="1219200">
              <a:lnSpc>
                <a:spcPct val="100000"/>
              </a:lnSpc>
              <a:buClr>
                <a:srgbClr val="0A1F3D"/>
              </a:buClr>
              <a:buFont typeface="Wingdings" panose="05000000000000000000"/>
              <a:buChar char="Ø"/>
            </a:pPr>
            <a:r>
              <a:rPr lang="en-US" sz="16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清晰的推理路径让业务人员能够理解AI决策的依据，大幅提升对智能系统的信任度，同时满足合规审计与监管要求。</a:t>
            </a:r>
            <a:endParaRPr lang="en-US" sz="16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7" name="AutoShape 27"/>
          <p:cNvSpPr/>
          <p:nvPr>
            <p:custDataLst>
              <p:tags r:id="rId22"/>
            </p:custDataLst>
          </p:nvPr>
        </p:nvSpPr>
        <p:spPr>
          <a:xfrm>
            <a:off x="8256987" y="2781815"/>
            <a:ext cx="3353421" cy="2553173"/>
          </a:xfrm>
          <a:prstGeom prst="rect">
            <a:avLst/>
          </a:prstGeom>
          <a:noFill/>
          <a:ln w="12700" cap="flat" cmpd="sng">
            <a:noFill/>
            <a:prstDash val="solid"/>
            <a:round/>
          </a:ln>
        </p:spPr>
        <p:txBody>
          <a:bodyPr vert="horz" wrap="square" lIns="88916" tIns="50809" rIns="88916" bIns="50809" rtlCol="0" anchor="t" anchorCtr="0"/>
          <a:lstStyle>
            <a:lvl1pPr marL="546100" indent="-203200"/>
            <a:lvl2pPr marL="1003300" indent="-203200"/>
            <a:lvl3pPr marL="1460500" indent="-203200"/>
            <a:lvl4pPr marL="1917700" indent="-203200"/>
            <a:lvl5pPr marL="2374900" indent="-203200"/>
            <a:lvl6pPr marL="2832100" indent="-203200"/>
            <a:lvl7pPr marL="3289300" indent="-203200"/>
            <a:lvl8pPr marL="3746500" indent="-203200"/>
            <a:lvl9pPr marL="4203700" indent="-203200"/>
          </a:lstStyle>
          <a:p>
            <a:pPr marL="342900" indent="-342900" algn="l" defTabSz="1219200">
              <a:lnSpc>
                <a:spcPct val="100000"/>
              </a:lnSpc>
              <a:buClr>
                <a:srgbClr val="0A1F3D"/>
              </a:buClr>
              <a:buFont typeface="Wingdings" panose="05000000000000000000"/>
              <a:buChar char="Ø"/>
              <a:defRPr/>
            </a:pPr>
            <a:r>
              <a:rPr lang="en-US" sz="16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通过定义行为层（Action Types）与动态安全机制，严格限制AI可执行的操作范围与数据访问权限，构建可控的操作边界。</a:t>
            </a:r>
            <a:endParaRPr lang="en-US" sz="1100"/>
          </a:p>
          <a:p>
            <a:pPr marL="342900" indent="-342900" algn="l" defTabSz="1219200">
              <a:lnSpc>
                <a:spcPct val="100000"/>
              </a:lnSpc>
              <a:buClr>
                <a:srgbClr val="0A1F3D"/>
              </a:buClr>
              <a:buFont typeface="Wingdings" panose="05000000000000000000"/>
              <a:buChar char="Ø"/>
            </a:pPr>
            <a:r>
              <a:rPr lang="en-US" sz="16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有效防止AI出现“越狱”、恶意操作或越权访问敏感数据的风险，保障企业业务系统与数据资产的安全可控。</a:t>
            </a:r>
            <a:endParaRPr lang="en-US" sz="16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1983" y="762"/>
            <a:ext cx="12194258" cy="6859270"/>
          </a:xfrm>
          <a:prstGeom prst="rect">
            <a:avLst/>
          </a:prstGeom>
          <a:noFill/>
          <a:ln w="25400" cap="flat" cmpd="sng">
            <a:noFill/>
            <a:prstDash val="solid"/>
            <a:round/>
          </a:ln>
        </p:spPr>
      </p:pic>
      <p:sp>
        <p:nvSpPr>
          <p:cNvPr id="3" name="AutoShape 3"/>
          <p:cNvSpPr/>
          <p:nvPr/>
        </p:nvSpPr>
        <p:spPr>
          <a:xfrm>
            <a:off x="11839051" y="6351176"/>
            <a:ext cx="330261" cy="431880"/>
          </a:xfrm>
          <a:prstGeom prst="roundRect">
            <a:avLst>
              <a:gd name="adj" fmla="val 0"/>
            </a:avLst>
          </a:prstGeom>
          <a:noFill/>
          <a:ln w="25400" cap="flat" cmpd="sng">
            <a:noFill/>
            <a:prstDash val="solid"/>
            <a:round/>
          </a:ln>
        </p:spPr>
        <p:txBody>
          <a:bodyPr vert="horz" wrap="square" lIns="63511" tIns="63511" rIns="63511" bIns="63511" rtlCol="0" anchor="ctr"/>
          <a:lstStyle/>
          <a:p>
            <a:pPr algn="ctr">
              <a:defRPr/>
            </a:pPr>
          </a:p>
        </p:txBody>
      </p:sp>
      <p:sp>
        <p:nvSpPr>
          <p:cNvPr id="4" name="AutoShape 4"/>
          <p:cNvSpPr/>
          <p:nvPr/>
        </p:nvSpPr>
        <p:spPr>
          <a:xfrm>
            <a:off x="838814" y="1066998"/>
            <a:ext cx="10669976" cy="660522"/>
          </a:xfrm>
          <a:prstGeom prst="roundRect">
            <a:avLst>
              <a:gd name="adj" fmla="val 0"/>
            </a:avLst>
          </a:prstGeom>
          <a:solidFill>
            <a:schemeClr val="bg1">
              <a:lumMod val="95000"/>
            </a:schemeClr>
          </a:solidFill>
          <a:ln w="25400" cap="flat" cmpd="sng">
            <a:noFill/>
            <a:prstDash val="solid"/>
            <a:round/>
          </a:ln>
        </p:spPr>
        <p:txBody>
          <a:bodyPr vert="horz" wrap="square" lIns="63511" tIns="63511" rIns="63511" bIns="63511" rtlCol="0" anchor="ctr"/>
          <a:lstStyle/>
          <a:p>
            <a:pPr algn="ctr">
              <a:defRPr/>
            </a:pPr>
            <a:endParaRPr>
              <a:solidFill>
                <a:schemeClr val="bg1">
                  <a:lumMod val="95000"/>
                </a:schemeClr>
              </a:solidFill>
            </a:endParaRPr>
          </a:p>
        </p:txBody>
      </p:sp>
      <p:sp>
        <p:nvSpPr>
          <p:cNvPr id="5" name="AutoShape 5"/>
          <p:cNvSpPr/>
          <p:nvPr/>
        </p:nvSpPr>
        <p:spPr>
          <a:xfrm>
            <a:off x="330720" y="165131"/>
            <a:ext cx="10187286" cy="876462"/>
          </a:xfrm>
          <a:prstGeom prst="rect">
            <a:avLst/>
          </a:prstGeom>
          <a:noFill/>
          <a:ln w="12700" cap="flat" cmpd="sng">
            <a:noFill/>
            <a:prstDash val="solid"/>
            <a:round/>
          </a:ln>
        </p:spPr>
        <p:txBody>
          <a:bodyPr vert="horz" wrap="square" lIns="127023" tIns="63511" rIns="127023" bIns="63511" rtlCol="0" anchor="ctr" anchorCtr="0"/>
          <a:lstStyle/>
          <a:p>
            <a:pPr marL="0" indent="0" algn="l" defTabSz="1219200">
              <a:lnSpc>
                <a:spcPct val="100000"/>
              </a:lnSpc>
              <a:defRPr/>
            </a:pPr>
            <a:r>
              <a:rPr lang="zh-CN" altLang="en-US" sz="28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什么是本体？</a:t>
            </a:r>
            <a:endParaRPr lang="en-US" sz="1100"/>
          </a:p>
        </p:txBody>
      </p:sp>
      <p:sp>
        <p:nvSpPr>
          <p:cNvPr id="6" name="AutoShape 6"/>
          <p:cNvSpPr/>
          <p:nvPr/>
        </p:nvSpPr>
        <p:spPr>
          <a:xfrm>
            <a:off x="991242" y="1143212"/>
            <a:ext cx="10352417" cy="457285"/>
          </a:xfrm>
          <a:prstGeom prst="rect">
            <a:avLst/>
          </a:prstGeom>
          <a:noFill/>
          <a:ln w="12700" cap="flat" cmpd="sng">
            <a:noFill/>
            <a:prstDash val="solid"/>
            <a:round/>
          </a:ln>
        </p:spPr>
        <p:txBody>
          <a:bodyPr vert="horz" wrap="square" lIns="0" tIns="0" rIns="0" bIns="0" rtlCol="0" anchor="t" anchorCtr="0"/>
          <a:lstStyle/>
          <a:p>
            <a:pPr marL="0" indent="0" algn="l" defTabSz="1219200">
              <a:lnSpc>
                <a:spcPct val="100000"/>
              </a:lnSpc>
              <a:defRPr/>
            </a:pPr>
            <a:r>
              <a:rPr lang="en-US" sz="1600" b="0" i="1" u="none"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本体是一个将现实世界映射到数字世界的“可执行语义层”，通过数据建模、逻辑代码化与操作闭环三大核心要素，实现从智能洞察到业务执行的无缝衔接。</a:t>
            </a:r>
            <a:endParaRPr lang="en-US" sz="1100"/>
          </a:p>
        </p:txBody>
      </p:sp>
      <p:sp>
        <p:nvSpPr>
          <p:cNvPr id="7" name="AutoShape 7"/>
          <p:cNvSpPr/>
          <p:nvPr>
            <p:custDataLst>
              <p:tags r:id="rId2"/>
            </p:custDataLst>
          </p:nvPr>
        </p:nvSpPr>
        <p:spPr>
          <a:xfrm>
            <a:off x="915028" y="1930757"/>
            <a:ext cx="3429635" cy="4090157"/>
          </a:xfrm>
          <a:prstGeom prst="roundRect">
            <a:avLst>
              <a:gd name="adj" fmla="val 1481"/>
            </a:avLst>
          </a:prstGeom>
          <a:solidFill>
            <a:srgbClr val="FFFFFF">
              <a:alpha val="100000"/>
            </a:srgbClr>
          </a:solidFill>
          <a:ln w="12700" cap="flat" cmpd="sng">
            <a:solidFill>
              <a:srgbClr val="ECECEC">
                <a:alpha val="100000"/>
              </a:srgbClr>
            </a:solidFill>
            <a:prstDash val="solid"/>
            <a:miter lim="1000000"/>
          </a:ln>
        </p:spPr>
        <p:txBody>
          <a:bodyPr vert="horz" wrap="square" lIns="63511" tIns="63511" rIns="63511" bIns="63511" rtlCol="0" anchor="ctr"/>
          <a:lstStyle/>
          <a:p>
            <a:pPr algn="ctr">
              <a:defRPr/>
            </a:pPr>
          </a:p>
        </p:txBody>
      </p:sp>
      <p:sp>
        <p:nvSpPr>
          <p:cNvPr id="8" name="AutoShape 8"/>
          <p:cNvSpPr/>
          <p:nvPr>
            <p:custDataLst>
              <p:tags r:id="rId3"/>
            </p:custDataLst>
          </p:nvPr>
        </p:nvSpPr>
        <p:spPr>
          <a:xfrm>
            <a:off x="1156373" y="2235614"/>
            <a:ext cx="419178" cy="457285"/>
          </a:xfrm>
          <a:prstGeom prst="ellipse">
            <a:avLst/>
          </a:prstGeom>
          <a:solidFill>
            <a:srgbClr val="9ACAF1"/>
          </a:solidFill>
          <a:ln w="25400" cap="flat" cmpd="sng">
            <a:noFill/>
            <a:prstDash val="solid"/>
            <a:round/>
          </a:ln>
        </p:spPr>
        <p:txBody>
          <a:bodyPr vert="horz" wrap="square" lIns="63511" tIns="63511" rIns="63511" bIns="63511" rtlCol="0" anchor="ctr"/>
          <a:lstStyle/>
          <a:p>
            <a:pPr algn="ctr">
              <a:defRPr/>
            </a:pPr>
            <a:endParaRPr>
              <a:solidFill>
                <a:srgbClr val="1D4ED8"/>
              </a:solidFill>
            </a:endParaRPr>
          </a:p>
        </p:txBody>
      </p:sp>
      <p:sp>
        <p:nvSpPr>
          <p:cNvPr id="9" name="Freeform 9"/>
          <p:cNvSpPr/>
          <p:nvPr>
            <p:custDataLst>
              <p:tags r:id="rId4"/>
            </p:custDataLst>
          </p:nvPr>
        </p:nvSpPr>
        <p:spPr>
          <a:xfrm>
            <a:off x="1270694" y="2362637"/>
            <a:ext cx="190535" cy="207683"/>
          </a:xfrm>
          <a:custGeom>
            <a:avLst/>
            <a:gdLst/>
            <a:ahLst/>
            <a:cxnLst/>
            <a:rect l="l" t="t" r="r" b="b"/>
            <a:pathLst>
              <a:path w="190500" h="207645">
                <a:moveTo>
                  <a:pt x="154774" y="84366"/>
                </a:moveTo>
                <a:cubicBezTo>
                  <a:pt x="154526" y="103283"/>
                  <a:pt x="149573" y="119915"/>
                  <a:pt x="139893" y="134243"/>
                </a:cubicBezTo>
                <a:lnTo>
                  <a:pt x="187146" y="185344"/>
                </a:lnTo>
                <a:cubicBezTo>
                  <a:pt x="189376" y="188044"/>
                  <a:pt x="190500" y="191138"/>
                  <a:pt x="190500" y="194667"/>
                </a:cubicBezTo>
                <a:cubicBezTo>
                  <a:pt x="190500" y="198176"/>
                  <a:pt x="189376" y="201291"/>
                  <a:pt x="187146" y="203990"/>
                </a:cubicBezTo>
                <a:cubicBezTo>
                  <a:pt x="184669" y="206419"/>
                  <a:pt x="181812" y="207645"/>
                  <a:pt x="178591" y="207645"/>
                </a:cubicBezTo>
                <a:cubicBezTo>
                  <a:pt x="175353" y="207645"/>
                  <a:pt x="172513" y="206419"/>
                  <a:pt x="170036" y="203990"/>
                </a:cubicBezTo>
                <a:lnTo>
                  <a:pt x="123163" y="152494"/>
                </a:lnTo>
                <a:cubicBezTo>
                  <a:pt x="110016" y="163022"/>
                  <a:pt x="94755" y="168421"/>
                  <a:pt x="77396" y="168712"/>
                </a:cubicBezTo>
                <a:cubicBezTo>
                  <a:pt x="55561" y="168172"/>
                  <a:pt x="37327" y="159929"/>
                  <a:pt x="22694" y="143981"/>
                </a:cubicBezTo>
                <a:cubicBezTo>
                  <a:pt x="8059" y="128013"/>
                  <a:pt x="495" y="108142"/>
                  <a:pt x="0" y="84366"/>
                </a:cubicBezTo>
                <a:cubicBezTo>
                  <a:pt x="495" y="60570"/>
                  <a:pt x="8059" y="40678"/>
                  <a:pt x="22694" y="24731"/>
                </a:cubicBezTo>
                <a:cubicBezTo>
                  <a:pt x="37327" y="8783"/>
                  <a:pt x="55561" y="540"/>
                  <a:pt x="77396" y="0"/>
                </a:cubicBezTo>
                <a:cubicBezTo>
                  <a:pt x="99214" y="540"/>
                  <a:pt x="117447" y="8783"/>
                  <a:pt x="132081" y="24731"/>
                </a:cubicBezTo>
                <a:cubicBezTo>
                  <a:pt x="146714" y="40678"/>
                  <a:pt x="154278" y="60570"/>
                  <a:pt x="154774" y="84366"/>
                </a:cubicBezTo>
                <a:moveTo>
                  <a:pt x="77396" y="142756"/>
                </a:moveTo>
                <a:cubicBezTo>
                  <a:pt x="87057" y="142756"/>
                  <a:pt x="95993" y="140181"/>
                  <a:pt x="104186" y="135052"/>
                </a:cubicBezTo>
                <a:cubicBezTo>
                  <a:pt x="112361" y="129903"/>
                  <a:pt x="118934" y="122739"/>
                  <a:pt x="123908" y="113561"/>
                </a:cubicBezTo>
                <a:cubicBezTo>
                  <a:pt x="128613" y="104362"/>
                  <a:pt x="130976" y="94624"/>
                  <a:pt x="130976" y="84366"/>
                </a:cubicBezTo>
                <a:cubicBezTo>
                  <a:pt x="130976" y="74066"/>
                  <a:pt x="128613" y="64328"/>
                  <a:pt x="123908" y="55151"/>
                </a:cubicBezTo>
                <a:cubicBezTo>
                  <a:pt x="118934" y="45952"/>
                  <a:pt x="112361" y="38788"/>
                  <a:pt x="104186" y="33659"/>
                </a:cubicBezTo>
                <a:cubicBezTo>
                  <a:pt x="95993" y="28510"/>
                  <a:pt x="87057" y="25956"/>
                  <a:pt x="77396" y="25956"/>
                </a:cubicBezTo>
                <a:cubicBezTo>
                  <a:pt x="67718" y="25956"/>
                  <a:pt x="58781" y="28510"/>
                  <a:pt x="50607" y="33659"/>
                </a:cubicBezTo>
                <a:cubicBezTo>
                  <a:pt x="42414" y="38788"/>
                  <a:pt x="35841" y="45952"/>
                  <a:pt x="30886" y="55151"/>
                </a:cubicBezTo>
                <a:cubicBezTo>
                  <a:pt x="26161" y="64328"/>
                  <a:pt x="23818" y="74066"/>
                  <a:pt x="23818" y="84366"/>
                </a:cubicBezTo>
                <a:cubicBezTo>
                  <a:pt x="23818" y="94624"/>
                  <a:pt x="26161" y="104362"/>
                  <a:pt x="30886" y="113561"/>
                </a:cubicBezTo>
                <a:cubicBezTo>
                  <a:pt x="35841" y="122739"/>
                  <a:pt x="42414" y="129903"/>
                  <a:pt x="50607" y="135052"/>
                </a:cubicBezTo>
                <a:cubicBezTo>
                  <a:pt x="58781" y="140181"/>
                  <a:pt x="67718" y="142756"/>
                  <a:pt x="77396" y="142756"/>
                </a:cubicBezTo>
              </a:path>
            </a:pathLst>
          </a:custGeom>
          <a:solidFill>
            <a:srgbClr val="FFFFFF">
              <a:alpha val="100000"/>
            </a:srgbClr>
          </a:solidFill>
          <a:ln w="25400" cap="flat" cmpd="sng">
            <a:noFill/>
            <a:prstDash val="solid"/>
            <a:round/>
          </a:ln>
        </p:spPr>
        <p:txBody>
          <a:bodyPr vert="horz" wrap="square" lIns="63511" tIns="63511" rIns="63511" bIns="63511" rtlCol="0" anchor="ctr"/>
          <a:lstStyle/>
          <a:p>
            <a:pPr algn="ctr">
              <a:defRPr/>
            </a:pPr>
          </a:p>
        </p:txBody>
      </p:sp>
      <p:sp>
        <p:nvSpPr>
          <p:cNvPr id="10" name="AutoShape 10"/>
          <p:cNvSpPr/>
          <p:nvPr>
            <p:custDataLst>
              <p:tags r:id="rId5"/>
            </p:custDataLst>
          </p:nvPr>
        </p:nvSpPr>
        <p:spPr>
          <a:xfrm>
            <a:off x="1689871" y="2324530"/>
            <a:ext cx="2540470" cy="254047"/>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2000" b="1" i="0" u="none" strike="noStrike">
                <a:solidFill>
                  <a:srgbClr val="0A1F3D"/>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01 核心要素：数据</a:t>
            </a:r>
            <a:endParaRPr lang="en-US" sz="1100"/>
          </a:p>
        </p:txBody>
      </p:sp>
      <p:sp>
        <p:nvSpPr>
          <p:cNvPr id="11" name="AutoShape 11"/>
          <p:cNvSpPr/>
          <p:nvPr>
            <p:custDataLst>
              <p:tags r:id="rId6"/>
            </p:custDataLst>
          </p:nvPr>
        </p:nvSpPr>
        <p:spPr>
          <a:xfrm>
            <a:off x="1042051" y="2807220"/>
            <a:ext cx="3366123" cy="2286423"/>
          </a:xfrm>
          <a:prstGeom prst="rect">
            <a:avLst/>
          </a:prstGeom>
          <a:noFill/>
          <a:ln w="12700" cap="flat" cmpd="sng">
            <a:noFill/>
            <a:prstDash val="solid"/>
            <a:round/>
          </a:ln>
        </p:spPr>
        <p:txBody>
          <a:bodyPr vert="horz" wrap="square" lIns="88916" tIns="50809" rIns="88916" bIns="50809" rtlCol="0" anchor="t" anchorCtr="0"/>
          <a:lstStyle>
            <a:lvl1pPr marL="469900" indent="-177800"/>
            <a:lvl2pPr marL="927100" indent="-177800"/>
            <a:lvl3pPr marL="1384300" indent="-177800"/>
            <a:lvl4pPr marL="1841500" indent="-177800"/>
            <a:lvl5pPr marL="2298700" indent="-177800"/>
            <a:lvl6pPr marL="2755900" indent="-177800"/>
            <a:lvl7pPr marL="3213100" indent="-177800"/>
            <a:lvl8pPr marL="3670300" indent="-177800"/>
            <a:lvl9pPr marL="4127500" indent="-177800"/>
          </a:lstStyle>
          <a:p>
            <a:pPr marL="292100" indent="-279400" algn="l" defTabSz="1219200">
              <a:lnSpc>
                <a:spcPct val="100000"/>
              </a:lnSpc>
              <a:buClr>
                <a:srgbClr val="0A1F3D"/>
              </a:buClr>
              <a:buFont typeface="Wingdings" panose="05000000000000000000"/>
              <a:buChar char="Ø"/>
              <a:defRPr/>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以对象（Object）、属性（Property）和链接（Link）为核心组织数据，构建结构化的语义知识图谱。</a:t>
            </a:r>
            <a:endParaRPr lang="en-US" sz="1100"/>
          </a:p>
          <a:p>
            <a:pPr marL="292100" indent="-279400" algn="l" defTabSz="1219200">
              <a:lnSpc>
                <a:spcPct val="100000"/>
              </a:lnSpc>
              <a:buClr>
                <a:srgbClr val="0A1F3D"/>
              </a:buClr>
              <a:buFont typeface="Wingdings" panose="05000000000000000000"/>
              <a:buChar char="Ø"/>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将现实世界的实体、关系与业务场景精准映射为数字对象，为AI分析与决策提供可靠的结构化数据基础。</a:t>
            </a:r>
            <a:endPar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cxnSp>
        <p:nvCxnSpPr>
          <p:cNvPr id="12" name="Connector 12"/>
          <p:cNvCxnSpPr/>
          <p:nvPr>
            <p:custDataLst>
              <p:tags r:id="rId7"/>
            </p:custDataLst>
          </p:nvPr>
        </p:nvCxnSpPr>
        <p:spPr>
          <a:xfrm>
            <a:off x="1156373" y="5970105"/>
            <a:ext cx="2946973" cy="12702"/>
          </a:xfrm>
          <a:prstGeom prst="line">
            <a:avLst/>
          </a:prstGeom>
          <a:solidFill>
            <a:srgbClr val="DEE0E3">
              <a:alpha val="100000"/>
            </a:srgbClr>
          </a:solidFill>
          <a:ln w="12700" cap="sq" cmpd="sng">
            <a:solidFill>
              <a:srgbClr val="ECECEC">
                <a:alpha val="100000"/>
              </a:srgbClr>
            </a:solidFill>
            <a:prstDash val="solid"/>
            <a:miter lim="1000000"/>
            <a:headEnd type="none" w="med" len="med"/>
            <a:tailEnd type="none" w="med" len="med"/>
          </a:ln>
        </p:spPr>
      </p:cxnSp>
      <p:sp>
        <p:nvSpPr>
          <p:cNvPr id="13" name="AutoShape 13"/>
          <p:cNvSpPr/>
          <p:nvPr>
            <p:custDataLst>
              <p:tags r:id="rId8"/>
            </p:custDataLst>
          </p:nvPr>
        </p:nvSpPr>
        <p:spPr>
          <a:xfrm>
            <a:off x="1156373" y="6020915"/>
            <a:ext cx="2946946" cy="127024"/>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2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DATA MODELING</a:t>
            </a:r>
            <a:endParaRPr lang="en-US" sz="1100"/>
          </a:p>
        </p:txBody>
      </p:sp>
      <p:sp>
        <p:nvSpPr>
          <p:cNvPr id="14" name="AutoShape 14"/>
          <p:cNvSpPr/>
          <p:nvPr>
            <p:custDataLst>
              <p:tags r:id="rId9"/>
            </p:custDataLst>
          </p:nvPr>
        </p:nvSpPr>
        <p:spPr>
          <a:xfrm>
            <a:off x="4535198" y="1930757"/>
            <a:ext cx="3429635" cy="4090157"/>
          </a:xfrm>
          <a:prstGeom prst="roundRect">
            <a:avLst>
              <a:gd name="adj" fmla="val 1481"/>
            </a:avLst>
          </a:prstGeom>
          <a:solidFill>
            <a:srgbClr val="FFFFFF">
              <a:alpha val="100000"/>
            </a:srgbClr>
          </a:solidFill>
          <a:ln w="12700" cap="flat" cmpd="sng">
            <a:solidFill>
              <a:srgbClr val="ECECEC">
                <a:alpha val="100000"/>
              </a:srgbClr>
            </a:solidFill>
            <a:prstDash val="solid"/>
            <a:miter lim="1000000"/>
          </a:ln>
        </p:spPr>
        <p:txBody>
          <a:bodyPr vert="horz" wrap="square" lIns="63511" tIns="63511" rIns="63511" bIns="63511" rtlCol="0" anchor="ctr"/>
          <a:lstStyle/>
          <a:p>
            <a:pPr algn="ctr">
              <a:defRPr/>
            </a:pPr>
          </a:p>
        </p:txBody>
      </p:sp>
      <p:sp>
        <p:nvSpPr>
          <p:cNvPr id="15" name="AutoShape 15"/>
          <p:cNvSpPr/>
          <p:nvPr>
            <p:custDataLst>
              <p:tags r:id="rId10"/>
            </p:custDataLst>
          </p:nvPr>
        </p:nvSpPr>
        <p:spPr>
          <a:xfrm>
            <a:off x="4776543" y="2235614"/>
            <a:ext cx="419178" cy="457285"/>
          </a:xfrm>
          <a:prstGeom prst="ellipse">
            <a:avLst/>
          </a:prstGeom>
          <a:solidFill>
            <a:srgbClr val="9ACAF1"/>
          </a:solidFill>
          <a:ln w="25400" cap="flat" cmpd="sng">
            <a:noFill/>
            <a:prstDash val="solid"/>
            <a:round/>
          </a:ln>
        </p:spPr>
        <p:txBody>
          <a:bodyPr vert="horz" wrap="square" lIns="63511" tIns="63511" rIns="63511" bIns="63511" rtlCol="0" anchor="ctr"/>
          <a:lstStyle/>
          <a:p>
            <a:pPr algn="ctr">
              <a:defRPr/>
            </a:pPr>
            <a:endParaRPr>
              <a:solidFill>
                <a:srgbClr val="1D4ED8"/>
              </a:solidFill>
            </a:endParaRPr>
          </a:p>
        </p:txBody>
      </p:sp>
      <p:sp>
        <p:nvSpPr>
          <p:cNvPr id="16" name="Freeform 16"/>
          <p:cNvSpPr/>
          <p:nvPr>
            <p:custDataLst>
              <p:tags r:id="rId11"/>
            </p:custDataLst>
          </p:nvPr>
        </p:nvSpPr>
        <p:spPr>
          <a:xfrm>
            <a:off x="4890864" y="2361474"/>
            <a:ext cx="190535" cy="210011"/>
          </a:xfrm>
          <a:custGeom>
            <a:avLst/>
            <a:gdLst/>
            <a:ahLst/>
            <a:cxnLst/>
            <a:rect l="l" t="t" r="r" b="b"/>
            <a:pathLst>
              <a:path w="190500" h="209972">
                <a:moveTo>
                  <a:pt x="177258" y="110280"/>
                </a:moveTo>
                <a:cubicBezTo>
                  <a:pt x="186079" y="97033"/>
                  <a:pt x="190500" y="81854"/>
                  <a:pt x="190500" y="64785"/>
                </a:cubicBezTo>
                <a:cubicBezTo>
                  <a:pt x="190500" y="47987"/>
                  <a:pt x="186079" y="32974"/>
                  <a:pt x="177258" y="19727"/>
                </a:cubicBezTo>
                <a:cubicBezTo>
                  <a:pt x="169046" y="8805"/>
                  <a:pt x="159480" y="2617"/>
                  <a:pt x="148543" y="1163"/>
                </a:cubicBezTo>
                <a:cubicBezTo>
                  <a:pt x="137817" y="0"/>
                  <a:pt x="127832" y="3946"/>
                  <a:pt x="118591" y="13082"/>
                </a:cubicBezTo>
                <a:lnTo>
                  <a:pt x="117963" y="13539"/>
                </a:lnTo>
                <a:cubicBezTo>
                  <a:pt x="115637" y="15885"/>
                  <a:pt x="114285" y="18979"/>
                  <a:pt x="113866" y="22820"/>
                </a:cubicBezTo>
                <a:cubicBezTo>
                  <a:pt x="113447" y="26351"/>
                  <a:pt x="114075" y="29880"/>
                  <a:pt x="115752" y="33411"/>
                </a:cubicBezTo>
                <a:cubicBezTo>
                  <a:pt x="117428" y="36359"/>
                  <a:pt x="119525" y="38124"/>
                  <a:pt x="122058" y="38726"/>
                </a:cubicBezTo>
                <a:cubicBezTo>
                  <a:pt x="124784" y="39598"/>
                  <a:pt x="127298" y="38850"/>
                  <a:pt x="129623" y="36505"/>
                </a:cubicBezTo>
                <a:lnTo>
                  <a:pt x="130252" y="36068"/>
                </a:lnTo>
                <a:cubicBezTo>
                  <a:pt x="135510" y="31044"/>
                  <a:pt x="141074" y="28843"/>
                  <a:pt x="146981" y="29445"/>
                </a:cubicBezTo>
                <a:cubicBezTo>
                  <a:pt x="153078" y="30026"/>
                  <a:pt x="158432" y="33411"/>
                  <a:pt x="163063" y="39598"/>
                </a:cubicBezTo>
                <a:cubicBezTo>
                  <a:pt x="167902" y="46949"/>
                  <a:pt x="170322" y="55359"/>
                  <a:pt x="170322" y="64785"/>
                </a:cubicBezTo>
                <a:cubicBezTo>
                  <a:pt x="170322" y="74503"/>
                  <a:pt x="167902" y="82893"/>
                  <a:pt x="163063" y="89973"/>
                </a:cubicBezTo>
                <a:lnTo>
                  <a:pt x="127413" y="139890"/>
                </a:lnTo>
                <a:cubicBezTo>
                  <a:pt x="122154" y="146659"/>
                  <a:pt x="116171" y="150045"/>
                  <a:pt x="109445" y="150045"/>
                </a:cubicBezTo>
                <a:cubicBezTo>
                  <a:pt x="102700" y="150045"/>
                  <a:pt x="96717" y="146659"/>
                  <a:pt x="91458" y="139890"/>
                </a:cubicBezTo>
                <a:cubicBezTo>
                  <a:pt x="87038" y="133412"/>
                  <a:pt x="84637" y="125895"/>
                  <a:pt x="84218" y="117362"/>
                </a:cubicBezTo>
                <a:cubicBezTo>
                  <a:pt x="83798" y="109096"/>
                  <a:pt x="85361" y="101290"/>
                  <a:pt x="88943" y="93939"/>
                </a:cubicBezTo>
                <a:lnTo>
                  <a:pt x="89248" y="93067"/>
                </a:lnTo>
                <a:cubicBezTo>
                  <a:pt x="90715" y="89806"/>
                  <a:pt x="91248" y="86422"/>
                  <a:pt x="90829" y="82893"/>
                </a:cubicBezTo>
                <a:cubicBezTo>
                  <a:pt x="90410" y="79071"/>
                  <a:pt x="89038" y="75977"/>
                  <a:pt x="86733" y="73610"/>
                </a:cubicBezTo>
                <a:cubicBezTo>
                  <a:pt x="84408" y="71243"/>
                  <a:pt x="81989" y="70372"/>
                  <a:pt x="79474" y="70974"/>
                </a:cubicBezTo>
                <a:cubicBezTo>
                  <a:pt x="76730" y="71555"/>
                  <a:pt x="74539" y="73465"/>
                  <a:pt x="72861" y="76704"/>
                </a:cubicBezTo>
                <a:lnTo>
                  <a:pt x="72537" y="77597"/>
                </a:lnTo>
                <a:cubicBezTo>
                  <a:pt x="66021" y="90554"/>
                  <a:pt x="63182" y="104674"/>
                  <a:pt x="64021" y="119998"/>
                </a:cubicBezTo>
                <a:cubicBezTo>
                  <a:pt x="64859" y="135031"/>
                  <a:pt x="69261" y="148280"/>
                  <a:pt x="77263" y="159762"/>
                </a:cubicBezTo>
                <a:cubicBezTo>
                  <a:pt x="86714" y="172138"/>
                  <a:pt x="97441" y="178325"/>
                  <a:pt x="109445" y="178325"/>
                </a:cubicBezTo>
                <a:cubicBezTo>
                  <a:pt x="121639" y="178325"/>
                  <a:pt x="132462" y="172138"/>
                  <a:pt x="141931" y="159762"/>
                </a:cubicBezTo>
                <a:lnTo>
                  <a:pt x="177258" y="110280"/>
                </a:lnTo>
                <a:moveTo>
                  <a:pt x="13242" y="99691"/>
                </a:moveTo>
                <a:cubicBezTo>
                  <a:pt x="4402" y="112938"/>
                  <a:pt x="0" y="128097"/>
                  <a:pt x="0" y="145186"/>
                </a:cubicBezTo>
                <a:cubicBezTo>
                  <a:pt x="0" y="161963"/>
                  <a:pt x="4402" y="176997"/>
                  <a:pt x="13242" y="190244"/>
                </a:cubicBezTo>
                <a:cubicBezTo>
                  <a:pt x="21435" y="201146"/>
                  <a:pt x="31020" y="207334"/>
                  <a:pt x="41957" y="208808"/>
                </a:cubicBezTo>
                <a:cubicBezTo>
                  <a:pt x="52664" y="209971"/>
                  <a:pt x="62763" y="206005"/>
                  <a:pt x="72233" y="196889"/>
                </a:cubicBezTo>
                <a:lnTo>
                  <a:pt x="72537" y="196432"/>
                </a:lnTo>
                <a:cubicBezTo>
                  <a:pt x="74844" y="194066"/>
                  <a:pt x="76215" y="190971"/>
                  <a:pt x="76634" y="187151"/>
                </a:cubicBezTo>
                <a:cubicBezTo>
                  <a:pt x="77053" y="183620"/>
                  <a:pt x="76520" y="180091"/>
                  <a:pt x="75072" y="176560"/>
                </a:cubicBezTo>
                <a:cubicBezTo>
                  <a:pt x="73167" y="173612"/>
                  <a:pt x="70956" y="171827"/>
                  <a:pt x="68442" y="171245"/>
                </a:cubicBezTo>
                <a:cubicBezTo>
                  <a:pt x="65697" y="170373"/>
                  <a:pt x="63182" y="171099"/>
                  <a:pt x="60877" y="173466"/>
                </a:cubicBezTo>
                <a:lnTo>
                  <a:pt x="60248" y="173903"/>
                </a:lnTo>
                <a:cubicBezTo>
                  <a:pt x="54990" y="178907"/>
                  <a:pt x="49407" y="181108"/>
                  <a:pt x="43519" y="180526"/>
                </a:cubicBezTo>
                <a:cubicBezTo>
                  <a:pt x="37422" y="179946"/>
                  <a:pt x="32048" y="176560"/>
                  <a:pt x="27437" y="170373"/>
                </a:cubicBezTo>
                <a:cubicBezTo>
                  <a:pt x="22598" y="163002"/>
                  <a:pt x="20178" y="154613"/>
                  <a:pt x="20178" y="145186"/>
                </a:cubicBezTo>
                <a:cubicBezTo>
                  <a:pt x="20178" y="135468"/>
                  <a:pt x="22694" y="127058"/>
                  <a:pt x="27761" y="119998"/>
                </a:cubicBezTo>
                <a:lnTo>
                  <a:pt x="63087" y="70081"/>
                </a:lnTo>
                <a:cubicBezTo>
                  <a:pt x="68327" y="63312"/>
                  <a:pt x="74310" y="59927"/>
                  <a:pt x="81055" y="59927"/>
                </a:cubicBezTo>
                <a:cubicBezTo>
                  <a:pt x="87781" y="59927"/>
                  <a:pt x="93783" y="63312"/>
                  <a:pt x="99042" y="70081"/>
                </a:cubicBezTo>
                <a:cubicBezTo>
                  <a:pt x="103443" y="76559"/>
                  <a:pt x="105863" y="84055"/>
                  <a:pt x="106282" y="92609"/>
                </a:cubicBezTo>
                <a:cubicBezTo>
                  <a:pt x="106702" y="100853"/>
                  <a:pt x="105120" y="108661"/>
                  <a:pt x="101557" y="116032"/>
                </a:cubicBezTo>
                <a:lnTo>
                  <a:pt x="101252" y="116904"/>
                </a:lnTo>
                <a:cubicBezTo>
                  <a:pt x="99766" y="120144"/>
                  <a:pt x="99252" y="123694"/>
                  <a:pt x="99671" y="127515"/>
                </a:cubicBezTo>
                <a:cubicBezTo>
                  <a:pt x="100090" y="131045"/>
                  <a:pt x="101443" y="133994"/>
                  <a:pt x="103767" y="136361"/>
                </a:cubicBezTo>
                <a:cubicBezTo>
                  <a:pt x="106073" y="138707"/>
                  <a:pt x="108492" y="139579"/>
                  <a:pt x="111026" y="138997"/>
                </a:cubicBezTo>
                <a:cubicBezTo>
                  <a:pt x="113751" y="138417"/>
                  <a:pt x="115961" y="136506"/>
                  <a:pt x="117639" y="133267"/>
                </a:cubicBezTo>
                <a:lnTo>
                  <a:pt x="117963" y="132374"/>
                </a:lnTo>
                <a:cubicBezTo>
                  <a:pt x="124479" y="119417"/>
                  <a:pt x="127318" y="105276"/>
                  <a:pt x="126479" y="89973"/>
                </a:cubicBezTo>
                <a:cubicBezTo>
                  <a:pt x="125641" y="74940"/>
                  <a:pt x="121220" y="61671"/>
                  <a:pt x="113237" y="50209"/>
                </a:cubicBezTo>
                <a:cubicBezTo>
                  <a:pt x="103767" y="37833"/>
                  <a:pt x="93040" y="31646"/>
                  <a:pt x="81055" y="31646"/>
                </a:cubicBezTo>
                <a:cubicBezTo>
                  <a:pt x="68861" y="31646"/>
                  <a:pt x="58133" y="37833"/>
                  <a:pt x="48892" y="50209"/>
                </a:cubicBezTo>
              </a:path>
            </a:pathLst>
          </a:custGeom>
          <a:solidFill>
            <a:srgbClr val="FFFFFF">
              <a:alpha val="100000"/>
            </a:srgbClr>
          </a:solidFill>
          <a:ln w="25400" cap="flat" cmpd="sng">
            <a:noFill/>
            <a:prstDash val="solid"/>
            <a:round/>
          </a:ln>
        </p:spPr>
        <p:txBody>
          <a:bodyPr vert="horz" wrap="square" lIns="63511" tIns="63511" rIns="63511" bIns="63511" rtlCol="0" anchor="ctr"/>
          <a:lstStyle/>
          <a:p>
            <a:pPr algn="ctr">
              <a:defRPr/>
            </a:pPr>
          </a:p>
        </p:txBody>
      </p:sp>
      <p:sp>
        <p:nvSpPr>
          <p:cNvPr id="17" name="AutoShape 17"/>
          <p:cNvSpPr/>
          <p:nvPr>
            <p:custDataLst>
              <p:tags r:id="rId12"/>
            </p:custDataLst>
          </p:nvPr>
        </p:nvSpPr>
        <p:spPr>
          <a:xfrm>
            <a:off x="5310042" y="2324530"/>
            <a:ext cx="2540470" cy="254047"/>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2000" b="1" i="0" u="none" strike="noStrike">
                <a:solidFill>
                  <a:srgbClr val="0A1F3D"/>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02 核心要素：逻辑</a:t>
            </a:r>
            <a:endParaRPr lang="en-US" sz="1100"/>
          </a:p>
        </p:txBody>
      </p:sp>
      <p:sp>
        <p:nvSpPr>
          <p:cNvPr id="18" name="AutoShape 18"/>
          <p:cNvSpPr/>
          <p:nvPr>
            <p:custDataLst>
              <p:tags r:id="rId13"/>
            </p:custDataLst>
          </p:nvPr>
        </p:nvSpPr>
        <p:spPr>
          <a:xfrm>
            <a:off x="4573305" y="2743708"/>
            <a:ext cx="3378826" cy="2286423"/>
          </a:xfrm>
          <a:prstGeom prst="rect">
            <a:avLst/>
          </a:prstGeom>
          <a:noFill/>
          <a:ln w="12700" cap="flat" cmpd="sng">
            <a:noFill/>
            <a:prstDash val="solid"/>
            <a:round/>
          </a:ln>
        </p:spPr>
        <p:txBody>
          <a:bodyPr vert="horz" wrap="square" lIns="88916" tIns="50809" rIns="88916" bIns="50809" rtlCol="0" anchor="t" anchorCtr="0"/>
          <a:lstStyle>
            <a:lvl1pPr marL="469900" indent="-177800"/>
            <a:lvl2pPr marL="927100" indent="-177800"/>
            <a:lvl3pPr marL="1384300" indent="-177800"/>
            <a:lvl4pPr marL="1841500" indent="-177800"/>
            <a:lvl5pPr marL="2298700" indent="-177800"/>
            <a:lvl6pPr marL="2755900" indent="-177800"/>
            <a:lvl7pPr marL="3213100" indent="-177800"/>
            <a:lvl8pPr marL="3670300" indent="-177800"/>
            <a:lvl9pPr marL="4127500" indent="-177800"/>
          </a:lstStyle>
          <a:p>
            <a:pPr marL="292100" indent="-279400" algn="l" defTabSz="1219200">
              <a:lnSpc>
                <a:spcPct val="100000"/>
              </a:lnSpc>
              <a:buClr>
                <a:srgbClr val="0A1F3D"/>
              </a:buClr>
              <a:buFont typeface="Wingdings" panose="05000000000000000000"/>
              <a:buChar char="Ø"/>
              <a:defRPr/>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将企业的业务规则、决策模型等“逻辑资产”进行代码化封装，转化为可执行的算法逻辑。</a:t>
            </a:r>
            <a:endParaRPr lang="en-US" sz="1100"/>
          </a:p>
          <a:p>
            <a:pPr marL="292100" indent="-279400" algn="l" defTabSz="1219200">
              <a:lnSpc>
                <a:spcPct val="100000"/>
              </a:lnSpc>
              <a:buClr>
                <a:srgbClr val="0A1F3D"/>
              </a:buClr>
              <a:buFont typeface="Wingdings" panose="05000000000000000000"/>
              <a:buChar char="Ø"/>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赋予AI基于确定性规则的推理能力，确保智能决策的可解释性与可控性，规避黑盒模型的决策风险。</a:t>
            </a:r>
            <a:endPar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cxnSp>
        <p:nvCxnSpPr>
          <p:cNvPr id="19" name="Connector 19"/>
          <p:cNvCxnSpPr/>
          <p:nvPr>
            <p:custDataLst>
              <p:tags r:id="rId14"/>
            </p:custDataLst>
          </p:nvPr>
        </p:nvCxnSpPr>
        <p:spPr>
          <a:xfrm>
            <a:off x="4776543" y="5970105"/>
            <a:ext cx="2946973" cy="12702"/>
          </a:xfrm>
          <a:prstGeom prst="line">
            <a:avLst/>
          </a:prstGeom>
          <a:solidFill>
            <a:srgbClr val="DEE0E3">
              <a:alpha val="100000"/>
            </a:srgbClr>
          </a:solidFill>
          <a:ln w="12700" cap="sq" cmpd="sng">
            <a:solidFill>
              <a:srgbClr val="ECECEC">
                <a:alpha val="100000"/>
              </a:srgbClr>
            </a:solidFill>
            <a:prstDash val="solid"/>
            <a:miter lim="1000000"/>
            <a:headEnd type="none" w="med" len="med"/>
            <a:tailEnd type="none" w="med" len="med"/>
          </a:ln>
        </p:spPr>
      </p:cxnSp>
      <p:sp>
        <p:nvSpPr>
          <p:cNvPr id="20" name="AutoShape 20"/>
          <p:cNvSpPr/>
          <p:nvPr>
            <p:custDataLst>
              <p:tags r:id="rId15"/>
            </p:custDataLst>
          </p:nvPr>
        </p:nvSpPr>
        <p:spPr>
          <a:xfrm>
            <a:off x="4776543" y="6020915"/>
            <a:ext cx="2946946" cy="127024"/>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2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LOGIC CODIFICATION</a:t>
            </a:r>
            <a:endParaRPr lang="en-US" sz="1100"/>
          </a:p>
        </p:txBody>
      </p:sp>
      <p:sp>
        <p:nvSpPr>
          <p:cNvPr id="21" name="AutoShape 21"/>
          <p:cNvSpPr/>
          <p:nvPr>
            <p:custDataLst>
              <p:tags r:id="rId16"/>
            </p:custDataLst>
          </p:nvPr>
        </p:nvSpPr>
        <p:spPr>
          <a:xfrm>
            <a:off x="8155369" y="1930757"/>
            <a:ext cx="3429635" cy="4090157"/>
          </a:xfrm>
          <a:prstGeom prst="roundRect">
            <a:avLst>
              <a:gd name="adj" fmla="val 1481"/>
            </a:avLst>
          </a:prstGeom>
          <a:solidFill>
            <a:srgbClr val="FFFFFF">
              <a:alpha val="100000"/>
            </a:srgbClr>
          </a:solidFill>
          <a:ln w="12700" cap="flat" cmpd="sng">
            <a:solidFill>
              <a:srgbClr val="ECECEC">
                <a:alpha val="100000"/>
              </a:srgbClr>
            </a:solidFill>
            <a:prstDash val="solid"/>
            <a:miter lim="1000000"/>
          </a:ln>
        </p:spPr>
        <p:txBody>
          <a:bodyPr vert="horz" wrap="square" lIns="63511" tIns="63511" rIns="63511" bIns="63511" rtlCol="0" anchor="ctr"/>
          <a:lstStyle/>
          <a:p>
            <a:pPr algn="ctr">
              <a:defRPr/>
            </a:pPr>
          </a:p>
        </p:txBody>
      </p:sp>
      <p:sp>
        <p:nvSpPr>
          <p:cNvPr id="22" name="AutoShape 22"/>
          <p:cNvSpPr/>
          <p:nvPr>
            <p:custDataLst>
              <p:tags r:id="rId17"/>
            </p:custDataLst>
          </p:nvPr>
        </p:nvSpPr>
        <p:spPr>
          <a:xfrm>
            <a:off x="8396713" y="2235614"/>
            <a:ext cx="419178" cy="457285"/>
          </a:xfrm>
          <a:prstGeom prst="ellipse">
            <a:avLst/>
          </a:prstGeom>
          <a:solidFill>
            <a:srgbClr val="9ACAF1"/>
          </a:solidFill>
          <a:ln w="25400" cap="flat" cmpd="sng">
            <a:noFill/>
            <a:prstDash val="solid"/>
            <a:round/>
          </a:ln>
        </p:spPr>
        <p:txBody>
          <a:bodyPr vert="horz" wrap="square" lIns="63511" tIns="63511" rIns="63511" bIns="63511" rtlCol="0" anchor="ctr"/>
          <a:lstStyle/>
          <a:p>
            <a:pPr algn="ctr">
              <a:defRPr/>
            </a:pPr>
            <a:endParaRPr>
              <a:solidFill>
                <a:srgbClr val="1D4ED8"/>
              </a:solidFill>
            </a:endParaRPr>
          </a:p>
        </p:txBody>
      </p:sp>
      <p:sp>
        <p:nvSpPr>
          <p:cNvPr id="23" name="Freeform 23"/>
          <p:cNvSpPr/>
          <p:nvPr>
            <p:custDataLst>
              <p:tags r:id="rId18"/>
            </p:custDataLst>
          </p:nvPr>
        </p:nvSpPr>
        <p:spPr>
          <a:xfrm>
            <a:off x="8511034" y="2360436"/>
            <a:ext cx="190535" cy="212626"/>
          </a:xfrm>
          <a:custGeom>
            <a:avLst/>
            <a:gdLst/>
            <a:ahLst/>
            <a:cxnLst/>
            <a:rect l="l" t="t" r="r" b="b"/>
            <a:pathLst>
              <a:path w="190500" h="212587">
                <a:moveTo>
                  <a:pt x="96241" y="20785"/>
                </a:moveTo>
                <a:lnTo>
                  <a:pt x="122039" y="32746"/>
                </a:lnTo>
                <a:lnTo>
                  <a:pt x="96241" y="20785"/>
                </a:lnTo>
                <a:lnTo>
                  <a:pt x="122039" y="32746"/>
                </a:lnTo>
                <a:lnTo>
                  <a:pt x="95250" y="45951"/>
                </a:lnTo>
                <a:lnTo>
                  <a:pt x="68461" y="32746"/>
                </a:lnTo>
                <a:lnTo>
                  <a:pt x="94259" y="20785"/>
                </a:lnTo>
                <a:cubicBezTo>
                  <a:pt x="94907" y="20494"/>
                  <a:pt x="95574" y="20494"/>
                  <a:pt x="96241" y="20785"/>
                </a:cubicBezTo>
                <a:moveTo>
                  <a:pt x="44986" y="38933"/>
                </a:moveTo>
                <a:lnTo>
                  <a:pt x="44986" y="85176"/>
                </a:lnTo>
                <a:lnTo>
                  <a:pt x="44986" y="38933"/>
                </a:lnTo>
                <a:lnTo>
                  <a:pt x="44986" y="85176"/>
                </a:lnTo>
                <a:cubicBezTo>
                  <a:pt x="44529" y="85176"/>
                  <a:pt x="44091" y="85301"/>
                  <a:pt x="43652" y="85592"/>
                </a:cubicBezTo>
                <a:lnTo>
                  <a:pt x="11909" y="100458"/>
                </a:lnTo>
                <a:cubicBezTo>
                  <a:pt x="4402" y="104571"/>
                  <a:pt x="438" y="111858"/>
                  <a:pt x="0" y="122324"/>
                </a:cubicBezTo>
                <a:lnTo>
                  <a:pt x="0" y="171453"/>
                </a:lnTo>
                <a:cubicBezTo>
                  <a:pt x="210" y="181087"/>
                  <a:pt x="3964" y="188106"/>
                  <a:pt x="11242" y="192508"/>
                </a:cubicBezTo>
                <a:lnTo>
                  <a:pt x="42986" y="209846"/>
                </a:lnTo>
                <a:cubicBezTo>
                  <a:pt x="47826" y="212587"/>
                  <a:pt x="52798" y="212587"/>
                  <a:pt x="57885" y="209846"/>
                </a:cubicBezTo>
                <a:lnTo>
                  <a:pt x="95250" y="189621"/>
                </a:lnTo>
                <a:lnTo>
                  <a:pt x="132958" y="209846"/>
                </a:lnTo>
                <a:cubicBezTo>
                  <a:pt x="137798" y="212587"/>
                  <a:pt x="142770" y="212587"/>
                  <a:pt x="147838" y="209846"/>
                </a:cubicBezTo>
                <a:lnTo>
                  <a:pt x="179582" y="192508"/>
                </a:lnTo>
                <a:cubicBezTo>
                  <a:pt x="186632" y="188375"/>
                  <a:pt x="190271" y="181357"/>
                  <a:pt x="190500" y="171453"/>
                </a:cubicBezTo>
                <a:lnTo>
                  <a:pt x="190500" y="122324"/>
                </a:lnTo>
                <a:cubicBezTo>
                  <a:pt x="190043" y="111858"/>
                  <a:pt x="186079" y="104571"/>
                  <a:pt x="178591" y="100458"/>
                </a:cubicBezTo>
                <a:lnTo>
                  <a:pt x="146848" y="85592"/>
                </a:lnTo>
                <a:cubicBezTo>
                  <a:pt x="146390" y="85301"/>
                  <a:pt x="145952" y="85176"/>
                  <a:pt x="145514" y="85176"/>
                </a:cubicBezTo>
                <a:cubicBezTo>
                  <a:pt x="145514" y="85176"/>
                  <a:pt x="145514" y="85176"/>
                  <a:pt x="145514" y="85176"/>
                </a:cubicBezTo>
                <a:lnTo>
                  <a:pt x="145514" y="38933"/>
                </a:lnTo>
                <a:cubicBezTo>
                  <a:pt x="145076" y="28468"/>
                  <a:pt x="141112" y="21180"/>
                  <a:pt x="133605" y="17069"/>
                </a:cubicBezTo>
                <a:lnTo>
                  <a:pt x="101862" y="2201"/>
                </a:lnTo>
                <a:cubicBezTo>
                  <a:pt x="97441" y="0"/>
                  <a:pt x="93040" y="0"/>
                  <a:pt x="88638" y="2201"/>
                </a:cubicBezTo>
                <a:lnTo>
                  <a:pt x="56895" y="17069"/>
                </a:lnTo>
                <a:cubicBezTo>
                  <a:pt x="49388" y="21180"/>
                  <a:pt x="45405" y="28468"/>
                  <a:pt x="44986" y="38933"/>
                </a:cubicBezTo>
                <a:moveTo>
                  <a:pt x="129642" y="87647"/>
                </a:moveTo>
                <a:lnTo>
                  <a:pt x="102528" y="100458"/>
                </a:lnTo>
                <a:lnTo>
                  <a:pt x="129642" y="87647"/>
                </a:lnTo>
                <a:lnTo>
                  <a:pt x="102528" y="100458"/>
                </a:lnTo>
                <a:lnTo>
                  <a:pt x="102528" y="63706"/>
                </a:lnTo>
                <a:lnTo>
                  <a:pt x="129642" y="50499"/>
                </a:lnTo>
                <a:lnTo>
                  <a:pt x="129642" y="87647"/>
                </a:lnTo>
                <a:moveTo>
                  <a:pt x="51255" y="104176"/>
                </a:moveTo>
                <a:lnTo>
                  <a:pt x="77053" y="116551"/>
                </a:lnTo>
                <a:lnTo>
                  <a:pt x="51255" y="104176"/>
                </a:lnTo>
                <a:lnTo>
                  <a:pt x="77053" y="116551"/>
                </a:lnTo>
                <a:lnTo>
                  <a:pt x="50264" y="129342"/>
                </a:lnTo>
                <a:lnTo>
                  <a:pt x="23475" y="116551"/>
                </a:lnTo>
                <a:lnTo>
                  <a:pt x="49273" y="104176"/>
                </a:lnTo>
                <a:cubicBezTo>
                  <a:pt x="49921" y="103885"/>
                  <a:pt x="50588" y="103885"/>
                  <a:pt x="51255" y="104176"/>
                </a:cubicBezTo>
                <a:moveTo>
                  <a:pt x="57542" y="188375"/>
                </a:moveTo>
                <a:lnTo>
                  <a:pt x="57542" y="147095"/>
                </a:lnTo>
                <a:lnTo>
                  <a:pt x="57542" y="188375"/>
                </a:lnTo>
                <a:lnTo>
                  <a:pt x="57542" y="147095"/>
                </a:lnTo>
                <a:lnTo>
                  <a:pt x="84675" y="133890"/>
                </a:lnTo>
                <a:lnTo>
                  <a:pt x="84675" y="173509"/>
                </a:lnTo>
                <a:lnTo>
                  <a:pt x="57542" y="188375"/>
                </a:lnTo>
                <a:moveTo>
                  <a:pt x="139245" y="104176"/>
                </a:moveTo>
                <a:cubicBezTo>
                  <a:pt x="139893" y="103885"/>
                  <a:pt x="140560" y="103885"/>
                  <a:pt x="141227" y="104176"/>
                </a:cubicBezTo>
                <a:lnTo>
                  <a:pt x="167025" y="116551"/>
                </a:lnTo>
                <a:lnTo>
                  <a:pt x="140236" y="129342"/>
                </a:lnTo>
                <a:lnTo>
                  <a:pt x="113447" y="116551"/>
                </a:lnTo>
                <a:lnTo>
                  <a:pt x="139245" y="104176"/>
                </a:lnTo>
                <a:moveTo>
                  <a:pt x="172970" y="174339"/>
                </a:moveTo>
                <a:lnTo>
                  <a:pt x="147514" y="188375"/>
                </a:lnTo>
                <a:lnTo>
                  <a:pt x="172970" y="174339"/>
                </a:lnTo>
                <a:lnTo>
                  <a:pt x="147514" y="188375"/>
                </a:lnTo>
                <a:lnTo>
                  <a:pt x="147514" y="147095"/>
                </a:lnTo>
                <a:lnTo>
                  <a:pt x="174629" y="133890"/>
                </a:lnTo>
                <a:lnTo>
                  <a:pt x="174629" y="171453"/>
                </a:lnTo>
                <a:cubicBezTo>
                  <a:pt x="174629" y="172823"/>
                  <a:pt x="174075" y="173778"/>
                  <a:pt x="172970" y="174339"/>
                </a:cubicBezTo>
              </a:path>
            </a:pathLst>
          </a:custGeom>
          <a:solidFill>
            <a:srgbClr val="FFFFFF">
              <a:alpha val="100000"/>
            </a:srgbClr>
          </a:solidFill>
          <a:ln w="25400" cap="flat" cmpd="sng">
            <a:noFill/>
            <a:prstDash val="solid"/>
            <a:round/>
          </a:ln>
        </p:spPr>
        <p:txBody>
          <a:bodyPr vert="horz" wrap="square" lIns="63511" tIns="63511" rIns="63511" bIns="63511" rtlCol="0" anchor="ctr"/>
          <a:lstStyle/>
          <a:p>
            <a:pPr algn="ctr">
              <a:defRPr/>
            </a:pPr>
          </a:p>
        </p:txBody>
      </p:sp>
      <p:sp>
        <p:nvSpPr>
          <p:cNvPr id="24" name="AutoShape 24"/>
          <p:cNvSpPr/>
          <p:nvPr>
            <p:custDataLst>
              <p:tags r:id="rId19"/>
            </p:custDataLst>
          </p:nvPr>
        </p:nvSpPr>
        <p:spPr>
          <a:xfrm>
            <a:off x="8930212" y="2324530"/>
            <a:ext cx="2540470" cy="254047"/>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2000" b="1" i="0" u="none" strike="noStrike">
                <a:solidFill>
                  <a:srgbClr val="0A1F3D"/>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03 核心要素：操作</a:t>
            </a:r>
            <a:endParaRPr lang="en-US" sz="1100"/>
          </a:p>
        </p:txBody>
      </p:sp>
      <p:sp>
        <p:nvSpPr>
          <p:cNvPr id="25" name="AutoShape 25"/>
          <p:cNvSpPr/>
          <p:nvPr>
            <p:custDataLst>
              <p:tags r:id="rId20"/>
            </p:custDataLst>
          </p:nvPr>
        </p:nvSpPr>
        <p:spPr>
          <a:xfrm>
            <a:off x="8256987" y="2781815"/>
            <a:ext cx="3353421" cy="2286423"/>
          </a:xfrm>
          <a:prstGeom prst="rect">
            <a:avLst/>
          </a:prstGeom>
          <a:noFill/>
          <a:ln w="12700" cap="flat" cmpd="sng">
            <a:noFill/>
            <a:prstDash val="solid"/>
            <a:round/>
          </a:ln>
        </p:spPr>
        <p:txBody>
          <a:bodyPr vert="horz" wrap="square" lIns="88916" tIns="50809" rIns="88916" bIns="50809" rtlCol="0" anchor="t" anchorCtr="0"/>
          <a:lstStyle>
            <a:lvl1pPr marL="520700" indent="-177800"/>
            <a:lvl2pPr marL="977900" indent="-177800"/>
            <a:lvl3pPr marL="1435100" indent="-177800"/>
            <a:lvl4pPr marL="1892300" indent="-177800"/>
            <a:lvl5pPr marL="2349500" indent="-177800"/>
            <a:lvl6pPr marL="2806700" indent="-177800"/>
            <a:lvl7pPr marL="3263900" indent="-177800"/>
            <a:lvl8pPr marL="3721100" indent="-177800"/>
            <a:lvl9pPr marL="4178300" indent="-177800"/>
          </a:lstStyle>
          <a:p>
            <a:pPr marL="342900" indent="-342900" algn="l" defTabSz="1219200">
              <a:lnSpc>
                <a:spcPct val="100000"/>
              </a:lnSpc>
              <a:buClr>
                <a:srgbClr val="0A1F3D"/>
              </a:buClr>
              <a:buFont typeface="Wingdings" panose="05000000000000000000"/>
              <a:buChar char="Ø"/>
              <a:defRPr/>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定义决策落地的具体业务动作，支持将分析结果安全回写至源业务系统。</a:t>
            </a:r>
            <a:endParaRPr lang="en-US" sz="1100"/>
          </a:p>
          <a:p>
            <a:pPr marL="342900" indent="-342900" algn="l" defTabSz="1219200">
              <a:lnSpc>
                <a:spcPct val="100000"/>
              </a:lnSpc>
              <a:buClr>
                <a:srgbClr val="0A1F3D"/>
              </a:buClr>
              <a:buFont typeface="Wingdings" panose="05000000000000000000"/>
              <a:buChar char="Ø"/>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打通从数据洞察到业务执行的完整闭环，实现从“发现问题”到“解决问题”的自动化落地，提升决策效率。</a:t>
            </a:r>
            <a:endPar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cxnSp>
        <p:nvCxnSpPr>
          <p:cNvPr id="26" name="Connector 26"/>
          <p:cNvCxnSpPr/>
          <p:nvPr>
            <p:custDataLst>
              <p:tags r:id="rId21"/>
            </p:custDataLst>
          </p:nvPr>
        </p:nvCxnSpPr>
        <p:spPr>
          <a:xfrm>
            <a:off x="8396713" y="5970105"/>
            <a:ext cx="2946973" cy="12702"/>
          </a:xfrm>
          <a:prstGeom prst="line">
            <a:avLst/>
          </a:prstGeom>
          <a:solidFill>
            <a:srgbClr val="DEE0E3">
              <a:alpha val="100000"/>
            </a:srgbClr>
          </a:solidFill>
          <a:ln w="12700" cap="sq" cmpd="sng">
            <a:solidFill>
              <a:srgbClr val="ECECEC">
                <a:alpha val="100000"/>
              </a:srgbClr>
            </a:solidFill>
            <a:prstDash val="solid"/>
            <a:miter lim="1000000"/>
            <a:headEnd type="none" w="med" len="med"/>
            <a:tailEnd type="none" w="med" len="med"/>
          </a:ln>
        </p:spPr>
      </p:cxnSp>
      <p:sp>
        <p:nvSpPr>
          <p:cNvPr id="27" name="AutoShape 27"/>
          <p:cNvSpPr/>
          <p:nvPr>
            <p:custDataLst>
              <p:tags r:id="rId22"/>
            </p:custDataLst>
          </p:nvPr>
        </p:nvSpPr>
        <p:spPr>
          <a:xfrm>
            <a:off x="8396713" y="6020915"/>
            <a:ext cx="2946946" cy="127024"/>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2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ACTION EXECUTION</a:t>
            </a:r>
            <a:endParaRPr lang="en-US" sz="1100"/>
          </a:p>
        </p:txBody>
      </p:sp>
    </p:spTree>
  </p:cSld>
  <p:clrMapOvr>
    <a:masterClrMapping/>
  </p:clrMapOvr>
  <p:transition advClick="0" advTm="8000">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1983" y="762"/>
            <a:ext cx="12194258" cy="6859270"/>
          </a:xfrm>
          <a:prstGeom prst="rect">
            <a:avLst/>
          </a:prstGeom>
          <a:noFill/>
          <a:ln w="25400" cap="flat" cmpd="sng">
            <a:noFill/>
            <a:prstDash val="solid"/>
            <a:round/>
          </a:ln>
        </p:spPr>
      </p:pic>
      <p:sp>
        <p:nvSpPr>
          <p:cNvPr id="3" name="AutoShape 3"/>
          <p:cNvSpPr/>
          <p:nvPr/>
        </p:nvSpPr>
        <p:spPr>
          <a:xfrm>
            <a:off x="330720" y="0"/>
            <a:ext cx="10187286" cy="876462"/>
          </a:xfrm>
          <a:prstGeom prst="rect">
            <a:avLst/>
          </a:prstGeom>
          <a:noFill/>
          <a:ln w="12700" cap="flat" cmpd="sng">
            <a:noFill/>
            <a:prstDash val="solid"/>
            <a:round/>
          </a:ln>
        </p:spPr>
        <p:txBody>
          <a:bodyPr vert="horz" wrap="square" lIns="127023" tIns="63511" rIns="127023" bIns="63511" rtlCol="0" anchor="ctr" anchorCtr="0"/>
          <a:lstStyle/>
          <a:p>
            <a:pPr marL="0" indent="0" algn="l" defTabSz="1219200">
              <a:lnSpc>
                <a:spcPct val="100000"/>
              </a:lnSpc>
              <a:defRPr/>
            </a:pPr>
            <a:r>
              <a:rPr lang="en-US" sz="28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Palantir发展历程</a:t>
            </a:r>
            <a:endParaRPr lang="en-US" sz="1100"/>
          </a:p>
        </p:txBody>
      </p:sp>
      <p:sp>
        <p:nvSpPr>
          <p:cNvPr id="4" name="AutoShape 4"/>
          <p:cNvSpPr/>
          <p:nvPr/>
        </p:nvSpPr>
        <p:spPr>
          <a:xfrm>
            <a:off x="622874" y="1194021"/>
            <a:ext cx="2032376" cy="457285"/>
          </a:xfrm>
          <a:prstGeom prst="roundRect">
            <a:avLst>
              <a:gd name="adj" fmla="val 0"/>
            </a:avLst>
          </a:prstGeom>
          <a:solidFill>
            <a:schemeClr val="bg1">
              <a:lumMod val="95000"/>
            </a:schemeClr>
          </a:solidFill>
          <a:ln w="25400" cap="flat" cmpd="sng">
            <a:noFill/>
            <a:prstDash val="solid"/>
            <a:miter lim="1000000"/>
          </a:ln>
        </p:spPr>
        <p:txBody>
          <a:bodyPr vert="horz" wrap="square" lIns="88916" tIns="50809" rIns="88916" bIns="50809" rtlCol="0" anchor="ctr" anchorCtr="0"/>
          <a:lstStyle/>
          <a:p>
            <a:pPr marL="0" indent="0" algn="ctr">
              <a:lnSpc>
                <a:spcPct val="100000"/>
              </a:lnSpc>
              <a:defRPr/>
            </a:pPr>
            <a:r>
              <a:rPr lang="en-US" sz="16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2003-2008 萌芽期</a:t>
            </a:r>
            <a:endParaRPr lang="en-US" sz="16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cxnSp>
        <p:nvCxnSpPr>
          <p:cNvPr id="5" name="Connector 5"/>
          <p:cNvCxnSpPr/>
          <p:nvPr/>
        </p:nvCxnSpPr>
        <p:spPr>
          <a:xfrm rot="-85925">
            <a:off x="2731543" y="1416312"/>
            <a:ext cx="508094" cy="12702"/>
          </a:xfrm>
          <a:prstGeom prst="straightConnector1">
            <a:avLst/>
          </a:prstGeom>
          <a:solidFill>
            <a:srgbClr val="DEE0E3">
              <a:alpha val="100000"/>
            </a:srgbClr>
          </a:solidFill>
          <a:ln w="25400" cap="flat" cmpd="sng">
            <a:solidFill>
              <a:srgbClr val="4F81BD">
                <a:alpha val="100000"/>
              </a:srgbClr>
            </a:solidFill>
            <a:prstDash val="solid"/>
            <a:miter lim="1000000"/>
            <a:headEnd type="none" w="med" len="med"/>
            <a:tailEnd type="arrow" w="med" len="med"/>
          </a:ln>
        </p:spPr>
      </p:cxnSp>
      <p:sp>
        <p:nvSpPr>
          <p:cNvPr id="6" name="AutoShape 6"/>
          <p:cNvSpPr/>
          <p:nvPr/>
        </p:nvSpPr>
        <p:spPr>
          <a:xfrm>
            <a:off x="3315772" y="1194021"/>
            <a:ext cx="2032376" cy="457285"/>
          </a:xfrm>
          <a:prstGeom prst="roundRect">
            <a:avLst>
              <a:gd name="adj" fmla="val 0"/>
            </a:avLst>
          </a:prstGeom>
          <a:solidFill>
            <a:schemeClr val="bg1">
              <a:lumMod val="95000"/>
            </a:schemeClr>
          </a:solidFill>
          <a:ln w="25400" cap="flat" cmpd="sng">
            <a:noFill/>
            <a:prstDash val="solid"/>
            <a:miter lim="1000000"/>
          </a:ln>
        </p:spPr>
        <p:txBody>
          <a:bodyPr vert="horz" wrap="square" lIns="88916" tIns="50809" rIns="88916" bIns="50809" rtlCol="0" anchor="ctr" anchorCtr="0">
            <a:noAutofit/>
          </a:bodyPr>
          <a:lstStyle/>
          <a:p>
            <a:pPr lvl="0" algn="ctr">
              <a:buClrTx/>
              <a:buSzTx/>
              <a:buFontTx/>
              <a:defRPr/>
            </a:pPr>
            <a:r>
              <a:rPr lang="en-US" sz="1600" b="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2016-2022 商业化</a:t>
            </a:r>
            <a:endParaRPr lang="en-US" sz="1600" b="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cxnSp>
        <p:nvCxnSpPr>
          <p:cNvPr id="7" name="Connector 7"/>
          <p:cNvCxnSpPr/>
          <p:nvPr/>
        </p:nvCxnSpPr>
        <p:spPr>
          <a:xfrm rot="-85925">
            <a:off x="5424442" y="1416312"/>
            <a:ext cx="508094" cy="12702"/>
          </a:xfrm>
          <a:prstGeom prst="straightConnector1">
            <a:avLst/>
          </a:prstGeom>
          <a:solidFill>
            <a:srgbClr val="DEE0E3">
              <a:alpha val="100000"/>
            </a:srgbClr>
          </a:solidFill>
          <a:ln w="25400" cap="flat" cmpd="sng">
            <a:solidFill>
              <a:srgbClr val="4F81BD">
                <a:alpha val="100000"/>
              </a:srgbClr>
            </a:solidFill>
            <a:prstDash val="solid"/>
            <a:miter lim="1000000"/>
            <a:headEnd type="none" w="med" len="med"/>
            <a:tailEnd type="arrow" w="med" len="med"/>
          </a:ln>
        </p:spPr>
      </p:cxnSp>
      <p:sp>
        <p:nvSpPr>
          <p:cNvPr id="8" name="AutoShape 8"/>
          <p:cNvSpPr/>
          <p:nvPr/>
        </p:nvSpPr>
        <p:spPr>
          <a:xfrm>
            <a:off x="6008671" y="1194021"/>
            <a:ext cx="2032376" cy="457285"/>
          </a:xfrm>
          <a:prstGeom prst="roundRect">
            <a:avLst>
              <a:gd name="adj" fmla="val 0"/>
            </a:avLst>
          </a:prstGeom>
          <a:solidFill>
            <a:schemeClr val="bg1">
              <a:lumMod val="95000"/>
            </a:schemeClr>
          </a:solidFill>
          <a:ln w="25400" cap="flat" cmpd="sng">
            <a:noFill/>
            <a:prstDash val="solid"/>
            <a:miter lim="1000000"/>
          </a:ln>
        </p:spPr>
        <p:txBody>
          <a:bodyPr vert="horz" wrap="square" lIns="88916" tIns="50809" rIns="88916" bIns="50809" rtlCol="0" anchor="ctr" anchorCtr="0">
            <a:noAutofit/>
          </a:bodyPr>
          <a:lstStyle/>
          <a:p>
            <a:pPr lvl="0" algn="ctr">
              <a:buClrTx/>
              <a:buSzTx/>
              <a:buFontTx/>
              <a:defRPr/>
            </a:pPr>
            <a:r>
              <a:rPr lang="en-US" sz="1600" b="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2023+ AI深度融合</a:t>
            </a:r>
            <a:endParaRPr lang="en-US" sz="1600" b="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cxnSp>
        <p:nvCxnSpPr>
          <p:cNvPr id="9" name="Connector 9"/>
          <p:cNvCxnSpPr/>
          <p:nvPr/>
        </p:nvCxnSpPr>
        <p:spPr>
          <a:xfrm rot="-85925">
            <a:off x="8117340" y="1416312"/>
            <a:ext cx="508094" cy="12702"/>
          </a:xfrm>
          <a:prstGeom prst="straightConnector1">
            <a:avLst/>
          </a:prstGeom>
          <a:solidFill>
            <a:srgbClr val="DEE0E3">
              <a:alpha val="100000"/>
            </a:srgbClr>
          </a:solidFill>
          <a:ln w="25400" cap="flat" cmpd="sng">
            <a:solidFill>
              <a:srgbClr val="4F81BD">
                <a:alpha val="100000"/>
              </a:srgbClr>
            </a:solidFill>
            <a:prstDash val="solid"/>
            <a:miter lim="1000000"/>
            <a:headEnd type="none" w="med" len="med"/>
            <a:tailEnd type="arrow" w="med" len="med"/>
          </a:ln>
        </p:spPr>
      </p:cxnSp>
      <p:sp>
        <p:nvSpPr>
          <p:cNvPr id="10" name="AutoShape 10"/>
          <p:cNvSpPr/>
          <p:nvPr/>
        </p:nvSpPr>
        <p:spPr>
          <a:xfrm>
            <a:off x="8701570" y="1194021"/>
            <a:ext cx="2286423" cy="457285"/>
          </a:xfrm>
          <a:prstGeom prst="roundRect">
            <a:avLst>
              <a:gd name="adj" fmla="val 0"/>
            </a:avLst>
          </a:prstGeom>
          <a:solidFill>
            <a:schemeClr val="bg1">
              <a:lumMod val="95000"/>
            </a:schemeClr>
          </a:solidFill>
          <a:ln w="25400" cap="flat" cmpd="sng">
            <a:noFill/>
            <a:prstDash val="solid"/>
            <a:miter lim="1000000"/>
          </a:ln>
        </p:spPr>
        <p:txBody>
          <a:bodyPr vert="horz" wrap="square" lIns="88916" tIns="50809" rIns="88916" bIns="50809" rtlCol="0" anchor="ctr" anchorCtr="0">
            <a:noAutofit/>
          </a:bodyPr>
          <a:lstStyle/>
          <a:p>
            <a:pPr lvl="0" algn="ctr">
              <a:buClrTx/>
              <a:buSzTx/>
              <a:buFontTx/>
              <a:defRPr/>
            </a:pPr>
            <a:r>
              <a:rPr lang="en-US" sz="1600" b="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从“理解”到“运营”</a:t>
            </a:r>
            <a:endParaRPr lang="en-US" sz="1600" b="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1" name="AutoShape 11"/>
          <p:cNvSpPr/>
          <p:nvPr/>
        </p:nvSpPr>
        <p:spPr>
          <a:xfrm>
            <a:off x="622874" y="2286423"/>
            <a:ext cx="3556659" cy="3302611"/>
          </a:xfrm>
          <a:prstGeom prst="roundRect">
            <a:avLst>
              <a:gd name="adj" fmla="val 0"/>
            </a:avLst>
          </a:prstGeom>
          <a:noFill/>
          <a:ln w="12700" cap="flat" cmpd="sng">
            <a:solidFill>
              <a:srgbClr val="B0C6E1">
                <a:alpha val="40000"/>
              </a:srgbClr>
            </a:solidFill>
            <a:prstDash val="solid"/>
            <a:round/>
          </a:ln>
          <a:extLst>
            <a:ext uri="{909E8E84-426E-40DD-AFC4-6F175D3DCCD1}">
              <a14:hiddenFill xmlns:a14="http://schemas.microsoft.com/office/drawing/2010/main">
                <a:solidFill>
                  <a:srgbClr val="000000">
                    <a:alpha val="20000"/>
                  </a:srgbClr>
                </a:solidFill>
              </a14:hiddenFill>
            </a:ext>
          </a:extLst>
        </p:spPr>
        <p:txBody>
          <a:bodyPr vert="horz" wrap="square" lIns="190535" tIns="190535" rIns="190535" bIns="190535" rtlCol="0" anchor="ctr" anchorCtr="0"/>
          <a:lstStyle/>
          <a:p>
            <a:pPr marL="0" indent="0" algn="ctr">
              <a:lnSpc>
                <a:spcPct val="108000"/>
              </a:lnSpc>
              <a:defRPr/>
            </a:pPr>
            <a:r>
              <a:rPr lang="en-US" sz="18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01. 政府与情报的技术验证</a:t>
            </a:r>
            <a:endParaRPr lang="en-US" sz="1100">
              <a:solidFill>
                <a:schemeClr val="tx1"/>
              </a:solidFill>
            </a:endParaRPr>
          </a:p>
          <a:p>
            <a:pPr marL="0" indent="0" algn="ctr">
              <a:lnSpc>
                <a:spcPct val="108000"/>
              </a:lnSpc>
              <a:spcBef>
                <a:spcPts val="800"/>
              </a:spcBef>
            </a:pPr>
            <a:r>
              <a:rPr lang="en-US" sz="1400" b="1" i="0" u="none" strike="noStrike">
                <a:solidFill>
                  <a:srgbClr val="B0C6E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核心载体：Gotham平台</a:t>
            </a:r>
            <a:endParaRPr lang="en-US" sz="1400" b="1" i="0" u="none" strike="noStrike">
              <a:solidFill>
                <a:srgbClr val="B0C6E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0" indent="0" algn="ctr">
              <a:lnSpc>
                <a:spcPct val="117000"/>
              </a:lnSpc>
              <a:spcBef>
                <a:spcPts val="600"/>
              </a:spcBef>
            </a:pPr>
            <a:r>
              <a:rPr lang="en-US" sz="13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本体作为底层理念，专为解决国防与情报领域的多源异构数据融合难题而生。它打通了分散在不同系统中的情报数据，实现了信息的快速关联与分析，为复杂的国家安全决策提供了关键的数据支撑。</a:t>
            </a:r>
            <a:endParaRPr lang="en-US" sz="13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2" name="AutoShape 12"/>
          <p:cNvSpPr/>
          <p:nvPr/>
        </p:nvSpPr>
        <p:spPr>
          <a:xfrm>
            <a:off x="4319258" y="2286423"/>
            <a:ext cx="3556659" cy="3302611"/>
          </a:xfrm>
          <a:prstGeom prst="roundRect">
            <a:avLst>
              <a:gd name="adj" fmla="val 0"/>
            </a:avLst>
          </a:prstGeom>
          <a:noFill/>
          <a:ln w="12700" cap="flat" cmpd="sng">
            <a:solidFill>
              <a:srgbClr val="B0C6E1">
                <a:alpha val="40000"/>
              </a:srgbClr>
            </a:solidFill>
            <a:prstDash val="solid"/>
            <a:round/>
          </a:ln>
          <a:extLst>
            <a:ext uri="{909E8E84-426E-40DD-AFC4-6F175D3DCCD1}">
              <a14:hiddenFill xmlns:a14="http://schemas.microsoft.com/office/drawing/2010/main">
                <a:solidFill>
                  <a:srgbClr val="000000">
                    <a:alpha val="20000"/>
                  </a:srgbClr>
                </a:solidFill>
              </a14:hiddenFill>
            </a:ext>
          </a:extLst>
        </p:spPr>
        <p:txBody>
          <a:bodyPr vert="horz" wrap="square" lIns="190535" tIns="190535" rIns="190535" bIns="190535" rtlCol="0" anchor="ctr" anchorCtr="0"/>
          <a:lstStyle/>
          <a:p>
            <a:pPr marL="0" indent="0" algn="ctr">
              <a:lnSpc>
                <a:spcPct val="108000"/>
              </a:lnSpc>
              <a:defRPr/>
            </a:pPr>
            <a:r>
              <a:rPr lang="en-US" sz="1800" b="1" i="0" u="none" strike="noStrike">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02. 企业级的核心语义底座</a:t>
            </a:r>
            <a:endParaRPr lang="en-US" sz="1100">
              <a:solidFill>
                <a:srgbClr val="C00000"/>
              </a:solidFill>
            </a:endParaRPr>
          </a:p>
          <a:p>
            <a:pPr marL="0" indent="0" algn="ctr">
              <a:lnSpc>
                <a:spcPct val="108000"/>
              </a:lnSpc>
              <a:spcBef>
                <a:spcPts val="800"/>
              </a:spcBef>
            </a:pPr>
            <a:r>
              <a:rPr lang="en-US" sz="1400" b="1" i="0" u="none" strike="noStrike">
                <a:solidFill>
                  <a:srgbClr val="B0C6E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核心载体：Foundry平台</a:t>
            </a:r>
            <a:endParaRPr lang="en-US" sz="1400" b="1" i="0" u="none" strike="noStrike">
              <a:solidFill>
                <a:srgbClr val="B0C6E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0" indent="0" algn="ctr">
              <a:lnSpc>
                <a:spcPct val="117000"/>
              </a:lnSpc>
              <a:spcBef>
                <a:spcPts val="600"/>
              </a:spcBef>
            </a:pPr>
            <a:r>
              <a:rPr lang="en-US" sz="13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本体正式成为企业“中央操作系统”的核心语义层。它定义了企业数据的统一语言，打破了部门间的数据孤岛，让业务逻辑与数据资产实现标准化映射，成为驱动企业数字化转型的关键基础设施。</a:t>
            </a:r>
            <a:endParaRPr lang="en-US" sz="13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3" name="AutoShape 13"/>
          <p:cNvSpPr/>
          <p:nvPr/>
        </p:nvSpPr>
        <p:spPr>
          <a:xfrm>
            <a:off x="8015643" y="2286423"/>
            <a:ext cx="3556659" cy="3302611"/>
          </a:xfrm>
          <a:prstGeom prst="roundRect">
            <a:avLst>
              <a:gd name="adj" fmla="val 0"/>
            </a:avLst>
          </a:prstGeom>
          <a:noFill/>
          <a:ln w="12700" cap="flat" cmpd="sng">
            <a:solidFill>
              <a:srgbClr val="B0C6E1">
                <a:alpha val="40000"/>
              </a:srgbClr>
            </a:solidFill>
            <a:prstDash val="solid"/>
            <a:round/>
          </a:ln>
          <a:extLst>
            <a:ext uri="{909E8E84-426E-40DD-AFC4-6F175D3DCCD1}">
              <a14:hiddenFill xmlns:a14="http://schemas.microsoft.com/office/drawing/2010/main">
                <a:solidFill>
                  <a:srgbClr val="000000">
                    <a:alpha val="20000"/>
                  </a:srgbClr>
                </a:solidFill>
              </a14:hiddenFill>
            </a:ext>
          </a:extLst>
        </p:spPr>
        <p:txBody>
          <a:bodyPr vert="horz" wrap="square" lIns="190535" tIns="190535" rIns="190535" bIns="190535" rtlCol="0" anchor="ctr" anchorCtr="0"/>
          <a:lstStyle/>
          <a:p>
            <a:pPr marL="0" algn="ctr">
              <a:lnSpc>
                <a:spcPct val="108000"/>
              </a:lnSpc>
              <a:buClrTx/>
              <a:buSzTx/>
              <a:buFontTx/>
              <a:defRPr/>
            </a:pPr>
            <a:r>
              <a:rPr lang="en-US" sz="1800" b="1" i="0" u="none" strike="noStrike">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03. AI驱动的业务运营跨越</a:t>
            </a:r>
            <a:endParaRPr lang="en-US" sz="1800" b="1">
              <a:latin typeface="微软雅黑" panose="020B0503020204020204" pitchFamily="34" charset="-122"/>
              <a:ea typeface="微软雅黑" panose="020B0503020204020204" pitchFamily="34" charset="-122"/>
              <a:cs typeface="微软雅黑" panose="020B0503020204020204" pitchFamily="34" charset="-122"/>
            </a:endParaRPr>
          </a:p>
          <a:p>
            <a:pPr marL="0" indent="0" algn="ctr">
              <a:lnSpc>
                <a:spcPct val="108000"/>
              </a:lnSpc>
              <a:spcBef>
                <a:spcPts val="800"/>
              </a:spcBef>
            </a:pPr>
            <a:r>
              <a:rPr lang="en-US" sz="1400" b="1" i="0" u="none" strike="noStrike">
                <a:solidFill>
                  <a:srgbClr val="B0C6E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核心载体：AIP平台</a:t>
            </a:r>
            <a:endParaRPr lang="en-US" sz="1400" b="1" i="0" u="none" strike="noStrike">
              <a:solidFill>
                <a:srgbClr val="B0C6E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0" indent="0" algn="ctr">
              <a:lnSpc>
                <a:spcPct val="117000"/>
              </a:lnSpc>
              <a:spcBef>
                <a:spcPts val="600"/>
              </a:spcBef>
            </a:pPr>
            <a:r>
              <a:rPr lang="en-US" sz="13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将大语言模型深度锚定在企业本体之上，赋予AI精准的业务理解力。这不仅让AI能读懂业务语境，更能直接参与企业的运营决策与流程执行，实现了从“辅助理解”到“主动运营”的质变。</a:t>
            </a:r>
            <a:endParaRPr lang="en-US" sz="1300" b="0"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4" name="AutoShape 14"/>
          <p:cNvSpPr/>
          <p:nvPr/>
        </p:nvSpPr>
        <p:spPr>
          <a:xfrm>
            <a:off x="622874" y="5906594"/>
            <a:ext cx="10949427" cy="571606"/>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1" u="none" strike="noStrike">
                <a:solidFill>
                  <a:schemeClr val="tx1">
                    <a:alpha val="90196"/>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“本体技术的演进，是从解决数据连接问题，到构建业务语义共识，最终赋能AI理解并驱动企业运营的进化之路。”</a:t>
            </a:r>
            <a:endParaRPr lang="en-US" sz="1400" b="0" i="1" u="none" strike="noStrike">
              <a:solidFill>
                <a:schemeClr val="tx1">
                  <a:alpha val="90196"/>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transition advClick="0" advTm="8000">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1983" y="762"/>
            <a:ext cx="12194258" cy="6859270"/>
          </a:xfrm>
          <a:prstGeom prst="rect">
            <a:avLst/>
          </a:prstGeom>
          <a:noFill/>
          <a:ln w="25400" cap="flat" cmpd="sng">
            <a:noFill/>
            <a:prstDash val="solid"/>
            <a:round/>
          </a:ln>
        </p:spPr>
      </p:pic>
      <p:sp>
        <p:nvSpPr>
          <p:cNvPr id="3" name="AutoShape 3"/>
          <p:cNvSpPr/>
          <p:nvPr/>
        </p:nvSpPr>
        <p:spPr>
          <a:xfrm>
            <a:off x="11839051" y="6351176"/>
            <a:ext cx="330261" cy="431880"/>
          </a:xfrm>
          <a:prstGeom prst="roundRect">
            <a:avLst>
              <a:gd name="adj" fmla="val 0"/>
            </a:avLst>
          </a:prstGeom>
          <a:noFill/>
          <a:ln w="25400" cap="flat" cmpd="sng">
            <a:noFill/>
            <a:prstDash val="solid"/>
            <a:round/>
          </a:ln>
        </p:spPr>
        <p:txBody>
          <a:bodyPr vert="horz" wrap="square" lIns="63511" tIns="63511" rIns="63511" bIns="63511" rtlCol="0" anchor="ctr"/>
          <a:lstStyle/>
          <a:p>
            <a:pPr algn="ctr">
              <a:defRPr/>
            </a:pPr>
          </a:p>
        </p:txBody>
      </p:sp>
      <p:sp>
        <p:nvSpPr>
          <p:cNvPr id="4" name="AutoShape 4"/>
          <p:cNvSpPr/>
          <p:nvPr/>
        </p:nvSpPr>
        <p:spPr>
          <a:xfrm>
            <a:off x="622874" y="1066998"/>
            <a:ext cx="11216177" cy="749439"/>
          </a:xfrm>
          <a:prstGeom prst="roundRect">
            <a:avLst>
              <a:gd name="adj" fmla="val 0"/>
            </a:avLst>
          </a:prstGeom>
          <a:solidFill>
            <a:schemeClr val="bg1">
              <a:lumMod val="95000"/>
            </a:schemeClr>
          </a:solidFill>
          <a:ln w="25400" cap="flat" cmpd="sng">
            <a:noFill/>
            <a:prstDash val="solid"/>
            <a:round/>
          </a:ln>
        </p:spPr>
        <p:txBody>
          <a:bodyPr vert="horz" wrap="square" lIns="63511" tIns="63511" rIns="63511" bIns="63511" rtlCol="0" anchor="ctr"/>
          <a:lstStyle/>
          <a:p>
            <a:pPr algn="ctr">
              <a:defRPr/>
            </a:pPr>
          </a:p>
        </p:txBody>
      </p:sp>
      <p:sp>
        <p:nvSpPr>
          <p:cNvPr id="5" name="AutoShape 5"/>
          <p:cNvSpPr/>
          <p:nvPr/>
        </p:nvSpPr>
        <p:spPr>
          <a:xfrm>
            <a:off x="330720" y="0"/>
            <a:ext cx="10187286" cy="876462"/>
          </a:xfrm>
          <a:prstGeom prst="rect">
            <a:avLst/>
          </a:prstGeom>
          <a:noFill/>
          <a:ln w="12700" cap="flat" cmpd="sng">
            <a:noFill/>
            <a:prstDash val="solid"/>
            <a:round/>
          </a:ln>
        </p:spPr>
        <p:txBody>
          <a:bodyPr vert="horz" wrap="square" lIns="127023" tIns="63511" rIns="127023" bIns="63511" rtlCol="0" anchor="ctr" anchorCtr="0"/>
          <a:lstStyle/>
          <a:p>
            <a:pPr marL="0" indent="0" algn="l" defTabSz="1219200">
              <a:lnSpc>
                <a:spcPct val="100000"/>
              </a:lnSpc>
              <a:defRPr/>
            </a:pPr>
            <a:r>
              <a:rPr lang="zh-CN" altLang="en-US" sz="28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本体</a:t>
            </a:r>
            <a:r>
              <a:rPr lang="en-US" sz="28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与传统技术的本质区别</a:t>
            </a:r>
            <a:endParaRPr lang="en-US" sz="1100"/>
          </a:p>
        </p:txBody>
      </p:sp>
      <p:sp>
        <p:nvSpPr>
          <p:cNvPr id="6" name="AutoShape 6"/>
          <p:cNvSpPr/>
          <p:nvPr>
            <p:custDataLst>
              <p:tags r:id="rId2"/>
            </p:custDataLst>
          </p:nvPr>
        </p:nvSpPr>
        <p:spPr>
          <a:xfrm>
            <a:off x="610171" y="2006972"/>
            <a:ext cx="3620170" cy="4229883"/>
          </a:xfrm>
          <a:prstGeom prst="roundRect">
            <a:avLst>
              <a:gd name="adj" fmla="val 1403"/>
            </a:avLst>
          </a:prstGeom>
          <a:solidFill>
            <a:srgbClr val="FFFFFF">
              <a:alpha val="100000"/>
            </a:srgbClr>
          </a:solidFill>
          <a:ln w="12700" cap="flat" cmpd="sng">
            <a:solidFill>
              <a:srgbClr val="E2E6EA">
                <a:alpha val="100000"/>
              </a:srgbClr>
            </a:solidFill>
            <a:prstDash val="solid"/>
            <a:miter lim="1000000"/>
          </a:ln>
        </p:spPr>
        <p:txBody>
          <a:bodyPr vert="horz" wrap="square" lIns="63511" tIns="63511" rIns="63511" bIns="63511" rtlCol="0" anchor="ctr"/>
          <a:lstStyle/>
          <a:p>
            <a:pPr algn="ctr">
              <a:defRPr/>
            </a:pPr>
          </a:p>
        </p:txBody>
      </p:sp>
      <p:sp>
        <p:nvSpPr>
          <p:cNvPr id="7" name="AutoShape 7"/>
          <p:cNvSpPr/>
          <p:nvPr>
            <p:custDataLst>
              <p:tags r:id="rId3"/>
            </p:custDataLst>
          </p:nvPr>
        </p:nvSpPr>
        <p:spPr>
          <a:xfrm>
            <a:off x="851516" y="2006972"/>
            <a:ext cx="3137481" cy="18000"/>
          </a:xfrm>
          <a:prstGeom prst="roundRect">
            <a:avLst>
              <a:gd name="adj" fmla="val 0"/>
            </a:avLst>
          </a:prstGeom>
          <a:solidFill>
            <a:srgbClr val="C00000"/>
          </a:solidFill>
          <a:ln w="28575">
            <a:solidFill>
              <a:srgbClr val="C00000">
                <a:alpha val="100000"/>
              </a:srgbClr>
            </a:solidFill>
            <a:prstDash val="solid"/>
            <a:headEnd type="none"/>
            <a:tailEnd type="none"/>
          </a:ln>
        </p:spPr>
        <p:txBody>
          <a:bodyPr vert="horz" wrap="square" lIns="63511" tIns="63511" rIns="63511" bIns="63511" rtlCol="0" anchor="ctr"/>
          <a:lstStyle/>
          <a:p>
            <a:pPr algn="ctr">
              <a:defRPr/>
            </a:pPr>
            <a:endParaRPr>
              <a:ln>
                <a:solidFill>
                  <a:srgbClr val="C00000"/>
                </a:solidFill>
              </a:ln>
              <a:solidFill>
                <a:schemeClr val="tx1"/>
              </a:solidFill>
            </a:endParaRPr>
          </a:p>
        </p:txBody>
      </p:sp>
      <p:sp>
        <p:nvSpPr>
          <p:cNvPr id="8" name="AutoShape 8"/>
          <p:cNvSpPr/>
          <p:nvPr>
            <p:custDataLst>
              <p:tags r:id="rId4"/>
            </p:custDataLst>
          </p:nvPr>
        </p:nvSpPr>
        <p:spPr>
          <a:xfrm>
            <a:off x="851516" y="2362637"/>
            <a:ext cx="508094" cy="533499"/>
          </a:xfrm>
          <a:prstGeom prst="ellipse">
            <a:avLst/>
          </a:prstGeom>
          <a:solidFill>
            <a:srgbClr val="9ACAF1"/>
          </a:solidFill>
          <a:ln w="25400" cap="flat" cmpd="sng">
            <a:noFill/>
            <a:prstDash val="solid"/>
            <a:round/>
          </a:ln>
        </p:spPr>
        <p:txBody>
          <a:bodyPr vert="horz" wrap="square" lIns="63511" tIns="63511" rIns="63511" bIns="63511" rtlCol="0" anchor="ctr"/>
          <a:lstStyle/>
          <a:p>
            <a:pPr algn="ctr">
              <a:defRPr/>
            </a:pPr>
          </a:p>
        </p:txBody>
      </p:sp>
      <p:sp>
        <p:nvSpPr>
          <p:cNvPr id="9" name="Freeform 9"/>
          <p:cNvSpPr/>
          <p:nvPr>
            <p:custDataLst>
              <p:tags r:id="rId5"/>
            </p:custDataLst>
          </p:nvPr>
        </p:nvSpPr>
        <p:spPr>
          <a:xfrm>
            <a:off x="1003643" y="2515066"/>
            <a:ext cx="215814" cy="228148"/>
          </a:xfrm>
          <a:custGeom>
            <a:avLst/>
            <a:gdLst/>
            <a:ahLst/>
            <a:cxnLst/>
            <a:rect l="l" t="t" r="r" b="b"/>
            <a:pathLst>
              <a:path w="215774" h="228106">
                <a:moveTo>
                  <a:pt x="107887" y="0"/>
                </a:moveTo>
                <a:cubicBezTo>
                  <a:pt x="109974" y="0"/>
                  <a:pt x="111911" y="450"/>
                  <a:pt x="113720" y="1347"/>
                </a:cubicBezTo>
                <a:lnTo>
                  <a:pt x="198427" y="37048"/>
                </a:lnTo>
                <a:cubicBezTo>
                  <a:pt x="203507" y="39115"/>
                  <a:pt x="207554" y="42393"/>
                  <a:pt x="210544" y="46860"/>
                </a:cubicBezTo>
                <a:cubicBezTo>
                  <a:pt x="213816" y="51328"/>
                  <a:pt x="215473" y="56538"/>
                  <a:pt x="215473" y="62488"/>
                </a:cubicBezTo>
                <a:cubicBezTo>
                  <a:pt x="215774" y="77667"/>
                  <a:pt x="213234" y="95518"/>
                  <a:pt x="207855" y="116063"/>
                </a:cubicBezTo>
                <a:cubicBezTo>
                  <a:pt x="202474" y="136585"/>
                  <a:pt x="192747" y="156524"/>
                  <a:pt x="178714" y="175878"/>
                </a:cubicBezTo>
                <a:cubicBezTo>
                  <a:pt x="164962" y="195504"/>
                  <a:pt x="145249" y="211737"/>
                  <a:pt x="119551" y="224536"/>
                </a:cubicBezTo>
                <a:cubicBezTo>
                  <a:pt x="111761" y="228106"/>
                  <a:pt x="103991" y="228106"/>
                  <a:pt x="96223" y="224536"/>
                </a:cubicBezTo>
                <a:cubicBezTo>
                  <a:pt x="70526" y="211737"/>
                  <a:pt x="50790" y="195504"/>
                  <a:pt x="37060" y="175878"/>
                </a:cubicBezTo>
                <a:cubicBezTo>
                  <a:pt x="23006" y="156524"/>
                  <a:pt x="13299" y="136585"/>
                  <a:pt x="7920" y="116063"/>
                </a:cubicBezTo>
                <a:cubicBezTo>
                  <a:pt x="2539" y="95518"/>
                  <a:pt x="0" y="77667"/>
                  <a:pt x="301" y="62488"/>
                </a:cubicBezTo>
                <a:cubicBezTo>
                  <a:pt x="301" y="56538"/>
                  <a:pt x="1937" y="51328"/>
                  <a:pt x="5230" y="46860"/>
                </a:cubicBezTo>
                <a:cubicBezTo>
                  <a:pt x="8199" y="42393"/>
                  <a:pt x="12245" y="39115"/>
                  <a:pt x="17346" y="37048"/>
                </a:cubicBezTo>
                <a:lnTo>
                  <a:pt x="102055" y="1347"/>
                </a:lnTo>
                <a:cubicBezTo>
                  <a:pt x="103842" y="450"/>
                  <a:pt x="105778" y="0"/>
                  <a:pt x="107887" y="0"/>
                </a:cubicBezTo>
                <a:moveTo>
                  <a:pt x="107887" y="29908"/>
                </a:moveTo>
                <a:lnTo>
                  <a:pt x="107887" y="198647"/>
                </a:lnTo>
                <a:lnTo>
                  <a:pt x="107887" y="29908"/>
                </a:lnTo>
                <a:lnTo>
                  <a:pt x="107887" y="198647"/>
                </a:lnTo>
                <a:cubicBezTo>
                  <a:pt x="128203" y="188228"/>
                  <a:pt x="144193" y="174981"/>
                  <a:pt x="155858" y="158927"/>
                </a:cubicBezTo>
                <a:cubicBezTo>
                  <a:pt x="167201" y="142850"/>
                  <a:pt x="175271" y="126324"/>
                  <a:pt x="180049" y="109371"/>
                </a:cubicBezTo>
                <a:cubicBezTo>
                  <a:pt x="184525" y="92104"/>
                  <a:pt x="186785" y="76634"/>
                  <a:pt x="186785" y="62937"/>
                </a:cubicBezTo>
                <a:lnTo>
                  <a:pt x="107887" y="29908"/>
                </a:lnTo>
              </a:path>
            </a:pathLst>
          </a:custGeom>
          <a:solidFill>
            <a:srgbClr val="FFFFFF">
              <a:alpha val="100000"/>
            </a:srgbClr>
          </a:solidFill>
          <a:ln w="25400" cap="flat" cmpd="sng">
            <a:noFill/>
            <a:prstDash val="solid"/>
            <a:round/>
          </a:ln>
        </p:spPr>
        <p:txBody>
          <a:bodyPr vert="horz" wrap="square" lIns="63511" tIns="63511" rIns="63511" bIns="63511" rtlCol="0" anchor="ctr"/>
          <a:lstStyle/>
          <a:p>
            <a:pPr algn="ctr">
              <a:defRPr/>
            </a:pPr>
          </a:p>
        </p:txBody>
      </p:sp>
      <p:sp>
        <p:nvSpPr>
          <p:cNvPr id="10" name="AutoShape 10"/>
          <p:cNvSpPr/>
          <p:nvPr>
            <p:custDataLst>
              <p:tags r:id="rId6"/>
            </p:custDataLst>
          </p:nvPr>
        </p:nvSpPr>
        <p:spPr>
          <a:xfrm>
            <a:off x="1473931" y="2362637"/>
            <a:ext cx="2286423" cy="304856"/>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20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vs. 数据中台</a:t>
            </a:r>
            <a:endParaRPr lang="en-US" sz="20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1" name="AutoShape 11"/>
          <p:cNvSpPr/>
          <p:nvPr>
            <p:custDataLst>
              <p:tags r:id="rId7"/>
            </p:custDataLst>
          </p:nvPr>
        </p:nvSpPr>
        <p:spPr>
          <a:xfrm>
            <a:off x="1473931" y="2731006"/>
            <a:ext cx="2286423" cy="127024"/>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000" b="1" i="0" u="none" strike="noStrike">
                <a:solidFill>
                  <a:schemeClr val="tx1">
                    <a:lumMod val="50000"/>
                    <a:lumOff val="50000"/>
                    <a:alpha val="50196"/>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静态存储 vs 动态闭环</a:t>
            </a:r>
            <a:endParaRPr lang="en-US" sz="1000" b="1" i="0" u="none" strike="noStrike">
              <a:solidFill>
                <a:schemeClr val="tx1">
                  <a:lumMod val="50000"/>
                  <a:lumOff val="50000"/>
                  <a:alpha val="50196"/>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2" name="AutoShape 12"/>
          <p:cNvSpPr/>
          <p:nvPr>
            <p:custDataLst>
              <p:tags r:id="rId8"/>
            </p:custDataLst>
          </p:nvPr>
        </p:nvSpPr>
        <p:spPr>
          <a:xfrm>
            <a:off x="864219" y="3289909"/>
            <a:ext cx="3137481" cy="228642"/>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600" b="1" i="0" u="none" strike="noStrike">
                <a:solidFill>
                  <a:srgbClr val="0A1F3D"/>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从“存管查”到主动执行</a:t>
            </a:r>
            <a:endParaRPr lang="en-US" sz="1100"/>
          </a:p>
        </p:txBody>
      </p:sp>
      <p:sp>
        <p:nvSpPr>
          <p:cNvPr id="13" name="AutoShape 13"/>
          <p:cNvSpPr/>
          <p:nvPr>
            <p:custDataLst>
              <p:tags r:id="rId9"/>
            </p:custDataLst>
          </p:nvPr>
        </p:nvSpPr>
        <p:spPr>
          <a:xfrm>
            <a:off x="1003944" y="3721789"/>
            <a:ext cx="2997755" cy="2045079"/>
          </a:xfrm>
          <a:prstGeom prst="rect">
            <a:avLst/>
          </a:prstGeom>
          <a:noFill/>
          <a:ln w="12700" cap="flat" cmpd="sng">
            <a:noFill/>
            <a:prstDash val="solid"/>
            <a:round/>
          </a:ln>
        </p:spPr>
        <p:txBody>
          <a:bodyPr vert="horz" wrap="square" lIns="0" tIns="0" rIns="0" bIns="0" rtlCol="0" anchor="t" anchorCtr="0"/>
          <a:lstStyle>
            <a:lvl1pPr marL="355600" indent="-177800"/>
            <a:lvl2pPr marL="812800" indent="-177800"/>
            <a:lvl3pPr marL="1270000" indent="-177800"/>
            <a:lvl4pPr marL="1727200" indent="-177800"/>
            <a:lvl5pPr marL="2184400" indent="-177800"/>
            <a:lvl6pPr marL="2641600" indent="-177800"/>
            <a:lvl7pPr marL="3098800" indent="-177800"/>
            <a:lvl8pPr marL="3556000" indent="-177800"/>
            <a:lvl9pPr marL="4013200" indent="-177800"/>
          </a:lstStyle>
          <a:p>
            <a:pPr marL="177800" indent="-165100" algn="l" defTabSz="1219200">
              <a:lnSpc>
                <a:spcPct val="100000"/>
              </a:lnSpc>
              <a:buClr>
                <a:srgbClr val="0A1F3D"/>
              </a:buClr>
              <a:buFont typeface="Wingdings" panose="05000000000000000000"/>
              <a:buChar char="Ø"/>
              <a:defRPr/>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数据中台侧重数据的静态存储、管理与查询，是被动的信息检索模式，仅解决“数据在哪”的问题。</a:t>
            </a:r>
            <a:endParaRPr lang="en-US" sz="1100"/>
          </a:p>
          <a:p>
            <a:pPr marL="177800" indent="-165100" algn="l" defTabSz="1219200">
              <a:lnSpc>
                <a:spcPct val="100000"/>
              </a:lnSpc>
              <a:buClr>
                <a:srgbClr val="0A1F3D"/>
              </a:buClr>
              <a:buFont typeface="Wingdings" panose="05000000000000000000"/>
              <a:buChar char="Ø"/>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本体侧重“建对象、定规则、做行动”，实现数据的动态可写与业务流程的闭环执行，让数据从资源转化为驱动业务的主动引擎。</a:t>
            </a:r>
            <a:endPar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4" name="AutoShape 14"/>
          <p:cNvSpPr/>
          <p:nvPr>
            <p:custDataLst>
              <p:tags r:id="rId10"/>
            </p:custDataLst>
          </p:nvPr>
        </p:nvSpPr>
        <p:spPr>
          <a:xfrm>
            <a:off x="4433579" y="2006972"/>
            <a:ext cx="3620170" cy="4229883"/>
          </a:xfrm>
          <a:prstGeom prst="roundRect">
            <a:avLst>
              <a:gd name="adj" fmla="val 1403"/>
            </a:avLst>
          </a:prstGeom>
          <a:solidFill>
            <a:srgbClr val="FFFFFF">
              <a:alpha val="100000"/>
            </a:srgbClr>
          </a:solidFill>
          <a:ln w="12700" cap="flat" cmpd="sng">
            <a:solidFill>
              <a:srgbClr val="E2E6EA">
                <a:alpha val="100000"/>
              </a:srgbClr>
            </a:solidFill>
            <a:prstDash val="solid"/>
            <a:miter lim="1000000"/>
          </a:ln>
        </p:spPr>
        <p:txBody>
          <a:bodyPr vert="horz" wrap="square" lIns="63511" tIns="63511" rIns="63511" bIns="63511" rtlCol="0" anchor="ctr"/>
          <a:lstStyle/>
          <a:p>
            <a:pPr algn="ctr">
              <a:defRPr/>
            </a:pPr>
          </a:p>
        </p:txBody>
      </p:sp>
      <p:sp>
        <p:nvSpPr>
          <p:cNvPr id="15" name="AutoShape 15"/>
          <p:cNvSpPr/>
          <p:nvPr>
            <p:custDataLst>
              <p:tags r:id="rId11"/>
            </p:custDataLst>
          </p:nvPr>
        </p:nvSpPr>
        <p:spPr>
          <a:xfrm>
            <a:off x="4674924" y="2006972"/>
            <a:ext cx="3137481" cy="18000"/>
          </a:xfrm>
          <a:prstGeom prst="roundRect">
            <a:avLst>
              <a:gd name="adj" fmla="val 0"/>
            </a:avLst>
          </a:prstGeom>
          <a:solidFill>
            <a:srgbClr val="C00000"/>
          </a:solidFill>
          <a:ln w="28575">
            <a:solidFill>
              <a:srgbClr val="C00000">
                <a:alpha val="100000"/>
              </a:srgbClr>
            </a:solidFill>
            <a:prstDash val="solid"/>
            <a:headEnd type="none"/>
            <a:tailEnd type="none"/>
          </a:ln>
        </p:spPr>
        <p:txBody>
          <a:bodyPr vert="horz" wrap="square" lIns="63511" tIns="63511" rIns="63511" bIns="63511" rtlCol="0" anchor="ctr">
            <a:noAutofit/>
          </a:bodyPr>
          <a:lstStyle/>
          <a:p>
            <a:pPr lvl="0" algn="ctr">
              <a:buClrTx/>
              <a:buSzTx/>
              <a:buFontTx/>
              <a:defRPr/>
            </a:pPr>
            <a:endParaRPr>
              <a:ln>
                <a:solidFill>
                  <a:srgbClr val="C00000"/>
                </a:solidFill>
              </a:ln>
              <a:sym typeface="+mn-ea"/>
            </a:endParaRPr>
          </a:p>
        </p:txBody>
      </p:sp>
      <p:sp>
        <p:nvSpPr>
          <p:cNvPr id="16" name="AutoShape 16"/>
          <p:cNvSpPr/>
          <p:nvPr>
            <p:custDataLst>
              <p:tags r:id="rId12"/>
            </p:custDataLst>
          </p:nvPr>
        </p:nvSpPr>
        <p:spPr>
          <a:xfrm>
            <a:off x="4674924" y="2362637"/>
            <a:ext cx="508094" cy="533499"/>
          </a:xfrm>
          <a:prstGeom prst="ellipse">
            <a:avLst/>
          </a:prstGeom>
          <a:solidFill>
            <a:srgbClr val="9ACAF1"/>
          </a:solidFill>
          <a:ln w="25400" cap="flat" cmpd="sng">
            <a:noFill/>
            <a:prstDash val="solid"/>
            <a:round/>
          </a:ln>
        </p:spPr>
        <p:txBody>
          <a:bodyPr vert="horz" wrap="square" lIns="63511" tIns="63511" rIns="63511" bIns="63511" rtlCol="0" anchor="ctr"/>
          <a:lstStyle/>
          <a:p>
            <a:pPr algn="ctr">
              <a:defRPr/>
            </a:pPr>
          </a:p>
        </p:txBody>
      </p:sp>
      <p:sp>
        <p:nvSpPr>
          <p:cNvPr id="17" name="Freeform 17"/>
          <p:cNvSpPr/>
          <p:nvPr>
            <p:custDataLst>
              <p:tags r:id="rId13"/>
            </p:custDataLst>
          </p:nvPr>
        </p:nvSpPr>
        <p:spPr>
          <a:xfrm>
            <a:off x="4827352" y="2942118"/>
            <a:ext cx="215212" cy="234234"/>
          </a:xfrm>
          <a:custGeom>
            <a:avLst/>
            <a:gdLst/>
            <a:ahLst/>
            <a:cxnLst/>
            <a:rect l="l" t="t" r="r" b="b"/>
            <a:pathLst>
              <a:path w="215172" h="234191">
                <a:moveTo>
                  <a:pt x="39901" y="89680"/>
                </a:moveTo>
                <a:cubicBezTo>
                  <a:pt x="43473" y="77936"/>
                  <a:pt x="49155" y="67585"/>
                  <a:pt x="56924" y="58625"/>
                </a:cubicBezTo>
                <a:cubicBezTo>
                  <a:pt x="71559" y="42414"/>
                  <a:pt x="88453" y="34309"/>
                  <a:pt x="107586" y="34309"/>
                </a:cubicBezTo>
                <a:cubicBezTo>
                  <a:pt x="126696" y="34309"/>
                  <a:pt x="143591" y="42414"/>
                  <a:pt x="158247" y="58625"/>
                </a:cubicBezTo>
                <a:lnTo>
                  <a:pt x="165866" y="67428"/>
                </a:lnTo>
                <a:lnTo>
                  <a:pt x="150630" y="67428"/>
                </a:lnTo>
                <a:cubicBezTo>
                  <a:pt x="146432" y="67428"/>
                  <a:pt x="142989" y="68977"/>
                  <a:pt x="140320" y="72076"/>
                </a:cubicBezTo>
                <a:cubicBezTo>
                  <a:pt x="137608" y="75174"/>
                  <a:pt x="136274" y="79149"/>
                  <a:pt x="136274" y="83976"/>
                </a:cubicBezTo>
                <a:cubicBezTo>
                  <a:pt x="136274" y="88803"/>
                  <a:pt x="137608" y="92778"/>
                  <a:pt x="140320" y="95876"/>
                </a:cubicBezTo>
                <a:cubicBezTo>
                  <a:pt x="142989" y="98975"/>
                  <a:pt x="146432" y="100547"/>
                  <a:pt x="150630" y="100547"/>
                </a:cubicBezTo>
                <a:lnTo>
                  <a:pt x="200817" y="100547"/>
                </a:lnTo>
                <a:cubicBezTo>
                  <a:pt x="200817" y="100547"/>
                  <a:pt x="200817" y="100547"/>
                  <a:pt x="200817" y="100547"/>
                </a:cubicBezTo>
                <a:cubicBezTo>
                  <a:pt x="200817" y="100547"/>
                  <a:pt x="200817" y="100547"/>
                  <a:pt x="200817" y="100547"/>
                </a:cubicBezTo>
                <a:cubicBezTo>
                  <a:pt x="204992" y="100547"/>
                  <a:pt x="208436" y="98975"/>
                  <a:pt x="211148" y="95876"/>
                </a:cubicBezTo>
                <a:cubicBezTo>
                  <a:pt x="213816" y="92778"/>
                  <a:pt x="215172" y="88803"/>
                  <a:pt x="215172" y="83976"/>
                </a:cubicBezTo>
                <a:lnTo>
                  <a:pt x="215172" y="26046"/>
                </a:lnTo>
                <a:cubicBezTo>
                  <a:pt x="215172" y="21196"/>
                  <a:pt x="213816" y="17244"/>
                  <a:pt x="211148" y="14145"/>
                </a:cubicBezTo>
                <a:cubicBezTo>
                  <a:pt x="208436" y="11025"/>
                  <a:pt x="204992" y="9475"/>
                  <a:pt x="200817" y="9475"/>
                </a:cubicBezTo>
                <a:cubicBezTo>
                  <a:pt x="196642" y="9475"/>
                  <a:pt x="193199" y="11025"/>
                  <a:pt x="190509" y="14145"/>
                </a:cubicBezTo>
                <a:cubicBezTo>
                  <a:pt x="187818" y="17244"/>
                  <a:pt x="186484" y="21196"/>
                  <a:pt x="186484" y="26046"/>
                </a:cubicBezTo>
                <a:lnTo>
                  <a:pt x="186484" y="44144"/>
                </a:lnTo>
                <a:lnTo>
                  <a:pt x="178413" y="35341"/>
                </a:lnTo>
                <a:cubicBezTo>
                  <a:pt x="165264" y="20162"/>
                  <a:pt x="150178" y="9991"/>
                  <a:pt x="133132" y="4827"/>
                </a:cubicBezTo>
                <a:cubicBezTo>
                  <a:pt x="116087" y="0"/>
                  <a:pt x="99064" y="0"/>
                  <a:pt x="82039" y="4827"/>
                </a:cubicBezTo>
                <a:cubicBezTo>
                  <a:pt x="64995" y="9991"/>
                  <a:pt x="49887" y="20162"/>
                  <a:pt x="36759" y="35341"/>
                </a:cubicBezTo>
                <a:cubicBezTo>
                  <a:pt x="25697" y="48095"/>
                  <a:pt x="17776" y="62420"/>
                  <a:pt x="12998" y="78295"/>
                </a:cubicBezTo>
                <a:cubicBezTo>
                  <a:pt x="11793" y="82763"/>
                  <a:pt x="11944" y="87075"/>
                  <a:pt x="13451" y="91229"/>
                </a:cubicBezTo>
                <a:cubicBezTo>
                  <a:pt x="15237" y="95001"/>
                  <a:pt x="17927" y="97763"/>
                  <a:pt x="21521" y="99514"/>
                </a:cubicBezTo>
                <a:cubicBezTo>
                  <a:pt x="25395" y="100883"/>
                  <a:pt x="29140" y="100704"/>
                  <a:pt x="32734" y="98997"/>
                </a:cubicBezTo>
                <a:cubicBezTo>
                  <a:pt x="36006" y="96910"/>
                  <a:pt x="38395" y="93811"/>
                  <a:pt x="39901" y="89680"/>
                </a:cubicBezTo>
                <a:moveTo>
                  <a:pt x="10309" y="134160"/>
                </a:moveTo>
                <a:cubicBezTo>
                  <a:pt x="7898" y="135193"/>
                  <a:pt x="5810" y="136742"/>
                  <a:pt x="4025" y="138830"/>
                </a:cubicBezTo>
                <a:cubicBezTo>
                  <a:pt x="2216" y="140896"/>
                  <a:pt x="1033" y="143299"/>
                  <a:pt x="452" y="146060"/>
                </a:cubicBezTo>
                <a:cubicBezTo>
                  <a:pt x="452" y="146396"/>
                  <a:pt x="301" y="146913"/>
                  <a:pt x="0" y="147609"/>
                </a:cubicBezTo>
                <a:cubicBezTo>
                  <a:pt x="0" y="148642"/>
                  <a:pt x="0" y="149518"/>
                  <a:pt x="0" y="150214"/>
                </a:cubicBezTo>
                <a:lnTo>
                  <a:pt x="0" y="208144"/>
                </a:lnTo>
                <a:cubicBezTo>
                  <a:pt x="0" y="212972"/>
                  <a:pt x="1335" y="216946"/>
                  <a:pt x="4025" y="220045"/>
                </a:cubicBezTo>
                <a:cubicBezTo>
                  <a:pt x="6714" y="223144"/>
                  <a:pt x="10159" y="224715"/>
                  <a:pt x="14355" y="224715"/>
                </a:cubicBezTo>
                <a:cubicBezTo>
                  <a:pt x="18531" y="224715"/>
                  <a:pt x="21952" y="223144"/>
                  <a:pt x="24663" y="220045"/>
                </a:cubicBezTo>
                <a:cubicBezTo>
                  <a:pt x="27333" y="216946"/>
                  <a:pt x="28688" y="212972"/>
                  <a:pt x="28688" y="208144"/>
                </a:cubicBezTo>
                <a:lnTo>
                  <a:pt x="28688" y="190046"/>
                </a:lnTo>
                <a:lnTo>
                  <a:pt x="36759" y="198849"/>
                </a:lnTo>
                <a:cubicBezTo>
                  <a:pt x="49887" y="214005"/>
                  <a:pt x="64995" y="224176"/>
                  <a:pt x="82039" y="229363"/>
                </a:cubicBezTo>
                <a:cubicBezTo>
                  <a:pt x="99064" y="234190"/>
                  <a:pt x="116087" y="234190"/>
                  <a:pt x="133132" y="229363"/>
                </a:cubicBezTo>
                <a:cubicBezTo>
                  <a:pt x="150178" y="224176"/>
                  <a:pt x="165264" y="214005"/>
                  <a:pt x="178413" y="198849"/>
                </a:cubicBezTo>
                <a:cubicBezTo>
                  <a:pt x="189475" y="186073"/>
                  <a:pt x="197395" y="171747"/>
                  <a:pt x="202173" y="155895"/>
                </a:cubicBezTo>
                <a:cubicBezTo>
                  <a:pt x="203356" y="151404"/>
                  <a:pt x="203206" y="147092"/>
                  <a:pt x="201720" y="142961"/>
                </a:cubicBezTo>
                <a:cubicBezTo>
                  <a:pt x="199913" y="139166"/>
                  <a:pt x="197223" y="136405"/>
                  <a:pt x="193651" y="134676"/>
                </a:cubicBezTo>
                <a:cubicBezTo>
                  <a:pt x="189755" y="133284"/>
                  <a:pt x="186011" y="133464"/>
                  <a:pt x="182438" y="135193"/>
                </a:cubicBezTo>
                <a:cubicBezTo>
                  <a:pt x="179145" y="137259"/>
                  <a:pt x="176756" y="140379"/>
                  <a:pt x="175271" y="144510"/>
                </a:cubicBezTo>
                <a:cubicBezTo>
                  <a:pt x="171677" y="156231"/>
                  <a:pt x="165995" y="166583"/>
                  <a:pt x="158247" y="175565"/>
                </a:cubicBezTo>
                <a:cubicBezTo>
                  <a:pt x="143591" y="191776"/>
                  <a:pt x="126696" y="199881"/>
                  <a:pt x="107586" y="199881"/>
                </a:cubicBezTo>
                <a:cubicBezTo>
                  <a:pt x="88453" y="199881"/>
                  <a:pt x="71559" y="191776"/>
                  <a:pt x="56924" y="175565"/>
                </a:cubicBezTo>
                <a:lnTo>
                  <a:pt x="49305" y="166762"/>
                </a:lnTo>
                <a:lnTo>
                  <a:pt x="64543" y="166762"/>
                </a:lnTo>
                <a:cubicBezTo>
                  <a:pt x="68718" y="166762"/>
                  <a:pt x="72161" y="165213"/>
                  <a:pt x="74851" y="162114"/>
                </a:cubicBezTo>
                <a:cubicBezTo>
                  <a:pt x="77542" y="158994"/>
                  <a:pt x="78897" y="155020"/>
                  <a:pt x="78897" y="150214"/>
                </a:cubicBezTo>
                <a:cubicBezTo>
                  <a:pt x="78897" y="145364"/>
                  <a:pt x="77542" y="141412"/>
                  <a:pt x="74851" y="138314"/>
                </a:cubicBezTo>
                <a:cubicBezTo>
                  <a:pt x="72161" y="135193"/>
                  <a:pt x="68718" y="133643"/>
                  <a:pt x="64543" y="133643"/>
                </a:cubicBezTo>
                <a:lnTo>
                  <a:pt x="14355" y="133643"/>
                </a:lnTo>
                <a:cubicBezTo>
                  <a:pt x="13753" y="133643"/>
                  <a:pt x="13150" y="133643"/>
                  <a:pt x="12548" y="133643"/>
                </a:cubicBezTo>
                <a:cubicBezTo>
                  <a:pt x="11643" y="133980"/>
                  <a:pt x="10912" y="134160"/>
                  <a:pt x="10309" y="134160"/>
                </a:cubicBezTo>
              </a:path>
            </a:pathLst>
          </a:custGeom>
          <a:solidFill>
            <a:srgbClr val="FFFFFF">
              <a:alpha val="100000"/>
            </a:srgbClr>
          </a:solidFill>
          <a:ln w="25400" cap="flat" cmpd="sng">
            <a:noFill/>
            <a:prstDash val="solid"/>
            <a:round/>
          </a:ln>
        </p:spPr>
        <p:txBody>
          <a:bodyPr vert="horz" wrap="square" lIns="63511" tIns="63511" rIns="63511" bIns="63511" rtlCol="0" anchor="ctr"/>
          <a:lstStyle/>
          <a:p>
            <a:pPr algn="ctr">
              <a:defRPr/>
            </a:pPr>
          </a:p>
        </p:txBody>
      </p:sp>
      <p:sp>
        <p:nvSpPr>
          <p:cNvPr id="18" name="AutoShape 18"/>
          <p:cNvSpPr/>
          <p:nvPr>
            <p:custDataLst>
              <p:tags r:id="rId14"/>
            </p:custDataLst>
          </p:nvPr>
        </p:nvSpPr>
        <p:spPr>
          <a:xfrm>
            <a:off x="5297339" y="2362637"/>
            <a:ext cx="2286423" cy="304856"/>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20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vs. 知识图谱</a:t>
            </a:r>
            <a:endParaRPr lang="en-US" sz="20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9" name="AutoShape 19"/>
          <p:cNvSpPr/>
          <p:nvPr>
            <p:custDataLst>
              <p:tags r:id="rId15"/>
            </p:custDataLst>
          </p:nvPr>
        </p:nvSpPr>
        <p:spPr>
          <a:xfrm>
            <a:off x="5297339" y="2731006"/>
            <a:ext cx="2286423" cy="127024"/>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000" b="1" i="0" u="none" strike="noStrike">
                <a:solidFill>
                  <a:schemeClr val="tx1">
                    <a:lumMod val="50000"/>
                    <a:lumOff val="50000"/>
                    <a:alpha val="50196"/>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只读分析 vs 可写操作</a:t>
            </a:r>
            <a:endParaRPr lang="en-US" sz="1000" b="1" i="0" u="none" strike="noStrike">
              <a:solidFill>
                <a:schemeClr val="tx1">
                  <a:lumMod val="50000"/>
                  <a:lumOff val="50000"/>
                  <a:alpha val="50196"/>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0" name="AutoShape 20"/>
          <p:cNvSpPr/>
          <p:nvPr>
            <p:custDataLst>
              <p:tags r:id="rId16"/>
            </p:custDataLst>
          </p:nvPr>
        </p:nvSpPr>
        <p:spPr>
          <a:xfrm>
            <a:off x="4687626" y="3289909"/>
            <a:ext cx="3137481" cy="228642"/>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600" b="1" i="0" u="none" strike="noStrike">
                <a:solidFill>
                  <a:srgbClr val="0A1F3D"/>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从分析层走向操作层</a:t>
            </a:r>
            <a:endParaRPr lang="en-US" sz="1100"/>
          </a:p>
        </p:txBody>
      </p:sp>
      <p:sp>
        <p:nvSpPr>
          <p:cNvPr id="21" name="AutoShape 21"/>
          <p:cNvSpPr/>
          <p:nvPr>
            <p:custDataLst>
              <p:tags r:id="rId17"/>
            </p:custDataLst>
          </p:nvPr>
        </p:nvSpPr>
        <p:spPr>
          <a:xfrm>
            <a:off x="4649519" y="3721789"/>
            <a:ext cx="2997755" cy="1600496"/>
          </a:xfrm>
          <a:prstGeom prst="rect">
            <a:avLst/>
          </a:prstGeom>
          <a:noFill/>
          <a:ln w="12700" cap="flat" cmpd="sng">
            <a:noFill/>
            <a:prstDash val="solid"/>
            <a:round/>
          </a:ln>
        </p:spPr>
        <p:txBody>
          <a:bodyPr vert="horz" wrap="square" lIns="0" tIns="0" rIns="0" bIns="0" rtlCol="0" anchor="t" anchorCtr="0"/>
          <a:lstStyle>
            <a:lvl1pPr marL="355600" indent="-177800"/>
            <a:lvl2pPr marL="812800" indent="-177800"/>
            <a:lvl3pPr marL="1270000" indent="-177800"/>
            <a:lvl4pPr marL="1727200" indent="-177800"/>
            <a:lvl5pPr marL="2184400" indent="-177800"/>
            <a:lvl6pPr marL="2641600" indent="-177800"/>
            <a:lvl7pPr marL="3098800" indent="-177800"/>
            <a:lvl8pPr marL="3556000" indent="-177800"/>
            <a:lvl9pPr marL="4013200" indent="-177800"/>
          </a:lstStyle>
          <a:p>
            <a:pPr marL="177800" indent="-165100" algn="l" defTabSz="1219200">
              <a:lnSpc>
                <a:spcPct val="100000"/>
              </a:lnSpc>
              <a:buClr>
                <a:srgbClr val="0A1F3D"/>
              </a:buClr>
              <a:buFont typeface="Wingdings" panose="05000000000000000000"/>
              <a:buChar char="Ø"/>
              <a:defRPr/>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知识图谱聚焦于实体关系挖掘与只读式分析，属于“看数据”的分析层工具，主要服务于洞察与查询。</a:t>
            </a:r>
            <a:endParaRPr lang="en-US" sz="1100"/>
          </a:p>
          <a:p>
            <a:pPr marL="177800" indent="-165100" algn="l" defTabSz="1219200">
              <a:lnSpc>
                <a:spcPct val="100000"/>
              </a:lnSpc>
              <a:buClr>
                <a:srgbClr val="0A1F3D"/>
              </a:buClr>
              <a:buFont typeface="Wingdings" panose="05000000000000000000"/>
              <a:buChar char="Ø"/>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本体具备可写操作能力，不仅描述语义关系，更能通过规则驱动业务动作，实现从“分析认知”到“操作执行”的跨越，支撑业务自动化。</a:t>
            </a:r>
            <a:endPar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2" name="AutoShape 22"/>
          <p:cNvSpPr/>
          <p:nvPr>
            <p:custDataLst>
              <p:tags r:id="rId18"/>
            </p:custDataLst>
          </p:nvPr>
        </p:nvSpPr>
        <p:spPr>
          <a:xfrm>
            <a:off x="8256987" y="2006972"/>
            <a:ext cx="3620170" cy="4229883"/>
          </a:xfrm>
          <a:prstGeom prst="roundRect">
            <a:avLst>
              <a:gd name="adj" fmla="val 1403"/>
            </a:avLst>
          </a:prstGeom>
          <a:solidFill>
            <a:srgbClr val="FFFFFF">
              <a:alpha val="100000"/>
            </a:srgbClr>
          </a:solidFill>
          <a:ln w="12700" cap="flat" cmpd="sng">
            <a:solidFill>
              <a:srgbClr val="E2E6EA">
                <a:alpha val="100000"/>
              </a:srgbClr>
            </a:solidFill>
            <a:prstDash val="solid"/>
            <a:miter lim="1000000"/>
          </a:ln>
        </p:spPr>
        <p:txBody>
          <a:bodyPr vert="horz" wrap="square" lIns="63511" tIns="63511" rIns="63511" bIns="63511" rtlCol="0" anchor="ctr"/>
          <a:lstStyle/>
          <a:p>
            <a:pPr algn="ctr">
              <a:defRPr/>
            </a:pPr>
          </a:p>
        </p:txBody>
      </p:sp>
      <p:sp>
        <p:nvSpPr>
          <p:cNvPr id="23" name="AutoShape 23"/>
          <p:cNvSpPr/>
          <p:nvPr>
            <p:custDataLst>
              <p:tags r:id="rId19"/>
            </p:custDataLst>
          </p:nvPr>
        </p:nvSpPr>
        <p:spPr>
          <a:xfrm>
            <a:off x="8498332" y="2006972"/>
            <a:ext cx="3137481" cy="18000"/>
          </a:xfrm>
          <a:prstGeom prst="roundRect">
            <a:avLst>
              <a:gd name="adj" fmla="val 0"/>
            </a:avLst>
          </a:prstGeom>
          <a:solidFill>
            <a:srgbClr val="C00000"/>
          </a:solidFill>
          <a:ln w="28575">
            <a:solidFill>
              <a:srgbClr val="C00000">
                <a:alpha val="100000"/>
              </a:srgbClr>
            </a:solidFill>
            <a:prstDash val="solid"/>
            <a:headEnd type="none"/>
            <a:tailEnd type="none"/>
          </a:ln>
        </p:spPr>
        <p:txBody>
          <a:bodyPr vert="horz" wrap="square" lIns="63511" tIns="63511" rIns="63511" bIns="63511" rtlCol="0" anchor="ctr">
            <a:noAutofit/>
          </a:bodyPr>
          <a:lstStyle/>
          <a:p>
            <a:pPr lvl="0" algn="ctr">
              <a:buClrTx/>
              <a:buSzTx/>
              <a:buFontTx/>
              <a:defRPr/>
            </a:pPr>
            <a:endParaRPr>
              <a:ln>
                <a:solidFill>
                  <a:srgbClr val="C00000"/>
                </a:solidFill>
              </a:ln>
              <a:sym typeface="+mn-ea"/>
            </a:endParaRPr>
          </a:p>
        </p:txBody>
      </p:sp>
      <p:sp>
        <p:nvSpPr>
          <p:cNvPr id="24" name="AutoShape 24"/>
          <p:cNvSpPr/>
          <p:nvPr>
            <p:custDataLst>
              <p:tags r:id="rId20"/>
            </p:custDataLst>
          </p:nvPr>
        </p:nvSpPr>
        <p:spPr>
          <a:xfrm>
            <a:off x="8498332" y="2362637"/>
            <a:ext cx="508094" cy="533499"/>
          </a:xfrm>
          <a:prstGeom prst="ellipse">
            <a:avLst/>
          </a:prstGeom>
          <a:solidFill>
            <a:srgbClr val="9ACAF1"/>
          </a:solidFill>
          <a:ln w="25400" cap="flat" cmpd="sng">
            <a:noFill/>
            <a:prstDash val="solid"/>
            <a:round/>
          </a:ln>
        </p:spPr>
        <p:txBody>
          <a:bodyPr vert="horz" wrap="square" lIns="63511" tIns="63511" rIns="63511" bIns="63511" rtlCol="0" anchor="ctr"/>
          <a:lstStyle/>
          <a:p>
            <a:pPr algn="ctr">
              <a:defRPr/>
            </a:pPr>
          </a:p>
        </p:txBody>
      </p:sp>
      <p:sp>
        <p:nvSpPr>
          <p:cNvPr id="25" name="Freeform 25"/>
          <p:cNvSpPr/>
          <p:nvPr>
            <p:custDataLst>
              <p:tags r:id="rId21"/>
            </p:custDataLst>
          </p:nvPr>
        </p:nvSpPr>
        <p:spPr>
          <a:xfrm>
            <a:off x="8636379" y="3060391"/>
            <a:ext cx="217731" cy="227206"/>
          </a:xfrm>
          <a:custGeom>
            <a:avLst/>
            <a:gdLst/>
            <a:ahLst/>
            <a:cxnLst/>
            <a:rect l="l" t="t" r="r" b="b"/>
            <a:pathLst>
              <a:path w="217691" h="227164">
                <a:moveTo>
                  <a:pt x="66911" y="170603"/>
                </a:moveTo>
                <a:lnTo>
                  <a:pt x="53782" y="156906"/>
                </a:lnTo>
                <a:lnTo>
                  <a:pt x="66911" y="170603"/>
                </a:lnTo>
                <a:lnTo>
                  <a:pt x="53782" y="156906"/>
                </a:lnTo>
                <a:cubicBezTo>
                  <a:pt x="50103" y="152774"/>
                  <a:pt x="48962" y="148059"/>
                  <a:pt x="50382" y="142760"/>
                </a:cubicBezTo>
                <a:cubicBezTo>
                  <a:pt x="51802" y="138629"/>
                  <a:pt x="53481" y="133621"/>
                  <a:pt x="55461" y="127739"/>
                </a:cubicBezTo>
                <a:lnTo>
                  <a:pt x="10568" y="127739"/>
                </a:lnTo>
                <a:cubicBezTo>
                  <a:pt x="6608" y="127739"/>
                  <a:pt x="3659" y="125965"/>
                  <a:pt x="1679" y="122418"/>
                </a:cubicBezTo>
                <a:cubicBezTo>
                  <a:pt x="0" y="118869"/>
                  <a:pt x="0" y="115345"/>
                  <a:pt x="1679" y="111819"/>
                </a:cubicBezTo>
                <a:lnTo>
                  <a:pt x="24126" y="72481"/>
                </a:lnTo>
                <a:cubicBezTo>
                  <a:pt x="30044" y="62466"/>
                  <a:pt x="38804" y="57302"/>
                  <a:pt x="50382" y="57010"/>
                </a:cubicBezTo>
                <a:lnTo>
                  <a:pt x="85118" y="57010"/>
                </a:lnTo>
                <a:cubicBezTo>
                  <a:pt x="86237" y="55236"/>
                  <a:pt x="87227" y="53619"/>
                  <a:pt x="88087" y="52137"/>
                </a:cubicBezTo>
                <a:cubicBezTo>
                  <a:pt x="99947" y="34445"/>
                  <a:pt x="112945" y="21780"/>
                  <a:pt x="127064" y="14146"/>
                </a:cubicBezTo>
                <a:cubicBezTo>
                  <a:pt x="141181" y="6467"/>
                  <a:pt x="155148" y="2043"/>
                  <a:pt x="168988" y="876"/>
                </a:cubicBezTo>
                <a:cubicBezTo>
                  <a:pt x="182804" y="0"/>
                  <a:pt x="194964" y="584"/>
                  <a:pt x="205423" y="2650"/>
                </a:cubicBezTo>
                <a:cubicBezTo>
                  <a:pt x="210503" y="4109"/>
                  <a:pt x="213731" y="7500"/>
                  <a:pt x="215151" y="12799"/>
                </a:cubicBezTo>
                <a:cubicBezTo>
                  <a:pt x="217131" y="23712"/>
                  <a:pt x="217691" y="36375"/>
                  <a:pt x="216851" y="50812"/>
                </a:cubicBezTo>
                <a:cubicBezTo>
                  <a:pt x="215711" y="65251"/>
                  <a:pt x="211470" y="79846"/>
                  <a:pt x="204154" y="94575"/>
                </a:cubicBezTo>
                <a:cubicBezTo>
                  <a:pt x="196793" y="109305"/>
                  <a:pt x="184654" y="122844"/>
                  <a:pt x="167718" y="135238"/>
                </a:cubicBezTo>
                <a:cubicBezTo>
                  <a:pt x="166296" y="136114"/>
                  <a:pt x="164747" y="137147"/>
                  <a:pt x="163069" y="138337"/>
                </a:cubicBezTo>
                <a:lnTo>
                  <a:pt x="163069" y="174576"/>
                </a:lnTo>
                <a:cubicBezTo>
                  <a:pt x="162767" y="186657"/>
                  <a:pt x="157839" y="195796"/>
                  <a:pt x="148241" y="201993"/>
                </a:cubicBezTo>
                <a:lnTo>
                  <a:pt x="110535" y="225412"/>
                </a:lnTo>
                <a:cubicBezTo>
                  <a:pt x="107135" y="227163"/>
                  <a:pt x="103755" y="227163"/>
                  <a:pt x="100377" y="225412"/>
                </a:cubicBezTo>
                <a:cubicBezTo>
                  <a:pt x="96976" y="223346"/>
                  <a:pt x="95297" y="220248"/>
                  <a:pt x="95297" y="216138"/>
                </a:cubicBezTo>
                <a:lnTo>
                  <a:pt x="95297" y="168828"/>
                </a:lnTo>
                <a:cubicBezTo>
                  <a:pt x="89357" y="170895"/>
                  <a:pt x="84257" y="172669"/>
                  <a:pt x="80039" y="174151"/>
                </a:cubicBezTo>
                <a:cubicBezTo>
                  <a:pt x="74959" y="175610"/>
                  <a:pt x="70569" y="174420"/>
                  <a:pt x="66911" y="170603"/>
                </a:cubicBezTo>
                <a:moveTo>
                  <a:pt x="163069" y="74681"/>
                </a:moveTo>
                <a:cubicBezTo>
                  <a:pt x="169546" y="74389"/>
                  <a:pt x="174475" y="71447"/>
                  <a:pt x="177875" y="65857"/>
                </a:cubicBezTo>
                <a:cubicBezTo>
                  <a:pt x="180694" y="59951"/>
                  <a:pt x="180694" y="54046"/>
                  <a:pt x="177875" y="48163"/>
                </a:cubicBezTo>
                <a:cubicBezTo>
                  <a:pt x="174475" y="42550"/>
                  <a:pt x="169546" y="39608"/>
                  <a:pt x="163069" y="39339"/>
                </a:cubicBezTo>
                <a:cubicBezTo>
                  <a:pt x="156569" y="39608"/>
                  <a:pt x="151619" y="42550"/>
                  <a:pt x="148241" y="48163"/>
                </a:cubicBezTo>
                <a:cubicBezTo>
                  <a:pt x="145400" y="54046"/>
                  <a:pt x="145400" y="59951"/>
                  <a:pt x="148241" y="65857"/>
                </a:cubicBezTo>
                <a:cubicBezTo>
                  <a:pt x="151619" y="71447"/>
                  <a:pt x="156569" y="74389"/>
                  <a:pt x="163069" y="74681"/>
                </a:cubicBezTo>
              </a:path>
            </a:pathLst>
          </a:custGeom>
          <a:solidFill>
            <a:srgbClr val="FFFFFF">
              <a:alpha val="100000"/>
            </a:srgbClr>
          </a:solidFill>
          <a:ln w="25400" cap="flat" cmpd="sng">
            <a:noFill/>
            <a:prstDash val="solid"/>
            <a:round/>
          </a:ln>
        </p:spPr>
        <p:txBody>
          <a:bodyPr vert="horz" wrap="square" lIns="63511" tIns="63511" rIns="63511" bIns="63511" rtlCol="0" anchor="ctr"/>
          <a:lstStyle/>
          <a:p>
            <a:pPr algn="ctr">
              <a:defRPr/>
            </a:pPr>
          </a:p>
        </p:txBody>
      </p:sp>
      <p:sp>
        <p:nvSpPr>
          <p:cNvPr id="26" name="AutoShape 26"/>
          <p:cNvSpPr/>
          <p:nvPr>
            <p:custDataLst>
              <p:tags r:id="rId22"/>
            </p:custDataLst>
          </p:nvPr>
        </p:nvSpPr>
        <p:spPr>
          <a:xfrm>
            <a:off x="9120747" y="2362637"/>
            <a:ext cx="2286423" cy="304856"/>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20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vs. 数字孪生</a:t>
            </a:r>
            <a:endParaRPr lang="en-US" sz="20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7" name="AutoShape 27"/>
          <p:cNvSpPr/>
          <p:nvPr>
            <p:custDataLst>
              <p:tags r:id="rId23"/>
            </p:custDataLst>
          </p:nvPr>
        </p:nvSpPr>
        <p:spPr>
          <a:xfrm>
            <a:off x="9120747" y="2731006"/>
            <a:ext cx="2286423" cy="127024"/>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000" b="1" i="0" u="none" strike="noStrike">
                <a:solidFill>
                  <a:schemeClr val="tx1">
                    <a:lumMod val="50000"/>
                    <a:lumOff val="50000"/>
                    <a:alpha val="50196"/>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可视化镜像 vs 逻辑大脑</a:t>
            </a:r>
            <a:endParaRPr lang="en-US" sz="1000" b="1" i="0" u="none" strike="noStrike">
              <a:solidFill>
                <a:schemeClr val="tx1">
                  <a:lumMod val="50000"/>
                  <a:lumOff val="50000"/>
                  <a:alpha val="50196"/>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8" name="AutoShape 28"/>
          <p:cNvSpPr/>
          <p:nvPr>
            <p:custDataLst>
              <p:tags r:id="rId24"/>
            </p:custDataLst>
          </p:nvPr>
        </p:nvSpPr>
        <p:spPr>
          <a:xfrm>
            <a:off x="8511034" y="3289909"/>
            <a:ext cx="3137481" cy="228642"/>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600" b="1" i="0" u="none" strike="noStrike">
                <a:solidFill>
                  <a:srgbClr val="0A1F3D"/>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孪生系统的智能决策内核</a:t>
            </a:r>
            <a:endParaRPr lang="en-US" sz="1100"/>
          </a:p>
        </p:txBody>
      </p:sp>
      <p:sp>
        <p:nvSpPr>
          <p:cNvPr id="29" name="AutoShape 29"/>
          <p:cNvSpPr/>
          <p:nvPr>
            <p:custDataLst>
              <p:tags r:id="rId25"/>
            </p:custDataLst>
          </p:nvPr>
        </p:nvSpPr>
        <p:spPr>
          <a:xfrm>
            <a:off x="8472927" y="3721789"/>
            <a:ext cx="2997755" cy="1918055"/>
          </a:xfrm>
          <a:prstGeom prst="rect">
            <a:avLst/>
          </a:prstGeom>
          <a:noFill/>
          <a:ln w="12700" cap="flat" cmpd="sng">
            <a:noFill/>
            <a:prstDash val="solid"/>
            <a:round/>
          </a:ln>
        </p:spPr>
        <p:txBody>
          <a:bodyPr vert="horz" wrap="square" lIns="0" tIns="0" rIns="0" bIns="0" rtlCol="0" anchor="t" anchorCtr="0"/>
          <a:lstStyle>
            <a:lvl1pPr marL="469900" indent="-177800"/>
            <a:lvl2pPr marL="927100" indent="-177800"/>
            <a:lvl3pPr marL="1384300" indent="-177800"/>
            <a:lvl4pPr marL="1841500" indent="-177800"/>
            <a:lvl5pPr marL="2298700" indent="-177800"/>
            <a:lvl6pPr marL="2755900" indent="-177800"/>
            <a:lvl7pPr marL="3213100" indent="-177800"/>
            <a:lvl8pPr marL="3670300" indent="-177800"/>
            <a:lvl9pPr marL="4127500" indent="-177800"/>
          </a:lstStyle>
          <a:p>
            <a:pPr marL="292100" indent="-279400" algn="l" defTabSz="1219200">
              <a:lnSpc>
                <a:spcPct val="100000"/>
              </a:lnSpc>
              <a:buClr>
                <a:srgbClr val="0A1F3D"/>
              </a:buClr>
              <a:buFont typeface="Wingdings" panose="05000000000000000000"/>
              <a:buChar char="Ø"/>
              <a:defRPr/>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数字孪生侧重物理实体的数字化镜像构建与可视化展示，是智能系统的“躯体”，解决“是什么”的问题。</a:t>
            </a:r>
            <a:endParaRPr lang="en-US" sz="1100"/>
          </a:p>
          <a:p>
            <a:pPr marL="292100" indent="-279400" algn="l" defTabSz="1219200">
              <a:lnSpc>
                <a:spcPct val="100000"/>
              </a:lnSpc>
              <a:buClr>
                <a:srgbClr val="0A1F3D"/>
              </a:buClr>
              <a:buFont typeface="Wingdings" panose="05000000000000000000"/>
              <a:buChar char="Ø"/>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本体是孪生的“语义基础与逻辑大脑”，负责定义对象逻辑、制定规则并驱动决策执行，赋予孪生系统“怎么行动”的智能决策能力。</a:t>
            </a:r>
            <a:endPar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0" name="AutoShape 30"/>
          <p:cNvSpPr/>
          <p:nvPr/>
        </p:nvSpPr>
        <p:spPr>
          <a:xfrm>
            <a:off x="813409" y="1168616"/>
            <a:ext cx="10873213" cy="406475"/>
          </a:xfrm>
          <a:prstGeom prst="rect">
            <a:avLst/>
          </a:prstGeom>
          <a:noFill/>
          <a:ln w="12700" cap="flat" cmpd="sng">
            <a:noFill/>
            <a:prstDash val="solid"/>
            <a:round/>
          </a:ln>
        </p:spPr>
        <p:txBody>
          <a:bodyPr vert="horz" wrap="square" lIns="0" tIns="0" rIns="0" bIns="0" rtlCol="0" anchor="t" anchorCtr="0"/>
          <a:lstStyle/>
          <a:p>
            <a:pPr marL="0" indent="0" algn="l" defTabSz="1219200">
              <a:lnSpc>
                <a:spcPct val="100000"/>
              </a:lnSpc>
              <a:defRPr/>
            </a:pPr>
            <a:r>
              <a:rPr lang="en-US" sz="1600" b="0" i="1" u="none" strike="noStrike">
                <a:solidFill>
                  <a:srgbClr val="0A1F3D">
                    <a:alpha val="81961"/>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本体技术突破了传统技术的静态局限，在动态执行、闭环操作与逻辑决策层面展现出本质差异，成为连接数据与智能行动的核心桥梁，推动从“数据感知”向“智能决策”的进化。</a:t>
            </a:r>
            <a:endParaRPr lang="en-US" sz="1100"/>
          </a:p>
        </p:txBody>
      </p:sp>
      <p:pic>
        <p:nvPicPr>
          <p:cNvPr id="34" name="图片 33" descr="图层 0"/>
          <p:cNvPicPr>
            <a:picLocks noChangeAspect="1"/>
          </p:cNvPicPr>
          <p:nvPr>
            <p:custDataLst>
              <p:tags r:id="rId26"/>
            </p:custDataLst>
          </p:nvPr>
        </p:nvPicPr>
        <p:blipFill>
          <a:blip r:embed="rId27"/>
          <a:stretch>
            <a:fillRect/>
          </a:stretch>
        </p:blipFill>
        <p:spPr>
          <a:xfrm>
            <a:off x="4798060" y="2487295"/>
            <a:ext cx="269240" cy="272415"/>
          </a:xfrm>
          <a:prstGeom prst="rect">
            <a:avLst/>
          </a:prstGeom>
        </p:spPr>
      </p:pic>
      <p:sp>
        <p:nvSpPr>
          <p:cNvPr id="35" name="Freeform 17"/>
          <p:cNvSpPr/>
          <p:nvPr>
            <p:custDataLst>
              <p:tags r:id="rId28"/>
            </p:custDataLst>
          </p:nvPr>
        </p:nvSpPr>
        <p:spPr>
          <a:xfrm>
            <a:off x="8650687" y="2517223"/>
            <a:ext cx="215212" cy="234234"/>
          </a:xfrm>
          <a:custGeom>
            <a:avLst/>
            <a:gdLst/>
            <a:ahLst/>
            <a:cxnLst/>
            <a:rect l="l" t="t" r="r" b="b"/>
            <a:pathLst>
              <a:path w="215172" h="234191">
                <a:moveTo>
                  <a:pt x="39901" y="89680"/>
                </a:moveTo>
                <a:cubicBezTo>
                  <a:pt x="43473" y="77936"/>
                  <a:pt x="49155" y="67585"/>
                  <a:pt x="56924" y="58625"/>
                </a:cubicBezTo>
                <a:cubicBezTo>
                  <a:pt x="71559" y="42414"/>
                  <a:pt x="88453" y="34309"/>
                  <a:pt x="107586" y="34309"/>
                </a:cubicBezTo>
                <a:cubicBezTo>
                  <a:pt x="126696" y="34309"/>
                  <a:pt x="143591" y="42414"/>
                  <a:pt x="158247" y="58625"/>
                </a:cubicBezTo>
                <a:lnTo>
                  <a:pt x="165866" y="67428"/>
                </a:lnTo>
                <a:lnTo>
                  <a:pt x="150630" y="67428"/>
                </a:lnTo>
                <a:cubicBezTo>
                  <a:pt x="146432" y="67428"/>
                  <a:pt x="142989" y="68977"/>
                  <a:pt x="140320" y="72076"/>
                </a:cubicBezTo>
                <a:cubicBezTo>
                  <a:pt x="137608" y="75174"/>
                  <a:pt x="136274" y="79149"/>
                  <a:pt x="136274" y="83976"/>
                </a:cubicBezTo>
                <a:cubicBezTo>
                  <a:pt x="136274" y="88803"/>
                  <a:pt x="137608" y="92778"/>
                  <a:pt x="140320" y="95876"/>
                </a:cubicBezTo>
                <a:cubicBezTo>
                  <a:pt x="142989" y="98975"/>
                  <a:pt x="146432" y="100547"/>
                  <a:pt x="150630" y="100547"/>
                </a:cubicBezTo>
                <a:lnTo>
                  <a:pt x="200817" y="100547"/>
                </a:lnTo>
                <a:cubicBezTo>
                  <a:pt x="200817" y="100547"/>
                  <a:pt x="200817" y="100547"/>
                  <a:pt x="200817" y="100547"/>
                </a:cubicBezTo>
                <a:cubicBezTo>
                  <a:pt x="200817" y="100547"/>
                  <a:pt x="200817" y="100547"/>
                  <a:pt x="200817" y="100547"/>
                </a:cubicBezTo>
                <a:cubicBezTo>
                  <a:pt x="204992" y="100547"/>
                  <a:pt x="208436" y="98975"/>
                  <a:pt x="211148" y="95876"/>
                </a:cubicBezTo>
                <a:cubicBezTo>
                  <a:pt x="213816" y="92778"/>
                  <a:pt x="215172" y="88803"/>
                  <a:pt x="215172" y="83976"/>
                </a:cubicBezTo>
                <a:lnTo>
                  <a:pt x="215172" y="26046"/>
                </a:lnTo>
                <a:cubicBezTo>
                  <a:pt x="215172" y="21196"/>
                  <a:pt x="213816" y="17244"/>
                  <a:pt x="211148" y="14145"/>
                </a:cubicBezTo>
                <a:cubicBezTo>
                  <a:pt x="208436" y="11025"/>
                  <a:pt x="204992" y="9475"/>
                  <a:pt x="200817" y="9475"/>
                </a:cubicBezTo>
                <a:cubicBezTo>
                  <a:pt x="196642" y="9475"/>
                  <a:pt x="193199" y="11025"/>
                  <a:pt x="190509" y="14145"/>
                </a:cubicBezTo>
                <a:cubicBezTo>
                  <a:pt x="187818" y="17244"/>
                  <a:pt x="186484" y="21196"/>
                  <a:pt x="186484" y="26046"/>
                </a:cubicBezTo>
                <a:lnTo>
                  <a:pt x="186484" y="44144"/>
                </a:lnTo>
                <a:lnTo>
                  <a:pt x="178413" y="35341"/>
                </a:lnTo>
                <a:cubicBezTo>
                  <a:pt x="165264" y="20162"/>
                  <a:pt x="150178" y="9991"/>
                  <a:pt x="133132" y="4827"/>
                </a:cubicBezTo>
                <a:cubicBezTo>
                  <a:pt x="116087" y="0"/>
                  <a:pt x="99064" y="0"/>
                  <a:pt x="82039" y="4827"/>
                </a:cubicBezTo>
                <a:cubicBezTo>
                  <a:pt x="64995" y="9991"/>
                  <a:pt x="49887" y="20162"/>
                  <a:pt x="36759" y="35341"/>
                </a:cubicBezTo>
                <a:cubicBezTo>
                  <a:pt x="25697" y="48095"/>
                  <a:pt x="17776" y="62420"/>
                  <a:pt x="12998" y="78295"/>
                </a:cubicBezTo>
                <a:cubicBezTo>
                  <a:pt x="11793" y="82763"/>
                  <a:pt x="11944" y="87075"/>
                  <a:pt x="13451" y="91229"/>
                </a:cubicBezTo>
                <a:cubicBezTo>
                  <a:pt x="15237" y="95001"/>
                  <a:pt x="17927" y="97763"/>
                  <a:pt x="21521" y="99514"/>
                </a:cubicBezTo>
                <a:cubicBezTo>
                  <a:pt x="25395" y="100883"/>
                  <a:pt x="29140" y="100704"/>
                  <a:pt x="32734" y="98997"/>
                </a:cubicBezTo>
                <a:cubicBezTo>
                  <a:pt x="36006" y="96910"/>
                  <a:pt x="38395" y="93811"/>
                  <a:pt x="39901" y="89680"/>
                </a:cubicBezTo>
                <a:moveTo>
                  <a:pt x="10309" y="134160"/>
                </a:moveTo>
                <a:cubicBezTo>
                  <a:pt x="7898" y="135193"/>
                  <a:pt x="5810" y="136742"/>
                  <a:pt x="4025" y="138830"/>
                </a:cubicBezTo>
                <a:cubicBezTo>
                  <a:pt x="2216" y="140896"/>
                  <a:pt x="1033" y="143299"/>
                  <a:pt x="452" y="146060"/>
                </a:cubicBezTo>
                <a:cubicBezTo>
                  <a:pt x="452" y="146396"/>
                  <a:pt x="301" y="146913"/>
                  <a:pt x="0" y="147609"/>
                </a:cubicBezTo>
                <a:cubicBezTo>
                  <a:pt x="0" y="148642"/>
                  <a:pt x="0" y="149518"/>
                  <a:pt x="0" y="150214"/>
                </a:cubicBezTo>
                <a:lnTo>
                  <a:pt x="0" y="208144"/>
                </a:lnTo>
                <a:cubicBezTo>
                  <a:pt x="0" y="212972"/>
                  <a:pt x="1335" y="216946"/>
                  <a:pt x="4025" y="220045"/>
                </a:cubicBezTo>
                <a:cubicBezTo>
                  <a:pt x="6714" y="223144"/>
                  <a:pt x="10159" y="224715"/>
                  <a:pt x="14355" y="224715"/>
                </a:cubicBezTo>
                <a:cubicBezTo>
                  <a:pt x="18531" y="224715"/>
                  <a:pt x="21952" y="223144"/>
                  <a:pt x="24663" y="220045"/>
                </a:cubicBezTo>
                <a:cubicBezTo>
                  <a:pt x="27333" y="216946"/>
                  <a:pt x="28688" y="212972"/>
                  <a:pt x="28688" y="208144"/>
                </a:cubicBezTo>
                <a:lnTo>
                  <a:pt x="28688" y="190046"/>
                </a:lnTo>
                <a:lnTo>
                  <a:pt x="36759" y="198849"/>
                </a:lnTo>
                <a:cubicBezTo>
                  <a:pt x="49887" y="214005"/>
                  <a:pt x="64995" y="224176"/>
                  <a:pt x="82039" y="229363"/>
                </a:cubicBezTo>
                <a:cubicBezTo>
                  <a:pt x="99064" y="234190"/>
                  <a:pt x="116087" y="234190"/>
                  <a:pt x="133132" y="229363"/>
                </a:cubicBezTo>
                <a:cubicBezTo>
                  <a:pt x="150178" y="224176"/>
                  <a:pt x="165264" y="214005"/>
                  <a:pt x="178413" y="198849"/>
                </a:cubicBezTo>
                <a:cubicBezTo>
                  <a:pt x="189475" y="186073"/>
                  <a:pt x="197395" y="171747"/>
                  <a:pt x="202173" y="155895"/>
                </a:cubicBezTo>
                <a:cubicBezTo>
                  <a:pt x="203356" y="151404"/>
                  <a:pt x="203206" y="147092"/>
                  <a:pt x="201720" y="142961"/>
                </a:cubicBezTo>
                <a:cubicBezTo>
                  <a:pt x="199913" y="139166"/>
                  <a:pt x="197223" y="136405"/>
                  <a:pt x="193651" y="134676"/>
                </a:cubicBezTo>
                <a:cubicBezTo>
                  <a:pt x="189755" y="133284"/>
                  <a:pt x="186011" y="133464"/>
                  <a:pt x="182438" y="135193"/>
                </a:cubicBezTo>
                <a:cubicBezTo>
                  <a:pt x="179145" y="137259"/>
                  <a:pt x="176756" y="140379"/>
                  <a:pt x="175271" y="144510"/>
                </a:cubicBezTo>
                <a:cubicBezTo>
                  <a:pt x="171677" y="156231"/>
                  <a:pt x="165995" y="166583"/>
                  <a:pt x="158247" y="175565"/>
                </a:cubicBezTo>
                <a:cubicBezTo>
                  <a:pt x="143591" y="191776"/>
                  <a:pt x="126696" y="199881"/>
                  <a:pt x="107586" y="199881"/>
                </a:cubicBezTo>
                <a:cubicBezTo>
                  <a:pt x="88453" y="199881"/>
                  <a:pt x="71559" y="191776"/>
                  <a:pt x="56924" y="175565"/>
                </a:cubicBezTo>
                <a:lnTo>
                  <a:pt x="49305" y="166762"/>
                </a:lnTo>
                <a:lnTo>
                  <a:pt x="64543" y="166762"/>
                </a:lnTo>
                <a:cubicBezTo>
                  <a:pt x="68718" y="166762"/>
                  <a:pt x="72161" y="165213"/>
                  <a:pt x="74851" y="162114"/>
                </a:cubicBezTo>
                <a:cubicBezTo>
                  <a:pt x="77542" y="158994"/>
                  <a:pt x="78897" y="155020"/>
                  <a:pt x="78897" y="150214"/>
                </a:cubicBezTo>
                <a:cubicBezTo>
                  <a:pt x="78897" y="145364"/>
                  <a:pt x="77542" y="141412"/>
                  <a:pt x="74851" y="138314"/>
                </a:cubicBezTo>
                <a:cubicBezTo>
                  <a:pt x="72161" y="135193"/>
                  <a:pt x="68718" y="133643"/>
                  <a:pt x="64543" y="133643"/>
                </a:cubicBezTo>
                <a:lnTo>
                  <a:pt x="14355" y="133643"/>
                </a:lnTo>
                <a:cubicBezTo>
                  <a:pt x="13753" y="133643"/>
                  <a:pt x="13150" y="133643"/>
                  <a:pt x="12548" y="133643"/>
                </a:cubicBezTo>
                <a:cubicBezTo>
                  <a:pt x="11643" y="133980"/>
                  <a:pt x="10912" y="134160"/>
                  <a:pt x="10309" y="134160"/>
                </a:cubicBezTo>
              </a:path>
            </a:pathLst>
          </a:custGeom>
          <a:solidFill>
            <a:srgbClr val="FFFFFF">
              <a:alpha val="100000"/>
            </a:srgbClr>
          </a:solidFill>
          <a:ln w="25400" cap="flat" cmpd="sng">
            <a:noFill/>
            <a:prstDash val="solid"/>
            <a:round/>
          </a:ln>
        </p:spPr>
        <p:txBody>
          <a:bodyPr vert="horz" wrap="square" lIns="63511" tIns="63511" rIns="63511" bIns="63511" rtlCol="0" anchor="ctr"/>
          <a:lstStyle/>
          <a:p>
            <a:pPr algn="ctr">
              <a:defRPr/>
            </a:pPr>
          </a:p>
        </p:txBody>
      </p:sp>
    </p:spTree>
  </p:cSld>
  <p:clrMapOvr>
    <a:masterClrMapping/>
  </p:clrMapOvr>
  <p:transition advClick="0" advTm="8000">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标题 54"/>
          <p:cNvSpPr>
            <a:spLocks noGrp="1"/>
          </p:cNvSpPr>
          <p:nvPr>
            <p:ph type="title"/>
          </p:nvPr>
        </p:nvSpPr>
        <p:spPr/>
        <p:txBody>
          <a:bodyPr>
            <a:normAutofit/>
          </a:bodyPr>
          <a:lstStyle/>
          <a:p>
            <a:r>
              <a:rPr kumimoji="1" lang="zh-CN" altLang="en-US" dirty="0"/>
              <a:t>解决</a:t>
            </a:r>
            <a:r>
              <a:rPr kumimoji="1" lang="en-US" altLang="zh-CN" dirty="0"/>
              <a:t>LLM</a:t>
            </a:r>
            <a:r>
              <a:rPr kumimoji="1" dirty="0"/>
              <a:t>核心问题的两条</a:t>
            </a:r>
            <a:r>
              <a:rPr kumimoji="1" dirty="0"/>
              <a:t>路径</a:t>
            </a:r>
            <a:endParaRPr kumimoji="1" dirty="0"/>
          </a:p>
        </p:txBody>
      </p:sp>
      <p:grpSp>
        <p:nvGrpSpPr>
          <p:cNvPr id="78" name="组合 77"/>
          <p:cNvGrpSpPr/>
          <p:nvPr/>
        </p:nvGrpSpPr>
        <p:grpSpPr>
          <a:xfrm>
            <a:off x="440690" y="981075"/>
            <a:ext cx="11364976" cy="5668645"/>
            <a:chOff x="1120" y="2400"/>
            <a:chExt cx="17296" cy="7900"/>
          </a:xfrm>
        </p:grpSpPr>
        <p:sp>
          <p:nvSpPr>
            <p:cNvPr id="2" name="AutoShape 5"/>
            <p:cNvSpPr/>
            <p:nvPr/>
          </p:nvSpPr>
          <p:spPr>
            <a:xfrm>
              <a:off x="1120" y="2400"/>
              <a:ext cx="8240" cy="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自然语言 + 脚本加速 (SQL)</a:t>
              </a:r>
              <a:endParaRPr 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1120" y="3400"/>
              <a:ext cx="8240" cy="1300"/>
            </a:xfrm>
            <a:prstGeom prst="roundRect">
              <a:avLst>
                <a:gd name="adj" fmla="val 0"/>
              </a:avLst>
            </a:prstGeom>
            <a:solidFill>
              <a:schemeClr val="bg1">
                <a:lumMod val="95000"/>
              </a:scheme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280" y="3560"/>
              <a:ext cx="7920" cy="11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以自然语言描述业务概念与规则，在数据库交互等性能瓶颈点嵌入SQL/Python脚本，既保留业务层的易读性与维护性，又通过代码级脚本保障执行效率与准确性。</a:t>
              </a:r>
              <a:endParaRPr lang="en-US" sz="1100"/>
            </a:p>
          </p:txBody>
        </p:sp>
        <p:sp>
          <p:nvSpPr>
            <p:cNvPr id="8" name="AutoShape 8"/>
            <p:cNvSpPr/>
            <p:nvPr/>
          </p:nvSpPr>
          <p:spPr>
            <a:xfrm>
              <a:off x="1120" y="4900"/>
              <a:ext cx="2600" cy="1700"/>
            </a:xfrm>
            <a:prstGeom prst="roundRect">
              <a:avLst>
                <a:gd name="adj" fmla="val 0"/>
              </a:avLst>
            </a:prstGeom>
            <a:solidFill>
              <a:srgbClr val="FFFFFF">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320" y="5100"/>
              <a:ext cx="400" cy="400"/>
            </a:xfrm>
            <a:prstGeom prst="rect">
              <a:avLst/>
            </a:prstGeom>
          </p:spPr>
        </p:pic>
        <p:sp>
          <p:nvSpPr>
            <p:cNvPr id="10" name="AutoShape 10"/>
            <p:cNvSpPr/>
            <p:nvPr/>
          </p:nvSpPr>
          <p:spPr>
            <a:xfrm>
              <a:off x="1800" y="5080"/>
              <a:ext cx="2000" cy="44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场景建模</a:t>
              </a:r>
              <a:endParaRPr lang="en-US" sz="1100"/>
            </a:p>
          </p:txBody>
        </p:sp>
        <p:sp>
          <p:nvSpPr>
            <p:cNvPr id="11" name="AutoShape 11"/>
            <p:cNvSpPr/>
            <p:nvPr/>
          </p:nvSpPr>
          <p:spPr>
            <a:xfrm>
              <a:off x="1320" y="5640"/>
              <a:ext cx="2280" cy="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自然语言沉淀业务资产，贴合业务视角，降低沟通成本。</a:t>
              </a:r>
              <a:endParaRPr lang="en-US" sz="1100"/>
            </a:p>
          </p:txBody>
        </p:sp>
        <p:sp>
          <p:nvSpPr>
            <p:cNvPr id="12" name="AutoShape 12"/>
            <p:cNvSpPr/>
            <p:nvPr/>
          </p:nvSpPr>
          <p:spPr>
            <a:xfrm>
              <a:off x="3940" y="4900"/>
              <a:ext cx="2600" cy="1700"/>
            </a:xfrm>
            <a:prstGeom prst="roundRect">
              <a:avLst>
                <a:gd name="adj" fmla="val 0"/>
              </a:avLst>
            </a:prstGeom>
            <a:solidFill>
              <a:srgbClr val="FFFFFF">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40" y="5100"/>
              <a:ext cx="400" cy="400"/>
            </a:xfrm>
            <a:prstGeom prst="rect">
              <a:avLst/>
            </a:prstGeom>
          </p:spPr>
        </p:pic>
        <p:sp>
          <p:nvSpPr>
            <p:cNvPr id="14" name="AutoShape 14"/>
            <p:cNvSpPr/>
            <p:nvPr/>
          </p:nvSpPr>
          <p:spPr>
            <a:xfrm>
              <a:off x="4620" y="5080"/>
              <a:ext cx="2000" cy="44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双模</a:t>
              </a:r>
              <a:r>
                <a:rPr lang="zh-CN" alt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互</a:t>
              </a:r>
              <a:r>
                <a:rPr lang="zh-CN" alt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检</a:t>
              </a:r>
              <a:endParaRPr lang="zh-CN" alt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4140" y="5640"/>
              <a:ext cx="2280" cy="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GLM生成+Deepseek校验，双模型互检提升资产质量。</a:t>
              </a:r>
              <a:endParaRPr lang="en-US" sz="1100"/>
            </a:p>
          </p:txBody>
        </p:sp>
        <p:sp>
          <p:nvSpPr>
            <p:cNvPr id="16" name="AutoShape 16"/>
            <p:cNvSpPr/>
            <p:nvPr/>
          </p:nvSpPr>
          <p:spPr>
            <a:xfrm>
              <a:off x="6760" y="4900"/>
              <a:ext cx="2600" cy="1700"/>
            </a:xfrm>
            <a:prstGeom prst="roundRect">
              <a:avLst>
                <a:gd name="adj" fmla="val 0"/>
              </a:avLst>
            </a:prstGeom>
            <a:solidFill>
              <a:srgbClr val="FFFFFF">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60" y="5100"/>
              <a:ext cx="400" cy="400"/>
            </a:xfrm>
            <a:prstGeom prst="rect">
              <a:avLst/>
            </a:prstGeom>
          </p:spPr>
        </p:pic>
        <p:sp>
          <p:nvSpPr>
            <p:cNvPr id="18" name="AutoShape 18"/>
            <p:cNvSpPr/>
            <p:nvPr/>
          </p:nvSpPr>
          <p:spPr>
            <a:xfrm>
              <a:off x="7440" y="5080"/>
              <a:ext cx="2000" cy="44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自动验真</a:t>
              </a:r>
              <a:endParaRPr lang="en-US" sz="1100"/>
            </a:p>
          </p:txBody>
        </p:sp>
        <p:sp>
          <p:nvSpPr>
            <p:cNvPr id="19" name="AutoShape 19"/>
            <p:cNvSpPr/>
            <p:nvPr/>
          </p:nvSpPr>
          <p:spPr>
            <a:xfrm>
              <a:off x="6960" y="5640"/>
              <a:ext cx="2280" cy="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自动生成测试用例，对生成的本体进行全量逻辑验证。</a:t>
              </a:r>
              <a:endParaRPr lang="en-US" sz="1100"/>
            </a:p>
          </p:txBody>
        </p:sp>
        <p:sp>
          <p:nvSpPr>
            <p:cNvPr id="20" name="AutoShape 20"/>
            <p:cNvSpPr/>
            <p:nvPr/>
          </p:nvSpPr>
          <p:spPr>
            <a:xfrm>
              <a:off x="1120" y="6900"/>
              <a:ext cx="3960" cy="1700"/>
            </a:xfrm>
            <a:prstGeom prst="roundRect">
              <a:avLst>
                <a:gd name="adj" fmla="val 0"/>
              </a:avLst>
            </a:prstGeom>
            <a:solidFill>
              <a:srgbClr val="22C55E">
                <a:alpha val="6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1280" y="7040"/>
              <a:ext cx="3720" cy="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核心优势：业务友好</a:t>
              </a:r>
              <a:endParaRPr lang="en-US" sz="1100"/>
            </a:p>
            <a:p>
              <a:pPr marL="0" indent="0" algn="l">
                <a:lnSpc>
                  <a:spcPct val="108000"/>
                </a:lnSpc>
              </a:pPr>
              <a:r>
                <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自然语言贴近业务思维，易于理解维护；关键节点脚本精确控制，避免纯NLP的效率损耗。</a:t>
              </a:r>
              <a:endPar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2"/>
            <p:cNvSpPr/>
            <p:nvPr/>
          </p:nvSpPr>
          <p:spPr>
            <a:xfrm>
              <a:off x="5400" y="6900"/>
              <a:ext cx="3960" cy="1700"/>
            </a:xfrm>
            <a:prstGeom prst="roundRect">
              <a:avLst>
                <a:gd name="adj" fmla="val 0"/>
              </a:avLst>
            </a:prstGeom>
            <a:solidFill>
              <a:srgbClr val="EF4444">
                <a:alpha val="6000"/>
              </a:srgbClr>
            </a:solidFill>
            <a:ln w="12700" cap="flat" cmpd="sng">
              <a:solidFill>
                <a:srgbClr val="EF4444">
                  <a:alpha val="2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5560" y="7040"/>
              <a:ext cx="3720" cy="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潜在挑战：精准与效率</a:t>
              </a:r>
              <a:endParaRPr lang="en-US" sz="1100"/>
            </a:p>
            <a:p>
              <a:pPr marL="0" indent="0" algn="l">
                <a:lnSpc>
                  <a:spcPct val="108000"/>
                </a:lnSpc>
              </a:pPr>
              <a:r>
                <a:rPr lang="zh-CN"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任然存在幻觉，尤其是</a:t>
              </a:r>
              <a:r>
                <a:rPr lang="en-US" sz="120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SQL自动生成存在准确性风险</a:t>
              </a:r>
              <a:r>
                <a:rPr lang="zh-CN" altLang="en-US" sz="120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自然语言解析仍有延迟</a:t>
              </a:r>
              <a:r>
                <a:rPr lang="zh-CN"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需建立严格的人工复核与校验机制</a:t>
              </a:r>
              <a:r>
                <a:rPr lang="zh-CN"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，运行时完全依赖</a:t>
              </a:r>
              <a:r>
                <a:rPr lang="zh-CN"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大模型。</a:t>
              </a:r>
              <a:endParaRPr lang="zh-CN"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4" name="Connector 24"/>
            <p:cNvCxnSpPr/>
            <p:nvPr/>
          </p:nvCxnSpPr>
          <p:spPr>
            <a:xfrm rot="5388540">
              <a:off x="6600" y="5390"/>
              <a:ext cx="6000" cy="20"/>
            </a:xfrm>
            <a:prstGeom prst="straightConnector1">
              <a:avLst/>
            </a:prstGeom>
            <a:solidFill>
              <a:srgbClr val="DEE0E3">
                <a:alpha val="100000"/>
              </a:srgbClr>
            </a:solidFill>
            <a:ln w="12700" cap="flat" cmpd="sng">
              <a:solidFill>
                <a:srgbClr val="A12D2D">
                  <a:alpha val="30000"/>
                </a:srgbClr>
              </a:solidFill>
              <a:prstDash val="solid"/>
              <a:round/>
              <a:headEnd type="none" w="med" len="med"/>
              <a:tailEnd type="none" w="med" len="med"/>
            </a:ln>
          </p:spPr>
        </p:cxnSp>
        <p:sp>
          <p:nvSpPr>
            <p:cNvPr id="25" name="AutoShape 25"/>
            <p:cNvSpPr/>
            <p:nvPr/>
          </p:nvSpPr>
          <p:spPr>
            <a:xfrm>
              <a:off x="9840" y="2400"/>
              <a:ext cx="8576" cy="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7+1语言 + </a:t>
              </a:r>
              <a:r>
                <a:rPr lang="zh-CN" alt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应用框架驱动</a:t>
              </a:r>
              <a:endParaRPr lang="zh-CN" alt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6" name="AutoShape 26"/>
            <p:cNvSpPr/>
            <p:nvPr/>
          </p:nvSpPr>
          <p:spPr>
            <a:xfrm>
              <a:off x="9840" y="3400"/>
              <a:ext cx="8240" cy="1300"/>
            </a:xfrm>
            <a:prstGeom prst="roundRect">
              <a:avLst>
                <a:gd name="adj" fmla="val 0"/>
              </a:avLst>
            </a:prstGeom>
            <a:solidFill>
              <a:schemeClr val="bg1">
                <a:lumMod val="95000"/>
              </a:scheme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10000" y="3560"/>
              <a:ext cx="7920" cy="11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将专家经验与领域语料输入大模型，按“7+1语言”框架自动生成本体资产；通过“生成-推理-修正”的闭环迭代机制优化质量，最终输出结构化资产供专家终审。</a:t>
              </a:r>
              <a:endParaRPr lang="en-US" sz="1100"/>
            </a:p>
          </p:txBody>
        </p:sp>
        <p:sp>
          <p:nvSpPr>
            <p:cNvPr id="28" name="AutoShape 28"/>
            <p:cNvSpPr/>
            <p:nvPr/>
          </p:nvSpPr>
          <p:spPr>
            <a:xfrm>
              <a:off x="9840" y="4900"/>
              <a:ext cx="1960" cy="1700"/>
            </a:xfrm>
            <a:prstGeom prst="roundRect">
              <a:avLst>
                <a:gd name="adj" fmla="val 0"/>
              </a:avLst>
            </a:prstGeom>
            <a:solidFill>
              <a:srgbClr val="FFFFFF">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000" y="5100"/>
              <a:ext cx="360" cy="360"/>
            </a:xfrm>
            <a:prstGeom prst="rect">
              <a:avLst/>
            </a:prstGeom>
          </p:spPr>
        </p:pic>
        <p:sp>
          <p:nvSpPr>
            <p:cNvPr id="30" name="AutoShape 30"/>
            <p:cNvSpPr/>
            <p:nvPr/>
          </p:nvSpPr>
          <p:spPr>
            <a:xfrm>
              <a:off x="10440" y="5080"/>
              <a:ext cx="1400" cy="44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注入</a:t>
              </a:r>
              <a:endParaRPr lang="en-US" sz="1100"/>
            </a:p>
          </p:txBody>
        </p:sp>
        <p:sp>
          <p:nvSpPr>
            <p:cNvPr id="31" name="AutoShape 31"/>
            <p:cNvSpPr/>
            <p:nvPr/>
          </p:nvSpPr>
          <p:spPr>
            <a:xfrm>
              <a:off x="10000" y="5640"/>
              <a:ext cx="1800" cy="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专家经验</a:t>
              </a:r>
              <a:b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领域语料投喂</a:t>
              </a:r>
              <a:endParaRPr lang="en-US" sz="1100"/>
            </a:p>
          </p:txBody>
        </p:sp>
        <p:sp>
          <p:nvSpPr>
            <p:cNvPr id="32" name="AutoShape 32"/>
            <p:cNvSpPr/>
            <p:nvPr/>
          </p:nvSpPr>
          <p:spPr>
            <a:xfrm>
              <a:off x="11940" y="4900"/>
              <a:ext cx="1960" cy="1700"/>
            </a:xfrm>
            <a:prstGeom prst="roundRect">
              <a:avLst>
                <a:gd name="adj" fmla="val 0"/>
              </a:avLst>
            </a:prstGeom>
            <a:solidFill>
              <a:srgbClr val="FFFFFF">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pic>
          <p:nvPicPr>
            <p:cNvPr id="33" name="Picture 3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2100" y="5100"/>
              <a:ext cx="360" cy="360"/>
            </a:xfrm>
            <a:prstGeom prst="rect">
              <a:avLst/>
            </a:prstGeom>
          </p:spPr>
        </p:pic>
        <p:sp>
          <p:nvSpPr>
            <p:cNvPr id="34" name="AutoShape 34"/>
            <p:cNvSpPr/>
            <p:nvPr/>
          </p:nvSpPr>
          <p:spPr>
            <a:xfrm>
              <a:off x="12540" y="5080"/>
              <a:ext cx="1400" cy="44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生成</a:t>
              </a:r>
              <a:endParaRPr lang="en-US" sz="1100"/>
            </a:p>
          </p:txBody>
        </p:sp>
        <p:sp>
          <p:nvSpPr>
            <p:cNvPr id="35" name="AutoShape 35"/>
            <p:cNvSpPr/>
            <p:nvPr/>
          </p:nvSpPr>
          <p:spPr>
            <a:xfrm>
              <a:off x="12100" y="5640"/>
              <a:ext cx="1800" cy="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7+1框架</a:t>
              </a:r>
              <a:b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自动构建本体</a:t>
              </a:r>
              <a:endParaRPr lang="en-US" sz="1100"/>
            </a:p>
          </p:txBody>
        </p:sp>
        <p:sp>
          <p:nvSpPr>
            <p:cNvPr id="3" name="AutoShape 36"/>
            <p:cNvSpPr/>
            <p:nvPr/>
          </p:nvSpPr>
          <p:spPr>
            <a:xfrm>
              <a:off x="14040" y="4900"/>
              <a:ext cx="1960" cy="1700"/>
            </a:xfrm>
            <a:prstGeom prst="roundRect">
              <a:avLst>
                <a:gd name="adj" fmla="val 0"/>
              </a:avLst>
            </a:prstGeom>
            <a:solidFill>
              <a:srgbClr val="FFFFFF">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pic>
          <p:nvPicPr>
            <p:cNvPr id="52" name="Picture 37"/>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4200" y="5100"/>
              <a:ext cx="360" cy="360"/>
            </a:xfrm>
            <a:prstGeom prst="rect">
              <a:avLst/>
            </a:prstGeom>
          </p:spPr>
        </p:pic>
        <p:sp>
          <p:nvSpPr>
            <p:cNvPr id="53" name="AutoShape 38"/>
            <p:cNvSpPr/>
            <p:nvPr/>
          </p:nvSpPr>
          <p:spPr>
            <a:xfrm>
              <a:off x="14640" y="5080"/>
              <a:ext cx="1400" cy="44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迭代</a:t>
              </a:r>
              <a:endParaRPr lang="en-US" sz="1100"/>
            </a:p>
          </p:txBody>
        </p:sp>
        <p:sp>
          <p:nvSpPr>
            <p:cNvPr id="56" name="AutoShape 39"/>
            <p:cNvSpPr/>
            <p:nvPr/>
          </p:nvSpPr>
          <p:spPr>
            <a:xfrm>
              <a:off x="14200" y="5640"/>
              <a:ext cx="1800" cy="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推理反馈</a:t>
              </a:r>
              <a:b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修正优化循环</a:t>
              </a:r>
              <a:endParaRPr lang="en-US" sz="1100"/>
            </a:p>
          </p:txBody>
        </p:sp>
        <p:sp>
          <p:nvSpPr>
            <p:cNvPr id="61" name="AutoShape 40"/>
            <p:cNvSpPr/>
            <p:nvPr/>
          </p:nvSpPr>
          <p:spPr>
            <a:xfrm>
              <a:off x="16140" y="4900"/>
              <a:ext cx="1960" cy="1700"/>
            </a:xfrm>
            <a:prstGeom prst="roundRect">
              <a:avLst>
                <a:gd name="adj" fmla="val 0"/>
              </a:avLst>
            </a:prstGeom>
            <a:solidFill>
              <a:srgbClr val="FFFFFF">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pic>
          <p:nvPicPr>
            <p:cNvPr id="62" name="Picture 41"/>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6300" y="5100"/>
              <a:ext cx="360" cy="360"/>
            </a:xfrm>
            <a:prstGeom prst="rect">
              <a:avLst/>
            </a:prstGeom>
          </p:spPr>
        </p:pic>
        <p:sp>
          <p:nvSpPr>
            <p:cNvPr id="68" name="AutoShape 42"/>
            <p:cNvSpPr/>
            <p:nvPr/>
          </p:nvSpPr>
          <p:spPr>
            <a:xfrm>
              <a:off x="16740" y="5080"/>
              <a:ext cx="1400" cy="44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04 终审</a:t>
              </a:r>
              <a:endParaRPr lang="en-US" sz="1100"/>
            </a:p>
          </p:txBody>
        </p:sp>
        <p:sp>
          <p:nvSpPr>
            <p:cNvPr id="69" name="AutoShape 43"/>
            <p:cNvSpPr/>
            <p:nvPr/>
          </p:nvSpPr>
          <p:spPr>
            <a:xfrm>
              <a:off x="16300" y="5640"/>
              <a:ext cx="1800" cy="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MD文档</a:t>
              </a:r>
              <a:b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专家人工复核</a:t>
              </a:r>
              <a:endParaRPr lang="en-US" sz="1100"/>
            </a:p>
          </p:txBody>
        </p:sp>
        <p:sp>
          <p:nvSpPr>
            <p:cNvPr id="70" name="AutoShape 44"/>
            <p:cNvSpPr/>
            <p:nvPr/>
          </p:nvSpPr>
          <p:spPr>
            <a:xfrm>
              <a:off x="9840" y="6900"/>
              <a:ext cx="3960" cy="1700"/>
            </a:xfrm>
            <a:prstGeom prst="roundRect">
              <a:avLst>
                <a:gd name="adj" fmla="val 0"/>
              </a:avLst>
            </a:prstGeom>
            <a:solidFill>
              <a:srgbClr val="22C55E">
                <a:alpha val="6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71" name="AutoShape 45"/>
            <p:cNvSpPr/>
            <p:nvPr/>
          </p:nvSpPr>
          <p:spPr>
            <a:xfrm>
              <a:off x="10000" y="7040"/>
              <a:ext cx="3720" cy="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核心优势：高度智能</a:t>
              </a:r>
              <a:endParaRPr lang="en-US" sz="1100"/>
            </a:p>
            <a:p>
              <a:pPr marL="0" indent="0" algn="l">
                <a:lnSpc>
                  <a:spcPct val="108000"/>
                </a:lnSpc>
              </a:pPr>
              <a:r>
                <a:rPr lang="zh-CN"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完全可控，</a:t>
              </a:r>
              <a:r>
                <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自动化程度高，快速盘活隐性专家知识；通过闭环迭代持续优化本体质量，大幅降低人工构建成本</a:t>
              </a:r>
              <a:r>
                <a:rPr lang="zh-CN"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，对业务专家友好，运行时可不依赖大模型，本体资产可复用与</a:t>
              </a:r>
              <a:r>
                <a:rPr lang="zh-CN"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逐渐增强</a:t>
              </a:r>
              <a:endParaRPr lang="zh-CN"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2" name="AutoShape 46"/>
            <p:cNvSpPr/>
            <p:nvPr/>
          </p:nvSpPr>
          <p:spPr>
            <a:xfrm>
              <a:off x="14120" y="6900"/>
              <a:ext cx="3960" cy="1700"/>
            </a:xfrm>
            <a:prstGeom prst="roundRect">
              <a:avLst>
                <a:gd name="adj" fmla="val 0"/>
              </a:avLst>
            </a:prstGeom>
            <a:solidFill>
              <a:srgbClr val="EF4444">
                <a:alpha val="6000"/>
              </a:srgbClr>
            </a:solidFill>
            <a:ln w="12700" cap="flat" cmpd="sng">
              <a:solidFill>
                <a:srgbClr val="EF4444">
                  <a:alpha val="20000"/>
                </a:srgbClr>
              </a:solidFill>
              <a:prstDash val="solid"/>
              <a:round/>
            </a:ln>
          </p:spPr>
          <p:txBody>
            <a:bodyPr vert="horz" wrap="square" lIns="63500" tIns="63500" rIns="63500" bIns="63500" rtlCol="0" anchor="ctr"/>
            <a:lstStyle/>
            <a:p>
              <a:pPr algn="ctr">
                <a:defRPr/>
              </a:pPr>
            </a:p>
          </p:txBody>
        </p:sp>
        <p:sp>
          <p:nvSpPr>
            <p:cNvPr id="73" name="AutoShape 47"/>
            <p:cNvSpPr/>
            <p:nvPr/>
          </p:nvSpPr>
          <p:spPr>
            <a:xfrm>
              <a:off x="14280" y="7040"/>
              <a:ext cx="3720" cy="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潜在挑战：</a:t>
              </a:r>
              <a:r>
                <a:rPr lang="zh-CN" altLang="en-US" sz="14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依赖</a:t>
              </a:r>
              <a:r>
                <a:rPr lang="en-US" sz="14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与成本</a:t>
              </a:r>
              <a:endParaRPr lang="en-US" sz="1100"/>
            </a:p>
            <a:p>
              <a:pPr marL="0" indent="0" algn="l">
                <a:lnSpc>
                  <a:spcPct val="108000"/>
                </a:lnSpc>
              </a:pPr>
              <a:r>
                <a:rPr lang="zh-CN"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本体构建难度高，</a:t>
              </a:r>
              <a:r>
                <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生成质量依赖大模型能力与语料质量</a:t>
              </a:r>
              <a:r>
                <a:rPr lang="zh-CN"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及本体构建人员</a:t>
              </a:r>
              <a:r>
                <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；为保证准确性，需投入较高的测试验证与人工审核成本</a:t>
              </a:r>
              <a:r>
                <a:rPr lang="zh-CN"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zh-CN" alt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4" name="AutoShape 48"/>
            <p:cNvSpPr/>
            <p:nvPr/>
          </p:nvSpPr>
          <p:spPr>
            <a:xfrm>
              <a:off x="1120" y="8900"/>
              <a:ext cx="16960" cy="1400"/>
            </a:xfrm>
            <a:prstGeom prst="roundRect">
              <a:avLst>
                <a:gd name="adj" fmla="val 0"/>
              </a:avLst>
            </a:prstGeom>
            <a:solidFill>
              <a:schemeClr val="bg1">
                <a:lumMod val="95000"/>
              </a:schemeClr>
            </a:solidFill>
            <a:ln w="12700" cap="flat" cmpd="sng">
              <a:solidFill>
                <a:srgbClr val="A12D2D">
                  <a:alpha val="15000"/>
                </a:srgbClr>
              </a:solidFill>
              <a:prstDash val="solid"/>
              <a:round/>
            </a:ln>
          </p:spPr>
          <p:txBody>
            <a:bodyPr vert="horz" wrap="square" lIns="63500" tIns="63500" rIns="63500" bIns="63500" rtlCol="0" anchor="ctr"/>
            <a:lstStyle/>
            <a:p>
              <a:pPr algn="ctr">
                <a:defRPr/>
              </a:pPr>
            </a:p>
          </p:txBody>
        </p:sp>
        <p:pic>
          <p:nvPicPr>
            <p:cNvPr id="75" name="Picture 49"/>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440" y="9360"/>
              <a:ext cx="480" cy="480"/>
            </a:xfrm>
            <a:prstGeom prst="rect">
              <a:avLst/>
            </a:prstGeom>
          </p:spPr>
        </p:pic>
        <p:sp>
          <p:nvSpPr>
            <p:cNvPr id="76" name="AutoShape 50"/>
            <p:cNvSpPr/>
            <p:nvPr/>
          </p:nvSpPr>
          <p:spPr>
            <a:xfrm>
              <a:off x="2080" y="9000"/>
              <a:ext cx="15800" cy="12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A12D2D"/>
                  </a:solidFill>
                  <a:latin typeface="Noto Sans SC" panose="020B0200000000000000" charset="-122"/>
                  <a:ea typeface="Noto Sans SC" panose="020B0200000000000000" charset="-122"/>
                  <a:cs typeface="Noto Sans SC" panose="020B0200000000000000" charset="-122"/>
                  <a:sym typeface="Noto Sans SC" panose="020B0200000000000000" charset="-122"/>
                </a:rPr>
                <a:t>共同目标与价值：</a:t>
              </a:r>
              <a:r>
                <a:rPr lang="zh-CN" alt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二者均</a:t>
              </a: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是以“达到或超越人类专家在特定业务场景下的知识建模水平”为核心目标。</a:t>
              </a:r>
              <a:endParaRPr lang="en-US" alt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7" name="AutoShape 51"/>
            <p:cNvSpPr/>
            <p:nvPr/>
          </p:nvSpPr>
          <p:spPr>
            <a:xfrm>
              <a:off x="12297" y="6604"/>
              <a:ext cx="2240" cy="480"/>
            </a:xfrm>
            <a:prstGeom prst="rect">
              <a:avLst/>
            </a:prstGeom>
            <a:noFill/>
            <a:ln w="12700">
              <a:noFill/>
              <a:prstDash val="solid"/>
            </a:ln>
          </p:spPr>
          <p:txBody>
            <a:bodyPr wrap="none" lIns="0" tIns="0" rIns="0" bIns="0" rtlCol="0" anchor="t"/>
            <a:lstStyle/>
            <a:p>
              <a:pPr algn="l">
                <a:defRPr/>
              </a:p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a:t>7+1语义体系：构建智能业务本体的技术基石</a:t>
            </a:r>
            <a:endParaRPr lang="zh-CN" altLang="en-US"/>
          </a:p>
        </p:txBody>
      </p:sp>
      <p:grpSp>
        <p:nvGrpSpPr>
          <p:cNvPr id="38" name="组合 37"/>
          <p:cNvGrpSpPr/>
          <p:nvPr/>
        </p:nvGrpSpPr>
        <p:grpSpPr>
          <a:xfrm>
            <a:off x="697230" y="837565"/>
            <a:ext cx="10769600" cy="5316855"/>
            <a:chOff x="1120" y="957"/>
            <a:chExt cx="16960" cy="9400"/>
          </a:xfrm>
        </p:grpSpPr>
        <p:sp>
          <p:nvSpPr>
            <p:cNvPr id="3" name="AutoShape 3"/>
            <p:cNvSpPr/>
            <p:nvPr/>
          </p:nvSpPr>
          <p:spPr>
            <a:xfrm>
              <a:off x="1120" y="957"/>
              <a:ext cx="16960" cy="1700"/>
            </a:xfrm>
            <a:prstGeom prst="roundRect">
              <a:avLst>
                <a:gd name="adj" fmla="val 0"/>
              </a:avLst>
            </a:prstGeom>
            <a:solidFill>
              <a:schemeClr val="bg1">
                <a:lumMod val="95000"/>
              </a:schemeClr>
            </a:solidFill>
            <a:ln w="12700" cap="flat" cmpd="sng">
              <a:solidFill>
                <a:srgbClr val="A12D2D">
                  <a:alpha val="2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400" y="1157"/>
              <a:ext cx="16400" cy="48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A12D2D"/>
                  </a:solidFill>
                  <a:latin typeface="Noto Sans SC" panose="020B0200000000000000" charset="-122"/>
                  <a:ea typeface="Noto Sans SC" panose="020B0200000000000000" charset="-122"/>
                  <a:cs typeface="Noto Sans SC" panose="020B0200000000000000" charset="-122"/>
                  <a:sym typeface="Noto Sans SC" panose="020B0200000000000000" charset="-122"/>
                </a:rPr>
                <a:t>本体增强AI语义的目标与评估</a:t>
              </a:r>
              <a:endParaRPr lang="en-US" sz="1100"/>
            </a:p>
          </p:txBody>
        </p:sp>
        <p:sp>
          <p:nvSpPr>
            <p:cNvPr id="5" name="AutoShape 5"/>
            <p:cNvSpPr/>
            <p:nvPr/>
          </p:nvSpPr>
          <p:spPr>
            <a:xfrm>
              <a:off x="1400" y="1697"/>
              <a:ext cx="7637" cy="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a:t>
              </a: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增强知识表示与推理、提升可解释性、实现可控生成、促进人机协同。</a:t>
              </a:r>
              <a:endParaRPr lang="en-US" sz="1100"/>
            </a:p>
          </p:txBody>
        </p:sp>
        <p:sp>
          <p:nvSpPr>
            <p:cNvPr id="6" name="AutoShape 6"/>
            <p:cNvSpPr/>
            <p:nvPr/>
          </p:nvSpPr>
          <p:spPr>
            <a:xfrm>
              <a:off x="9800" y="1657"/>
              <a:ext cx="8000" cy="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核心评估：</a:t>
              </a: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知识注入效果、推理能力、生成内容质量、语义一致性、任务性能提升。</a:t>
              </a:r>
              <a:endParaRPr lang="en-US" sz="1100"/>
            </a:p>
          </p:txBody>
        </p:sp>
        <p:sp>
          <p:nvSpPr>
            <p:cNvPr id="7" name="AutoShape 7"/>
            <p:cNvSpPr/>
            <p:nvPr/>
          </p:nvSpPr>
          <p:spPr>
            <a:xfrm>
              <a:off x="9300" y="2817"/>
              <a:ext cx="600" cy="400"/>
            </a:xfrm>
            <a:prstGeom prst="downArrow">
              <a:avLst/>
            </a:prstGeom>
            <a:solidFill>
              <a:srgbClr val="A12D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120" y="3357"/>
              <a:ext cx="16960" cy="2200"/>
            </a:xfrm>
            <a:prstGeom prst="roundRect">
              <a:avLst>
                <a:gd name="adj" fmla="val 0"/>
              </a:avLst>
            </a:prstGeom>
            <a:solidFill>
              <a:srgbClr val="F9F9F9">
                <a:alpha val="100000"/>
              </a:srgbClr>
            </a:solidFill>
            <a:ln w="12700" cap="flat" cmpd="sng">
              <a:solidFill>
                <a:srgbClr val="DDDDDD">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9300" y="5717"/>
              <a:ext cx="600" cy="400"/>
            </a:xfrm>
            <a:prstGeom prst="downArrow">
              <a:avLst/>
            </a:prstGeom>
            <a:solidFill>
              <a:srgbClr val="A12D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120" y="6257"/>
              <a:ext cx="16960" cy="1800"/>
            </a:xfrm>
            <a:prstGeom prst="roundRect">
              <a:avLst>
                <a:gd name="adj" fmla="val 0"/>
              </a:avLst>
            </a:prstGeom>
            <a:solidFill>
              <a:srgbClr val="F9F9F9">
                <a:alpha val="100000"/>
              </a:srgbClr>
            </a:solidFill>
            <a:ln w="12700" cap="flat" cmpd="sng">
              <a:solidFill>
                <a:srgbClr val="DDDDDD">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9300" y="8217"/>
              <a:ext cx="600" cy="400"/>
            </a:xfrm>
            <a:prstGeom prst="downArrow">
              <a:avLst/>
            </a:prstGeom>
            <a:solidFill>
              <a:srgbClr val="A12D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120" y="8757"/>
              <a:ext cx="16960" cy="1600"/>
            </a:xfrm>
            <a:prstGeom prst="roundRect">
              <a:avLst>
                <a:gd name="adj" fmla="val 0"/>
              </a:avLst>
            </a:prstGeom>
            <a:solidFill>
              <a:srgbClr val="F9F9F9">
                <a:alpha val="100000"/>
              </a:srgbClr>
            </a:solidFill>
            <a:ln w="12700" cap="flat" cmpd="sng">
              <a:solidFill>
                <a:srgbClr val="DDDDDD">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1400" y="8897"/>
              <a:ext cx="16000" cy="44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A12D2D"/>
                  </a:solidFill>
                  <a:latin typeface="Noto Sans SC" panose="020B0200000000000000" charset="-122"/>
                  <a:ea typeface="Noto Sans SC" panose="020B0200000000000000" charset="-122"/>
                  <a:cs typeface="Noto Sans SC" panose="020B0200000000000000" charset="-122"/>
                  <a:sym typeface="Noto Sans SC" panose="020B0200000000000000" charset="-122"/>
                </a:rPr>
                <a:t>01 基础层：资源描述与操作</a:t>
              </a:r>
              <a:endParaRPr lang="en-US" sz="1100"/>
            </a:p>
          </p:txBody>
        </p:sp>
        <p:sp>
          <p:nvSpPr>
            <p:cNvPr id="14" name="AutoShape 14"/>
            <p:cNvSpPr/>
            <p:nvPr/>
          </p:nvSpPr>
          <p:spPr>
            <a:xfrm>
              <a:off x="1400" y="9417"/>
              <a:ext cx="7800" cy="800"/>
            </a:xfrm>
            <a:prstGeom prst="roundRect">
              <a:avLst>
                <a:gd name="adj" fmla="val 0"/>
              </a:avLst>
            </a:prstGeom>
            <a:solidFill>
              <a:srgbClr val="FFFFFF">
                <a:alpha val="100000"/>
              </a:srgbClr>
            </a:solidFill>
            <a:ln w="12700" cap="flat" cmpd="sng">
              <a:solidFill>
                <a:srgbClr val="A12D2D">
                  <a:alpha val="30000"/>
                </a:srgbClr>
              </a:solidFill>
              <a:prstDash val="solid"/>
              <a:round/>
            </a:ln>
          </p:spPr>
          <p:txBody>
            <a:bodyPr vert="horz" lIns="63500" tIns="63500" rIns="63500" bIns="63500" rtlCol="0" anchor="ctr"/>
            <a:lstStyle/>
            <a:p>
              <a:pPr algn="ctr">
                <a:defRPr/>
              </a:pPr>
            </a:p>
          </p:txBody>
        </p:sp>
        <p:sp>
          <p:nvSpPr>
            <p:cNvPr id="15" name="AutoShape 15"/>
            <p:cNvSpPr/>
            <p:nvPr/>
          </p:nvSpPr>
          <p:spPr>
            <a:xfrm>
              <a:off x="1600" y="9457"/>
              <a:ext cx="7400" cy="32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RDF 业务资源描述</a:t>
              </a:r>
              <a:endParaRPr lang="en-US" sz="1100"/>
            </a:p>
          </p:txBody>
        </p:sp>
        <p:sp>
          <p:nvSpPr>
            <p:cNvPr id="16" name="AutoShape 16"/>
            <p:cNvSpPr/>
            <p:nvPr/>
          </p:nvSpPr>
          <p:spPr>
            <a:xfrm>
              <a:off x="1600" y="9817"/>
              <a:ext cx="7400" cy="4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基于图模型三元组，定义业务实体、属性与关系，是数据基石。</a:t>
              </a:r>
              <a:endParaRPr lang="en-US" sz="1100"/>
            </a:p>
          </p:txBody>
        </p:sp>
        <p:sp>
          <p:nvSpPr>
            <p:cNvPr id="17" name="AutoShape 17"/>
            <p:cNvSpPr/>
            <p:nvPr/>
          </p:nvSpPr>
          <p:spPr>
            <a:xfrm>
              <a:off x="9800" y="9417"/>
              <a:ext cx="7800" cy="800"/>
            </a:xfrm>
            <a:prstGeom prst="roundRect">
              <a:avLst>
                <a:gd name="adj" fmla="val 0"/>
              </a:avLst>
            </a:prstGeom>
            <a:solidFill>
              <a:srgbClr val="FFFFFF">
                <a:alpha val="100000"/>
              </a:srgbClr>
            </a:solidFill>
            <a:ln w="12700" cap="flat" cmpd="sng">
              <a:solidFill>
                <a:srgbClr val="A12D2D">
                  <a:alpha val="30000"/>
                </a:srgbClr>
              </a:solidFill>
              <a:prstDash val="solid"/>
              <a:round/>
            </a:ln>
          </p:spPr>
          <p:txBody>
            <a:bodyPr vert="horz" lIns="63500" tIns="63500" rIns="63500" bIns="63500" rtlCol="0" anchor="ctr"/>
            <a:lstStyle/>
            <a:p>
              <a:pPr algn="ctr">
                <a:defRPr/>
              </a:pPr>
            </a:p>
          </p:txBody>
        </p:sp>
        <p:sp>
          <p:nvSpPr>
            <p:cNvPr id="18" name="AutoShape 18"/>
            <p:cNvSpPr/>
            <p:nvPr/>
          </p:nvSpPr>
          <p:spPr>
            <a:xfrm>
              <a:off x="10000" y="9457"/>
              <a:ext cx="7400" cy="32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SPARQL 交互查询语言</a:t>
              </a:r>
              <a:endParaRPr lang="en-US" sz="1100"/>
            </a:p>
          </p:txBody>
        </p:sp>
        <p:sp>
          <p:nvSpPr>
            <p:cNvPr id="19" name="AutoShape 19"/>
            <p:cNvSpPr/>
            <p:nvPr/>
          </p:nvSpPr>
          <p:spPr>
            <a:xfrm>
              <a:off x="10000" y="9817"/>
              <a:ext cx="7400" cy="4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标准查询语言，支持语义数据增删改查，是交互核心接口。</a:t>
              </a:r>
              <a:endParaRPr lang="en-US" sz="1100"/>
            </a:p>
          </p:txBody>
        </p:sp>
        <p:sp>
          <p:nvSpPr>
            <p:cNvPr id="20" name="AutoShape 20"/>
            <p:cNvSpPr/>
            <p:nvPr/>
          </p:nvSpPr>
          <p:spPr>
            <a:xfrm>
              <a:off x="1400" y="6457"/>
              <a:ext cx="16000" cy="48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A12D2D"/>
                  </a:solidFill>
                  <a:latin typeface="Noto Sans SC" panose="020B0200000000000000" charset="-122"/>
                  <a:ea typeface="Noto Sans SC" panose="020B0200000000000000" charset="-122"/>
                  <a:cs typeface="Noto Sans SC" panose="020B0200000000000000" charset="-122"/>
                  <a:sym typeface="Noto Sans SC" panose="020B0200000000000000" charset="-122"/>
                </a:rPr>
                <a:t>02 结构层：知识体系与规范</a:t>
              </a:r>
              <a:endParaRPr lang="en-US" sz="1100"/>
            </a:p>
          </p:txBody>
        </p:sp>
        <p:sp>
          <p:nvSpPr>
            <p:cNvPr id="21" name="AutoShape 21"/>
            <p:cNvSpPr/>
            <p:nvPr/>
          </p:nvSpPr>
          <p:spPr>
            <a:xfrm>
              <a:off x="1400" y="7017"/>
              <a:ext cx="7800" cy="900"/>
            </a:xfrm>
            <a:prstGeom prst="roundRect">
              <a:avLst>
                <a:gd name="adj" fmla="val 0"/>
              </a:avLst>
            </a:prstGeom>
            <a:solidFill>
              <a:srgbClr val="FFFFFF">
                <a:alpha val="100000"/>
              </a:srgbClr>
            </a:solidFill>
            <a:ln w="12700" cap="flat" cmpd="sng">
              <a:solidFill>
                <a:srgbClr val="A12D2D">
                  <a:alpha val="30000"/>
                </a:srgbClr>
              </a:solidFill>
              <a:prstDash val="solid"/>
              <a:round/>
            </a:ln>
          </p:spPr>
          <p:txBody>
            <a:bodyPr vert="horz" lIns="63500" tIns="63500" rIns="63500" bIns="63500" rtlCol="0" anchor="ctr"/>
            <a:lstStyle/>
            <a:p>
              <a:pPr algn="ctr">
                <a:defRPr/>
              </a:pPr>
            </a:p>
          </p:txBody>
        </p:sp>
        <p:sp>
          <p:nvSpPr>
            <p:cNvPr id="22" name="AutoShape 22"/>
            <p:cNvSpPr/>
            <p:nvPr/>
          </p:nvSpPr>
          <p:spPr>
            <a:xfrm>
              <a:off x="1600" y="7097"/>
              <a:ext cx="7400" cy="32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RDFS/OWL2 逻辑约束</a:t>
              </a:r>
              <a:endParaRPr lang="en-US" sz="1100"/>
            </a:p>
          </p:txBody>
        </p:sp>
        <p:sp>
          <p:nvSpPr>
            <p:cNvPr id="23" name="AutoShape 23"/>
            <p:cNvSpPr/>
            <p:nvPr/>
          </p:nvSpPr>
          <p:spPr>
            <a:xfrm>
              <a:off x="1600" y="7457"/>
              <a:ext cx="7400" cy="4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定义类、属性与公理，构建标准化知识分类体系，支持机器推理。</a:t>
              </a:r>
              <a:endParaRPr lang="en-US" sz="1100"/>
            </a:p>
          </p:txBody>
        </p:sp>
        <p:sp>
          <p:nvSpPr>
            <p:cNvPr id="24" name="AutoShape 24"/>
            <p:cNvSpPr/>
            <p:nvPr/>
          </p:nvSpPr>
          <p:spPr>
            <a:xfrm>
              <a:off x="9800" y="7017"/>
              <a:ext cx="7800" cy="900"/>
            </a:xfrm>
            <a:prstGeom prst="roundRect">
              <a:avLst>
                <a:gd name="adj" fmla="val 0"/>
              </a:avLst>
            </a:prstGeom>
            <a:solidFill>
              <a:srgbClr val="FFFFFF">
                <a:alpha val="100000"/>
              </a:srgbClr>
            </a:solidFill>
            <a:ln w="12700" cap="flat" cmpd="sng">
              <a:solidFill>
                <a:srgbClr val="A12D2D">
                  <a:alpha val="30000"/>
                </a:srgbClr>
              </a:solidFill>
              <a:prstDash val="solid"/>
              <a:round/>
            </a:ln>
          </p:spPr>
          <p:txBody>
            <a:bodyPr vert="horz" lIns="63500" tIns="63500" rIns="63500" bIns="63500" rtlCol="0" anchor="ctr"/>
            <a:lstStyle/>
            <a:p>
              <a:pPr algn="ctr">
                <a:defRPr/>
              </a:pPr>
            </a:p>
          </p:txBody>
        </p:sp>
        <p:sp>
          <p:nvSpPr>
            <p:cNvPr id="25" name="AutoShape 25"/>
            <p:cNvSpPr/>
            <p:nvPr/>
          </p:nvSpPr>
          <p:spPr>
            <a:xfrm>
              <a:off x="10000" y="7097"/>
              <a:ext cx="7400" cy="32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SKOS 术语协同规范</a:t>
              </a:r>
              <a:endParaRPr lang="en-US" sz="1100"/>
            </a:p>
          </p:txBody>
        </p:sp>
        <p:sp>
          <p:nvSpPr>
            <p:cNvPr id="26" name="AutoShape 26"/>
            <p:cNvSpPr/>
            <p:nvPr/>
          </p:nvSpPr>
          <p:spPr>
            <a:xfrm>
              <a:off x="10000" y="7457"/>
              <a:ext cx="7400" cy="4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统一跨系统业务术语，消除歧义，支撑精准语义检索与数据互认。</a:t>
              </a:r>
              <a:endParaRPr lang="en-US" sz="1100"/>
            </a:p>
          </p:txBody>
        </p:sp>
        <p:sp>
          <p:nvSpPr>
            <p:cNvPr id="27" name="AutoShape 27"/>
            <p:cNvSpPr/>
            <p:nvPr/>
          </p:nvSpPr>
          <p:spPr>
            <a:xfrm>
              <a:off x="1400" y="3557"/>
              <a:ext cx="8000" cy="48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A12D2D"/>
                  </a:solidFill>
                  <a:latin typeface="Noto Sans SC" panose="020B0200000000000000" charset="-122"/>
                  <a:ea typeface="Noto Sans SC" panose="020B0200000000000000" charset="-122"/>
                  <a:cs typeface="Noto Sans SC" panose="020B0200000000000000" charset="-122"/>
                  <a:sym typeface="Noto Sans SC" panose="020B0200000000000000" charset="-122"/>
                </a:rPr>
                <a:t>03 动态层：业务逻辑与流程</a:t>
              </a:r>
              <a:endParaRPr lang="en-US" sz="1100"/>
            </a:p>
          </p:txBody>
        </p:sp>
        <p:sp>
          <p:nvSpPr>
            <p:cNvPr id="28" name="AutoShape 28"/>
            <p:cNvSpPr/>
            <p:nvPr/>
          </p:nvSpPr>
          <p:spPr>
            <a:xfrm>
              <a:off x="1400" y="4157"/>
              <a:ext cx="3800" cy="1200"/>
            </a:xfrm>
            <a:prstGeom prst="roundRect">
              <a:avLst>
                <a:gd name="adj" fmla="val 0"/>
              </a:avLst>
            </a:prstGeom>
            <a:solidFill>
              <a:srgbClr val="FFFFFF">
                <a:alpha val="100000"/>
              </a:srgbClr>
            </a:solidFill>
            <a:ln w="12700" cap="flat" cmpd="sng">
              <a:solidFill>
                <a:srgbClr val="A12D2D">
                  <a:alpha val="30000"/>
                </a:srgbClr>
              </a:solidFill>
              <a:prstDash val="solid"/>
              <a:round/>
            </a:ln>
          </p:spPr>
          <p:txBody>
            <a:bodyPr vert="horz" lIns="63500" tIns="63500" rIns="63500" bIns="63500" rtlCol="0" anchor="ctr"/>
            <a:lstStyle/>
            <a:p>
              <a:pPr algn="ctr">
                <a:defRPr/>
              </a:pPr>
            </a:p>
          </p:txBody>
        </p:sp>
        <p:sp>
          <p:nvSpPr>
            <p:cNvPr id="29" name="AutoShape 29"/>
            <p:cNvSpPr/>
            <p:nvPr/>
          </p:nvSpPr>
          <p:spPr>
            <a:xfrm>
              <a:off x="1560" y="4257"/>
              <a:ext cx="3480" cy="36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SWRL 智能规则引擎</a:t>
              </a:r>
              <a:endParaRPr lang="en-US" sz="1100"/>
            </a:p>
          </p:txBody>
        </p:sp>
        <p:sp>
          <p:nvSpPr>
            <p:cNvPr id="30" name="AutoShape 30"/>
            <p:cNvSpPr/>
            <p:nvPr/>
          </p:nvSpPr>
          <p:spPr>
            <a:xfrm>
              <a:off x="1560" y="4657"/>
              <a:ext cx="3480" cy="6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通过IF-THEN规则表达复杂业务逻辑，赋予本体动态推理能力。</a:t>
              </a:r>
              <a:endParaRPr lang="en-US" sz="1100"/>
            </a:p>
          </p:txBody>
        </p:sp>
        <p:sp>
          <p:nvSpPr>
            <p:cNvPr id="31" name="AutoShape 31"/>
            <p:cNvSpPr/>
            <p:nvPr/>
          </p:nvSpPr>
          <p:spPr>
            <a:xfrm>
              <a:off x="5600" y="4157"/>
              <a:ext cx="3800" cy="1200"/>
            </a:xfrm>
            <a:prstGeom prst="roundRect">
              <a:avLst>
                <a:gd name="adj" fmla="val 0"/>
              </a:avLst>
            </a:prstGeom>
            <a:solidFill>
              <a:srgbClr val="FFFFFF">
                <a:alpha val="100000"/>
              </a:srgbClr>
            </a:solidFill>
            <a:ln w="12700" cap="flat" cmpd="sng">
              <a:solidFill>
                <a:srgbClr val="A12D2D">
                  <a:alpha val="30000"/>
                </a:srgbClr>
              </a:solidFill>
              <a:prstDash val="solid"/>
              <a:round/>
            </a:ln>
          </p:spPr>
          <p:txBody>
            <a:bodyPr vert="horz" lIns="63500" tIns="63500" rIns="63500" bIns="63500" rtlCol="0" anchor="ctr"/>
            <a:lstStyle/>
            <a:p>
              <a:pPr algn="ctr">
                <a:defRPr/>
              </a:pPr>
            </a:p>
          </p:txBody>
        </p:sp>
        <p:sp>
          <p:nvSpPr>
            <p:cNvPr id="32" name="AutoShape 32"/>
            <p:cNvSpPr/>
            <p:nvPr/>
          </p:nvSpPr>
          <p:spPr>
            <a:xfrm>
              <a:off x="5760" y="4257"/>
              <a:ext cx="3480" cy="36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BPMN+OWL-S 流程语义化</a:t>
              </a:r>
              <a:endParaRPr lang="en-US" sz="1100"/>
            </a:p>
          </p:txBody>
        </p:sp>
        <p:sp>
          <p:nvSpPr>
            <p:cNvPr id="33" name="AutoShape 33"/>
            <p:cNvSpPr/>
            <p:nvPr/>
          </p:nvSpPr>
          <p:spPr>
            <a:xfrm>
              <a:off x="5760" y="4657"/>
              <a:ext cx="3480" cy="6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融合业务流程与本体知识，实现智能编排与自适应调整。</a:t>
              </a:r>
              <a:endParaRPr lang="en-US" sz="1100"/>
            </a:p>
          </p:txBody>
        </p:sp>
        <p:sp>
          <p:nvSpPr>
            <p:cNvPr id="34" name="AutoShape 34"/>
            <p:cNvSpPr/>
            <p:nvPr/>
          </p:nvSpPr>
          <p:spPr>
            <a:xfrm>
              <a:off x="10200" y="3557"/>
              <a:ext cx="7600" cy="48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A12D2D"/>
                  </a:solidFill>
                  <a:latin typeface="Noto Sans SC" panose="020B0200000000000000" charset="-122"/>
                  <a:ea typeface="Noto Sans SC" panose="020B0200000000000000" charset="-122"/>
                  <a:cs typeface="Noto Sans SC" panose="020B0200000000000000" charset="-122"/>
                  <a:sym typeface="Noto Sans SC" panose="020B0200000000000000" charset="-122"/>
                </a:rPr>
                <a:t>安全层：权限管控与合规</a:t>
              </a:r>
              <a:endParaRPr lang="en-US" sz="1100"/>
            </a:p>
          </p:txBody>
        </p:sp>
        <p:sp>
          <p:nvSpPr>
            <p:cNvPr id="35" name="AutoShape 35"/>
            <p:cNvSpPr/>
            <p:nvPr/>
          </p:nvSpPr>
          <p:spPr>
            <a:xfrm>
              <a:off x="10200" y="4157"/>
              <a:ext cx="7600" cy="1200"/>
            </a:xfrm>
            <a:prstGeom prst="roundRect">
              <a:avLst>
                <a:gd name="adj" fmla="val 0"/>
              </a:avLst>
            </a:prstGeom>
            <a:solidFill>
              <a:srgbClr val="FFFFFF">
                <a:alpha val="100000"/>
              </a:srgbClr>
            </a:solidFill>
            <a:ln w="12700" cap="flat" cmpd="sng">
              <a:solidFill>
                <a:srgbClr val="A12D2D">
                  <a:alpha val="30000"/>
                </a:srgbClr>
              </a:solidFill>
              <a:prstDash val="solid"/>
              <a:round/>
            </a:ln>
          </p:spPr>
          <p:txBody>
            <a:bodyPr vert="horz" lIns="63500" tIns="63500" rIns="63500" bIns="63500" rtlCol="0" anchor="ctr"/>
            <a:lstStyle/>
            <a:p>
              <a:pPr algn="ctr">
                <a:defRPr/>
              </a:pPr>
            </a:p>
          </p:txBody>
        </p:sp>
        <p:sp>
          <p:nvSpPr>
            <p:cNvPr id="36" name="AutoShape 36"/>
            <p:cNvSpPr/>
            <p:nvPr/>
          </p:nvSpPr>
          <p:spPr>
            <a:xfrm>
              <a:off x="10400" y="4257"/>
              <a:ext cx="7200" cy="36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ODRL 细粒度权限策略</a:t>
              </a:r>
              <a:endParaRPr lang="en-US" sz="1100"/>
            </a:p>
          </p:txBody>
        </p:sp>
        <p:sp>
          <p:nvSpPr>
            <p:cNvPr id="37" name="AutoShape 37"/>
            <p:cNvSpPr/>
            <p:nvPr/>
          </p:nvSpPr>
          <p:spPr>
            <a:xfrm>
              <a:off x="10400" y="4657"/>
              <a:ext cx="7200" cy="6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0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定义资源访问权限与约束，实现细粒度、动态化安全管控与合规保障。</a:t>
              </a:r>
              <a:endParaRPr lang="en-US" sz="1100"/>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 name="AutoShape 7"/>
          <p:cNvSpPr/>
          <p:nvPr/>
        </p:nvSpPr>
        <p:spPr>
          <a:xfrm>
            <a:off x="418996" y="1317883"/>
            <a:ext cx="5561209" cy="4847332"/>
          </a:xfrm>
          <a:prstGeom prst="rect">
            <a:avLst/>
          </a:prstGeom>
          <a:solidFill>
            <a:schemeClr val="bg1"/>
          </a:solidFill>
          <a:ln w="9525">
            <a:solidFill>
              <a:srgbClr val="D4CEC4">
                <a:alpha val="100000"/>
              </a:srgbClr>
            </a:solidFill>
            <a:prstDash val="solid"/>
            <a:headEnd type="none"/>
            <a:tailEnd type="none"/>
          </a:ln>
        </p:spPr>
      </p:sp>
      <p:sp>
        <p:nvSpPr>
          <p:cNvPr id="119" name="AutoShape 8"/>
          <p:cNvSpPr/>
          <p:nvPr/>
        </p:nvSpPr>
        <p:spPr>
          <a:xfrm>
            <a:off x="418996" y="1317883"/>
            <a:ext cx="5561209" cy="9525"/>
          </a:xfrm>
          <a:prstGeom prst="line">
            <a:avLst/>
          </a:prstGeom>
          <a:ln w="28575">
            <a:solidFill>
              <a:srgbClr val="C00000">
                <a:alpha val="100000"/>
              </a:srgbClr>
            </a:solidFill>
            <a:prstDash val="solid"/>
            <a:headEnd type="none"/>
            <a:tailEnd type="none"/>
          </a:ln>
        </p:spPr>
      </p:sp>
      <p:sp>
        <p:nvSpPr>
          <p:cNvPr id="120" name="AutoShape 9"/>
          <p:cNvSpPr/>
          <p:nvPr/>
        </p:nvSpPr>
        <p:spPr>
          <a:xfrm>
            <a:off x="583037" y="1479490"/>
            <a:ext cx="152362" cy="152400"/>
          </a:xfrm>
          <a:custGeom>
            <a:avLst/>
            <a:gdLst/>
            <a:ahLst/>
            <a:cxnLst/>
            <a:rect l="l" t="t" r="r" b="b"/>
            <a:pathLst>
              <a:path w="9998" h="10000">
                <a:moveTo>
                  <a:pt x="1111" y="3853"/>
                </a:moveTo>
                <a:lnTo>
                  <a:pt x="1111" y="5000"/>
                </a:lnTo>
                <a:cubicBezTo>
                  <a:pt x="1111" y="5091"/>
                  <a:pt x="1177" y="5200"/>
                  <a:pt x="1311" y="5326"/>
                </a:cubicBezTo>
                <a:cubicBezTo>
                  <a:pt x="1466" y="5466"/>
                  <a:pt x="1684" y="5603"/>
                  <a:pt x="1966" y="5737"/>
                </a:cubicBezTo>
                <a:cubicBezTo>
                  <a:pt x="2351" y="5919"/>
                  <a:pt x="2807" y="6061"/>
                  <a:pt x="3333" y="6163"/>
                </a:cubicBezTo>
                <a:cubicBezTo>
                  <a:pt x="3858" y="6265"/>
                  <a:pt x="4413" y="6316"/>
                  <a:pt x="4999" y="6316"/>
                </a:cubicBezTo>
                <a:cubicBezTo>
                  <a:pt x="5584" y="6316"/>
                  <a:pt x="6139" y="6265"/>
                  <a:pt x="6665" y="6163"/>
                </a:cubicBezTo>
                <a:cubicBezTo>
                  <a:pt x="7191" y="6061"/>
                  <a:pt x="7646" y="5919"/>
                  <a:pt x="8032" y="5737"/>
                </a:cubicBezTo>
                <a:cubicBezTo>
                  <a:pt x="8313" y="5603"/>
                  <a:pt x="8531" y="5466"/>
                  <a:pt x="8687" y="5326"/>
                </a:cubicBezTo>
                <a:cubicBezTo>
                  <a:pt x="8820" y="5200"/>
                  <a:pt x="8887" y="5091"/>
                  <a:pt x="8887" y="5000"/>
                </a:cubicBezTo>
                <a:lnTo>
                  <a:pt x="8887" y="3853"/>
                </a:lnTo>
                <a:cubicBezTo>
                  <a:pt x="8420" y="4126"/>
                  <a:pt x="7853" y="4340"/>
                  <a:pt x="7187" y="4495"/>
                </a:cubicBezTo>
                <a:cubicBezTo>
                  <a:pt x="6498" y="4656"/>
                  <a:pt x="5769" y="4737"/>
                  <a:pt x="4999" y="4737"/>
                </a:cubicBezTo>
                <a:cubicBezTo>
                  <a:pt x="4229" y="4737"/>
                  <a:pt x="3499" y="4656"/>
                  <a:pt x="2811" y="4495"/>
                </a:cubicBezTo>
                <a:cubicBezTo>
                  <a:pt x="2144" y="4340"/>
                  <a:pt x="1577" y="4126"/>
                  <a:pt x="1111" y="3853"/>
                </a:cubicBezTo>
                <a:moveTo>
                  <a:pt x="8887" y="7632"/>
                </a:moveTo>
                <a:lnTo>
                  <a:pt x="8887" y="6484"/>
                </a:lnTo>
                <a:cubicBezTo>
                  <a:pt x="8420" y="6758"/>
                  <a:pt x="7853" y="6972"/>
                  <a:pt x="7187" y="7126"/>
                </a:cubicBezTo>
                <a:cubicBezTo>
                  <a:pt x="6498" y="7287"/>
                  <a:pt x="5769" y="7368"/>
                  <a:pt x="4999" y="7368"/>
                </a:cubicBezTo>
                <a:cubicBezTo>
                  <a:pt x="4229" y="7368"/>
                  <a:pt x="3499" y="7287"/>
                  <a:pt x="2811" y="7126"/>
                </a:cubicBezTo>
                <a:cubicBezTo>
                  <a:pt x="2144" y="6972"/>
                  <a:pt x="1577" y="6758"/>
                  <a:pt x="1111" y="6484"/>
                </a:cubicBezTo>
                <a:lnTo>
                  <a:pt x="1111" y="7632"/>
                </a:lnTo>
                <a:cubicBezTo>
                  <a:pt x="1111" y="7722"/>
                  <a:pt x="1177" y="7831"/>
                  <a:pt x="1311" y="7958"/>
                </a:cubicBezTo>
                <a:cubicBezTo>
                  <a:pt x="1466" y="8098"/>
                  <a:pt x="1684" y="8234"/>
                  <a:pt x="1966" y="8368"/>
                </a:cubicBezTo>
                <a:cubicBezTo>
                  <a:pt x="2351" y="8550"/>
                  <a:pt x="2807" y="8693"/>
                  <a:pt x="3333" y="8795"/>
                </a:cubicBezTo>
                <a:cubicBezTo>
                  <a:pt x="3858" y="8896"/>
                  <a:pt x="4413" y="8947"/>
                  <a:pt x="4999" y="8947"/>
                </a:cubicBezTo>
                <a:cubicBezTo>
                  <a:pt x="5584" y="8947"/>
                  <a:pt x="6139" y="8896"/>
                  <a:pt x="6665" y="8795"/>
                </a:cubicBezTo>
                <a:cubicBezTo>
                  <a:pt x="7191" y="8693"/>
                  <a:pt x="7646" y="8550"/>
                  <a:pt x="8032" y="8368"/>
                </a:cubicBezTo>
                <a:cubicBezTo>
                  <a:pt x="8313" y="8234"/>
                  <a:pt x="8531" y="8098"/>
                  <a:pt x="8687" y="7958"/>
                </a:cubicBezTo>
                <a:cubicBezTo>
                  <a:pt x="8820" y="7831"/>
                  <a:pt x="8887" y="7722"/>
                  <a:pt x="8887" y="7632"/>
                </a:cubicBezTo>
                <a:moveTo>
                  <a:pt x="0" y="7632"/>
                </a:moveTo>
                <a:lnTo>
                  <a:pt x="0" y="2368"/>
                </a:lnTo>
                <a:cubicBezTo>
                  <a:pt x="0" y="1940"/>
                  <a:pt x="226" y="1540"/>
                  <a:pt x="678" y="1168"/>
                </a:cubicBezTo>
                <a:cubicBezTo>
                  <a:pt x="1122" y="817"/>
                  <a:pt x="1721" y="536"/>
                  <a:pt x="2477" y="326"/>
                </a:cubicBezTo>
                <a:cubicBezTo>
                  <a:pt x="3255" y="108"/>
                  <a:pt x="4095" y="0"/>
                  <a:pt x="4999" y="0"/>
                </a:cubicBezTo>
                <a:cubicBezTo>
                  <a:pt x="5902" y="0"/>
                  <a:pt x="6743" y="108"/>
                  <a:pt x="7521" y="326"/>
                </a:cubicBezTo>
                <a:cubicBezTo>
                  <a:pt x="8276" y="536"/>
                  <a:pt x="8876" y="817"/>
                  <a:pt x="9320" y="1168"/>
                </a:cubicBezTo>
                <a:cubicBezTo>
                  <a:pt x="9772" y="1540"/>
                  <a:pt x="9998" y="1940"/>
                  <a:pt x="9998" y="2368"/>
                </a:cubicBezTo>
                <a:lnTo>
                  <a:pt x="9998" y="7632"/>
                </a:lnTo>
                <a:cubicBezTo>
                  <a:pt x="9998" y="8060"/>
                  <a:pt x="9772" y="8460"/>
                  <a:pt x="9320" y="8832"/>
                </a:cubicBezTo>
                <a:cubicBezTo>
                  <a:pt x="8876" y="9182"/>
                  <a:pt x="8276" y="9463"/>
                  <a:pt x="7521" y="9674"/>
                </a:cubicBezTo>
                <a:cubicBezTo>
                  <a:pt x="6743" y="9891"/>
                  <a:pt x="5902" y="10000"/>
                  <a:pt x="4999" y="10000"/>
                </a:cubicBezTo>
                <a:cubicBezTo>
                  <a:pt x="4095" y="10000"/>
                  <a:pt x="3255" y="9891"/>
                  <a:pt x="2477" y="9674"/>
                </a:cubicBezTo>
                <a:cubicBezTo>
                  <a:pt x="1721" y="9463"/>
                  <a:pt x="1122" y="9182"/>
                  <a:pt x="678" y="8832"/>
                </a:cubicBezTo>
                <a:cubicBezTo>
                  <a:pt x="226" y="8460"/>
                  <a:pt x="0" y="8060"/>
                  <a:pt x="0" y="7632"/>
                </a:cubicBezTo>
                <a:moveTo>
                  <a:pt x="4999" y="3684"/>
                </a:moveTo>
                <a:cubicBezTo>
                  <a:pt x="5584" y="3684"/>
                  <a:pt x="6139" y="3633"/>
                  <a:pt x="6665" y="3532"/>
                </a:cubicBezTo>
                <a:cubicBezTo>
                  <a:pt x="7191" y="3430"/>
                  <a:pt x="7646" y="3287"/>
                  <a:pt x="8032" y="3105"/>
                </a:cubicBezTo>
                <a:cubicBezTo>
                  <a:pt x="8313" y="2971"/>
                  <a:pt x="8531" y="2835"/>
                  <a:pt x="8687" y="2695"/>
                </a:cubicBezTo>
                <a:cubicBezTo>
                  <a:pt x="8820" y="2568"/>
                  <a:pt x="8887" y="2459"/>
                  <a:pt x="8887" y="2368"/>
                </a:cubicBezTo>
                <a:cubicBezTo>
                  <a:pt x="8887" y="2277"/>
                  <a:pt x="8820" y="2168"/>
                  <a:pt x="8687" y="2042"/>
                </a:cubicBezTo>
                <a:cubicBezTo>
                  <a:pt x="8531" y="1902"/>
                  <a:pt x="8313" y="1765"/>
                  <a:pt x="8032" y="1632"/>
                </a:cubicBezTo>
                <a:cubicBezTo>
                  <a:pt x="7646" y="1449"/>
                  <a:pt x="7191" y="1307"/>
                  <a:pt x="6665" y="1205"/>
                </a:cubicBezTo>
                <a:cubicBezTo>
                  <a:pt x="6139" y="1103"/>
                  <a:pt x="5584" y="1053"/>
                  <a:pt x="4999" y="1053"/>
                </a:cubicBezTo>
                <a:cubicBezTo>
                  <a:pt x="4413" y="1053"/>
                  <a:pt x="3858" y="1103"/>
                  <a:pt x="3333" y="1205"/>
                </a:cubicBezTo>
                <a:cubicBezTo>
                  <a:pt x="2807" y="1307"/>
                  <a:pt x="2351" y="1449"/>
                  <a:pt x="1966" y="1632"/>
                </a:cubicBezTo>
                <a:cubicBezTo>
                  <a:pt x="1684" y="1765"/>
                  <a:pt x="1466" y="1902"/>
                  <a:pt x="1311" y="2042"/>
                </a:cubicBezTo>
                <a:cubicBezTo>
                  <a:pt x="1177" y="2168"/>
                  <a:pt x="1111" y="2277"/>
                  <a:pt x="1111" y="2368"/>
                </a:cubicBezTo>
                <a:cubicBezTo>
                  <a:pt x="1111" y="2459"/>
                  <a:pt x="1177" y="2568"/>
                  <a:pt x="1311" y="2695"/>
                </a:cubicBezTo>
                <a:cubicBezTo>
                  <a:pt x="1466" y="2835"/>
                  <a:pt x="1684" y="2971"/>
                  <a:pt x="1966" y="3105"/>
                </a:cubicBezTo>
                <a:cubicBezTo>
                  <a:pt x="2351" y="3287"/>
                  <a:pt x="2807" y="3430"/>
                  <a:pt x="3333" y="3532"/>
                </a:cubicBezTo>
                <a:cubicBezTo>
                  <a:pt x="3858" y="3633"/>
                  <a:pt x="4413" y="3684"/>
                  <a:pt x="4999" y="3684"/>
                </a:cubicBezTo>
              </a:path>
            </a:pathLst>
          </a:custGeom>
          <a:solidFill>
            <a:srgbClr val="2B4C9B">
              <a:alpha val="100000"/>
            </a:srgbClr>
          </a:solidFill>
          <a:ln>
            <a:solidFill>
              <a:srgbClr val="C00000"/>
            </a:solidFill>
            <a:headEnd type="none"/>
            <a:tailEnd type="none"/>
          </a:ln>
        </p:spPr>
      </p:sp>
      <p:sp>
        <p:nvSpPr>
          <p:cNvPr id="121" name="TextBox 10"/>
          <p:cNvSpPr txBox="1"/>
          <p:nvPr/>
        </p:nvSpPr>
        <p:spPr>
          <a:xfrm>
            <a:off x="794692" y="1455678"/>
            <a:ext cx="1733266" cy="190500"/>
          </a:xfrm>
          <a:prstGeom prst="rect">
            <a:avLst/>
          </a:prstGeom>
          <a:ln>
            <a:headEnd type="none"/>
            <a:tailEnd type="none"/>
          </a:ln>
        </p:spPr>
        <p:txBody>
          <a:bodyPr vert="horz" wrap="none" lIns="0" tIns="0" rIns="0" bIns="0" rtlCol="0" anchor="t" anchorCtr="0"/>
          <a:lstStyle/>
          <a:p>
            <a:pPr algn="l">
              <a:defRPr/>
            </a:pPr>
            <a:r>
              <a:rPr lang="en-US" sz="1300" b="1" i="0" strike="noStrike">
                <a:solidFill>
                  <a:srgbClr val="1A1A1A">
                    <a:alpha val="100000"/>
                  </a:srgbClr>
                </a:solidFill>
                <a:latin typeface="微软雅黑" panose="020B0503020204020204" pitchFamily="34" charset="-122"/>
                <a:ea typeface="微软雅黑" panose="020B0503020204020204" pitchFamily="34" charset="-122"/>
                <a:cs typeface="Source Han Serif CN" panose="02020400000000000000" charset="-122"/>
              </a:rPr>
              <a:t>本体</a:t>
            </a:r>
            <a:r>
              <a:rPr lang="zh-CN" altLang="en-US" sz="1300" b="1" i="0" strike="noStrike">
                <a:solidFill>
                  <a:srgbClr val="1A1A1A">
                    <a:alpha val="100000"/>
                  </a:srgbClr>
                </a:solidFill>
                <a:latin typeface="微软雅黑" panose="020B0503020204020204" pitchFamily="34" charset="-122"/>
                <a:ea typeface="微软雅黑" panose="020B0503020204020204" pitchFamily="34" charset="-122"/>
                <a:cs typeface="Source Han Serif CN" panose="02020400000000000000" charset="-122"/>
              </a:rPr>
              <a:t>开发</a:t>
            </a:r>
            <a:endParaRPr lang="zh-CN" altLang="en-US" sz="1300" b="1" i="0" strike="noStrike">
              <a:solidFill>
                <a:srgbClr val="1A1A1A">
                  <a:alpha val="100000"/>
                </a:srgbClr>
              </a:solidFill>
              <a:latin typeface="微软雅黑" panose="020B0503020204020204" pitchFamily="34" charset="-122"/>
              <a:ea typeface="微软雅黑" panose="020B0503020204020204" pitchFamily="34" charset="-122"/>
              <a:cs typeface="Source Han Serif CN" panose="02020400000000000000" charset="-122"/>
            </a:endParaRPr>
          </a:p>
        </p:txBody>
      </p:sp>
      <p:sp>
        <p:nvSpPr>
          <p:cNvPr id="122" name="AutoShape 19"/>
          <p:cNvSpPr/>
          <p:nvPr/>
        </p:nvSpPr>
        <p:spPr>
          <a:xfrm>
            <a:off x="6208747" y="1317883"/>
            <a:ext cx="5561209" cy="4847332"/>
          </a:xfrm>
          <a:prstGeom prst="rect">
            <a:avLst/>
          </a:prstGeom>
          <a:solidFill>
            <a:schemeClr val="bg1"/>
          </a:solidFill>
          <a:ln w="9525">
            <a:solidFill>
              <a:srgbClr val="D4CEC4">
                <a:alpha val="100000"/>
              </a:srgbClr>
            </a:solidFill>
            <a:prstDash val="solid"/>
            <a:headEnd type="none"/>
            <a:tailEnd type="none"/>
          </a:ln>
        </p:spPr>
      </p:sp>
      <p:sp>
        <p:nvSpPr>
          <p:cNvPr id="123" name="AutoShape 20"/>
          <p:cNvSpPr/>
          <p:nvPr/>
        </p:nvSpPr>
        <p:spPr>
          <a:xfrm>
            <a:off x="6208747" y="1317883"/>
            <a:ext cx="5561209" cy="9525"/>
          </a:xfrm>
          <a:prstGeom prst="line">
            <a:avLst/>
          </a:prstGeom>
          <a:ln w="28575">
            <a:solidFill>
              <a:srgbClr val="C00000">
                <a:alpha val="100000"/>
              </a:srgbClr>
            </a:solidFill>
            <a:prstDash val="solid"/>
            <a:headEnd type="none"/>
            <a:tailEnd type="none"/>
          </a:ln>
        </p:spPr>
      </p:sp>
      <p:grpSp>
        <p:nvGrpSpPr>
          <p:cNvPr id="117" name="组合 116"/>
          <p:cNvGrpSpPr/>
          <p:nvPr/>
        </p:nvGrpSpPr>
        <p:grpSpPr>
          <a:xfrm>
            <a:off x="509270" y="1886585"/>
            <a:ext cx="5296535" cy="4135120"/>
            <a:chOff x="124" y="2971"/>
            <a:chExt cx="8341" cy="6512"/>
          </a:xfrm>
        </p:grpSpPr>
        <p:grpSp>
          <p:nvGrpSpPr>
            <p:cNvPr id="116" name="组合 115"/>
            <p:cNvGrpSpPr/>
            <p:nvPr/>
          </p:nvGrpSpPr>
          <p:grpSpPr>
            <a:xfrm>
              <a:off x="124" y="2971"/>
              <a:ext cx="1072" cy="6510"/>
              <a:chOff x="124" y="2971"/>
              <a:chExt cx="878" cy="6510"/>
            </a:xfrm>
          </p:grpSpPr>
          <p:grpSp>
            <p:nvGrpSpPr>
              <p:cNvPr id="95" name="组合 94"/>
              <p:cNvGrpSpPr/>
              <p:nvPr/>
            </p:nvGrpSpPr>
            <p:grpSpPr>
              <a:xfrm rot="0">
                <a:off x="124" y="2971"/>
                <a:ext cx="878" cy="1492"/>
                <a:chOff x="193" y="2971"/>
                <a:chExt cx="966" cy="552"/>
              </a:xfrm>
            </p:grpSpPr>
            <p:sp>
              <p:nvSpPr>
                <p:cNvPr id="12" name="AutoShape 8"/>
                <p:cNvSpPr/>
                <p:nvPr/>
              </p:nvSpPr>
              <p:spPr>
                <a:xfrm>
                  <a:off x="193" y="2971"/>
                  <a:ext cx="966" cy="553"/>
                </a:xfrm>
                <a:prstGeom prst="roundRect">
                  <a:avLst>
                    <a:gd name="adj" fmla="val 7692"/>
                  </a:avLst>
                </a:prstGeom>
                <a:solidFill>
                  <a:srgbClr val="008CDC">
                    <a:alpha val="25000"/>
                  </a:srgbClr>
                </a:solidFill>
                <a:ln w="12700" cap="flat" cmpd="sng">
                  <a:solidFill>
                    <a:srgbClr val="008CDC">
                      <a:alpha val="70000"/>
                    </a:srgbClr>
                  </a:solidFill>
                  <a:prstDash val="solid"/>
                  <a:round/>
                </a:ln>
              </p:spPr>
              <p:txBody>
                <a:bodyPr vert="horz" wrap="square" lIns="63500" tIns="63500" rIns="63500" bIns="63500" rtlCol="0" anchor="ctr"/>
                <a:lstStyle/>
                <a:p>
                  <a:pPr algn="ctr">
                    <a:defRPr/>
                  </a:pPr>
                  <a:endParaRPr sz="1800">
                    <a:solidFill>
                      <a:schemeClr val="tx1"/>
                    </a:solidFill>
                  </a:endParaRPr>
                </a:p>
              </p:txBody>
            </p:sp>
            <p:sp>
              <p:nvSpPr>
                <p:cNvPr id="13" name="AutoShape 9"/>
                <p:cNvSpPr/>
                <p:nvPr/>
              </p:nvSpPr>
              <p:spPr>
                <a:xfrm>
                  <a:off x="193" y="3063"/>
                  <a:ext cx="966" cy="369"/>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zh-CN" altLang="en-US" sz="1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本体</a:t>
                  </a:r>
                  <a:endParaRPr lang="zh-CN" altLang="en-US" sz="1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08000"/>
                    </a:lnSpc>
                    <a:defRPr/>
                  </a:pPr>
                  <a:r>
                    <a:rPr lang="zh-CN" altLang="en-US" sz="1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a:t>
                  </a:r>
                  <a:endParaRPr lang="zh-CN" altLang="en-US" sz="1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nvGrpSpPr>
              <p:cNvPr id="100" name="组合 99"/>
              <p:cNvGrpSpPr/>
              <p:nvPr/>
            </p:nvGrpSpPr>
            <p:grpSpPr>
              <a:xfrm rot="0">
                <a:off x="124" y="4986"/>
                <a:ext cx="878" cy="1551"/>
                <a:chOff x="165" y="4701"/>
                <a:chExt cx="966" cy="552"/>
              </a:xfrm>
            </p:grpSpPr>
            <p:sp>
              <p:nvSpPr>
                <p:cNvPr id="34" name="AutoShape 30"/>
                <p:cNvSpPr/>
                <p:nvPr/>
              </p:nvSpPr>
              <p:spPr>
                <a:xfrm>
                  <a:off x="165" y="4701"/>
                  <a:ext cx="966" cy="553"/>
                </a:xfrm>
                <a:prstGeom prst="roundRect">
                  <a:avLst>
                    <a:gd name="adj" fmla="val 7692"/>
                  </a:avLst>
                </a:prstGeom>
                <a:solidFill>
                  <a:srgbClr val="C81E28">
                    <a:alpha val="25000"/>
                  </a:srgbClr>
                </a:solidFill>
                <a:ln w="12700" cap="flat" cmpd="sng">
                  <a:solidFill>
                    <a:srgbClr val="C81E28">
                      <a:alpha val="70000"/>
                    </a:srgbClr>
                  </a:solidFill>
                  <a:prstDash val="solid"/>
                  <a:round/>
                </a:ln>
              </p:spPr>
              <p:txBody>
                <a:bodyPr vert="horz" wrap="square" lIns="63500" tIns="63500" rIns="63500" bIns="63500" rtlCol="0" anchor="ctr"/>
                <a:lstStyle/>
                <a:p>
                  <a:pPr algn="ctr">
                    <a:defRPr/>
                  </a:pPr>
                  <a:endParaRPr sz="1800"/>
                </a:p>
              </p:txBody>
            </p:sp>
            <p:sp>
              <p:nvSpPr>
                <p:cNvPr id="35" name="AutoShape 31"/>
                <p:cNvSpPr/>
                <p:nvPr/>
              </p:nvSpPr>
              <p:spPr>
                <a:xfrm>
                  <a:off x="165" y="4794"/>
                  <a:ext cx="966" cy="369"/>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zh-CN" altLang="en-US" sz="1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本体</a:t>
                  </a:r>
                  <a:endParaRPr lang="en-US" sz="1200">
                    <a:solidFill>
                      <a:schemeClr val="tx1"/>
                    </a:solidFill>
                  </a:endParaRPr>
                </a:p>
                <a:p>
                  <a:pPr marL="0" indent="0" algn="ctr">
                    <a:lnSpc>
                      <a:spcPct val="108000"/>
                    </a:lnSpc>
                  </a:pPr>
                  <a:r>
                    <a:rPr lang="zh-CN" altLang="en-US" sz="1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建模</a:t>
                  </a:r>
                  <a:endParaRPr lang="zh-CN" altLang="en-US" sz="1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nvGrpSpPr>
              <p:cNvPr id="101" name="组合 100"/>
              <p:cNvGrpSpPr/>
              <p:nvPr/>
            </p:nvGrpSpPr>
            <p:grpSpPr>
              <a:xfrm rot="0">
                <a:off x="124" y="6933"/>
                <a:ext cx="878" cy="1442"/>
                <a:chOff x="124" y="6826"/>
                <a:chExt cx="966" cy="552"/>
              </a:xfrm>
            </p:grpSpPr>
            <p:sp>
              <p:nvSpPr>
                <p:cNvPr id="56" name="AutoShape 52"/>
                <p:cNvSpPr/>
                <p:nvPr/>
              </p:nvSpPr>
              <p:spPr>
                <a:xfrm>
                  <a:off x="124" y="6826"/>
                  <a:ext cx="966" cy="553"/>
                </a:xfrm>
                <a:prstGeom prst="roundRect">
                  <a:avLst>
                    <a:gd name="adj" fmla="val 7692"/>
                  </a:avLst>
                </a:prstGeom>
                <a:solidFill>
                  <a:srgbClr val="00AAB4">
                    <a:alpha val="25000"/>
                  </a:srgbClr>
                </a:solidFill>
                <a:ln w="12700" cap="flat" cmpd="sng">
                  <a:solidFill>
                    <a:srgbClr val="00AAB4">
                      <a:alpha val="70000"/>
                    </a:srgbClr>
                  </a:solidFill>
                  <a:prstDash val="solid"/>
                  <a:round/>
                </a:ln>
              </p:spPr>
              <p:txBody>
                <a:bodyPr vert="horz" wrap="square" lIns="63500" tIns="63500" rIns="63500" bIns="63500" rtlCol="0" anchor="ctr"/>
                <a:lstStyle/>
                <a:p>
                  <a:pPr algn="ctr">
                    <a:defRPr/>
                  </a:pPr>
                  <a:endParaRPr sz="1800"/>
                </a:p>
              </p:txBody>
            </p:sp>
            <p:sp>
              <p:nvSpPr>
                <p:cNvPr id="57" name="AutoShape 53"/>
                <p:cNvSpPr/>
                <p:nvPr/>
              </p:nvSpPr>
              <p:spPr>
                <a:xfrm>
                  <a:off x="124" y="6918"/>
                  <a:ext cx="966" cy="369"/>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zh-CN" altLang="en-US" sz="1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数模</a:t>
                  </a:r>
                  <a:endParaRPr lang="zh-CN" altLang="en-US" sz="1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08000"/>
                    </a:lnSpc>
                    <a:defRPr/>
                  </a:pPr>
                  <a:r>
                    <a:rPr lang="zh-CN" altLang="en-US" sz="1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分离</a:t>
                  </a:r>
                  <a:endParaRPr lang="zh-CN" altLang="en-US" sz="1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nvGrpSpPr>
              <p:cNvPr id="97" name="组合 96"/>
              <p:cNvGrpSpPr/>
              <p:nvPr/>
            </p:nvGrpSpPr>
            <p:grpSpPr>
              <a:xfrm rot="0">
                <a:off x="124" y="8839"/>
                <a:ext cx="878" cy="643"/>
                <a:chOff x="221" y="8803"/>
                <a:chExt cx="966" cy="552"/>
              </a:xfrm>
            </p:grpSpPr>
            <p:sp>
              <p:nvSpPr>
                <p:cNvPr id="78" name="AutoShape 74"/>
                <p:cNvSpPr/>
                <p:nvPr/>
              </p:nvSpPr>
              <p:spPr>
                <a:xfrm>
                  <a:off x="221" y="8803"/>
                  <a:ext cx="966" cy="553"/>
                </a:xfrm>
                <a:prstGeom prst="roundRect">
                  <a:avLst>
                    <a:gd name="adj" fmla="val 7692"/>
                  </a:avLst>
                </a:prstGeom>
                <a:solidFill>
                  <a:srgbClr val="DCAA32">
                    <a:alpha val="25000"/>
                  </a:srgbClr>
                </a:solidFill>
                <a:ln w="12700" cap="flat" cmpd="sng">
                  <a:solidFill>
                    <a:srgbClr val="DCAA32">
                      <a:alpha val="70000"/>
                    </a:srgbClr>
                  </a:solidFill>
                  <a:prstDash val="solid"/>
                  <a:round/>
                </a:ln>
              </p:spPr>
              <p:txBody>
                <a:bodyPr vert="horz" wrap="square" lIns="63500" tIns="63500" rIns="63500" bIns="63500" rtlCol="0" anchor="ctr"/>
                <a:lstStyle/>
                <a:p>
                  <a:pPr algn="ctr">
                    <a:defRPr/>
                  </a:pPr>
                  <a:endParaRPr sz="1800"/>
                </a:p>
              </p:txBody>
            </p:sp>
            <p:sp>
              <p:nvSpPr>
                <p:cNvPr id="79" name="AutoShape 75"/>
                <p:cNvSpPr/>
                <p:nvPr/>
              </p:nvSpPr>
              <p:spPr>
                <a:xfrm>
                  <a:off x="221" y="8895"/>
                  <a:ext cx="966" cy="369"/>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完善</a:t>
                  </a:r>
                  <a:endParaRPr lang="en-US" sz="1200">
                    <a:solidFill>
                      <a:schemeClr val="tx1"/>
                    </a:solidFill>
                  </a:endParaRPr>
                </a:p>
                <a:p>
                  <a:pPr marL="0" indent="0" algn="ctr">
                    <a:lnSpc>
                      <a:spcPct val="108000"/>
                    </a:lnSpc>
                  </a:pPr>
                  <a:r>
                    <a:rPr lang="en-US" sz="1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交付</a:t>
                  </a:r>
                  <a:endParaRPr lang="en-US" sz="12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grpSp>
          <p:nvGrpSpPr>
            <p:cNvPr id="115" name="组合 114"/>
            <p:cNvGrpSpPr/>
            <p:nvPr/>
          </p:nvGrpSpPr>
          <p:grpSpPr>
            <a:xfrm>
              <a:off x="1787" y="2971"/>
              <a:ext cx="6678" cy="6512"/>
              <a:chOff x="1787" y="2971"/>
              <a:chExt cx="7184" cy="6512"/>
            </a:xfrm>
          </p:grpSpPr>
          <p:sp>
            <p:nvSpPr>
              <p:cNvPr id="14" name="AutoShape 10"/>
              <p:cNvSpPr/>
              <p:nvPr/>
            </p:nvSpPr>
            <p:spPr>
              <a:xfrm>
                <a:off x="1849" y="2971"/>
                <a:ext cx="3460" cy="644"/>
              </a:xfrm>
              <a:prstGeom prst="roundRect">
                <a:avLst>
                  <a:gd name="adj" fmla="val 8333"/>
                </a:avLst>
              </a:prstGeom>
              <a:solidFill>
                <a:srgbClr val="FFFFFF">
                  <a:alpha val="5000"/>
                </a:srgbClr>
              </a:solidFill>
              <a:ln w="12700" cap="flat" cmpd="sng">
                <a:solidFill>
                  <a:srgbClr val="008CDC">
                    <a:alpha val="50000"/>
                  </a:srgbClr>
                </a:solidFill>
                <a:prstDash val="solid"/>
                <a:round/>
              </a:ln>
            </p:spPr>
            <p:txBody>
              <a:bodyPr vert="horz" wrap="square" lIns="63500" tIns="63500" rIns="63500" bIns="63500" rtlCol="0" anchor="ctr"/>
              <a:lstStyle/>
              <a:p>
                <a:pPr algn="ctr">
                  <a:defRPr/>
                </a:pPr>
                <a:endParaRPr sz="1800"/>
              </a:p>
            </p:txBody>
          </p:sp>
          <p:sp>
            <p:nvSpPr>
              <p:cNvPr id="15" name="AutoShape 11"/>
              <p:cNvSpPr/>
              <p:nvPr/>
            </p:nvSpPr>
            <p:spPr>
              <a:xfrm>
                <a:off x="2017" y="3025"/>
                <a:ext cx="3123" cy="214"/>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50BEFF"/>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r>
                  <a:rPr lang="en-US" sz="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场景选择</a:t>
                </a:r>
                <a:endParaRPr lang="en-US" sz="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2"/>
              <p:cNvSpPr/>
              <p:nvPr/>
            </p:nvSpPr>
            <p:spPr>
              <a:xfrm>
                <a:off x="2017" y="3275"/>
                <a:ext cx="3123" cy="286"/>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9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明确业务场景与目标范围</a:t>
                </a:r>
                <a:endParaRPr lang="en-US" sz="9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3"/>
              <p:cNvSpPr/>
              <p:nvPr/>
            </p:nvSpPr>
            <p:spPr>
              <a:xfrm>
                <a:off x="5511" y="2971"/>
                <a:ext cx="3460" cy="644"/>
              </a:xfrm>
              <a:prstGeom prst="roundRect">
                <a:avLst>
                  <a:gd name="adj" fmla="val 8333"/>
                </a:avLst>
              </a:prstGeom>
              <a:solidFill>
                <a:srgbClr val="FFFFFF">
                  <a:alpha val="5000"/>
                </a:srgbClr>
              </a:solidFill>
              <a:ln w="12700" cap="flat" cmpd="sng">
                <a:solidFill>
                  <a:srgbClr val="008CDC">
                    <a:alpha val="50000"/>
                  </a:srgbClr>
                </a:solidFill>
                <a:prstDash val="solid"/>
                <a:round/>
              </a:ln>
            </p:spPr>
            <p:txBody>
              <a:bodyPr vert="horz" wrap="square" lIns="63500" tIns="63500" rIns="63500" bIns="63500" rtlCol="0" anchor="ctr"/>
              <a:lstStyle/>
              <a:p>
                <a:pPr algn="ctr">
                  <a:defRPr/>
                </a:pPr>
                <a:endParaRPr sz="1800"/>
              </a:p>
            </p:txBody>
          </p:sp>
          <p:sp>
            <p:nvSpPr>
              <p:cNvPr id="18" name="AutoShape 14"/>
              <p:cNvSpPr/>
              <p:nvPr/>
            </p:nvSpPr>
            <p:spPr>
              <a:xfrm>
                <a:off x="5680" y="3025"/>
                <a:ext cx="3123" cy="214"/>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50BEFF"/>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r>
                  <a:rPr lang="en-US" sz="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流程构建</a:t>
                </a:r>
                <a:endParaRPr lang="en-US" sz="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5"/>
              <p:cNvSpPr/>
              <p:nvPr/>
            </p:nvSpPr>
            <p:spPr>
              <a:xfrm>
                <a:off x="5680" y="3275"/>
                <a:ext cx="3123" cy="286"/>
              </a:xfrm>
              <a:prstGeom prst="rect">
                <a:avLst/>
              </a:prstGeom>
              <a:noFill/>
              <a:ln w="12700" cap="flat" cmpd="sng">
                <a:noFill/>
                <a:prstDash val="solid"/>
                <a:round/>
              </a:ln>
            </p:spPr>
            <p:txBody>
              <a:bodyPr vert="horz" wrap="square" lIns="0" tIns="0" rIns="0" bIns="0" rtlCol="0" anchor="ctr" anchorCtr="0">
                <a:noAutofit/>
              </a:bodyPr>
              <a:lstStyle/>
              <a:p>
                <a:pPr lvl="0" algn="l">
                  <a:lnSpc>
                    <a:spcPct val="108000"/>
                  </a:lnSpc>
                  <a:buClrTx/>
                  <a:buSzTx/>
                  <a:buFontTx/>
                  <a:defRPr/>
                </a:pPr>
                <a:r>
                  <a:rPr 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梳理端到端业务流程</a:t>
                </a:r>
                <a:endParaRPr 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16"/>
              <p:cNvSpPr/>
              <p:nvPr/>
            </p:nvSpPr>
            <p:spPr>
              <a:xfrm>
                <a:off x="1824" y="3820"/>
                <a:ext cx="3460" cy="644"/>
              </a:xfrm>
              <a:prstGeom prst="roundRect">
                <a:avLst>
                  <a:gd name="adj" fmla="val 8333"/>
                </a:avLst>
              </a:prstGeom>
              <a:solidFill>
                <a:srgbClr val="FFFFFF">
                  <a:alpha val="5000"/>
                </a:srgbClr>
              </a:solidFill>
              <a:ln w="12700" cap="flat" cmpd="sng">
                <a:solidFill>
                  <a:srgbClr val="008CDC">
                    <a:alpha val="50000"/>
                  </a:srgbClr>
                </a:solidFill>
                <a:prstDash val="solid"/>
                <a:round/>
              </a:ln>
            </p:spPr>
            <p:txBody>
              <a:bodyPr vert="horz" wrap="square" lIns="63500" tIns="63500" rIns="63500" bIns="63500" rtlCol="0" anchor="ctr"/>
              <a:lstStyle/>
              <a:p>
                <a:pPr algn="ctr">
                  <a:defRPr/>
                </a:pPr>
                <a:endParaRPr sz="1800"/>
              </a:p>
            </p:txBody>
          </p:sp>
          <p:sp>
            <p:nvSpPr>
              <p:cNvPr id="21" name="AutoShape 17"/>
              <p:cNvSpPr/>
              <p:nvPr/>
            </p:nvSpPr>
            <p:spPr>
              <a:xfrm>
                <a:off x="1993" y="3874"/>
                <a:ext cx="3123" cy="214"/>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50BEFF"/>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r>
                  <a:rPr lang="en-US" sz="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顶层设计</a:t>
                </a:r>
                <a:endParaRPr lang="en-US" sz="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18"/>
              <p:cNvSpPr/>
              <p:nvPr/>
            </p:nvSpPr>
            <p:spPr>
              <a:xfrm>
                <a:off x="1993" y="4124"/>
                <a:ext cx="3123" cy="286"/>
              </a:xfrm>
              <a:prstGeom prst="rect">
                <a:avLst/>
              </a:prstGeom>
              <a:noFill/>
              <a:ln w="12700" cap="flat" cmpd="sng">
                <a:noFill/>
                <a:prstDash val="solid"/>
                <a:round/>
              </a:ln>
            </p:spPr>
            <p:txBody>
              <a:bodyPr vert="horz" wrap="square" lIns="0" tIns="0" rIns="0" bIns="0" rtlCol="0" anchor="ctr" anchorCtr="0">
                <a:noAutofit/>
              </a:bodyPr>
              <a:lstStyle/>
              <a:p>
                <a:pPr lvl="0" algn="l">
                  <a:lnSpc>
                    <a:spcPct val="108000"/>
                  </a:lnSpc>
                  <a:buClrTx/>
                  <a:buSzTx/>
                  <a:buFontTx/>
                  <a:defRPr/>
                </a:pPr>
                <a:r>
                  <a:rPr 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定义本体顶层架构框架</a:t>
                </a:r>
                <a:endParaRPr 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19"/>
              <p:cNvSpPr/>
              <p:nvPr/>
            </p:nvSpPr>
            <p:spPr>
              <a:xfrm>
                <a:off x="5486" y="3820"/>
                <a:ext cx="3460" cy="644"/>
              </a:xfrm>
              <a:prstGeom prst="roundRect">
                <a:avLst>
                  <a:gd name="adj" fmla="val 8333"/>
                </a:avLst>
              </a:prstGeom>
              <a:solidFill>
                <a:srgbClr val="FFFFFF">
                  <a:alpha val="5000"/>
                </a:srgbClr>
              </a:solidFill>
              <a:ln w="12700" cap="flat" cmpd="sng">
                <a:solidFill>
                  <a:srgbClr val="008CDC">
                    <a:alpha val="50000"/>
                  </a:srgbClr>
                </a:solidFill>
                <a:prstDash val="solid"/>
                <a:round/>
              </a:ln>
            </p:spPr>
            <p:txBody>
              <a:bodyPr vert="horz" wrap="square" lIns="63500" tIns="63500" rIns="63500" bIns="63500" rtlCol="0" anchor="ctr"/>
              <a:lstStyle/>
              <a:p>
                <a:pPr algn="ctr">
                  <a:defRPr/>
                </a:pPr>
                <a:endParaRPr sz="1800"/>
              </a:p>
            </p:txBody>
          </p:sp>
          <p:sp>
            <p:nvSpPr>
              <p:cNvPr id="24" name="AutoShape 20"/>
              <p:cNvSpPr/>
              <p:nvPr/>
            </p:nvSpPr>
            <p:spPr>
              <a:xfrm>
                <a:off x="5655" y="3874"/>
                <a:ext cx="3123" cy="214"/>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50BEFF"/>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r>
                  <a:rPr lang="en-US" sz="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本体设计</a:t>
                </a:r>
                <a:endParaRPr lang="en-US" sz="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1"/>
              <p:cNvSpPr/>
              <p:nvPr/>
            </p:nvSpPr>
            <p:spPr>
              <a:xfrm>
                <a:off x="5655" y="4124"/>
                <a:ext cx="3123" cy="286"/>
              </a:xfrm>
              <a:prstGeom prst="rect">
                <a:avLst/>
              </a:prstGeom>
              <a:noFill/>
              <a:ln w="12700" cap="flat" cmpd="sng">
                <a:noFill/>
                <a:prstDash val="solid"/>
                <a:round/>
              </a:ln>
            </p:spPr>
            <p:txBody>
              <a:bodyPr vert="horz" wrap="square" lIns="0" tIns="0" rIns="0" bIns="0" rtlCol="0" anchor="ctr" anchorCtr="0">
                <a:noAutofit/>
              </a:bodyPr>
              <a:lstStyle/>
              <a:p>
                <a:pPr lvl="0" algn="l">
                  <a:lnSpc>
                    <a:spcPct val="108000"/>
                  </a:lnSpc>
                  <a:buClrTx/>
                  <a:buSzTx/>
                  <a:buFontTx/>
                  <a:defRPr/>
                </a:pPr>
                <a:r>
                  <a:rPr 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设计核心类、属性与关系</a:t>
                </a:r>
                <a:endParaRPr 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6" name="AutoShape 32"/>
              <p:cNvSpPr/>
              <p:nvPr/>
            </p:nvSpPr>
            <p:spPr>
              <a:xfrm>
                <a:off x="1824" y="4986"/>
                <a:ext cx="3460" cy="644"/>
              </a:xfrm>
              <a:prstGeom prst="roundRect">
                <a:avLst>
                  <a:gd name="adj" fmla="val 8333"/>
                </a:avLst>
              </a:prstGeom>
              <a:solidFill>
                <a:srgbClr val="FFFFFF">
                  <a:alpha val="5000"/>
                </a:srgbClr>
              </a:solidFill>
              <a:ln w="12700" cap="flat" cmpd="sng">
                <a:solidFill>
                  <a:srgbClr val="C81E28">
                    <a:alpha val="50000"/>
                  </a:srgbClr>
                </a:solidFill>
                <a:prstDash val="solid"/>
                <a:round/>
              </a:ln>
            </p:spPr>
            <p:txBody>
              <a:bodyPr vert="horz" wrap="square" lIns="63500" tIns="63500" rIns="63500" bIns="63500" rtlCol="0" anchor="ctr"/>
              <a:lstStyle/>
              <a:p>
                <a:pPr algn="ctr">
                  <a:defRPr/>
                </a:pPr>
                <a:endParaRPr sz="1800"/>
              </a:p>
            </p:txBody>
          </p:sp>
          <p:sp>
            <p:nvSpPr>
              <p:cNvPr id="37" name="AutoShape 33"/>
              <p:cNvSpPr/>
              <p:nvPr/>
            </p:nvSpPr>
            <p:spPr>
              <a:xfrm>
                <a:off x="1992" y="5040"/>
                <a:ext cx="3123" cy="214"/>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787D"/>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r>
                  <a:rPr lang="en-US" sz="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生成BPMN</a:t>
                </a:r>
                <a:endParaRPr lang="en-US" sz="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8" name="AutoShape 34"/>
              <p:cNvSpPr/>
              <p:nvPr/>
            </p:nvSpPr>
            <p:spPr>
              <a:xfrm>
                <a:off x="1992" y="5291"/>
                <a:ext cx="3123" cy="286"/>
              </a:xfrm>
              <a:prstGeom prst="rect">
                <a:avLst/>
              </a:prstGeom>
              <a:noFill/>
              <a:ln w="12700" cap="flat" cmpd="sng">
                <a:noFill/>
                <a:prstDash val="solid"/>
                <a:round/>
              </a:ln>
            </p:spPr>
            <p:txBody>
              <a:bodyPr vert="horz" wrap="square" lIns="0" tIns="0" rIns="0" bIns="0" rtlCol="0" anchor="ctr" anchorCtr="0">
                <a:noAutofit/>
              </a:bodyPr>
              <a:lstStyle/>
              <a:p>
                <a:pPr lvl="0" algn="l">
                  <a:lnSpc>
                    <a:spcPct val="108000"/>
                  </a:lnSpc>
                  <a:buClrTx/>
                  <a:buSzTx/>
                  <a:buFontTx/>
                  <a:defRPr/>
                </a:pPr>
                <a:r>
                  <a:rPr 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按业务流程生成BPMN模型</a:t>
                </a:r>
                <a:endParaRPr 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9" name="AutoShape 35"/>
              <p:cNvSpPr/>
              <p:nvPr/>
            </p:nvSpPr>
            <p:spPr>
              <a:xfrm>
                <a:off x="5486" y="4986"/>
                <a:ext cx="3460" cy="644"/>
              </a:xfrm>
              <a:prstGeom prst="roundRect">
                <a:avLst>
                  <a:gd name="adj" fmla="val 8333"/>
                </a:avLst>
              </a:prstGeom>
              <a:solidFill>
                <a:srgbClr val="FFFFFF">
                  <a:alpha val="5000"/>
                </a:srgbClr>
              </a:solidFill>
              <a:ln w="12700" cap="flat" cmpd="sng">
                <a:solidFill>
                  <a:srgbClr val="C81E28">
                    <a:alpha val="50000"/>
                  </a:srgbClr>
                </a:solidFill>
                <a:prstDash val="solid"/>
                <a:round/>
              </a:ln>
            </p:spPr>
            <p:txBody>
              <a:bodyPr vert="horz" wrap="square" lIns="63500" tIns="63500" rIns="63500" bIns="63500" rtlCol="0" anchor="ctr"/>
              <a:lstStyle/>
              <a:p>
                <a:pPr algn="ctr">
                  <a:defRPr/>
                </a:pPr>
                <a:endParaRPr sz="1800"/>
              </a:p>
            </p:txBody>
          </p:sp>
          <p:sp>
            <p:nvSpPr>
              <p:cNvPr id="40" name="AutoShape 36"/>
              <p:cNvSpPr/>
              <p:nvPr/>
            </p:nvSpPr>
            <p:spPr>
              <a:xfrm>
                <a:off x="5655" y="5040"/>
                <a:ext cx="3123" cy="214"/>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787D"/>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r>
                  <a:rPr lang="en-US" sz="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步骤本体设计</a:t>
                </a:r>
                <a:endParaRPr lang="en-US" sz="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1" name="AutoShape 37"/>
              <p:cNvSpPr/>
              <p:nvPr/>
            </p:nvSpPr>
            <p:spPr>
              <a:xfrm>
                <a:off x="5655" y="5291"/>
                <a:ext cx="3123" cy="286"/>
              </a:xfrm>
              <a:prstGeom prst="rect">
                <a:avLst/>
              </a:prstGeom>
              <a:noFill/>
              <a:ln w="12700" cap="flat" cmpd="sng">
                <a:noFill/>
                <a:prstDash val="solid"/>
                <a:round/>
              </a:ln>
            </p:spPr>
            <p:txBody>
              <a:bodyPr vert="horz" wrap="square" lIns="0" tIns="0" rIns="0" bIns="0" rtlCol="0" anchor="ctr" anchorCtr="0">
                <a:noAutofit/>
              </a:bodyPr>
              <a:lstStyle/>
              <a:p>
                <a:pPr lvl="0" algn="l">
                  <a:lnSpc>
                    <a:spcPct val="108000"/>
                  </a:lnSpc>
                  <a:buClrTx/>
                  <a:buSzTx/>
                  <a:buFontTx/>
                  <a:defRPr/>
                </a:pPr>
                <a:r>
                  <a:rPr 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逐步骤设计TBox（单文件）</a:t>
                </a:r>
                <a:endParaRPr 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2" name="AutoShape 38"/>
              <p:cNvSpPr/>
              <p:nvPr/>
            </p:nvSpPr>
            <p:spPr>
              <a:xfrm>
                <a:off x="1823" y="5893"/>
                <a:ext cx="3460" cy="644"/>
              </a:xfrm>
              <a:prstGeom prst="roundRect">
                <a:avLst>
                  <a:gd name="adj" fmla="val 8333"/>
                </a:avLst>
              </a:prstGeom>
              <a:solidFill>
                <a:srgbClr val="FFFFFF">
                  <a:alpha val="5000"/>
                </a:srgbClr>
              </a:solidFill>
              <a:ln w="12700" cap="flat" cmpd="sng">
                <a:solidFill>
                  <a:srgbClr val="C81E28">
                    <a:alpha val="50000"/>
                  </a:srgbClr>
                </a:solidFill>
                <a:prstDash val="solid"/>
                <a:round/>
              </a:ln>
            </p:spPr>
            <p:txBody>
              <a:bodyPr vert="horz" wrap="square" lIns="63500" tIns="63500" rIns="63500" bIns="63500" rtlCol="0" anchor="ctr"/>
              <a:lstStyle/>
              <a:p>
                <a:pPr algn="ctr">
                  <a:defRPr/>
                </a:pPr>
                <a:endParaRPr sz="1800"/>
              </a:p>
            </p:txBody>
          </p:sp>
          <p:sp>
            <p:nvSpPr>
              <p:cNvPr id="43" name="AutoShape 39"/>
              <p:cNvSpPr/>
              <p:nvPr/>
            </p:nvSpPr>
            <p:spPr>
              <a:xfrm>
                <a:off x="1992" y="5948"/>
                <a:ext cx="3123" cy="214"/>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787D"/>
                    </a:solidFill>
                    <a:latin typeface="Noto Sans SC" panose="020B0200000000000000" charset="-122"/>
                    <a:ea typeface="Noto Sans SC" panose="020B0200000000000000" charset="-122"/>
                    <a:cs typeface="Noto Sans SC" panose="020B0200000000000000" charset="-122"/>
                    <a:sym typeface="Noto Sans SC" panose="020B0200000000000000" charset="-122"/>
                  </a:rPr>
                  <a:t>07</a:t>
                </a:r>
                <a:r>
                  <a:rPr lang="en-US" sz="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处理程序设计</a:t>
                </a:r>
                <a:endParaRPr lang="en-US" sz="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4" name="AutoShape 40"/>
              <p:cNvSpPr/>
              <p:nvPr/>
            </p:nvSpPr>
            <p:spPr>
              <a:xfrm>
                <a:off x="1992" y="6198"/>
                <a:ext cx="3123" cy="286"/>
              </a:xfrm>
              <a:prstGeom prst="rect">
                <a:avLst/>
              </a:prstGeom>
              <a:noFill/>
              <a:ln w="12700" cap="flat" cmpd="sng">
                <a:noFill/>
                <a:prstDash val="solid"/>
                <a:round/>
              </a:ln>
            </p:spPr>
            <p:txBody>
              <a:bodyPr vert="horz" wrap="square" lIns="0" tIns="0" rIns="0" bIns="0" rtlCol="0" anchor="ctr" anchorCtr="0">
                <a:noAutofit/>
              </a:bodyPr>
              <a:lstStyle/>
              <a:p>
                <a:pPr lvl="0" algn="l">
                  <a:lnSpc>
                    <a:spcPct val="108000"/>
                  </a:lnSpc>
                  <a:buClrTx/>
                  <a:buSzTx/>
                  <a:buFontTx/>
                  <a:defRPr/>
                </a:pPr>
                <a:r>
                  <a:rPr 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驱动框架开发对应处理器</a:t>
                </a:r>
                <a:endParaRPr 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5" name="AutoShape 41"/>
              <p:cNvSpPr/>
              <p:nvPr/>
            </p:nvSpPr>
            <p:spPr>
              <a:xfrm>
                <a:off x="5485" y="5893"/>
                <a:ext cx="3460" cy="644"/>
              </a:xfrm>
              <a:prstGeom prst="roundRect">
                <a:avLst>
                  <a:gd name="adj" fmla="val 8333"/>
                </a:avLst>
              </a:prstGeom>
              <a:solidFill>
                <a:srgbClr val="FFFFFF">
                  <a:alpha val="5000"/>
                </a:srgbClr>
              </a:solidFill>
              <a:ln w="12700" cap="flat" cmpd="sng">
                <a:solidFill>
                  <a:srgbClr val="C81E28">
                    <a:alpha val="50000"/>
                  </a:srgbClr>
                </a:solidFill>
                <a:prstDash val="solid"/>
                <a:round/>
              </a:ln>
            </p:spPr>
            <p:txBody>
              <a:bodyPr vert="horz" wrap="square" lIns="63500" tIns="63500" rIns="63500" bIns="63500" rtlCol="0" anchor="ctr"/>
              <a:lstStyle/>
              <a:p>
                <a:pPr algn="ctr">
                  <a:defRPr/>
                </a:pPr>
                <a:endParaRPr sz="1800"/>
              </a:p>
            </p:txBody>
          </p:sp>
          <p:sp>
            <p:nvSpPr>
              <p:cNvPr id="46" name="AutoShape 42"/>
              <p:cNvSpPr/>
              <p:nvPr/>
            </p:nvSpPr>
            <p:spPr>
              <a:xfrm>
                <a:off x="5654" y="5948"/>
                <a:ext cx="3123" cy="214"/>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787D"/>
                    </a:solidFill>
                    <a:latin typeface="Noto Sans SC" panose="020B0200000000000000" charset="-122"/>
                    <a:ea typeface="Noto Sans SC" panose="020B0200000000000000" charset="-122"/>
                    <a:cs typeface="Noto Sans SC" panose="020B0200000000000000" charset="-122"/>
                    <a:sym typeface="Noto Sans SC" panose="020B0200000000000000" charset="-122"/>
                  </a:rPr>
                  <a:t>08</a:t>
                </a:r>
                <a:r>
                  <a:rPr lang="en-US" sz="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Junit测试</a:t>
                </a:r>
                <a:endParaRPr lang="en-US" sz="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7" name="AutoShape 43"/>
              <p:cNvSpPr/>
              <p:nvPr/>
            </p:nvSpPr>
            <p:spPr>
              <a:xfrm>
                <a:off x="5654" y="6198"/>
                <a:ext cx="3123" cy="286"/>
              </a:xfrm>
              <a:prstGeom prst="rect">
                <a:avLst/>
              </a:prstGeom>
              <a:noFill/>
              <a:ln w="12700" cap="flat" cmpd="sng">
                <a:noFill/>
                <a:prstDash val="solid"/>
                <a:round/>
              </a:ln>
            </p:spPr>
            <p:txBody>
              <a:bodyPr vert="horz" wrap="square" lIns="0" tIns="0" rIns="0" bIns="0" rtlCol="0" anchor="ctr" anchorCtr="0">
                <a:noAutofit/>
              </a:bodyPr>
              <a:lstStyle/>
              <a:p>
                <a:pPr lvl="0" algn="l">
                  <a:lnSpc>
                    <a:spcPct val="108000"/>
                  </a:lnSpc>
                  <a:buClrTx/>
                  <a:buSzTx/>
                  <a:buFontTx/>
                  <a:defRPr/>
                </a:pPr>
                <a:r>
                  <a:rPr 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典型实例+单元测试调试</a:t>
                </a:r>
                <a:endParaRPr 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8" name="AutoShape 54"/>
              <p:cNvSpPr/>
              <p:nvPr/>
            </p:nvSpPr>
            <p:spPr>
              <a:xfrm>
                <a:off x="1787" y="6934"/>
                <a:ext cx="3460" cy="644"/>
              </a:xfrm>
              <a:prstGeom prst="roundRect">
                <a:avLst>
                  <a:gd name="adj" fmla="val 8333"/>
                </a:avLst>
              </a:prstGeom>
              <a:solidFill>
                <a:srgbClr val="FFFFFF">
                  <a:alpha val="5000"/>
                </a:srgbClr>
              </a:solidFill>
              <a:ln w="12700" cap="flat" cmpd="sng">
                <a:solidFill>
                  <a:srgbClr val="00AAB4">
                    <a:alpha val="50000"/>
                  </a:srgbClr>
                </a:solidFill>
                <a:prstDash val="solid"/>
                <a:round/>
              </a:ln>
            </p:spPr>
            <p:txBody>
              <a:bodyPr vert="horz" wrap="square" lIns="63500" tIns="63500" rIns="63500" bIns="63500" rtlCol="0" anchor="ctr"/>
              <a:lstStyle/>
              <a:p>
                <a:pPr algn="ctr">
                  <a:defRPr/>
                </a:pPr>
                <a:endParaRPr sz="1800"/>
              </a:p>
            </p:txBody>
          </p:sp>
          <p:sp>
            <p:nvSpPr>
              <p:cNvPr id="59" name="AutoShape 55"/>
              <p:cNvSpPr/>
              <p:nvPr/>
            </p:nvSpPr>
            <p:spPr>
              <a:xfrm>
                <a:off x="1955" y="6988"/>
                <a:ext cx="3123" cy="214"/>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50D2D7"/>
                    </a:solidFill>
                    <a:latin typeface="Noto Sans SC" panose="020B0200000000000000" charset="-122"/>
                    <a:ea typeface="Noto Sans SC" panose="020B0200000000000000" charset="-122"/>
                    <a:cs typeface="Noto Sans SC" panose="020B0200000000000000" charset="-122"/>
                    <a:sym typeface="Noto Sans SC" panose="020B0200000000000000" charset="-122"/>
                  </a:rPr>
                  <a:t>09</a:t>
                </a:r>
                <a:r>
                  <a:rPr lang="en-US" sz="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TBox/ABox分离</a:t>
                </a:r>
                <a:endParaRPr lang="en-US" sz="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0" name="AutoShape 56"/>
              <p:cNvSpPr/>
              <p:nvPr/>
            </p:nvSpPr>
            <p:spPr>
              <a:xfrm>
                <a:off x="1955" y="7238"/>
                <a:ext cx="3123" cy="286"/>
              </a:xfrm>
              <a:prstGeom prst="rect">
                <a:avLst/>
              </a:prstGeom>
              <a:noFill/>
              <a:ln w="12700" cap="flat" cmpd="sng">
                <a:noFill/>
                <a:prstDash val="solid"/>
                <a:round/>
              </a:ln>
            </p:spPr>
            <p:txBody>
              <a:bodyPr vert="horz" wrap="square" lIns="0" tIns="0" rIns="0" bIns="0" rtlCol="0" anchor="ctr" anchorCtr="0">
                <a:noAutofit/>
              </a:bodyPr>
              <a:lstStyle/>
              <a:p>
                <a:pPr lvl="0" algn="l">
                  <a:lnSpc>
                    <a:spcPct val="108000"/>
                  </a:lnSpc>
                  <a:buClrTx/>
                  <a:buSzTx/>
                  <a:buFontTx/>
                  <a:defRPr/>
                </a:pPr>
                <a:r>
                  <a:rPr 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分离架构</a:t>
                </a:r>
                <a:r>
                  <a:rPr lang="zh-CN" alt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与数据</a:t>
                </a:r>
                <a:r>
                  <a:rPr 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，确保Junit全通过</a:t>
                </a:r>
                <a:endParaRPr 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1" name="AutoShape 57"/>
              <p:cNvSpPr/>
              <p:nvPr/>
            </p:nvSpPr>
            <p:spPr>
              <a:xfrm>
                <a:off x="5449" y="6934"/>
                <a:ext cx="3460" cy="644"/>
              </a:xfrm>
              <a:prstGeom prst="roundRect">
                <a:avLst>
                  <a:gd name="adj" fmla="val 8333"/>
                </a:avLst>
              </a:prstGeom>
              <a:solidFill>
                <a:srgbClr val="FFFFFF">
                  <a:alpha val="5000"/>
                </a:srgbClr>
              </a:solidFill>
              <a:ln w="12700" cap="flat" cmpd="sng">
                <a:solidFill>
                  <a:srgbClr val="00AAB4">
                    <a:alpha val="50000"/>
                  </a:srgbClr>
                </a:solidFill>
                <a:prstDash val="solid"/>
                <a:round/>
              </a:ln>
            </p:spPr>
            <p:txBody>
              <a:bodyPr vert="horz" wrap="square" lIns="63500" tIns="63500" rIns="63500" bIns="63500" rtlCol="0" anchor="ctr"/>
              <a:lstStyle/>
              <a:p>
                <a:pPr algn="ctr">
                  <a:defRPr/>
                </a:pPr>
                <a:endParaRPr sz="1800"/>
              </a:p>
            </p:txBody>
          </p:sp>
          <p:sp>
            <p:nvSpPr>
              <p:cNvPr id="62" name="AutoShape 58"/>
              <p:cNvSpPr/>
              <p:nvPr/>
            </p:nvSpPr>
            <p:spPr>
              <a:xfrm>
                <a:off x="5618" y="6988"/>
                <a:ext cx="3123" cy="214"/>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50D2D7"/>
                    </a:solidFill>
                    <a:latin typeface="Noto Sans SC" panose="020B0200000000000000" charset="-122"/>
                    <a:ea typeface="Noto Sans SC" panose="020B0200000000000000" charset="-122"/>
                    <a:cs typeface="Noto Sans SC" panose="020B0200000000000000" charset="-122"/>
                    <a:sym typeface="Noto Sans SC" panose="020B0200000000000000" charset="-122"/>
                  </a:rPr>
                  <a:t>10</a:t>
                </a:r>
                <a:r>
                  <a:rPr lang="en-US" sz="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TBox拆分</a:t>
                </a:r>
                <a:endParaRPr lang="en-US" sz="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3" name="AutoShape 59"/>
              <p:cNvSpPr/>
              <p:nvPr/>
            </p:nvSpPr>
            <p:spPr>
              <a:xfrm>
                <a:off x="5618" y="7238"/>
                <a:ext cx="3123" cy="286"/>
              </a:xfrm>
              <a:prstGeom prst="rect">
                <a:avLst/>
              </a:prstGeom>
              <a:noFill/>
              <a:ln w="12700" cap="flat" cmpd="sng">
                <a:noFill/>
                <a:prstDash val="solid"/>
                <a:round/>
              </a:ln>
            </p:spPr>
            <p:txBody>
              <a:bodyPr vert="horz" wrap="square" lIns="0" tIns="0" rIns="0" bIns="0" rtlCol="0" anchor="ctr" anchorCtr="0">
                <a:noAutofit/>
              </a:bodyPr>
              <a:lstStyle/>
              <a:p>
                <a:pPr lvl="0" algn="l">
                  <a:lnSpc>
                    <a:spcPct val="108000"/>
                  </a:lnSpc>
                  <a:buClrTx/>
                  <a:buSzTx/>
                  <a:buFontTx/>
                  <a:defRPr/>
                </a:pPr>
                <a:r>
                  <a:rPr 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TBox过大</a:t>
                </a:r>
                <a:r>
                  <a:rPr lang="zh-CN" alt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，拆分为</a:t>
                </a:r>
                <a:r>
                  <a:rPr lang="zh-CN" alt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多个高内聚本体</a:t>
                </a:r>
                <a:endParaRPr 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4" name="AutoShape 60"/>
              <p:cNvSpPr/>
              <p:nvPr/>
            </p:nvSpPr>
            <p:spPr>
              <a:xfrm>
                <a:off x="1787" y="7784"/>
                <a:ext cx="3460" cy="644"/>
              </a:xfrm>
              <a:prstGeom prst="roundRect">
                <a:avLst>
                  <a:gd name="adj" fmla="val 8333"/>
                </a:avLst>
              </a:prstGeom>
              <a:solidFill>
                <a:srgbClr val="FFFFFF">
                  <a:alpha val="5000"/>
                </a:srgbClr>
              </a:solidFill>
              <a:ln w="12700" cap="flat" cmpd="sng">
                <a:solidFill>
                  <a:srgbClr val="00AAB4">
                    <a:alpha val="50000"/>
                  </a:srgbClr>
                </a:solidFill>
                <a:prstDash val="solid"/>
                <a:round/>
              </a:ln>
            </p:spPr>
            <p:txBody>
              <a:bodyPr vert="horz" wrap="square" lIns="63500" tIns="63500" rIns="63500" bIns="63500" rtlCol="0" anchor="ctr"/>
              <a:lstStyle/>
              <a:p>
                <a:pPr algn="ctr">
                  <a:defRPr/>
                </a:pPr>
                <a:endParaRPr sz="1800"/>
              </a:p>
            </p:txBody>
          </p:sp>
          <p:sp>
            <p:nvSpPr>
              <p:cNvPr id="65" name="AutoShape 61"/>
              <p:cNvSpPr/>
              <p:nvPr/>
            </p:nvSpPr>
            <p:spPr>
              <a:xfrm>
                <a:off x="1956" y="7838"/>
                <a:ext cx="3123" cy="214"/>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50D2D7"/>
                    </a:solidFill>
                    <a:latin typeface="Noto Sans SC" panose="020B0200000000000000" charset="-122"/>
                    <a:ea typeface="Noto Sans SC" panose="020B0200000000000000" charset="-122"/>
                    <a:cs typeface="Noto Sans SC" panose="020B0200000000000000" charset="-122"/>
                    <a:sym typeface="Noto Sans SC" panose="020B0200000000000000" charset="-122"/>
                  </a:rPr>
                  <a:t>11</a:t>
                </a:r>
                <a:r>
                  <a:rPr lang="en-US" sz="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ABox入库+OBDA</a:t>
                </a:r>
                <a:endParaRPr lang="en-US" sz="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6" name="AutoShape 62"/>
              <p:cNvSpPr/>
              <p:nvPr/>
            </p:nvSpPr>
            <p:spPr>
              <a:xfrm>
                <a:off x="1956" y="8088"/>
                <a:ext cx="3123" cy="286"/>
              </a:xfrm>
              <a:prstGeom prst="rect">
                <a:avLst/>
              </a:prstGeom>
              <a:noFill/>
              <a:ln w="12700" cap="flat" cmpd="sng">
                <a:noFill/>
                <a:prstDash val="solid"/>
                <a:round/>
              </a:ln>
            </p:spPr>
            <p:txBody>
              <a:bodyPr vert="horz" wrap="square" lIns="0" tIns="0" rIns="0" bIns="0" rtlCol="0" anchor="ctr" anchorCtr="0">
                <a:noAutofit/>
              </a:bodyPr>
              <a:lstStyle/>
              <a:p>
                <a:pPr lvl="0" algn="l">
                  <a:lnSpc>
                    <a:spcPct val="108000"/>
                  </a:lnSpc>
                  <a:buClrTx/>
                  <a:buSzTx/>
                  <a:buFontTx/>
                  <a:defRPr/>
                </a:pPr>
                <a:r>
                  <a:rPr lang="zh-CN" alt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实例数据（</a:t>
                </a:r>
                <a:r>
                  <a:rPr lang="en-US" altLang="zh-CN"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ABox</a:t>
                </a:r>
                <a:r>
                  <a:rPr lang="zh-CN" alt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导入数据库</a:t>
                </a:r>
                <a:endParaRPr 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7" name="AutoShape 63"/>
              <p:cNvSpPr/>
              <p:nvPr/>
            </p:nvSpPr>
            <p:spPr>
              <a:xfrm>
                <a:off x="5449" y="7784"/>
                <a:ext cx="3460" cy="644"/>
              </a:xfrm>
              <a:prstGeom prst="roundRect">
                <a:avLst>
                  <a:gd name="adj" fmla="val 8333"/>
                </a:avLst>
              </a:prstGeom>
              <a:solidFill>
                <a:srgbClr val="FFFFFF">
                  <a:alpha val="5000"/>
                </a:srgbClr>
              </a:solidFill>
              <a:ln w="12700" cap="flat" cmpd="sng">
                <a:solidFill>
                  <a:srgbClr val="00AAB4">
                    <a:alpha val="50000"/>
                  </a:srgbClr>
                </a:solidFill>
                <a:prstDash val="solid"/>
                <a:round/>
              </a:ln>
            </p:spPr>
            <p:txBody>
              <a:bodyPr vert="horz" wrap="square" lIns="63500" tIns="63500" rIns="63500" bIns="63500" rtlCol="0" anchor="ctr"/>
              <a:lstStyle/>
              <a:p>
                <a:pPr algn="ctr">
                  <a:defRPr/>
                </a:pPr>
                <a:endParaRPr sz="1800"/>
              </a:p>
            </p:txBody>
          </p:sp>
          <p:sp>
            <p:nvSpPr>
              <p:cNvPr id="68" name="AutoShape 64"/>
              <p:cNvSpPr/>
              <p:nvPr/>
            </p:nvSpPr>
            <p:spPr>
              <a:xfrm>
                <a:off x="5618" y="7838"/>
                <a:ext cx="3123" cy="214"/>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50D2D7"/>
                    </a:solidFill>
                    <a:latin typeface="Noto Sans SC" panose="020B0200000000000000" charset="-122"/>
                    <a:ea typeface="Noto Sans SC" panose="020B0200000000000000" charset="-122"/>
                    <a:cs typeface="Noto Sans SC" panose="020B0200000000000000" charset="-122"/>
                    <a:sym typeface="Noto Sans SC" panose="020B0200000000000000" charset="-122"/>
                  </a:rPr>
                  <a:t>12</a:t>
                </a:r>
                <a:r>
                  <a:rPr lang="en-US" sz="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扩充ABox</a:t>
                </a:r>
                <a:endParaRPr lang="en-US" sz="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9" name="AutoShape 65"/>
              <p:cNvSpPr/>
              <p:nvPr/>
            </p:nvSpPr>
            <p:spPr>
              <a:xfrm>
                <a:off x="5618" y="8088"/>
                <a:ext cx="3123" cy="286"/>
              </a:xfrm>
              <a:prstGeom prst="rect">
                <a:avLst/>
              </a:prstGeom>
              <a:noFill/>
              <a:ln w="12700" cap="flat" cmpd="sng">
                <a:noFill/>
                <a:prstDash val="solid"/>
                <a:round/>
              </a:ln>
            </p:spPr>
            <p:txBody>
              <a:bodyPr vert="horz" wrap="square" lIns="0" tIns="0" rIns="0" bIns="0" rtlCol="0" anchor="ctr" anchorCtr="0">
                <a:noAutofit/>
              </a:bodyPr>
              <a:lstStyle/>
              <a:p>
                <a:pPr lvl="0" algn="l">
                  <a:lnSpc>
                    <a:spcPct val="108000"/>
                  </a:lnSpc>
                  <a:buClrTx/>
                  <a:buSzTx/>
                  <a:buFontTx/>
                  <a:defRPr/>
                </a:pPr>
                <a:r>
                  <a:rPr 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扩展至完整业务数据集</a:t>
                </a:r>
                <a:endParaRPr 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0" name="AutoShape 76"/>
              <p:cNvSpPr/>
              <p:nvPr/>
            </p:nvSpPr>
            <p:spPr>
              <a:xfrm>
                <a:off x="1796" y="8839"/>
                <a:ext cx="3460" cy="644"/>
              </a:xfrm>
              <a:prstGeom prst="roundRect">
                <a:avLst>
                  <a:gd name="adj" fmla="val 8333"/>
                </a:avLst>
              </a:prstGeom>
              <a:solidFill>
                <a:srgbClr val="FFFFFF">
                  <a:alpha val="5000"/>
                </a:srgbClr>
              </a:solidFill>
              <a:ln w="12700" cap="flat" cmpd="sng">
                <a:solidFill>
                  <a:srgbClr val="DCAA32">
                    <a:alpha val="50000"/>
                  </a:srgbClr>
                </a:solidFill>
                <a:prstDash val="solid"/>
                <a:round/>
              </a:ln>
            </p:spPr>
            <p:txBody>
              <a:bodyPr vert="horz" wrap="square" lIns="63500" tIns="63500" rIns="63500" bIns="63500" rtlCol="0" anchor="ctr"/>
              <a:lstStyle/>
              <a:p>
                <a:pPr algn="ctr">
                  <a:defRPr/>
                </a:pPr>
                <a:endParaRPr sz="1800"/>
              </a:p>
            </p:txBody>
          </p:sp>
          <p:sp>
            <p:nvSpPr>
              <p:cNvPr id="81" name="AutoShape 77"/>
              <p:cNvSpPr/>
              <p:nvPr/>
            </p:nvSpPr>
            <p:spPr>
              <a:xfrm>
                <a:off x="1965" y="8893"/>
                <a:ext cx="3123" cy="214"/>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0C864"/>
                    </a:solidFill>
                    <a:latin typeface="Noto Sans SC" panose="020B0200000000000000" charset="-122"/>
                    <a:ea typeface="Noto Sans SC" panose="020B0200000000000000" charset="-122"/>
                    <a:cs typeface="Noto Sans SC" panose="020B0200000000000000" charset="-122"/>
                    <a:sym typeface="Noto Sans SC" panose="020B0200000000000000" charset="-122"/>
                  </a:rPr>
                  <a:t>13</a:t>
                </a:r>
                <a:r>
                  <a:rPr lang="en-US" sz="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构建词汇表</a:t>
                </a:r>
                <a:endParaRPr lang="en-US" sz="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2" name="AutoShape 78"/>
              <p:cNvSpPr/>
              <p:nvPr/>
            </p:nvSpPr>
            <p:spPr>
              <a:xfrm>
                <a:off x="1965" y="9143"/>
                <a:ext cx="3123" cy="286"/>
              </a:xfrm>
              <a:prstGeom prst="rect">
                <a:avLst/>
              </a:prstGeom>
              <a:noFill/>
              <a:ln w="12700" cap="flat" cmpd="sng">
                <a:noFill/>
                <a:prstDash val="solid"/>
                <a:round/>
              </a:ln>
            </p:spPr>
            <p:txBody>
              <a:bodyPr vert="horz" wrap="square" lIns="0" tIns="0" rIns="0" bIns="0" rtlCol="0" anchor="ctr" anchorCtr="0">
                <a:noAutofit/>
              </a:bodyPr>
              <a:lstStyle/>
              <a:p>
                <a:pPr lvl="0" algn="l">
                  <a:lnSpc>
                    <a:spcPct val="108000"/>
                  </a:lnSpc>
                  <a:buClrTx/>
                  <a:buSzTx/>
                  <a:buFontTx/>
                  <a:defRPr/>
                </a:pPr>
                <a:r>
                  <a:rPr 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建立领域词汇映射表</a:t>
                </a:r>
                <a:endParaRPr 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3" name="AutoShape 79"/>
              <p:cNvSpPr/>
              <p:nvPr/>
            </p:nvSpPr>
            <p:spPr>
              <a:xfrm>
                <a:off x="5458" y="8839"/>
                <a:ext cx="3460" cy="644"/>
              </a:xfrm>
              <a:prstGeom prst="roundRect">
                <a:avLst>
                  <a:gd name="adj" fmla="val 8333"/>
                </a:avLst>
              </a:prstGeom>
              <a:solidFill>
                <a:srgbClr val="FFFFFF">
                  <a:alpha val="5000"/>
                </a:srgbClr>
              </a:solidFill>
              <a:ln w="12700" cap="flat" cmpd="sng">
                <a:solidFill>
                  <a:srgbClr val="DCAA32">
                    <a:alpha val="50000"/>
                  </a:srgbClr>
                </a:solidFill>
                <a:prstDash val="solid"/>
                <a:round/>
              </a:ln>
            </p:spPr>
            <p:txBody>
              <a:bodyPr vert="horz" wrap="square" lIns="63500" tIns="63500" rIns="63500" bIns="63500" rtlCol="0" anchor="ctr"/>
              <a:lstStyle/>
              <a:p>
                <a:pPr algn="ctr">
                  <a:defRPr/>
                </a:pPr>
                <a:endParaRPr sz="1800"/>
              </a:p>
            </p:txBody>
          </p:sp>
          <p:sp>
            <p:nvSpPr>
              <p:cNvPr id="84" name="AutoShape 80"/>
              <p:cNvSpPr/>
              <p:nvPr/>
            </p:nvSpPr>
            <p:spPr>
              <a:xfrm>
                <a:off x="5627" y="8893"/>
                <a:ext cx="3123" cy="214"/>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0C864"/>
                    </a:solidFill>
                    <a:latin typeface="Noto Sans SC" panose="020B0200000000000000" charset="-122"/>
                    <a:ea typeface="Noto Sans SC" panose="020B0200000000000000" charset="-122"/>
                    <a:cs typeface="Noto Sans SC" panose="020B0200000000000000" charset="-122"/>
                    <a:sym typeface="Noto Sans SC" panose="020B0200000000000000" charset="-122"/>
                  </a:rPr>
                  <a:t>14</a:t>
                </a:r>
                <a:r>
                  <a:rPr lang="en-US" sz="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完整测试</a:t>
                </a:r>
                <a:endParaRPr lang="en-US" sz="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5" name="AutoShape 81"/>
              <p:cNvSpPr/>
              <p:nvPr/>
            </p:nvSpPr>
            <p:spPr>
              <a:xfrm>
                <a:off x="5627" y="9143"/>
                <a:ext cx="3123" cy="286"/>
              </a:xfrm>
              <a:prstGeom prst="rect">
                <a:avLst/>
              </a:prstGeom>
              <a:noFill/>
              <a:ln w="12700" cap="flat" cmpd="sng">
                <a:noFill/>
                <a:prstDash val="solid"/>
                <a:round/>
              </a:ln>
            </p:spPr>
            <p:txBody>
              <a:bodyPr vert="horz" wrap="square" lIns="0" tIns="0" rIns="0" bIns="0" rtlCol="0" anchor="ctr" anchorCtr="0">
                <a:noAutofit/>
              </a:bodyPr>
              <a:lstStyle/>
              <a:p>
                <a:pPr lvl="0" algn="l">
                  <a:lnSpc>
                    <a:spcPct val="108000"/>
                  </a:lnSpc>
                  <a:buClrTx/>
                  <a:buSzTx/>
                  <a:buFontTx/>
                  <a:defRPr/>
                </a:pPr>
                <a:r>
                  <a:rPr 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全流程集成测试与验证交付</a:t>
                </a:r>
                <a:endParaRPr lang="en-US" sz="9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 name="直接箭头连接符 1"/>
              <p:cNvCxnSpPr>
                <a:stCxn id="14" idx="3"/>
                <a:endCxn id="17" idx="1"/>
              </p:cNvCxnSpPr>
              <p:nvPr/>
            </p:nvCxnSpPr>
            <p:spPr>
              <a:xfrm>
                <a:off x="5309" y="3294"/>
                <a:ext cx="203"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3" name="肘形连接符 2"/>
              <p:cNvCxnSpPr>
                <a:stCxn id="17" idx="3"/>
                <a:endCxn id="20" idx="1"/>
              </p:cNvCxnSpPr>
              <p:nvPr/>
            </p:nvCxnSpPr>
            <p:spPr>
              <a:xfrm flipH="1">
                <a:off x="1824" y="3294"/>
                <a:ext cx="7147" cy="849"/>
              </a:xfrm>
              <a:prstGeom prst="bentConnector5">
                <a:avLst>
                  <a:gd name="adj1" fmla="val -4767"/>
                  <a:gd name="adj2" fmla="val 49931"/>
                  <a:gd name="adj3" fmla="val 104767"/>
                </a:avLst>
              </a:prstGeom>
              <a:ln>
                <a:tailEnd type="arrow"/>
              </a:ln>
            </p:spPr>
            <p:style>
              <a:lnRef idx="2">
                <a:schemeClr val="accent1"/>
              </a:lnRef>
              <a:fillRef idx="0">
                <a:srgbClr val="FFFFFF"/>
              </a:fillRef>
              <a:effectRef idx="0">
                <a:srgbClr val="FFFFFF"/>
              </a:effectRef>
              <a:fontRef idx="minor">
                <a:schemeClr val="tx1"/>
              </a:fontRef>
            </p:style>
          </p:cxnSp>
          <p:cxnSp>
            <p:nvCxnSpPr>
              <p:cNvPr id="4" name="直接箭头连接符 3"/>
              <p:cNvCxnSpPr>
                <a:stCxn id="20" idx="3"/>
                <a:endCxn id="23" idx="1"/>
              </p:cNvCxnSpPr>
              <p:nvPr/>
            </p:nvCxnSpPr>
            <p:spPr>
              <a:xfrm>
                <a:off x="5283" y="4143"/>
                <a:ext cx="203"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88" name="肘形连接符 87"/>
              <p:cNvCxnSpPr>
                <a:stCxn id="23" idx="3"/>
                <a:endCxn id="36" idx="1"/>
              </p:cNvCxnSpPr>
              <p:nvPr/>
            </p:nvCxnSpPr>
            <p:spPr>
              <a:xfrm flipH="1">
                <a:off x="1824" y="4143"/>
                <a:ext cx="7122" cy="1166"/>
              </a:xfrm>
              <a:prstGeom prst="bentConnector5">
                <a:avLst>
                  <a:gd name="adj1" fmla="val -4784"/>
                  <a:gd name="adj2" fmla="val 49950"/>
                  <a:gd name="adj3" fmla="val 104784"/>
                </a:avLst>
              </a:prstGeom>
              <a:ln>
                <a:tailEnd type="arrow"/>
              </a:ln>
            </p:spPr>
            <p:style>
              <a:lnRef idx="2">
                <a:schemeClr val="accent1"/>
              </a:lnRef>
              <a:fillRef idx="0">
                <a:srgbClr val="FFFFFF"/>
              </a:fillRef>
              <a:effectRef idx="0">
                <a:srgbClr val="FFFFFF"/>
              </a:effectRef>
              <a:fontRef idx="minor">
                <a:schemeClr val="tx1"/>
              </a:fontRef>
            </p:style>
          </p:cxnSp>
          <p:cxnSp>
            <p:nvCxnSpPr>
              <p:cNvPr id="89" name="肘形连接符 88"/>
              <p:cNvCxnSpPr>
                <a:stCxn id="39" idx="3"/>
                <a:endCxn id="42" idx="1"/>
              </p:cNvCxnSpPr>
              <p:nvPr/>
            </p:nvCxnSpPr>
            <p:spPr>
              <a:xfrm flipH="1">
                <a:off x="1823" y="5308"/>
                <a:ext cx="7123" cy="907"/>
              </a:xfrm>
              <a:prstGeom prst="bentConnector5">
                <a:avLst>
                  <a:gd name="adj1" fmla="val -4783"/>
                  <a:gd name="adj2" fmla="val 49936"/>
                  <a:gd name="adj3" fmla="val 104783"/>
                </a:avLst>
              </a:prstGeom>
              <a:ln>
                <a:tailEnd type="arrow"/>
              </a:ln>
            </p:spPr>
            <p:style>
              <a:lnRef idx="2">
                <a:schemeClr val="accent1"/>
              </a:lnRef>
              <a:fillRef idx="0">
                <a:srgbClr val="FFFFFF"/>
              </a:fillRef>
              <a:effectRef idx="0">
                <a:srgbClr val="FFFFFF"/>
              </a:effectRef>
              <a:fontRef idx="minor">
                <a:schemeClr val="tx1"/>
              </a:fontRef>
            </p:style>
          </p:cxnSp>
          <p:cxnSp>
            <p:nvCxnSpPr>
              <p:cNvPr id="90" name="直接箭头连接符 89"/>
              <p:cNvCxnSpPr>
                <a:stCxn id="36" idx="3"/>
                <a:endCxn id="39" idx="1"/>
              </p:cNvCxnSpPr>
              <p:nvPr/>
            </p:nvCxnSpPr>
            <p:spPr>
              <a:xfrm>
                <a:off x="5283" y="5308"/>
                <a:ext cx="203"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91" name="直接箭头连接符 90"/>
              <p:cNvCxnSpPr>
                <a:stCxn id="42" idx="3"/>
                <a:endCxn id="45" idx="1"/>
              </p:cNvCxnSpPr>
              <p:nvPr/>
            </p:nvCxnSpPr>
            <p:spPr>
              <a:xfrm>
                <a:off x="5282" y="6215"/>
                <a:ext cx="203"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92" name="肘形连接符 91"/>
              <p:cNvCxnSpPr>
                <a:stCxn id="45" idx="3"/>
                <a:endCxn id="58" idx="1"/>
              </p:cNvCxnSpPr>
              <p:nvPr/>
            </p:nvCxnSpPr>
            <p:spPr>
              <a:xfrm flipH="1">
                <a:off x="1787" y="6215"/>
                <a:ext cx="7158" cy="1041"/>
              </a:xfrm>
              <a:prstGeom prst="bentConnector5">
                <a:avLst>
                  <a:gd name="adj1" fmla="val -4759"/>
                  <a:gd name="adj2" fmla="val 50000"/>
                  <a:gd name="adj3" fmla="val 104759"/>
                </a:avLst>
              </a:prstGeom>
              <a:ln>
                <a:tailEnd type="arrow"/>
              </a:ln>
            </p:spPr>
            <p:style>
              <a:lnRef idx="2">
                <a:schemeClr val="accent1"/>
              </a:lnRef>
              <a:fillRef idx="0">
                <a:srgbClr val="FFFFFF"/>
              </a:fillRef>
              <a:effectRef idx="0">
                <a:srgbClr val="FFFFFF"/>
              </a:effectRef>
              <a:fontRef idx="minor">
                <a:schemeClr val="tx1"/>
              </a:fontRef>
            </p:style>
          </p:cxnSp>
          <p:cxnSp>
            <p:nvCxnSpPr>
              <p:cNvPr id="93" name="直接箭头连接符 92"/>
              <p:cNvCxnSpPr>
                <a:stCxn id="58" idx="3"/>
                <a:endCxn id="61" idx="1"/>
              </p:cNvCxnSpPr>
              <p:nvPr/>
            </p:nvCxnSpPr>
            <p:spPr>
              <a:xfrm>
                <a:off x="5246" y="7257"/>
                <a:ext cx="203"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94" name="肘形连接符 93"/>
              <p:cNvCxnSpPr>
                <a:stCxn id="61" idx="3"/>
                <a:endCxn id="64" idx="1"/>
              </p:cNvCxnSpPr>
              <p:nvPr/>
            </p:nvCxnSpPr>
            <p:spPr>
              <a:xfrm flipH="1">
                <a:off x="1787" y="7257"/>
                <a:ext cx="7122" cy="850"/>
              </a:xfrm>
              <a:prstGeom prst="bentConnector5">
                <a:avLst>
                  <a:gd name="adj1" fmla="val -4784"/>
                  <a:gd name="adj2" fmla="val 50000"/>
                  <a:gd name="adj3" fmla="val 104784"/>
                </a:avLst>
              </a:prstGeom>
              <a:ln>
                <a:tailEnd type="arrow"/>
              </a:ln>
            </p:spPr>
            <p:style>
              <a:lnRef idx="2">
                <a:schemeClr val="accent1"/>
              </a:lnRef>
              <a:fillRef idx="0">
                <a:srgbClr val="FFFFFF"/>
              </a:fillRef>
              <a:effectRef idx="0">
                <a:srgbClr val="FFFFFF"/>
              </a:effectRef>
              <a:fontRef idx="minor">
                <a:schemeClr val="tx1"/>
              </a:fontRef>
            </p:style>
          </p:cxnSp>
          <p:cxnSp>
            <p:nvCxnSpPr>
              <p:cNvPr id="96" name="直接箭头连接符 95"/>
              <p:cNvCxnSpPr>
                <a:stCxn id="64" idx="3"/>
                <a:endCxn id="67" idx="1"/>
              </p:cNvCxnSpPr>
              <p:nvPr/>
            </p:nvCxnSpPr>
            <p:spPr>
              <a:xfrm>
                <a:off x="5246" y="8107"/>
                <a:ext cx="203"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98" name="肘形连接符 97"/>
              <p:cNvCxnSpPr>
                <a:stCxn id="67" idx="3"/>
                <a:endCxn id="80" idx="1"/>
              </p:cNvCxnSpPr>
              <p:nvPr/>
            </p:nvCxnSpPr>
            <p:spPr>
              <a:xfrm flipH="1">
                <a:off x="1796" y="8107"/>
                <a:ext cx="7113" cy="1055"/>
              </a:xfrm>
              <a:prstGeom prst="bentConnector5">
                <a:avLst>
                  <a:gd name="adj1" fmla="val -4790"/>
                  <a:gd name="adj2" fmla="val 50000"/>
                  <a:gd name="adj3" fmla="val 104790"/>
                </a:avLst>
              </a:prstGeom>
              <a:ln>
                <a:tailEnd type="arrow"/>
              </a:ln>
            </p:spPr>
            <p:style>
              <a:lnRef idx="2">
                <a:schemeClr val="accent1"/>
              </a:lnRef>
              <a:fillRef idx="0">
                <a:srgbClr val="FFFFFF"/>
              </a:fillRef>
              <a:effectRef idx="0">
                <a:srgbClr val="FFFFFF"/>
              </a:effectRef>
              <a:fontRef idx="minor">
                <a:schemeClr val="tx1"/>
              </a:fontRef>
            </p:style>
          </p:cxnSp>
          <p:cxnSp>
            <p:nvCxnSpPr>
              <p:cNvPr id="99" name="直接箭头连接符 98"/>
              <p:cNvCxnSpPr>
                <a:stCxn id="80" idx="3"/>
                <a:endCxn id="83" idx="1"/>
              </p:cNvCxnSpPr>
              <p:nvPr/>
            </p:nvCxnSpPr>
            <p:spPr>
              <a:xfrm>
                <a:off x="5255" y="9162"/>
                <a:ext cx="203"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pSp>
      </p:grpSp>
      <p:grpSp>
        <p:nvGrpSpPr>
          <p:cNvPr id="109" name="组合 108"/>
          <p:cNvGrpSpPr/>
          <p:nvPr/>
        </p:nvGrpSpPr>
        <p:grpSpPr>
          <a:xfrm>
            <a:off x="6744335" y="1845310"/>
            <a:ext cx="4552315" cy="4108450"/>
            <a:chOff x="5148" y="2793"/>
            <a:chExt cx="7169" cy="6470"/>
          </a:xfrm>
        </p:grpSpPr>
        <p:pic>
          <p:nvPicPr>
            <p:cNvPr id="110" name="图片 109" descr="本体概念及工业应用介绍 (5)"/>
            <p:cNvPicPr>
              <a:picLocks noChangeAspect="1"/>
            </p:cNvPicPr>
            <p:nvPr/>
          </p:nvPicPr>
          <p:blipFill>
            <a:blip r:embed="rId1"/>
            <a:stretch>
              <a:fillRect/>
            </a:stretch>
          </p:blipFill>
          <p:spPr>
            <a:xfrm>
              <a:off x="5747" y="2793"/>
              <a:ext cx="6571" cy="6383"/>
            </a:xfrm>
            <a:prstGeom prst="rect">
              <a:avLst/>
            </a:prstGeom>
          </p:spPr>
        </p:pic>
        <p:sp>
          <p:nvSpPr>
            <p:cNvPr id="111" name="文本框 110"/>
            <p:cNvSpPr txBox="1"/>
            <p:nvPr>
              <p:custDataLst>
                <p:tags r:id="rId2"/>
              </p:custDataLst>
            </p:nvPr>
          </p:nvSpPr>
          <p:spPr>
            <a:xfrm>
              <a:off x="5747" y="3588"/>
              <a:ext cx="1873" cy="461"/>
            </a:xfrm>
            <a:prstGeom prst="rect">
              <a:avLst/>
            </a:prstGeom>
            <a:noFill/>
          </p:spPr>
          <p:txBody>
            <a:bodyPr wrap="square" rtlCol="0" anchor="t">
              <a:noAutofit/>
            </a:bodyPr>
            <a:p>
              <a:pPr algn="ctr"/>
              <a:r>
                <a:rPr sz="900" b="1">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流程编排层</a:t>
              </a:r>
              <a:endParaRPr sz="900" b="1">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900" b="1">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900" b="1">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Action</a:t>
              </a:r>
              <a:r>
                <a:rPr lang="zh-CN" altLang="en-US" sz="900" b="1">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900" b="1">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BPMN</a:t>
              </a:r>
              <a:r>
                <a:rPr lang="zh-CN" altLang="en-US" sz="900" b="1">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900" b="1">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12" name="文本框 111"/>
            <p:cNvSpPr txBox="1"/>
            <p:nvPr>
              <p:custDataLst>
                <p:tags r:id="rId3"/>
              </p:custDataLst>
            </p:nvPr>
          </p:nvSpPr>
          <p:spPr>
            <a:xfrm>
              <a:off x="5148" y="5401"/>
              <a:ext cx="3232" cy="794"/>
            </a:xfrm>
            <a:prstGeom prst="rect">
              <a:avLst/>
            </a:prstGeom>
            <a:noFill/>
          </p:spPr>
          <p:txBody>
            <a:bodyPr wrap="square" rtlCol="0" anchor="t">
              <a:noAutofit/>
            </a:bodyPr>
            <a:p>
              <a:pPr algn="ctr"/>
              <a:r>
                <a:rPr sz="900" b="1">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本体推理层</a:t>
              </a:r>
              <a:endParaRPr sz="900" b="1">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900" b="1">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900" b="1">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Data: RDF/OWL/SKOS/ODRL</a:t>
              </a:r>
              <a:endParaRPr lang="en-US" altLang="zh-CN" sz="900" b="1">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en-US" altLang="zh-CN" sz="900" b="1">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Logic: SWRL</a:t>
              </a:r>
              <a:r>
                <a:rPr lang="zh-CN" altLang="en-US" sz="900" b="1">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900" b="1">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13" name="文本框 112"/>
            <p:cNvSpPr txBox="1"/>
            <p:nvPr>
              <p:custDataLst>
                <p:tags r:id="rId4"/>
              </p:custDataLst>
            </p:nvPr>
          </p:nvSpPr>
          <p:spPr>
            <a:xfrm>
              <a:off x="5747" y="7256"/>
              <a:ext cx="1873" cy="461"/>
            </a:xfrm>
            <a:prstGeom prst="rect">
              <a:avLst/>
            </a:prstGeom>
            <a:noFill/>
          </p:spPr>
          <p:txBody>
            <a:bodyPr wrap="square" rtlCol="0" anchor="t">
              <a:noAutofit/>
            </a:bodyPr>
            <a:p>
              <a:pPr algn="ctr"/>
              <a:r>
                <a:rPr lang="zh-CN" sz="900" b="1">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语义映射</a:t>
              </a:r>
              <a:r>
                <a:rPr sz="900" b="1">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层</a:t>
              </a:r>
              <a:endParaRPr sz="900" b="1">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900" b="1">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900" b="1">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SPARQL</a:t>
              </a:r>
              <a:r>
                <a:rPr lang="zh-CN" altLang="en-US" sz="900" b="1">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900" b="1">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14" name="文本框 113"/>
            <p:cNvSpPr txBox="1"/>
            <p:nvPr>
              <p:custDataLst>
                <p:tags r:id="rId5"/>
              </p:custDataLst>
            </p:nvPr>
          </p:nvSpPr>
          <p:spPr>
            <a:xfrm>
              <a:off x="5747" y="8803"/>
              <a:ext cx="1873" cy="461"/>
            </a:xfrm>
            <a:prstGeom prst="rect">
              <a:avLst/>
            </a:prstGeom>
            <a:noFill/>
          </p:spPr>
          <p:txBody>
            <a:bodyPr wrap="square" rtlCol="0" anchor="t">
              <a:noAutofit/>
            </a:bodyPr>
            <a:p>
              <a:pPr algn="ctr"/>
              <a:r>
                <a:rPr lang="zh-CN" sz="900" b="1">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数据存储</a:t>
              </a:r>
              <a:r>
                <a:rPr sz="900" b="1">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层</a:t>
              </a:r>
              <a:endParaRPr lang="zh-CN" altLang="en-US" sz="900" b="1">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
        <p:nvSpPr>
          <p:cNvPr id="125" name="AutoShape 21"/>
          <p:cNvSpPr/>
          <p:nvPr/>
        </p:nvSpPr>
        <p:spPr>
          <a:xfrm>
            <a:off x="6372789" y="1479490"/>
            <a:ext cx="152362" cy="152400"/>
          </a:xfrm>
          <a:custGeom>
            <a:avLst/>
            <a:gdLst/>
            <a:ahLst/>
            <a:cxnLst/>
            <a:rect l="l" t="t" r="r" b="b"/>
            <a:pathLst>
              <a:path w="9998" h="10000">
                <a:moveTo>
                  <a:pt x="5624" y="737"/>
                </a:moveTo>
                <a:lnTo>
                  <a:pt x="5624" y="727"/>
                </a:lnTo>
                <a:cubicBezTo>
                  <a:pt x="5624" y="837"/>
                  <a:pt x="5606" y="940"/>
                  <a:pt x="5570" y="1035"/>
                </a:cubicBezTo>
                <a:cubicBezTo>
                  <a:pt x="5534" y="1129"/>
                  <a:pt x="5482" y="1208"/>
                  <a:pt x="5416" y="1274"/>
                </a:cubicBezTo>
                <a:lnTo>
                  <a:pt x="5416" y="2191"/>
                </a:lnTo>
                <a:lnTo>
                  <a:pt x="7499" y="2191"/>
                </a:lnTo>
                <a:cubicBezTo>
                  <a:pt x="7726" y="2191"/>
                  <a:pt x="7936" y="2257"/>
                  <a:pt x="8128" y="2391"/>
                </a:cubicBezTo>
                <a:cubicBezTo>
                  <a:pt x="8319" y="2525"/>
                  <a:pt x="8470" y="2704"/>
                  <a:pt x="8582" y="2928"/>
                </a:cubicBezTo>
                <a:cubicBezTo>
                  <a:pt x="8692" y="3152"/>
                  <a:pt x="8748" y="3395"/>
                  <a:pt x="8748" y="3655"/>
                </a:cubicBezTo>
                <a:lnTo>
                  <a:pt x="8748" y="8536"/>
                </a:lnTo>
                <a:cubicBezTo>
                  <a:pt x="8748" y="8802"/>
                  <a:pt x="8692" y="9048"/>
                  <a:pt x="8582" y="9273"/>
                </a:cubicBezTo>
                <a:cubicBezTo>
                  <a:pt x="8470" y="9497"/>
                  <a:pt x="8319" y="9676"/>
                  <a:pt x="8128" y="9810"/>
                </a:cubicBezTo>
                <a:cubicBezTo>
                  <a:pt x="7936" y="9943"/>
                  <a:pt x="7726" y="10006"/>
                  <a:pt x="7499" y="10000"/>
                </a:cubicBezTo>
                <a:lnTo>
                  <a:pt x="2499" y="10000"/>
                </a:lnTo>
                <a:cubicBezTo>
                  <a:pt x="2271" y="10006"/>
                  <a:pt x="2062" y="9943"/>
                  <a:pt x="1870" y="9810"/>
                </a:cubicBezTo>
                <a:cubicBezTo>
                  <a:pt x="1678" y="9676"/>
                  <a:pt x="1527" y="9497"/>
                  <a:pt x="1416" y="9273"/>
                </a:cubicBezTo>
                <a:cubicBezTo>
                  <a:pt x="1305" y="9048"/>
                  <a:pt x="1250" y="8802"/>
                  <a:pt x="1250" y="8536"/>
                </a:cubicBezTo>
                <a:lnTo>
                  <a:pt x="1250" y="3655"/>
                </a:lnTo>
                <a:cubicBezTo>
                  <a:pt x="1250" y="3395"/>
                  <a:pt x="1305" y="3152"/>
                  <a:pt x="1416" y="2928"/>
                </a:cubicBezTo>
                <a:cubicBezTo>
                  <a:pt x="1527" y="2704"/>
                  <a:pt x="1678" y="2525"/>
                  <a:pt x="1870" y="2391"/>
                </a:cubicBezTo>
                <a:cubicBezTo>
                  <a:pt x="2062" y="2257"/>
                  <a:pt x="2271" y="2191"/>
                  <a:pt x="2499" y="2191"/>
                </a:cubicBezTo>
                <a:lnTo>
                  <a:pt x="4582" y="2191"/>
                </a:lnTo>
                <a:lnTo>
                  <a:pt x="4582" y="1274"/>
                </a:lnTo>
                <a:cubicBezTo>
                  <a:pt x="4515" y="1208"/>
                  <a:pt x="4464" y="1129"/>
                  <a:pt x="4428" y="1035"/>
                </a:cubicBezTo>
                <a:cubicBezTo>
                  <a:pt x="4392" y="940"/>
                  <a:pt x="4374" y="841"/>
                  <a:pt x="4374" y="737"/>
                </a:cubicBezTo>
                <a:cubicBezTo>
                  <a:pt x="4374" y="529"/>
                  <a:pt x="4435" y="353"/>
                  <a:pt x="4557" y="210"/>
                </a:cubicBezTo>
                <a:cubicBezTo>
                  <a:pt x="4679" y="66"/>
                  <a:pt x="4827" y="-3"/>
                  <a:pt x="4999" y="0"/>
                </a:cubicBezTo>
                <a:cubicBezTo>
                  <a:pt x="5171" y="3"/>
                  <a:pt x="5318" y="75"/>
                  <a:pt x="5441" y="215"/>
                </a:cubicBezTo>
                <a:cubicBezTo>
                  <a:pt x="5563" y="355"/>
                  <a:pt x="5624" y="529"/>
                  <a:pt x="5624" y="737"/>
                </a:cubicBezTo>
                <a:moveTo>
                  <a:pt x="7499" y="3167"/>
                </a:moveTo>
                <a:lnTo>
                  <a:pt x="2499" y="3167"/>
                </a:lnTo>
                <a:cubicBezTo>
                  <a:pt x="2383" y="3167"/>
                  <a:pt x="2284" y="3216"/>
                  <a:pt x="2204" y="3314"/>
                </a:cubicBezTo>
                <a:cubicBezTo>
                  <a:pt x="2123" y="3411"/>
                  <a:pt x="2083" y="3525"/>
                  <a:pt x="2083" y="3655"/>
                </a:cubicBezTo>
                <a:lnTo>
                  <a:pt x="2083" y="8536"/>
                </a:lnTo>
                <a:cubicBezTo>
                  <a:pt x="2083" y="8672"/>
                  <a:pt x="2123" y="8788"/>
                  <a:pt x="2204" y="8882"/>
                </a:cubicBezTo>
                <a:cubicBezTo>
                  <a:pt x="2284" y="8976"/>
                  <a:pt x="2383" y="9024"/>
                  <a:pt x="2499" y="9024"/>
                </a:cubicBezTo>
                <a:lnTo>
                  <a:pt x="7499" y="9024"/>
                </a:lnTo>
                <a:cubicBezTo>
                  <a:pt x="7615" y="9024"/>
                  <a:pt x="7713" y="8976"/>
                  <a:pt x="7794" y="8882"/>
                </a:cubicBezTo>
                <a:cubicBezTo>
                  <a:pt x="7874" y="8788"/>
                  <a:pt x="7915" y="8672"/>
                  <a:pt x="7915" y="8536"/>
                </a:cubicBezTo>
                <a:lnTo>
                  <a:pt x="7915" y="3655"/>
                </a:lnTo>
                <a:cubicBezTo>
                  <a:pt x="7915" y="3525"/>
                  <a:pt x="7874" y="3413"/>
                  <a:pt x="7794" y="3319"/>
                </a:cubicBezTo>
                <a:cubicBezTo>
                  <a:pt x="7713" y="3224"/>
                  <a:pt x="7615" y="3173"/>
                  <a:pt x="7499" y="3167"/>
                </a:cubicBezTo>
                <a:moveTo>
                  <a:pt x="833" y="7560"/>
                </a:moveTo>
                <a:lnTo>
                  <a:pt x="833" y="4632"/>
                </a:lnTo>
                <a:lnTo>
                  <a:pt x="0" y="4632"/>
                </a:lnTo>
                <a:lnTo>
                  <a:pt x="0" y="7560"/>
                </a:lnTo>
                <a:lnTo>
                  <a:pt x="833" y="7560"/>
                </a:lnTo>
                <a:moveTo>
                  <a:pt x="9165" y="7560"/>
                </a:moveTo>
                <a:lnTo>
                  <a:pt x="9165" y="4632"/>
                </a:lnTo>
                <a:lnTo>
                  <a:pt x="9998" y="4632"/>
                </a:lnTo>
                <a:lnTo>
                  <a:pt x="9998" y="7560"/>
                </a:lnTo>
                <a:lnTo>
                  <a:pt x="9165" y="7560"/>
                </a:lnTo>
                <a:moveTo>
                  <a:pt x="3749" y="6828"/>
                </a:moveTo>
                <a:cubicBezTo>
                  <a:pt x="3921" y="6834"/>
                  <a:pt x="4069" y="6765"/>
                  <a:pt x="4191" y="6623"/>
                </a:cubicBezTo>
                <a:cubicBezTo>
                  <a:pt x="4313" y="6479"/>
                  <a:pt x="4374" y="6305"/>
                  <a:pt x="4374" y="6101"/>
                </a:cubicBezTo>
                <a:cubicBezTo>
                  <a:pt x="4374" y="5895"/>
                  <a:pt x="4313" y="5721"/>
                  <a:pt x="4191" y="5578"/>
                </a:cubicBezTo>
                <a:cubicBezTo>
                  <a:pt x="4069" y="5435"/>
                  <a:pt x="3921" y="5365"/>
                  <a:pt x="3749" y="5368"/>
                </a:cubicBezTo>
                <a:cubicBezTo>
                  <a:pt x="3577" y="5371"/>
                  <a:pt x="3430" y="5443"/>
                  <a:pt x="3308" y="5583"/>
                </a:cubicBezTo>
                <a:cubicBezTo>
                  <a:pt x="3185" y="5723"/>
                  <a:pt x="3124" y="5895"/>
                  <a:pt x="3124" y="6101"/>
                </a:cubicBezTo>
                <a:cubicBezTo>
                  <a:pt x="3124" y="6305"/>
                  <a:pt x="3185" y="6478"/>
                  <a:pt x="3308" y="6618"/>
                </a:cubicBezTo>
                <a:cubicBezTo>
                  <a:pt x="3430" y="6758"/>
                  <a:pt x="3577" y="6828"/>
                  <a:pt x="3749" y="6828"/>
                </a:cubicBezTo>
                <a:moveTo>
                  <a:pt x="6249" y="6828"/>
                </a:moveTo>
                <a:cubicBezTo>
                  <a:pt x="6421" y="6828"/>
                  <a:pt x="6568" y="6758"/>
                  <a:pt x="6690" y="6618"/>
                </a:cubicBezTo>
                <a:cubicBezTo>
                  <a:pt x="6812" y="6478"/>
                  <a:pt x="6874" y="6305"/>
                  <a:pt x="6874" y="6101"/>
                </a:cubicBezTo>
                <a:cubicBezTo>
                  <a:pt x="6874" y="5895"/>
                  <a:pt x="6812" y="5721"/>
                  <a:pt x="6690" y="5578"/>
                </a:cubicBezTo>
                <a:cubicBezTo>
                  <a:pt x="6568" y="5435"/>
                  <a:pt x="6421" y="5365"/>
                  <a:pt x="6249" y="5368"/>
                </a:cubicBezTo>
                <a:cubicBezTo>
                  <a:pt x="6076" y="5371"/>
                  <a:pt x="5929" y="5443"/>
                  <a:pt x="5807" y="5583"/>
                </a:cubicBezTo>
                <a:cubicBezTo>
                  <a:pt x="5685" y="5723"/>
                  <a:pt x="5624" y="5895"/>
                  <a:pt x="5624" y="6101"/>
                </a:cubicBezTo>
                <a:cubicBezTo>
                  <a:pt x="5624" y="6305"/>
                  <a:pt x="5685" y="6478"/>
                  <a:pt x="5807" y="6618"/>
                </a:cubicBezTo>
                <a:cubicBezTo>
                  <a:pt x="5929" y="6758"/>
                  <a:pt x="6076" y="6828"/>
                  <a:pt x="6249" y="6828"/>
                </a:cubicBezTo>
              </a:path>
            </a:pathLst>
          </a:custGeom>
          <a:solidFill>
            <a:srgbClr val="2B4C9B">
              <a:alpha val="100000"/>
            </a:srgbClr>
          </a:solidFill>
          <a:ln>
            <a:solidFill>
              <a:srgbClr val="C00000"/>
            </a:solidFill>
            <a:headEnd type="none"/>
            <a:tailEnd type="none"/>
          </a:ln>
        </p:spPr>
      </p:sp>
      <p:sp>
        <p:nvSpPr>
          <p:cNvPr id="126" name="TextBox 22"/>
          <p:cNvSpPr txBox="1"/>
          <p:nvPr/>
        </p:nvSpPr>
        <p:spPr>
          <a:xfrm>
            <a:off x="6584445" y="1455678"/>
            <a:ext cx="2076079" cy="190500"/>
          </a:xfrm>
          <a:prstGeom prst="rect">
            <a:avLst/>
          </a:prstGeom>
          <a:ln>
            <a:headEnd type="none"/>
            <a:tailEnd type="none"/>
          </a:ln>
        </p:spPr>
        <p:txBody>
          <a:bodyPr vert="horz" wrap="none" lIns="0" tIns="0" rIns="0" bIns="0" rtlCol="0" anchor="t" anchorCtr="0"/>
          <a:lstStyle/>
          <a:p>
            <a:pPr algn="l">
              <a:defRPr/>
            </a:pPr>
            <a:r>
              <a:rPr lang="zh-CN" altLang="en-US" sz="1300" b="1" i="0" strike="noStrike">
                <a:solidFill>
                  <a:srgbClr val="1A1A1A">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本</a:t>
            </a:r>
            <a:r>
              <a:rPr lang="en-US" sz="1300" b="1" i="0" strike="noStrike">
                <a:solidFill>
                  <a:srgbClr val="1A1A1A">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体</a:t>
            </a:r>
            <a:r>
              <a:rPr lang="zh-CN" altLang="en-US" sz="1300" b="1" i="0" strike="noStrike">
                <a:solidFill>
                  <a:srgbClr val="1A1A1A">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运行</a:t>
            </a:r>
            <a:endParaRPr lang="zh-CN" altLang="en-US" sz="1300" b="1" i="0" strike="noStrike">
              <a:solidFill>
                <a:srgbClr val="1A1A1A">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7" name="标题 126"/>
          <p:cNvSpPr>
            <a:spLocks noGrp="1"/>
          </p:cNvSpPr>
          <p:nvPr>
            <p:ph type="title"/>
          </p:nvPr>
        </p:nvSpPr>
        <p:spPr/>
        <p:txBody>
          <a:bodyPr>
            <a:normAutofit/>
          </a:bodyPr>
          <a:p>
            <a:r>
              <a:rPr lang="zh-CN" altLang="en-US"/>
              <a:t>7+1语义体系：构建智能业务本体的技术基石</a:t>
            </a: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35280" y="0"/>
            <a:ext cx="11667490" cy="871855"/>
          </a:xfrm>
        </p:spPr>
        <p:txBody>
          <a:bodyPr>
            <a:normAutofit fontScale="90000"/>
          </a:bodyPr>
          <a:p>
            <a:pPr algn="l">
              <a:buClrTx/>
              <a:buSzTx/>
              <a:buFontTx/>
            </a:pPr>
            <a:r>
              <a:rPr kumimoji="1" lang="zh-CN" altLang="en-US">
                <a:latin typeface="微软雅黑" panose="020B0503020204020204" pitchFamily="34" charset="-122"/>
                <a:ea typeface="微软雅黑" panose="020B0503020204020204" pitchFamily="34" charset="-122"/>
                <a:sym typeface="+mn-ea"/>
              </a:rPr>
              <a:t>智能体+本体双引擎协同架构</a:t>
            </a:r>
            <a:r>
              <a:rPr kumimoji="1" lang="zh-CN" altLang="en-US" sz="2200">
                <a:latin typeface="微软雅黑" panose="020B0503020204020204" pitchFamily="34" charset="-122"/>
                <a:ea typeface="微软雅黑" panose="020B0503020204020204" pitchFamily="34" charset="-122"/>
                <a:sym typeface="+mn-ea"/>
              </a:rPr>
              <a:t>（</a:t>
            </a:r>
            <a:r>
              <a:rPr kumimoji="1" lang="en-US" altLang="zh-CN" sz="2200">
                <a:latin typeface="微软雅黑" panose="020B0503020204020204" pitchFamily="34" charset="-122"/>
                <a:ea typeface="微软雅黑" panose="020B0503020204020204" pitchFamily="34" charset="-122"/>
                <a:sym typeface="+mn-ea"/>
              </a:rPr>
              <a:t>Agent-Ontology Dual-Engine Synergistic Architecture</a:t>
            </a:r>
            <a:r>
              <a:rPr kumimoji="1" sz="2200">
                <a:latin typeface="微软雅黑" panose="020B0503020204020204" pitchFamily="34" charset="-122"/>
                <a:ea typeface="微软雅黑" panose="020B0503020204020204" pitchFamily="34" charset="-122"/>
                <a:sym typeface="+mn-ea"/>
              </a:rPr>
              <a:t>）</a:t>
            </a:r>
            <a:endParaRPr kumimoji="1" sz="2200">
              <a:latin typeface="微软雅黑" panose="020B0503020204020204" pitchFamily="34" charset="-122"/>
              <a:ea typeface="微软雅黑" panose="020B0503020204020204" pitchFamily="34" charset="-122"/>
              <a:sym typeface="+mn-ea"/>
            </a:endParaRPr>
          </a:p>
        </p:txBody>
      </p:sp>
      <p:grpSp>
        <p:nvGrpSpPr>
          <p:cNvPr id="56" name="组合 55"/>
          <p:cNvGrpSpPr/>
          <p:nvPr/>
        </p:nvGrpSpPr>
        <p:grpSpPr>
          <a:xfrm>
            <a:off x="404495" y="837565"/>
            <a:ext cx="11395710" cy="742950"/>
            <a:chOff x="713" y="1319"/>
            <a:chExt cx="17650" cy="1170"/>
          </a:xfrm>
        </p:grpSpPr>
        <p:sp>
          <p:nvSpPr>
            <p:cNvPr id="4" name="AutoShape 10"/>
            <p:cNvSpPr/>
            <p:nvPr/>
          </p:nvSpPr>
          <p:spPr>
            <a:xfrm>
              <a:off x="713" y="1319"/>
              <a:ext cx="17650" cy="1170"/>
            </a:xfrm>
            <a:prstGeom prst="rect">
              <a:avLst/>
            </a:prstGeom>
            <a:solidFill>
              <a:schemeClr val="bg1">
                <a:lumMod val="95000"/>
              </a:schemeClr>
            </a:solidFill>
            <a:ln>
              <a:headEnd type="none"/>
              <a:tailEnd type="none"/>
            </a:ln>
          </p:spPr>
        </p:sp>
        <p:sp>
          <p:nvSpPr>
            <p:cNvPr id="6" name="TextBox 13"/>
            <p:cNvSpPr txBox="1"/>
            <p:nvPr/>
          </p:nvSpPr>
          <p:spPr>
            <a:xfrm>
              <a:off x="960" y="1524"/>
              <a:ext cx="17127" cy="647"/>
            </a:xfrm>
            <a:prstGeom prst="rect">
              <a:avLst/>
            </a:prstGeom>
            <a:ln>
              <a:headEnd type="none"/>
              <a:tailEnd type="none"/>
            </a:ln>
          </p:spPr>
          <p:txBody>
            <a:bodyPr vert="horz" wrap="square" lIns="0" tIns="0" rIns="0" bIns="0" rtlCol="0" anchor="t" anchorCtr="0"/>
            <a:lstStyle/>
            <a:p>
              <a:pPr algn="l">
                <a:defRPr/>
              </a:pPr>
              <a:r>
                <a:rPr lang="zh-CN" altLang="en-US" sz="1600" b="0" i="1" strike="noStrike">
                  <a:solidFill>
                    <a:srgbClr val="0A1F3D">
                      <a:alpha val="81960"/>
                    </a:srgbClr>
                  </a:solidFill>
                  <a:latin typeface="微软雅黑" panose="020B0503020204020204" pitchFamily="34" charset="-122"/>
                  <a:ea typeface="微软雅黑" panose="020B0503020204020204" pitchFamily="34" charset="-122"/>
                  <a:cs typeface="微软雅黑" panose="020B0503020204020204" pitchFamily="34" charset="-122"/>
                </a:rPr>
                <a:t>将业务场景按确定性拆分为双引擎驱动：确定性部分由本体独立完成推理、精度完全可控，大模型仅参与本体打磨而不介入运行时；不确定性部分由智能体主导推理，准确率超越资深专家。两引擎协同，兼顾刚性精度与弹性应变。</a:t>
              </a:r>
              <a:endParaRPr lang="zh-CN" altLang="en-US" sz="1600" b="0" i="1" strike="noStrike">
                <a:solidFill>
                  <a:srgbClr val="0A1F3D">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a:p>
              <a:pPr algn="l">
                <a:defRPr/>
              </a:pPr>
              <a:endParaRPr lang="zh-CN" altLang="en-US" sz="1600" b="0" i="1" strike="noStrike">
                <a:solidFill>
                  <a:srgbClr val="0A1F3D">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7" name="AutoShape 7"/>
          <p:cNvSpPr/>
          <p:nvPr/>
        </p:nvSpPr>
        <p:spPr>
          <a:xfrm>
            <a:off x="418996" y="1676658"/>
            <a:ext cx="5561209" cy="4847332"/>
          </a:xfrm>
          <a:prstGeom prst="rect">
            <a:avLst/>
          </a:prstGeom>
          <a:solidFill>
            <a:schemeClr val="bg1"/>
          </a:solidFill>
          <a:ln w="9525">
            <a:solidFill>
              <a:srgbClr val="D4CEC4">
                <a:alpha val="100000"/>
              </a:srgbClr>
            </a:solidFill>
            <a:prstDash val="solid"/>
            <a:headEnd type="none"/>
            <a:tailEnd type="none"/>
          </a:ln>
        </p:spPr>
      </p:sp>
      <p:sp>
        <p:nvSpPr>
          <p:cNvPr id="8" name="AutoShape 8"/>
          <p:cNvSpPr/>
          <p:nvPr/>
        </p:nvSpPr>
        <p:spPr>
          <a:xfrm>
            <a:off x="418996" y="1676658"/>
            <a:ext cx="5561209" cy="9525"/>
          </a:xfrm>
          <a:prstGeom prst="line">
            <a:avLst/>
          </a:prstGeom>
          <a:ln w="28575">
            <a:solidFill>
              <a:srgbClr val="C00000">
                <a:alpha val="100000"/>
              </a:srgbClr>
            </a:solidFill>
            <a:prstDash val="solid"/>
            <a:headEnd type="none"/>
            <a:tailEnd type="none"/>
          </a:ln>
        </p:spPr>
      </p:sp>
      <p:sp>
        <p:nvSpPr>
          <p:cNvPr id="9" name="AutoShape 9"/>
          <p:cNvSpPr/>
          <p:nvPr/>
        </p:nvSpPr>
        <p:spPr>
          <a:xfrm>
            <a:off x="583037" y="1910020"/>
            <a:ext cx="152362" cy="152400"/>
          </a:xfrm>
          <a:custGeom>
            <a:avLst/>
            <a:gdLst/>
            <a:ahLst/>
            <a:cxnLst/>
            <a:rect l="l" t="t" r="r" b="b"/>
            <a:pathLst>
              <a:path w="9998" h="10000">
                <a:moveTo>
                  <a:pt x="1111" y="3853"/>
                </a:moveTo>
                <a:lnTo>
                  <a:pt x="1111" y="5000"/>
                </a:lnTo>
                <a:cubicBezTo>
                  <a:pt x="1111" y="5091"/>
                  <a:pt x="1177" y="5200"/>
                  <a:pt x="1311" y="5326"/>
                </a:cubicBezTo>
                <a:cubicBezTo>
                  <a:pt x="1466" y="5466"/>
                  <a:pt x="1684" y="5603"/>
                  <a:pt x="1966" y="5737"/>
                </a:cubicBezTo>
                <a:cubicBezTo>
                  <a:pt x="2351" y="5919"/>
                  <a:pt x="2807" y="6061"/>
                  <a:pt x="3333" y="6163"/>
                </a:cubicBezTo>
                <a:cubicBezTo>
                  <a:pt x="3858" y="6265"/>
                  <a:pt x="4413" y="6316"/>
                  <a:pt x="4999" y="6316"/>
                </a:cubicBezTo>
                <a:cubicBezTo>
                  <a:pt x="5584" y="6316"/>
                  <a:pt x="6139" y="6265"/>
                  <a:pt x="6665" y="6163"/>
                </a:cubicBezTo>
                <a:cubicBezTo>
                  <a:pt x="7191" y="6061"/>
                  <a:pt x="7646" y="5919"/>
                  <a:pt x="8032" y="5737"/>
                </a:cubicBezTo>
                <a:cubicBezTo>
                  <a:pt x="8313" y="5603"/>
                  <a:pt x="8531" y="5466"/>
                  <a:pt x="8687" y="5326"/>
                </a:cubicBezTo>
                <a:cubicBezTo>
                  <a:pt x="8820" y="5200"/>
                  <a:pt x="8887" y="5091"/>
                  <a:pt x="8887" y="5000"/>
                </a:cubicBezTo>
                <a:lnTo>
                  <a:pt x="8887" y="3853"/>
                </a:lnTo>
                <a:cubicBezTo>
                  <a:pt x="8420" y="4126"/>
                  <a:pt x="7853" y="4340"/>
                  <a:pt x="7187" y="4495"/>
                </a:cubicBezTo>
                <a:cubicBezTo>
                  <a:pt x="6498" y="4656"/>
                  <a:pt x="5769" y="4737"/>
                  <a:pt x="4999" y="4737"/>
                </a:cubicBezTo>
                <a:cubicBezTo>
                  <a:pt x="4229" y="4737"/>
                  <a:pt x="3499" y="4656"/>
                  <a:pt x="2811" y="4495"/>
                </a:cubicBezTo>
                <a:cubicBezTo>
                  <a:pt x="2144" y="4340"/>
                  <a:pt x="1577" y="4126"/>
                  <a:pt x="1111" y="3853"/>
                </a:cubicBezTo>
                <a:moveTo>
                  <a:pt x="8887" y="7632"/>
                </a:moveTo>
                <a:lnTo>
                  <a:pt x="8887" y="6484"/>
                </a:lnTo>
                <a:cubicBezTo>
                  <a:pt x="8420" y="6758"/>
                  <a:pt x="7853" y="6972"/>
                  <a:pt x="7187" y="7126"/>
                </a:cubicBezTo>
                <a:cubicBezTo>
                  <a:pt x="6498" y="7287"/>
                  <a:pt x="5769" y="7368"/>
                  <a:pt x="4999" y="7368"/>
                </a:cubicBezTo>
                <a:cubicBezTo>
                  <a:pt x="4229" y="7368"/>
                  <a:pt x="3499" y="7287"/>
                  <a:pt x="2811" y="7126"/>
                </a:cubicBezTo>
                <a:cubicBezTo>
                  <a:pt x="2144" y="6972"/>
                  <a:pt x="1577" y="6758"/>
                  <a:pt x="1111" y="6484"/>
                </a:cubicBezTo>
                <a:lnTo>
                  <a:pt x="1111" y="7632"/>
                </a:lnTo>
                <a:cubicBezTo>
                  <a:pt x="1111" y="7722"/>
                  <a:pt x="1177" y="7831"/>
                  <a:pt x="1311" y="7958"/>
                </a:cubicBezTo>
                <a:cubicBezTo>
                  <a:pt x="1466" y="8098"/>
                  <a:pt x="1684" y="8234"/>
                  <a:pt x="1966" y="8368"/>
                </a:cubicBezTo>
                <a:cubicBezTo>
                  <a:pt x="2351" y="8550"/>
                  <a:pt x="2807" y="8693"/>
                  <a:pt x="3333" y="8795"/>
                </a:cubicBezTo>
                <a:cubicBezTo>
                  <a:pt x="3858" y="8896"/>
                  <a:pt x="4413" y="8947"/>
                  <a:pt x="4999" y="8947"/>
                </a:cubicBezTo>
                <a:cubicBezTo>
                  <a:pt x="5584" y="8947"/>
                  <a:pt x="6139" y="8896"/>
                  <a:pt x="6665" y="8795"/>
                </a:cubicBezTo>
                <a:cubicBezTo>
                  <a:pt x="7191" y="8693"/>
                  <a:pt x="7646" y="8550"/>
                  <a:pt x="8032" y="8368"/>
                </a:cubicBezTo>
                <a:cubicBezTo>
                  <a:pt x="8313" y="8234"/>
                  <a:pt x="8531" y="8098"/>
                  <a:pt x="8687" y="7958"/>
                </a:cubicBezTo>
                <a:cubicBezTo>
                  <a:pt x="8820" y="7831"/>
                  <a:pt x="8887" y="7722"/>
                  <a:pt x="8887" y="7632"/>
                </a:cubicBezTo>
                <a:moveTo>
                  <a:pt x="0" y="7632"/>
                </a:moveTo>
                <a:lnTo>
                  <a:pt x="0" y="2368"/>
                </a:lnTo>
                <a:cubicBezTo>
                  <a:pt x="0" y="1940"/>
                  <a:pt x="226" y="1540"/>
                  <a:pt x="678" y="1168"/>
                </a:cubicBezTo>
                <a:cubicBezTo>
                  <a:pt x="1122" y="817"/>
                  <a:pt x="1721" y="536"/>
                  <a:pt x="2477" y="326"/>
                </a:cubicBezTo>
                <a:cubicBezTo>
                  <a:pt x="3255" y="108"/>
                  <a:pt x="4095" y="0"/>
                  <a:pt x="4999" y="0"/>
                </a:cubicBezTo>
                <a:cubicBezTo>
                  <a:pt x="5902" y="0"/>
                  <a:pt x="6743" y="108"/>
                  <a:pt x="7521" y="326"/>
                </a:cubicBezTo>
                <a:cubicBezTo>
                  <a:pt x="8276" y="536"/>
                  <a:pt x="8876" y="817"/>
                  <a:pt x="9320" y="1168"/>
                </a:cubicBezTo>
                <a:cubicBezTo>
                  <a:pt x="9772" y="1540"/>
                  <a:pt x="9998" y="1940"/>
                  <a:pt x="9998" y="2368"/>
                </a:cubicBezTo>
                <a:lnTo>
                  <a:pt x="9998" y="7632"/>
                </a:lnTo>
                <a:cubicBezTo>
                  <a:pt x="9998" y="8060"/>
                  <a:pt x="9772" y="8460"/>
                  <a:pt x="9320" y="8832"/>
                </a:cubicBezTo>
                <a:cubicBezTo>
                  <a:pt x="8876" y="9182"/>
                  <a:pt x="8276" y="9463"/>
                  <a:pt x="7521" y="9674"/>
                </a:cubicBezTo>
                <a:cubicBezTo>
                  <a:pt x="6743" y="9891"/>
                  <a:pt x="5902" y="10000"/>
                  <a:pt x="4999" y="10000"/>
                </a:cubicBezTo>
                <a:cubicBezTo>
                  <a:pt x="4095" y="10000"/>
                  <a:pt x="3255" y="9891"/>
                  <a:pt x="2477" y="9674"/>
                </a:cubicBezTo>
                <a:cubicBezTo>
                  <a:pt x="1721" y="9463"/>
                  <a:pt x="1122" y="9182"/>
                  <a:pt x="678" y="8832"/>
                </a:cubicBezTo>
                <a:cubicBezTo>
                  <a:pt x="226" y="8460"/>
                  <a:pt x="0" y="8060"/>
                  <a:pt x="0" y="7632"/>
                </a:cubicBezTo>
                <a:moveTo>
                  <a:pt x="4999" y="3684"/>
                </a:moveTo>
                <a:cubicBezTo>
                  <a:pt x="5584" y="3684"/>
                  <a:pt x="6139" y="3633"/>
                  <a:pt x="6665" y="3532"/>
                </a:cubicBezTo>
                <a:cubicBezTo>
                  <a:pt x="7191" y="3430"/>
                  <a:pt x="7646" y="3287"/>
                  <a:pt x="8032" y="3105"/>
                </a:cubicBezTo>
                <a:cubicBezTo>
                  <a:pt x="8313" y="2971"/>
                  <a:pt x="8531" y="2835"/>
                  <a:pt x="8687" y="2695"/>
                </a:cubicBezTo>
                <a:cubicBezTo>
                  <a:pt x="8820" y="2568"/>
                  <a:pt x="8887" y="2459"/>
                  <a:pt x="8887" y="2368"/>
                </a:cubicBezTo>
                <a:cubicBezTo>
                  <a:pt x="8887" y="2277"/>
                  <a:pt x="8820" y="2168"/>
                  <a:pt x="8687" y="2042"/>
                </a:cubicBezTo>
                <a:cubicBezTo>
                  <a:pt x="8531" y="1902"/>
                  <a:pt x="8313" y="1765"/>
                  <a:pt x="8032" y="1632"/>
                </a:cubicBezTo>
                <a:cubicBezTo>
                  <a:pt x="7646" y="1449"/>
                  <a:pt x="7191" y="1307"/>
                  <a:pt x="6665" y="1205"/>
                </a:cubicBezTo>
                <a:cubicBezTo>
                  <a:pt x="6139" y="1103"/>
                  <a:pt x="5584" y="1053"/>
                  <a:pt x="4999" y="1053"/>
                </a:cubicBezTo>
                <a:cubicBezTo>
                  <a:pt x="4413" y="1053"/>
                  <a:pt x="3858" y="1103"/>
                  <a:pt x="3333" y="1205"/>
                </a:cubicBezTo>
                <a:cubicBezTo>
                  <a:pt x="2807" y="1307"/>
                  <a:pt x="2351" y="1449"/>
                  <a:pt x="1966" y="1632"/>
                </a:cubicBezTo>
                <a:cubicBezTo>
                  <a:pt x="1684" y="1765"/>
                  <a:pt x="1466" y="1902"/>
                  <a:pt x="1311" y="2042"/>
                </a:cubicBezTo>
                <a:cubicBezTo>
                  <a:pt x="1177" y="2168"/>
                  <a:pt x="1111" y="2277"/>
                  <a:pt x="1111" y="2368"/>
                </a:cubicBezTo>
                <a:cubicBezTo>
                  <a:pt x="1111" y="2459"/>
                  <a:pt x="1177" y="2568"/>
                  <a:pt x="1311" y="2695"/>
                </a:cubicBezTo>
                <a:cubicBezTo>
                  <a:pt x="1466" y="2835"/>
                  <a:pt x="1684" y="2971"/>
                  <a:pt x="1966" y="3105"/>
                </a:cubicBezTo>
                <a:cubicBezTo>
                  <a:pt x="2351" y="3287"/>
                  <a:pt x="2807" y="3430"/>
                  <a:pt x="3333" y="3532"/>
                </a:cubicBezTo>
                <a:cubicBezTo>
                  <a:pt x="3858" y="3633"/>
                  <a:pt x="4413" y="3684"/>
                  <a:pt x="4999" y="3684"/>
                </a:cubicBezTo>
              </a:path>
            </a:pathLst>
          </a:custGeom>
          <a:solidFill>
            <a:srgbClr val="2B4C9B">
              <a:alpha val="100000"/>
            </a:srgbClr>
          </a:solidFill>
          <a:ln>
            <a:solidFill>
              <a:srgbClr val="C00000"/>
            </a:solidFill>
            <a:headEnd type="none"/>
            <a:tailEnd type="none"/>
          </a:ln>
        </p:spPr>
      </p:sp>
      <p:sp>
        <p:nvSpPr>
          <p:cNvPr id="10" name="TextBox 10"/>
          <p:cNvSpPr txBox="1"/>
          <p:nvPr/>
        </p:nvSpPr>
        <p:spPr>
          <a:xfrm>
            <a:off x="794692" y="1886208"/>
            <a:ext cx="1733266" cy="190500"/>
          </a:xfrm>
          <a:prstGeom prst="rect">
            <a:avLst/>
          </a:prstGeom>
          <a:ln>
            <a:headEnd type="none"/>
            <a:tailEnd type="none"/>
          </a:ln>
        </p:spPr>
        <p:txBody>
          <a:bodyPr vert="horz" wrap="none" lIns="0" tIns="0" rIns="0" bIns="0" rtlCol="0" anchor="t" anchorCtr="0"/>
          <a:lstStyle/>
          <a:p>
            <a:pPr algn="l">
              <a:defRPr/>
            </a:pPr>
            <a:r>
              <a:rPr lang="en-US" sz="1300" b="1" i="0" strike="noStrike">
                <a:solidFill>
                  <a:srgbClr val="1A1A1A">
                    <a:alpha val="100000"/>
                  </a:srgbClr>
                </a:solidFill>
                <a:latin typeface="Source Han Serif CN" panose="02020400000000000000" charset="-122"/>
                <a:ea typeface="Source Han Serif CN" panose="02020400000000000000" charset="-122"/>
                <a:cs typeface="Source Han Serif CN" panose="02020400000000000000" charset="-122"/>
              </a:rPr>
              <a:t>本体驱动 · 确定性场景</a:t>
            </a:r>
            <a:endParaRPr lang="en-US" sz="1100"/>
          </a:p>
        </p:txBody>
      </p:sp>
      <p:pic>
        <p:nvPicPr>
          <p:cNvPr id="11" name="Picture 11"/>
          <p:cNvPicPr>
            <a:picLocks noChangeAspect="1"/>
          </p:cNvPicPr>
          <p:nvPr/>
        </p:nvPicPr>
        <p:blipFill>
          <a:blip r:embed="rId1">
            <a:alphaModFix amt="100000"/>
          </a:blip>
          <a:srcRect/>
          <a:stretch>
            <a:fillRect/>
          </a:stretch>
        </p:blipFill>
        <p:spPr>
          <a:xfrm>
            <a:off x="599925" y="2191008"/>
            <a:ext cx="5199350" cy="1919735"/>
          </a:xfrm>
          <a:prstGeom prst="rect">
            <a:avLst/>
          </a:prstGeom>
          <a:ln>
            <a:headEnd type="none"/>
            <a:tailEnd type="none"/>
          </a:ln>
        </p:spPr>
      </p:pic>
      <p:sp>
        <p:nvSpPr>
          <p:cNvPr id="21" name="AutoShape 13"/>
          <p:cNvSpPr/>
          <p:nvPr/>
        </p:nvSpPr>
        <p:spPr>
          <a:xfrm>
            <a:off x="599925" y="4477901"/>
            <a:ext cx="9522" cy="400050"/>
          </a:xfrm>
          <a:prstGeom prst="line">
            <a:avLst/>
          </a:prstGeom>
          <a:ln w="9525">
            <a:solidFill>
              <a:srgbClr val="C00000">
                <a:alpha val="100000"/>
              </a:srgbClr>
            </a:solidFill>
            <a:prstDash val="solid"/>
            <a:headEnd type="none"/>
            <a:tailEnd type="none"/>
          </a:ln>
        </p:spPr>
      </p:sp>
      <p:sp>
        <p:nvSpPr>
          <p:cNvPr id="23" name="TextBox 14"/>
          <p:cNvSpPr txBox="1"/>
          <p:nvPr/>
        </p:nvSpPr>
        <p:spPr>
          <a:xfrm>
            <a:off x="704673" y="4496951"/>
            <a:ext cx="5275530" cy="352425"/>
          </a:xfrm>
          <a:prstGeom prst="rect">
            <a:avLst/>
          </a:prstGeom>
          <a:ln>
            <a:headEnd type="none"/>
            <a:tailEnd type="none"/>
          </a:ln>
        </p:spPr>
        <p:txBody>
          <a:bodyPr vert="horz" wrap="square" lIns="0" tIns="0" rIns="0" bIns="0" rtlCol="0" anchor="t" anchorCtr="0"/>
          <a:lstStyle/>
          <a:p>
            <a:pPr algn="l">
              <a:defRPr/>
            </a:pPr>
            <a:r>
              <a:rPr lang="en-US"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rPr>
              <a:t>确定性业务逻辑由本体框架独立完成推理，大模型不参与运行时执行，仅在</a:t>
            </a:r>
            <a:r>
              <a:rPr lang="zh-CN" altLang="en-US"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rPr>
              <a:t>前期</a:t>
            </a:r>
            <a:r>
              <a:rPr lang="en-US"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rPr>
              <a:t>通过语</a:t>
            </a:r>
            <a:endParaRPr lang="en-US" sz="1100">
              <a:solidFill>
                <a:schemeClr val="tx1"/>
              </a:solidFill>
              <a:latin typeface="微软雅黑" panose="020B0503020204020204" pitchFamily="34" charset="-122"/>
              <a:ea typeface="微软雅黑" panose="020B0503020204020204" pitchFamily="34" charset="-122"/>
            </a:endParaRPr>
          </a:p>
          <a:p>
            <a:pPr algn="l"/>
            <a:r>
              <a:rPr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rPr>
              <a:t>料训练与提示词工程打磨本体结构</a:t>
            </a:r>
            <a:endParaRPr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24" name="AutoShape 15"/>
          <p:cNvSpPr/>
          <p:nvPr/>
        </p:nvSpPr>
        <p:spPr>
          <a:xfrm>
            <a:off x="599925" y="5172481"/>
            <a:ext cx="9522" cy="400050"/>
          </a:xfrm>
          <a:prstGeom prst="line">
            <a:avLst/>
          </a:prstGeom>
          <a:ln w="9525">
            <a:solidFill>
              <a:srgbClr val="C00000">
                <a:alpha val="100000"/>
              </a:srgbClr>
            </a:solidFill>
            <a:prstDash val="solid"/>
            <a:headEnd type="none"/>
            <a:tailEnd type="none"/>
          </a:ln>
        </p:spPr>
      </p:sp>
      <p:sp>
        <p:nvSpPr>
          <p:cNvPr id="32" name="TextBox 16"/>
          <p:cNvSpPr txBox="1"/>
          <p:nvPr/>
        </p:nvSpPr>
        <p:spPr>
          <a:xfrm>
            <a:off x="704673" y="5191531"/>
            <a:ext cx="5275530" cy="352425"/>
          </a:xfrm>
          <a:prstGeom prst="rect">
            <a:avLst/>
          </a:prstGeom>
          <a:ln>
            <a:headEnd type="none"/>
            <a:tailEnd type="none"/>
          </a:ln>
        </p:spPr>
        <p:txBody>
          <a:bodyPr vert="horz" wrap="square" lIns="0" tIns="0" rIns="0" bIns="0" rtlCol="0" anchor="t" anchorCtr="0"/>
          <a:lstStyle/>
          <a:p>
            <a:pPr algn="l">
              <a:defRPr/>
            </a:pPr>
            <a:r>
              <a:rPr lang="en-US" sz="1000" b="0" i="0" strike="noStrike">
                <a:solidFill>
                  <a:schemeClr val="tx1">
                    <a:alpha val="85098"/>
                  </a:schemeClr>
                </a:solidFill>
                <a:latin typeface="微软雅黑" panose="020B0503020204020204" pitchFamily="34" charset="-122"/>
                <a:ea typeface="微软雅黑" panose="020B0503020204020204" pitchFamily="34" charset="-122"/>
                <a:cs typeface="微软雅黑" panose="020B0503020204020204" pitchFamily="34" charset="-122"/>
              </a:rPr>
              <a:t>推理精度100%完全可控，结果由形式化语义保证，适用于</a:t>
            </a:r>
            <a:r>
              <a:rPr sz="1000" b="0" i="0" strike="noStrike">
                <a:solidFill>
                  <a:schemeClr val="tx1">
                    <a:alpha val="85098"/>
                  </a:schemeClr>
                </a:solidFill>
                <a:latin typeface="微软雅黑" panose="020B0503020204020204" pitchFamily="34" charset="-122"/>
                <a:ea typeface="微软雅黑" panose="020B0503020204020204" pitchFamily="34" charset="-122"/>
                <a:cs typeface="微软雅黑" panose="020B0503020204020204" pitchFamily="34" charset="-122"/>
              </a:rPr>
              <a:t>零容错领域</a:t>
            </a:r>
            <a:endParaRPr sz="1000" b="0" i="0" strike="noStrike">
              <a:solidFill>
                <a:schemeClr val="tx1">
                  <a:alpha val="85098"/>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4" name="AutoShape 17"/>
          <p:cNvSpPr/>
          <p:nvPr/>
        </p:nvSpPr>
        <p:spPr>
          <a:xfrm>
            <a:off x="599925" y="5867062"/>
            <a:ext cx="9522" cy="400050"/>
          </a:xfrm>
          <a:prstGeom prst="line">
            <a:avLst/>
          </a:prstGeom>
          <a:ln w="9525">
            <a:solidFill>
              <a:srgbClr val="C00000">
                <a:alpha val="100000"/>
              </a:srgbClr>
            </a:solidFill>
            <a:prstDash val="solid"/>
            <a:headEnd type="none"/>
            <a:tailEnd type="none"/>
          </a:ln>
        </p:spPr>
      </p:sp>
      <p:sp>
        <p:nvSpPr>
          <p:cNvPr id="35" name="TextBox 18"/>
          <p:cNvSpPr txBox="1"/>
          <p:nvPr/>
        </p:nvSpPr>
        <p:spPr>
          <a:xfrm>
            <a:off x="704673" y="5886112"/>
            <a:ext cx="5275530" cy="352425"/>
          </a:xfrm>
          <a:prstGeom prst="rect">
            <a:avLst/>
          </a:prstGeom>
          <a:ln>
            <a:headEnd type="none"/>
            <a:tailEnd type="none"/>
          </a:ln>
        </p:spPr>
        <p:txBody>
          <a:bodyPr vert="horz" wrap="square" lIns="0" tIns="0" rIns="0" bIns="0" rtlCol="0" anchor="t" anchorCtr="0"/>
          <a:lstStyle/>
          <a:p>
            <a:pPr algn="l">
              <a:defRPr/>
            </a:pPr>
            <a:r>
              <a:rPr lang="en-US"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rPr>
              <a:t>本体构建完成即可脱离大模型独立运行，推理成本极低且延迟稳定，保障核心业务链路</a:t>
            </a:r>
            <a:endParaRPr lang="en-US" sz="1100">
              <a:solidFill>
                <a:schemeClr val="tx1"/>
              </a:solidFill>
              <a:latin typeface="微软雅黑" panose="020B0503020204020204" pitchFamily="34" charset="-122"/>
              <a:ea typeface="微软雅黑" panose="020B0503020204020204" pitchFamily="34" charset="-122"/>
            </a:endParaRPr>
          </a:p>
          <a:p>
            <a:pPr algn="l"/>
            <a:r>
              <a:rPr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rPr>
              <a:t>的确定性与可审计性</a:t>
            </a:r>
            <a:endParaRPr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43" name="AutoShape 19"/>
          <p:cNvSpPr/>
          <p:nvPr/>
        </p:nvSpPr>
        <p:spPr>
          <a:xfrm>
            <a:off x="6208747" y="1676658"/>
            <a:ext cx="5561209" cy="4847332"/>
          </a:xfrm>
          <a:prstGeom prst="rect">
            <a:avLst/>
          </a:prstGeom>
          <a:solidFill>
            <a:schemeClr val="bg1"/>
          </a:solidFill>
          <a:ln w="9525">
            <a:solidFill>
              <a:srgbClr val="D4CEC4">
                <a:alpha val="100000"/>
              </a:srgbClr>
            </a:solidFill>
            <a:prstDash val="solid"/>
            <a:headEnd type="none"/>
            <a:tailEnd type="none"/>
          </a:ln>
        </p:spPr>
      </p:sp>
      <p:sp>
        <p:nvSpPr>
          <p:cNvPr id="45" name="AutoShape 20"/>
          <p:cNvSpPr/>
          <p:nvPr/>
        </p:nvSpPr>
        <p:spPr>
          <a:xfrm>
            <a:off x="6208747" y="1676658"/>
            <a:ext cx="5561209" cy="9525"/>
          </a:xfrm>
          <a:prstGeom prst="line">
            <a:avLst/>
          </a:prstGeom>
          <a:ln w="28575">
            <a:solidFill>
              <a:srgbClr val="C00000">
                <a:alpha val="100000"/>
              </a:srgbClr>
            </a:solidFill>
            <a:prstDash val="solid"/>
            <a:headEnd type="none"/>
            <a:tailEnd type="none"/>
          </a:ln>
        </p:spPr>
      </p:sp>
      <p:sp>
        <p:nvSpPr>
          <p:cNvPr id="46" name="AutoShape 21"/>
          <p:cNvSpPr/>
          <p:nvPr/>
        </p:nvSpPr>
        <p:spPr>
          <a:xfrm>
            <a:off x="6372789" y="1910020"/>
            <a:ext cx="152362" cy="152400"/>
          </a:xfrm>
          <a:custGeom>
            <a:avLst/>
            <a:gdLst/>
            <a:ahLst/>
            <a:cxnLst/>
            <a:rect l="l" t="t" r="r" b="b"/>
            <a:pathLst>
              <a:path w="9998" h="10000">
                <a:moveTo>
                  <a:pt x="5624" y="737"/>
                </a:moveTo>
                <a:lnTo>
                  <a:pt x="5624" y="727"/>
                </a:lnTo>
                <a:cubicBezTo>
                  <a:pt x="5624" y="837"/>
                  <a:pt x="5606" y="940"/>
                  <a:pt x="5570" y="1035"/>
                </a:cubicBezTo>
                <a:cubicBezTo>
                  <a:pt x="5534" y="1129"/>
                  <a:pt x="5482" y="1208"/>
                  <a:pt x="5416" y="1274"/>
                </a:cubicBezTo>
                <a:lnTo>
                  <a:pt x="5416" y="2191"/>
                </a:lnTo>
                <a:lnTo>
                  <a:pt x="7499" y="2191"/>
                </a:lnTo>
                <a:cubicBezTo>
                  <a:pt x="7726" y="2191"/>
                  <a:pt x="7936" y="2257"/>
                  <a:pt x="8128" y="2391"/>
                </a:cubicBezTo>
                <a:cubicBezTo>
                  <a:pt x="8319" y="2525"/>
                  <a:pt x="8470" y="2704"/>
                  <a:pt x="8582" y="2928"/>
                </a:cubicBezTo>
                <a:cubicBezTo>
                  <a:pt x="8692" y="3152"/>
                  <a:pt x="8748" y="3395"/>
                  <a:pt x="8748" y="3655"/>
                </a:cubicBezTo>
                <a:lnTo>
                  <a:pt x="8748" y="8536"/>
                </a:lnTo>
                <a:cubicBezTo>
                  <a:pt x="8748" y="8802"/>
                  <a:pt x="8692" y="9048"/>
                  <a:pt x="8582" y="9273"/>
                </a:cubicBezTo>
                <a:cubicBezTo>
                  <a:pt x="8470" y="9497"/>
                  <a:pt x="8319" y="9676"/>
                  <a:pt x="8128" y="9810"/>
                </a:cubicBezTo>
                <a:cubicBezTo>
                  <a:pt x="7936" y="9943"/>
                  <a:pt x="7726" y="10006"/>
                  <a:pt x="7499" y="10000"/>
                </a:cubicBezTo>
                <a:lnTo>
                  <a:pt x="2499" y="10000"/>
                </a:lnTo>
                <a:cubicBezTo>
                  <a:pt x="2271" y="10006"/>
                  <a:pt x="2062" y="9943"/>
                  <a:pt x="1870" y="9810"/>
                </a:cubicBezTo>
                <a:cubicBezTo>
                  <a:pt x="1678" y="9676"/>
                  <a:pt x="1527" y="9497"/>
                  <a:pt x="1416" y="9273"/>
                </a:cubicBezTo>
                <a:cubicBezTo>
                  <a:pt x="1305" y="9048"/>
                  <a:pt x="1250" y="8802"/>
                  <a:pt x="1250" y="8536"/>
                </a:cubicBezTo>
                <a:lnTo>
                  <a:pt x="1250" y="3655"/>
                </a:lnTo>
                <a:cubicBezTo>
                  <a:pt x="1250" y="3395"/>
                  <a:pt x="1305" y="3152"/>
                  <a:pt x="1416" y="2928"/>
                </a:cubicBezTo>
                <a:cubicBezTo>
                  <a:pt x="1527" y="2704"/>
                  <a:pt x="1678" y="2525"/>
                  <a:pt x="1870" y="2391"/>
                </a:cubicBezTo>
                <a:cubicBezTo>
                  <a:pt x="2062" y="2257"/>
                  <a:pt x="2271" y="2191"/>
                  <a:pt x="2499" y="2191"/>
                </a:cubicBezTo>
                <a:lnTo>
                  <a:pt x="4582" y="2191"/>
                </a:lnTo>
                <a:lnTo>
                  <a:pt x="4582" y="1274"/>
                </a:lnTo>
                <a:cubicBezTo>
                  <a:pt x="4515" y="1208"/>
                  <a:pt x="4464" y="1129"/>
                  <a:pt x="4428" y="1035"/>
                </a:cubicBezTo>
                <a:cubicBezTo>
                  <a:pt x="4392" y="940"/>
                  <a:pt x="4374" y="841"/>
                  <a:pt x="4374" y="737"/>
                </a:cubicBezTo>
                <a:cubicBezTo>
                  <a:pt x="4374" y="529"/>
                  <a:pt x="4435" y="353"/>
                  <a:pt x="4557" y="210"/>
                </a:cubicBezTo>
                <a:cubicBezTo>
                  <a:pt x="4679" y="66"/>
                  <a:pt x="4827" y="-3"/>
                  <a:pt x="4999" y="0"/>
                </a:cubicBezTo>
                <a:cubicBezTo>
                  <a:pt x="5171" y="3"/>
                  <a:pt x="5318" y="75"/>
                  <a:pt x="5441" y="215"/>
                </a:cubicBezTo>
                <a:cubicBezTo>
                  <a:pt x="5563" y="355"/>
                  <a:pt x="5624" y="529"/>
                  <a:pt x="5624" y="737"/>
                </a:cubicBezTo>
                <a:moveTo>
                  <a:pt x="7499" y="3167"/>
                </a:moveTo>
                <a:lnTo>
                  <a:pt x="2499" y="3167"/>
                </a:lnTo>
                <a:cubicBezTo>
                  <a:pt x="2383" y="3167"/>
                  <a:pt x="2284" y="3216"/>
                  <a:pt x="2204" y="3314"/>
                </a:cubicBezTo>
                <a:cubicBezTo>
                  <a:pt x="2123" y="3411"/>
                  <a:pt x="2083" y="3525"/>
                  <a:pt x="2083" y="3655"/>
                </a:cubicBezTo>
                <a:lnTo>
                  <a:pt x="2083" y="8536"/>
                </a:lnTo>
                <a:cubicBezTo>
                  <a:pt x="2083" y="8672"/>
                  <a:pt x="2123" y="8788"/>
                  <a:pt x="2204" y="8882"/>
                </a:cubicBezTo>
                <a:cubicBezTo>
                  <a:pt x="2284" y="8976"/>
                  <a:pt x="2383" y="9024"/>
                  <a:pt x="2499" y="9024"/>
                </a:cubicBezTo>
                <a:lnTo>
                  <a:pt x="7499" y="9024"/>
                </a:lnTo>
                <a:cubicBezTo>
                  <a:pt x="7615" y="9024"/>
                  <a:pt x="7713" y="8976"/>
                  <a:pt x="7794" y="8882"/>
                </a:cubicBezTo>
                <a:cubicBezTo>
                  <a:pt x="7874" y="8788"/>
                  <a:pt x="7915" y="8672"/>
                  <a:pt x="7915" y="8536"/>
                </a:cubicBezTo>
                <a:lnTo>
                  <a:pt x="7915" y="3655"/>
                </a:lnTo>
                <a:cubicBezTo>
                  <a:pt x="7915" y="3525"/>
                  <a:pt x="7874" y="3413"/>
                  <a:pt x="7794" y="3319"/>
                </a:cubicBezTo>
                <a:cubicBezTo>
                  <a:pt x="7713" y="3224"/>
                  <a:pt x="7615" y="3173"/>
                  <a:pt x="7499" y="3167"/>
                </a:cubicBezTo>
                <a:moveTo>
                  <a:pt x="833" y="7560"/>
                </a:moveTo>
                <a:lnTo>
                  <a:pt x="833" y="4632"/>
                </a:lnTo>
                <a:lnTo>
                  <a:pt x="0" y="4632"/>
                </a:lnTo>
                <a:lnTo>
                  <a:pt x="0" y="7560"/>
                </a:lnTo>
                <a:lnTo>
                  <a:pt x="833" y="7560"/>
                </a:lnTo>
                <a:moveTo>
                  <a:pt x="9165" y="7560"/>
                </a:moveTo>
                <a:lnTo>
                  <a:pt x="9165" y="4632"/>
                </a:lnTo>
                <a:lnTo>
                  <a:pt x="9998" y="4632"/>
                </a:lnTo>
                <a:lnTo>
                  <a:pt x="9998" y="7560"/>
                </a:lnTo>
                <a:lnTo>
                  <a:pt x="9165" y="7560"/>
                </a:lnTo>
                <a:moveTo>
                  <a:pt x="3749" y="6828"/>
                </a:moveTo>
                <a:cubicBezTo>
                  <a:pt x="3921" y="6834"/>
                  <a:pt x="4069" y="6765"/>
                  <a:pt x="4191" y="6623"/>
                </a:cubicBezTo>
                <a:cubicBezTo>
                  <a:pt x="4313" y="6479"/>
                  <a:pt x="4374" y="6305"/>
                  <a:pt x="4374" y="6101"/>
                </a:cubicBezTo>
                <a:cubicBezTo>
                  <a:pt x="4374" y="5895"/>
                  <a:pt x="4313" y="5721"/>
                  <a:pt x="4191" y="5578"/>
                </a:cubicBezTo>
                <a:cubicBezTo>
                  <a:pt x="4069" y="5435"/>
                  <a:pt x="3921" y="5365"/>
                  <a:pt x="3749" y="5368"/>
                </a:cubicBezTo>
                <a:cubicBezTo>
                  <a:pt x="3577" y="5371"/>
                  <a:pt x="3430" y="5443"/>
                  <a:pt x="3308" y="5583"/>
                </a:cubicBezTo>
                <a:cubicBezTo>
                  <a:pt x="3185" y="5723"/>
                  <a:pt x="3124" y="5895"/>
                  <a:pt x="3124" y="6101"/>
                </a:cubicBezTo>
                <a:cubicBezTo>
                  <a:pt x="3124" y="6305"/>
                  <a:pt x="3185" y="6478"/>
                  <a:pt x="3308" y="6618"/>
                </a:cubicBezTo>
                <a:cubicBezTo>
                  <a:pt x="3430" y="6758"/>
                  <a:pt x="3577" y="6828"/>
                  <a:pt x="3749" y="6828"/>
                </a:cubicBezTo>
                <a:moveTo>
                  <a:pt x="6249" y="6828"/>
                </a:moveTo>
                <a:cubicBezTo>
                  <a:pt x="6421" y="6828"/>
                  <a:pt x="6568" y="6758"/>
                  <a:pt x="6690" y="6618"/>
                </a:cubicBezTo>
                <a:cubicBezTo>
                  <a:pt x="6812" y="6478"/>
                  <a:pt x="6874" y="6305"/>
                  <a:pt x="6874" y="6101"/>
                </a:cubicBezTo>
                <a:cubicBezTo>
                  <a:pt x="6874" y="5895"/>
                  <a:pt x="6812" y="5721"/>
                  <a:pt x="6690" y="5578"/>
                </a:cubicBezTo>
                <a:cubicBezTo>
                  <a:pt x="6568" y="5435"/>
                  <a:pt x="6421" y="5365"/>
                  <a:pt x="6249" y="5368"/>
                </a:cubicBezTo>
                <a:cubicBezTo>
                  <a:pt x="6076" y="5371"/>
                  <a:pt x="5929" y="5443"/>
                  <a:pt x="5807" y="5583"/>
                </a:cubicBezTo>
                <a:cubicBezTo>
                  <a:pt x="5685" y="5723"/>
                  <a:pt x="5624" y="5895"/>
                  <a:pt x="5624" y="6101"/>
                </a:cubicBezTo>
                <a:cubicBezTo>
                  <a:pt x="5624" y="6305"/>
                  <a:pt x="5685" y="6478"/>
                  <a:pt x="5807" y="6618"/>
                </a:cubicBezTo>
                <a:cubicBezTo>
                  <a:pt x="5929" y="6758"/>
                  <a:pt x="6076" y="6828"/>
                  <a:pt x="6249" y="6828"/>
                </a:cubicBezTo>
              </a:path>
            </a:pathLst>
          </a:custGeom>
          <a:solidFill>
            <a:srgbClr val="2B4C9B">
              <a:alpha val="100000"/>
            </a:srgbClr>
          </a:solidFill>
          <a:ln>
            <a:solidFill>
              <a:srgbClr val="C00000"/>
            </a:solidFill>
            <a:headEnd type="none"/>
            <a:tailEnd type="none"/>
          </a:ln>
        </p:spPr>
      </p:sp>
      <p:sp>
        <p:nvSpPr>
          <p:cNvPr id="47" name="TextBox 22"/>
          <p:cNvSpPr txBox="1"/>
          <p:nvPr/>
        </p:nvSpPr>
        <p:spPr>
          <a:xfrm>
            <a:off x="6584445" y="1886208"/>
            <a:ext cx="2076079" cy="190500"/>
          </a:xfrm>
          <a:prstGeom prst="rect">
            <a:avLst/>
          </a:prstGeom>
          <a:ln>
            <a:headEnd type="none"/>
            <a:tailEnd type="none"/>
          </a:ln>
        </p:spPr>
        <p:txBody>
          <a:bodyPr vert="horz" wrap="none" lIns="0" tIns="0" rIns="0" bIns="0" rtlCol="0" anchor="t" anchorCtr="0"/>
          <a:lstStyle/>
          <a:p>
            <a:pPr algn="l">
              <a:defRPr/>
            </a:pPr>
            <a:r>
              <a:rPr lang="en-US" sz="1300" b="1" i="0" strike="noStrike">
                <a:solidFill>
                  <a:srgbClr val="1A1A1A">
                    <a:alpha val="100000"/>
                  </a:srgbClr>
                </a:solidFill>
                <a:latin typeface="Source Han Serif CN" panose="02020400000000000000" charset="-122"/>
                <a:ea typeface="Source Han Serif CN" panose="02020400000000000000" charset="-122"/>
                <a:cs typeface="Source Han Serif CN" panose="02020400000000000000" charset="-122"/>
              </a:rPr>
              <a:t>智能体驱动 · 不确定性场景</a:t>
            </a:r>
            <a:endParaRPr lang="en-US" sz="1100"/>
          </a:p>
        </p:txBody>
      </p:sp>
      <p:pic>
        <p:nvPicPr>
          <p:cNvPr id="48" name="Picture 23"/>
          <p:cNvPicPr>
            <a:picLocks noChangeAspect="1"/>
          </p:cNvPicPr>
          <p:nvPr/>
        </p:nvPicPr>
        <p:blipFill>
          <a:blip r:embed="rId2">
            <a:alphaModFix amt="100000"/>
          </a:blip>
          <a:srcRect/>
          <a:stretch>
            <a:fillRect/>
          </a:stretch>
        </p:blipFill>
        <p:spPr>
          <a:xfrm>
            <a:off x="6389677" y="2191008"/>
            <a:ext cx="5199350" cy="1919735"/>
          </a:xfrm>
          <a:prstGeom prst="rect">
            <a:avLst/>
          </a:prstGeom>
          <a:ln>
            <a:headEnd type="none"/>
            <a:tailEnd type="none"/>
          </a:ln>
        </p:spPr>
      </p:pic>
      <p:sp>
        <p:nvSpPr>
          <p:cNvPr id="50" name="AutoShape 25"/>
          <p:cNvSpPr/>
          <p:nvPr/>
        </p:nvSpPr>
        <p:spPr>
          <a:xfrm>
            <a:off x="6389677" y="4477901"/>
            <a:ext cx="9522" cy="400050"/>
          </a:xfrm>
          <a:prstGeom prst="line">
            <a:avLst/>
          </a:prstGeom>
          <a:ln w="9525">
            <a:solidFill>
              <a:srgbClr val="C00000">
                <a:alpha val="100000"/>
              </a:srgbClr>
            </a:solidFill>
            <a:prstDash val="solid"/>
            <a:headEnd type="none"/>
            <a:tailEnd type="none"/>
          </a:ln>
        </p:spPr>
      </p:sp>
      <p:sp>
        <p:nvSpPr>
          <p:cNvPr id="51" name="TextBox 26"/>
          <p:cNvSpPr txBox="1"/>
          <p:nvPr/>
        </p:nvSpPr>
        <p:spPr>
          <a:xfrm>
            <a:off x="6494426" y="4496951"/>
            <a:ext cx="5275530" cy="352425"/>
          </a:xfrm>
          <a:prstGeom prst="rect">
            <a:avLst/>
          </a:prstGeom>
          <a:ln>
            <a:headEnd type="none"/>
            <a:tailEnd type="none"/>
          </a:ln>
        </p:spPr>
        <p:txBody>
          <a:bodyPr vert="horz" wrap="square" lIns="0" tIns="0" rIns="0" bIns="0" rtlCol="0" anchor="t" anchorCtr="0"/>
          <a:lstStyle/>
          <a:p>
            <a:pPr algn="l">
              <a:defRPr/>
            </a:pPr>
            <a:r>
              <a:rPr lang="en-US"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rPr>
              <a:t>模糊需求、开放性推理与复杂决策由智能体主导完成，结合上下文理解、多步规划与工</a:t>
            </a:r>
            <a:endParaRPr lang="en-US" sz="1100">
              <a:solidFill>
                <a:schemeClr val="tx1"/>
              </a:solidFill>
              <a:latin typeface="微软雅黑" panose="020B0503020204020204" pitchFamily="34" charset="-122"/>
              <a:ea typeface="微软雅黑" panose="020B0503020204020204" pitchFamily="34" charset="-122"/>
            </a:endParaRPr>
          </a:p>
          <a:p>
            <a:pPr algn="l"/>
            <a:r>
              <a:rPr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rPr>
              <a:t>具调用实现深度推理</a:t>
            </a:r>
            <a:r>
              <a:rPr lang="zh-CN"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rPr>
              <a:t>，必要时人工</a:t>
            </a:r>
            <a:r>
              <a:rPr lang="zh-CN"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rPr>
              <a:t>参与</a:t>
            </a:r>
            <a:endParaRPr lang="zh-CN"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52" name="AutoShape 27"/>
          <p:cNvSpPr/>
          <p:nvPr/>
        </p:nvSpPr>
        <p:spPr>
          <a:xfrm>
            <a:off x="6389677" y="5172481"/>
            <a:ext cx="9522" cy="400050"/>
          </a:xfrm>
          <a:prstGeom prst="line">
            <a:avLst/>
          </a:prstGeom>
          <a:ln w="9525">
            <a:solidFill>
              <a:srgbClr val="C00000">
                <a:alpha val="100000"/>
              </a:srgbClr>
            </a:solidFill>
            <a:prstDash val="solid"/>
            <a:headEnd type="none"/>
            <a:tailEnd type="none"/>
          </a:ln>
        </p:spPr>
      </p:sp>
      <p:sp>
        <p:nvSpPr>
          <p:cNvPr id="53" name="TextBox 28"/>
          <p:cNvSpPr txBox="1"/>
          <p:nvPr/>
        </p:nvSpPr>
        <p:spPr>
          <a:xfrm>
            <a:off x="6494426" y="5191531"/>
            <a:ext cx="5275530" cy="352425"/>
          </a:xfrm>
          <a:prstGeom prst="rect">
            <a:avLst/>
          </a:prstGeom>
          <a:ln>
            <a:headEnd type="none"/>
            <a:tailEnd type="none"/>
          </a:ln>
        </p:spPr>
        <p:txBody>
          <a:bodyPr vert="horz" wrap="square" lIns="0" tIns="0" rIns="0" bIns="0" rtlCol="0" anchor="t" anchorCtr="0"/>
          <a:lstStyle/>
          <a:p>
            <a:pPr algn="l">
              <a:defRPr/>
            </a:pPr>
            <a:r>
              <a:rPr lang="en-US"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rPr>
              <a:t>推理准确率超过资深专家水平，智能体在本体知识骨架上进行合理性校验，</a:t>
            </a:r>
            <a:r>
              <a:rPr lang="zh-CN" altLang="en-US"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rPr>
              <a:t>减少</a:t>
            </a:r>
            <a:r>
              <a:rPr lang="en-US"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rPr>
              <a:t>幻觉并</a:t>
            </a:r>
            <a:endParaRPr lang="en-US" sz="1100">
              <a:solidFill>
                <a:schemeClr val="tx1"/>
              </a:solidFill>
              <a:latin typeface="微软雅黑" panose="020B0503020204020204" pitchFamily="34" charset="-122"/>
              <a:ea typeface="微软雅黑" panose="020B0503020204020204" pitchFamily="34" charset="-122"/>
            </a:endParaRPr>
          </a:p>
          <a:p>
            <a:pPr algn="l"/>
            <a:r>
              <a:rPr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rPr>
              <a:t>确保输出质量</a:t>
            </a:r>
            <a:endParaRPr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54" name="AutoShape 29"/>
          <p:cNvSpPr/>
          <p:nvPr/>
        </p:nvSpPr>
        <p:spPr>
          <a:xfrm>
            <a:off x="6389677" y="5867062"/>
            <a:ext cx="9522" cy="400050"/>
          </a:xfrm>
          <a:prstGeom prst="line">
            <a:avLst/>
          </a:prstGeom>
          <a:ln w="9525">
            <a:solidFill>
              <a:srgbClr val="C00000">
                <a:alpha val="100000"/>
              </a:srgbClr>
            </a:solidFill>
            <a:prstDash val="solid"/>
            <a:headEnd type="none"/>
            <a:tailEnd type="none"/>
          </a:ln>
        </p:spPr>
      </p:sp>
      <p:sp>
        <p:nvSpPr>
          <p:cNvPr id="55" name="TextBox 30"/>
          <p:cNvSpPr txBox="1"/>
          <p:nvPr/>
        </p:nvSpPr>
        <p:spPr>
          <a:xfrm>
            <a:off x="6494426" y="5886112"/>
            <a:ext cx="5275530" cy="352425"/>
          </a:xfrm>
          <a:prstGeom prst="rect">
            <a:avLst/>
          </a:prstGeom>
          <a:ln>
            <a:headEnd type="none"/>
            <a:tailEnd type="none"/>
          </a:ln>
        </p:spPr>
        <p:txBody>
          <a:bodyPr vert="horz" wrap="square" lIns="0" tIns="0" rIns="0" bIns="0" rtlCol="0" anchor="t" anchorCtr="0"/>
          <a:lstStyle/>
          <a:p>
            <a:pPr algn="l">
              <a:defRPr/>
            </a:pPr>
            <a:r>
              <a:rPr lang="en-US"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rPr>
              <a:t>适用于客户咨询、创意生成、方案探索等场景，以灵活应变弥补本体无法覆盖的长尾与</a:t>
            </a:r>
            <a:endParaRPr lang="en-US" sz="1100">
              <a:solidFill>
                <a:schemeClr val="tx1"/>
              </a:solidFill>
              <a:latin typeface="微软雅黑" panose="020B0503020204020204" pitchFamily="34" charset="-122"/>
              <a:ea typeface="微软雅黑" panose="020B0503020204020204" pitchFamily="34" charset="-122"/>
            </a:endParaRPr>
          </a:p>
          <a:p>
            <a:pPr algn="l"/>
            <a:r>
              <a:rPr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rPr>
              <a:t>边界问题</a:t>
            </a:r>
            <a:endParaRPr sz="1000" b="0" i="0" strike="noStrike">
              <a:solidFill>
                <a:schemeClr val="tx1">
                  <a:alpha val="85098"/>
                </a:schemeClr>
              </a:solidFill>
              <a:latin typeface="微软雅黑" panose="020B0503020204020204" pitchFamily="34" charset="-122"/>
              <a:ea typeface="微软雅黑" panose="020B0503020204020204" pitchFamily="34" charset="-122"/>
              <a:cs typeface="FZYaYiHei GB18030L2 R" panose="020005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a:t>技术路线与核心价值</a:t>
            </a:r>
            <a:endParaRPr lang="zh-CN" altLang="en-US"/>
          </a:p>
        </p:txBody>
      </p:sp>
      <p:sp>
        <p:nvSpPr>
          <p:cNvPr id="7" name="TextBox 7"/>
          <p:cNvSpPr txBox="1"/>
          <p:nvPr/>
        </p:nvSpPr>
        <p:spPr>
          <a:xfrm>
            <a:off x="9836785" y="400050"/>
            <a:ext cx="1695450" cy="114300"/>
          </a:xfrm>
          <a:prstGeom prst="rect">
            <a:avLst/>
          </a:prstGeom>
          <a:ln>
            <a:headEnd type="none"/>
            <a:tailEnd type="none"/>
          </a:ln>
        </p:spPr>
        <p:txBody>
          <a:bodyPr vert="horz" wrap="none" lIns="0" tIns="0" rIns="0" bIns="0" rtlCol="0" anchor="t" anchorCtr="0"/>
          <a:lstStyle/>
          <a:p>
            <a:pPr algn="l">
              <a:defRPr/>
            </a:pPr>
            <a:r>
              <a:rPr lang="en-US" sz="800" b="0" i="0" strike="noStrike">
                <a:solidFill>
                  <a:srgbClr val="8B1A1A">
                    <a:alpha val="40000"/>
                  </a:srgbClr>
                </a:solidFill>
                <a:latin typeface="Arial" panose="020B0604020202020204"/>
                <a:ea typeface="Arial" panose="020B0604020202020204"/>
                <a:cs typeface="Arial" panose="020B0604020202020204"/>
              </a:rPr>
              <a:t>TECHNOLOGY ROADMAP</a:t>
            </a:r>
            <a:endParaRPr lang="en-US" sz="1100"/>
          </a:p>
        </p:txBody>
      </p:sp>
      <p:grpSp>
        <p:nvGrpSpPr>
          <p:cNvPr id="8" name="组合 7"/>
          <p:cNvGrpSpPr/>
          <p:nvPr/>
        </p:nvGrpSpPr>
        <p:grpSpPr>
          <a:xfrm>
            <a:off x="587375" y="825500"/>
            <a:ext cx="11503660" cy="5627370"/>
            <a:chOff x="1080" y="1938"/>
            <a:chExt cx="18116" cy="8862"/>
          </a:xfrm>
        </p:grpSpPr>
        <p:sp>
          <p:nvSpPr>
            <p:cNvPr id="10" name="AutoShape 10"/>
            <p:cNvSpPr/>
            <p:nvPr/>
          </p:nvSpPr>
          <p:spPr>
            <a:xfrm>
              <a:off x="1080" y="1938"/>
              <a:ext cx="17036" cy="1110"/>
            </a:xfrm>
            <a:prstGeom prst="rect">
              <a:avLst/>
            </a:prstGeom>
            <a:solidFill>
              <a:schemeClr val="bg1">
                <a:lumMod val="95000"/>
              </a:schemeClr>
            </a:solidFill>
            <a:ln>
              <a:headEnd type="none"/>
              <a:tailEnd type="none"/>
            </a:ln>
          </p:spPr>
        </p:sp>
        <p:sp>
          <p:nvSpPr>
            <p:cNvPr id="11" name="TextBox 11"/>
            <p:cNvSpPr txBox="1"/>
            <p:nvPr/>
          </p:nvSpPr>
          <p:spPr>
            <a:xfrm>
              <a:off x="1396" y="2118"/>
              <a:ext cx="17800" cy="718"/>
            </a:xfrm>
            <a:prstGeom prst="rect">
              <a:avLst/>
            </a:prstGeom>
            <a:ln>
              <a:headEnd type="none"/>
              <a:tailEnd type="none"/>
            </a:ln>
          </p:spPr>
          <p:txBody>
            <a:bodyPr vert="horz" wrap="square" lIns="0" tIns="0" rIns="0" bIns="0" rtlCol="0" anchor="t" anchorCtr="0"/>
            <a:lstStyle/>
            <a:p>
              <a:pPr algn="l">
                <a:defRPr/>
              </a:pPr>
              <a:r>
                <a:rPr lang="en-US" sz="1300" b="0" i="1" strike="noStrike">
                  <a:solidFill>
                    <a:schemeClr val="tx1">
                      <a:alpha val="78039"/>
                    </a:schemeClr>
                  </a:solidFill>
                  <a:latin typeface="Source Han Sans" panose="020B0500000000000000" charset="-122"/>
                  <a:ea typeface="Source Han Sans" panose="020B0500000000000000" charset="-122"/>
                  <a:cs typeface="Source Han Sans" panose="020B0500000000000000" charset="-122"/>
                </a:rPr>
                <a:t>7+1语义体系通过研发阶段的AI对抗打磨与投产阶段的Agent-本体协同形成完整闭环，以设计驱动、高复用、业务融合三大优势支撑企业级</a:t>
              </a:r>
              <a:endParaRPr lang="en-US" sz="1100">
                <a:solidFill>
                  <a:schemeClr val="tx1"/>
                </a:solidFill>
              </a:endParaRPr>
            </a:p>
            <a:p>
              <a:pPr algn="l"/>
              <a:r>
                <a:rPr sz="1300" b="0" i="1" strike="noStrike">
                  <a:solidFill>
                    <a:schemeClr val="tx1">
                      <a:alpha val="78039"/>
                    </a:schemeClr>
                  </a:solidFill>
                  <a:latin typeface="Source Han Sans" panose="020B0500000000000000" charset="-122"/>
                  <a:ea typeface="Source Han Sans" panose="020B0500000000000000" charset="-122"/>
                  <a:cs typeface="Source Han Sans" panose="020B0500000000000000" charset="-122"/>
                </a:rPr>
                <a:t>知识应用，目标是达到或超越人类专家水平。</a:t>
              </a:r>
              <a:endParaRPr sz="1300" b="0" i="1" strike="noStrike">
                <a:solidFill>
                  <a:schemeClr val="tx1">
                    <a:alpha val="78039"/>
                  </a:schemeClr>
                </a:solidFill>
                <a:latin typeface="Source Han Sans" panose="020B0500000000000000" charset="-122"/>
                <a:ea typeface="Source Han Sans" panose="020B0500000000000000" charset="-122"/>
                <a:cs typeface="Source Han Sans" panose="020B0500000000000000" charset="-122"/>
              </a:endParaRPr>
            </a:p>
          </p:txBody>
        </p:sp>
        <p:sp>
          <p:nvSpPr>
            <p:cNvPr id="12" name="AutoShape 12"/>
            <p:cNvSpPr/>
            <p:nvPr/>
          </p:nvSpPr>
          <p:spPr>
            <a:xfrm>
              <a:off x="1080" y="3367"/>
              <a:ext cx="120" cy="120"/>
            </a:xfrm>
            <a:prstGeom prst="ellipse">
              <a:avLst/>
            </a:prstGeom>
            <a:solidFill>
              <a:srgbClr val="C43E3E">
                <a:alpha val="100000"/>
              </a:srgbClr>
            </a:solidFill>
            <a:ln>
              <a:headEnd type="none"/>
              <a:tailEnd type="none"/>
            </a:ln>
          </p:spPr>
        </p:sp>
        <p:sp>
          <p:nvSpPr>
            <p:cNvPr id="13" name="TextBox 13"/>
            <p:cNvSpPr txBox="1"/>
            <p:nvPr/>
          </p:nvSpPr>
          <p:spPr>
            <a:xfrm>
              <a:off x="1321" y="3330"/>
              <a:ext cx="2742" cy="225"/>
            </a:xfrm>
            <a:prstGeom prst="rect">
              <a:avLst/>
            </a:prstGeom>
            <a:ln>
              <a:headEnd type="none"/>
              <a:tailEnd type="none"/>
            </a:ln>
          </p:spPr>
          <p:txBody>
            <a:bodyPr vert="horz" wrap="none" lIns="0" tIns="0" rIns="0" bIns="0" rtlCol="0" anchor="t" anchorCtr="0"/>
            <a:lstStyle/>
            <a:p>
              <a:pPr algn="l">
                <a:defRPr/>
              </a:pPr>
              <a:r>
                <a:rPr lang="en-US" sz="900" b="1" i="0" strike="noStrike">
                  <a:solidFill>
                    <a:schemeClr val="tx1">
                      <a:alpha val="100000"/>
                    </a:schemeClr>
                  </a:solidFill>
                  <a:latin typeface="Source Han Sans" panose="020B0500000000000000" charset="-122"/>
                  <a:ea typeface="Source Han Sans" panose="020B0500000000000000" charset="-122"/>
                  <a:cs typeface="Source Han Sans" panose="020B0500000000000000" charset="-122"/>
                </a:rPr>
                <a:t>研发阶段：AI驱动的本体构建</a:t>
              </a:r>
              <a:endParaRPr lang="en-US" sz="900" b="1" i="0" strike="noStrike">
                <a:solidFill>
                  <a:schemeClr val="tx1">
                    <a:alpha val="100000"/>
                  </a:schemeClr>
                </a:solidFill>
                <a:latin typeface="Source Han Sans" panose="020B0500000000000000" charset="-122"/>
                <a:ea typeface="Source Han Sans" panose="020B0500000000000000" charset="-122"/>
                <a:cs typeface="Source Han Sans" panose="020B0500000000000000" charset="-122"/>
              </a:endParaRPr>
            </a:p>
          </p:txBody>
        </p:sp>
        <p:sp>
          <p:nvSpPr>
            <p:cNvPr id="14" name="AutoShape 14"/>
            <p:cNvSpPr/>
            <p:nvPr/>
          </p:nvSpPr>
          <p:spPr>
            <a:xfrm>
              <a:off x="1080" y="3750"/>
              <a:ext cx="480" cy="480"/>
            </a:xfrm>
            <a:prstGeom prst="ellipse">
              <a:avLst/>
            </a:prstGeom>
            <a:solidFill>
              <a:srgbClr val="9ACAF1"/>
            </a:solidFill>
            <a:ln>
              <a:headEnd type="none"/>
              <a:tailEnd type="none"/>
            </a:ln>
          </p:spPr>
        </p:sp>
        <p:sp>
          <p:nvSpPr>
            <p:cNvPr id="15" name="TextBox 15"/>
            <p:cNvSpPr txBox="1"/>
            <p:nvPr/>
          </p:nvSpPr>
          <p:spPr>
            <a:xfrm>
              <a:off x="1211" y="3877"/>
              <a:ext cx="348" cy="225"/>
            </a:xfrm>
            <a:prstGeom prst="rect">
              <a:avLst/>
            </a:prstGeom>
            <a:ln>
              <a:headEnd type="none"/>
              <a:tailEnd type="none"/>
            </a:ln>
          </p:spPr>
          <p:txBody>
            <a:bodyPr vert="horz" wrap="none" lIns="0" tIns="0" rIns="0" bIns="0" rtlCol="0" anchor="t" anchorCtr="0"/>
            <a:lstStyle/>
            <a:p>
              <a:pPr algn="l">
                <a:defRPr/>
              </a:pPr>
              <a:r>
                <a:rPr lang="en-US" sz="900" b="1" i="0" strike="noStrike">
                  <a:solidFill>
                    <a:srgbClr val="F5F0EB">
                      <a:alpha val="100000"/>
                    </a:srgbClr>
                  </a:solidFill>
                  <a:latin typeface="Arial" panose="020B0604020202020204"/>
                  <a:ea typeface="Arial" panose="020B0604020202020204"/>
                  <a:cs typeface="Arial" panose="020B0604020202020204"/>
                </a:rPr>
                <a:t>01</a:t>
              </a:r>
              <a:endParaRPr lang="en-US" sz="1100"/>
            </a:p>
          </p:txBody>
        </p:sp>
        <p:sp>
          <p:nvSpPr>
            <p:cNvPr id="16" name="AutoShape 16"/>
            <p:cNvSpPr/>
            <p:nvPr/>
          </p:nvSpPr>
          <p:spPr>
            <a:xfrm>
              <a:off x="1305" y="4230"/>
              <a:ext cx="120" cy="628"/>
            </a:xfrm>
            <a:prstGeom prst="rect">
              <a:avLst/>
            </a:prstGeom>
            <a:solidFill>
              <a:srgbClr val="DDD6CC">
                <a:alpha val="100000"/>
              </a:srgbClr>
            </a:solidFill>
            <a:ln>
              <a:headEnd type="none"/>
              <a:tailEnd type="none"/>
            </a:ln>
          </p:spPr>
        </p:sp>
        <p:sp>
          <p:nvSpPr>
            <p:cNvPr id="17" name="TextBox 17"/>
            <p:cNvSpPr txBox="1"/>
            <p:nvPr/>
          </p:nvSpPr>
          <p:spPr>
            <a:xfrm>
              <a:off x="1770" y="3825"/>
              <a:ext cx="8680" cy="240"/>
            </a:xfrm>
            <a:prstGeom prst="rect">
              <a:avLst/>
            </a:prstGeom>
            <a:ln>
              <a:headEnd type="none"/>
              <a:tailEnd type="none"/>
            </a:ln>
          </p:spPr>
          <p:txBody>
            <a:bodyPr vert="horz" wrap="none" lIns="0" tIns="0" rIns="0" bIns="0" rtlCol="0" anchor="t" anchorCtr="0"/>
            <a:lstStyle/>
            <a:p>
              <a:pPr algn="l">
                <a:defRPr/>
              </a:pPr>
              <a:r>
                <a:rPr lang="en-US" sz="1000" b="1" i="0" strike="noStrike">
                  <a:solidFill>
                    <a:schemeClr val="tx1">
                      <a:alpha val="100000"/>
                    </a:schemeClr>
                  </a:solidFill>
                  <a:latin typeface="Source Han Sans" panose="020B0500000000000000" charset="-122"/>
                  <a:ea typeface="Source Han Sans" panose="020B0500000000000000" charset="-122"/>
                  <a:cs typeface="Source Han Sans" panose="020B0500000000000000" charset="-122"/>
                </a:rPr>
                <a:t>AI对抗打磨</a:t>
              </a:r>
              <a:endParaRPr lang="en-US" sz="1000" b="1" i="0" strike="noStrike">
                <a:solidFill>
                  <a:schemeClr val="tx1">
                    <a:alpha val="100000"/>
                  </a:schemeClr>
                </a:solidFill>
                <a:latin typeface="Source Han Sans" panose="020B0500000000000000" charset="-122"/>
                <a:ea typeface="Source Han Sans" panose="020B0500000000000000" charset="-122"/>
                <a:cs typeface="Source Han Sans" panose="020B0500000000000000" charset="-122"/>
              </a:endParaRPr>
            </a:p>
          </p:txBody>
        </p:sp>
        <p:sp>
          <p:nvSpPr>
            <p:cNvPr id="18" name="TextBox 18"/>
            <p:cNvSpPr txBox="1"/>
            <p:nvPr/>
          </p:nvSpPr>
          <p:spPr>
            <a:xfrm>
              <a:off x="1770" y="4163"/>
              <a:ext cx="8680" cy="527"/>
            </a:xfrm>
            <a:prstGeom prst="rect">
              <a:avLst/>
            </a:prstGeom>
            <a:ln>
              <a:headEnd type="none"/>
              <a:tailEnd type="none"/>
            </a:ln>
          </p:spPr>
          <p:txBody>
            <a:bodyPr vert="horz" wrap="square" lIns="0" tIns="0" rIns="0" bIns="0" rtlCol="0" anchor="t" anchorCtr="0"/>
            <a:lstStyle/>
            <a:p>
              <a:pPr algn="l">
                <a:defRPr/>
              </a:pPr>
              <a:r>
                <a:rPr lang="en-US" sz="9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rPr>
                <a:t>利用AI与大模型对领域语料进行多轮对抗打磨，生成结构化的7+1本体资产，确保对象、规则、行动</a:t>
              </a:r>
              <a:endParaRPr lang="en-US" sz="1100">
                <a:solidFill>
                  <a:schemeClr val="tx1"/>
                </a:solidFill>
              </a:endParaRPr>
            </a:p>
            <a:p>
              <a:pPr algn="l"/>
              <a:r>
                <a:rPr sz="9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rPr>
                <a:t>定义精准无歧义。</a:t>
              </a:r>
              <a:endParaRPr sz="9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endParaRPr>
            </a:p>
          </p:txBody>
        </p:sp>
        <p:sp>
          <p:nvSpPr>
            <p:cNvPr id="19" name="AutoShape 19"/>
            <p:cNvSpPr/>
            <p:nvPr/>
          </p:nvSpPr>
          <p:spPr>
            <a:xfrm>
              <a:off x="1080" y="4858"/>
              <a:ext cx="480" cy="480"/>
            </a:xfrm>
            <a:prstGeom prst="ellipse">
              <a:avLst/>
            </a:prstGeom>
            <a:solidFill>
              <a:srgbClr val="9ACAF1"/>
            </a:solidFill>
            <a:ln>
              <a:headEnd type="none"/>
              <a:tailEnd type="none"/>
            </a:ln>
          </p:spPr>
        </p:sp>
        <p:sp>
          <p:nvSpPr>
            <p:cNvPr id="20" name="TextBox 20"/>
            <p:cNvSpPr txBox="1"/>
            <p:nvPr/>
          </p:nvSpPr>
          <p:spPr>
            <a:xfrm>
              <a:off x="1211" y="4985"/>
              <a:ext cx="348" cy="225"/>
            </a:xfrm>
            <a:prstGeom prst="rect">
              <a:avLst/>
            </a:prstGeom>
            <a:ln>
              <a:headEnd type="none"/>
              <a:tailEnd type="none"/>
            </a:ln>
          </p:spPr>
          <p:txBody>
            <a:bodyPr vert="horz" wrap="none" lIns="0" tIns="0" rIns="0" bIns="0" rtlCol="0" anchor="t" anchorCtr="0"/>
            <a:lstStyle/>
            <a:p>
              <a:pPr algn="l">
                <a:defRPr/>
              </a:pPr>
              <a:r>
                <a:rPr lang="en-US" sz="900" b="1" i="0" strike="noStrike">
                  <a:solidFill>
                    <a:srgbClr val="F5F0EB">
                      <a:alpha val="100000"/>
                    </a:srgbClr>
                  </a:solidFill>
                  <a:latin typeface="Arial" panose="020B0604020202020204"/>
                  <a:ea typeface="Arial" panose="020B0604020202020204"/>
                  <a:cs typeface="Arial" panose="020B0604020202020204"/>
                </a:rPr>
                <a:t>02</a:t>
              </a:r>
              <a:endParaRPr lang="en-US" sz="1100"/>
            </a:p>
          </p:txBody>
        </p:sp>
        <p:sp>
          <p:nvSpPr>
            <p:cNvPr id="21" name="TextBox 21"/>
            <p:cNvSpPr txBox="1"/>
            <p:nvPr/>
          </p:nvSpPr>
          <p:spPr>
            <a:xfrm>
              <a:off x="1770" y="4933"/>
              <a:ext cx="8680" cy="240"/>
            </a:xfrm>
            <a:prstGeom prst="rect">
              <a:avLst/>
            </a:prstGeom>
            <a:ln>
              <a:headEnd type="none"/>
              <a:tailEnd type="none"/>
            </a:ln>
          </p:spPr>
          <p:txBody>
            <a:bodyPr vert="horz" wrap="none" lIns="0" tIns="0" rIns="0" bIns="0" rtlCol="0" anchor="t" anchorCtr="0"/>
            <a:lstStyle/>
            <a:p>
              <a:pPr algn="l">
                <a:defRPr/>
              </a:pPr>
              <a:r>
                <a:rPr lang="en-US" sz="1000" b="1" i="0" strike="noStrike">
                  <a:solidFill>
                    <a:schemeClr val="tx1">
                      <a:alpha val="100000"/>
                    </a:schemeClr>
                  </a:solidFill>
                  <a:latin typeface="Source Han Sans" panose="020B0500000000000000" charset="-122"/>
                  <a:ea typeface="Source Han Sans" panose="020B0500000000000000" charset="-122"/>
                  <a:cs typeface="Source Han Sans" panose="020B0500000000000000" charset="-122"/>
                </a:rPr>
                <a:t>文档化输出</a:t>
              </a:r>
              <a:endParaRPr lang="en-US" sz="1000" b="1" i="0" strike="noStrike">
                <a:solidFill>
                  <a:schemeClr val="tx1">
                    <a:alpha val="100000"/>
                  </a:schemeClr>
                </a:solidFill>
                <a:latin typeface="Source Han Sans" panose="020B0500000000000000" charset="-122"/>
                <a:ea typeface="Source Han Sans" panose="020B0500000000000000" charset="-122"/>
                <a:cs typeface="Source Han Sans" panose="020B0500000000000000" charset="-122"/>
              </a:endParaRPr>
            </a:p>
          </p:txBody>
        </p:sp>
        <p:sp>
          <p:nvSpPr>
            <p:cNvPr id="22" name="TextBox 22"/>
            <p:cNvSpPr txBox="1"/>
            <p:nvPr/>
          </p:nvSpPr>
          <p:spPr>
            <a:xfrm>
              <a:off x="1770" y="5272"/>
              <a:ext cx="8680" cy="527"/>
            </a:xfrm>
            <a:prstGeom prst="rect">
              <a:avLst/>
            </a:prstGeom>
            <a:ln>
              <a:headEnd type="none"/>
              <a:tailEnd type="none"/>
            </a:ln>
          </p:spPr>
          <p:txBody>
            <a:bodyPr vert="horz" wrap="square" lIns="0" tIns="0" rIns="0" bIns="0" rtlCol="0" anchor="t" anchorCtr="0"/>
            <a:lstStyle/>
            <a:p>
              <a:pPr algn="l">
                <a:defRPr/>
              </a:pPr>
              <a:r>
                <a:rPr lang="en-US" sz="9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rPr>
                <a:t>同步产出配套Markdown说明文档，转化为业务专家可读可审的规范化知识载体，支撑后续人工校验</a:t>
              </a:r>
              <a:endParaRPr lang="en-US" sz="1100">
                <a:solidFill>
                  <a:schemeClr val="tx1"/>
                </a:solidFill>
              </a:endParaRPr>
            </a:p>
            <a:p>
              <a:pPr algn="l"/>
              <a:r>
                <a:rPr sz="9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rPr>
                <a:t>与版本管理。</a:t>
              </a:r>
              <a:endParaRPr sz="9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endParaRPr>
            </a:p>
          </p:txBody>
        </p:sp>
        <p:sp>
          <p:nvSpPr>
            <p:cNvPr id="23" name="AutoShape 23"/>
            <p:cNvSpPr/>
            <p:nvPr/>
          </p:nvSpPr>
          <p:spPr>
            <a:xfrm>
              <a:off x="1200" y="6138"/>
              <a:ext cx="3934" cy="120"/>
            </a:xfrm>
            <a:prstGeom prst="rect">
              <a:avLst/>
            </a:prstGeom>
            <a:solidFill>
              <a:srgbClr val="DDD6CC">
                <a:alpha val="100000"/>
              </a:srgbClr>
            </a:solidFill>
            <a:ln>
              <a:headEnd type="none"/>
              <a:tailEnd type="none"/>
            </a:ln>
          </p:spPr>
        </p:sp>
        <p:sp>
          <p:nvSpPr>
            <p:cNvPr id="24" name="TextBox 24"/>
            <p:cNvSpPr txBox="1"/>
            <p:nvPr/>
          </p:nvSpPr>
          <p:spPr>
            <a:xfrm>
              <a:off x="5285" y="6086"/>
              <a:ext cx="1126" cy="180"/>
            </a:xfrm>
            <a:prstGeom prst="rect">
              <a:avLst/>
            </a:prstGeom>
            <a:ln>
              <a:headEnd type="none"/>
              <a:tailEnd type="none"/>
            </a:ln>
          </p:spPr>
          <p:txBody>
            <a:bodyPr vert="horz" wrap="none" lIns="0" tIns="0" rIns="0" bIns="0" rtlCol="0" anchor="t" anchorCtr="0"/>
            <a:lstStyle/>
            <a:p>
              <a:pPr algn="l">
                <a:defRPr/>
              </a:pPr>
              <a:r>
                <a:rPr lang="en-US" sz="800" b="1" i="0" strike="noStrike">
                  <a:solidFill>
                    <a:srgbClr val="8B1A1A">
                      <a:alpha val="45098"/>
                    </a:srgbClr>
                  </a:solidFill>
                  <a:latin typeface="Source Han Sans" panose="020B0500000000000000" charset="-122"/>
                  <a:ea typeface="Source Han Sans" panose="020B0500000000000000" charset="-122"/>
                  <a:cs typeface="Source Han Sans" panose="020B0500000000000000" charset="-122"/>
                </a:rPr>
                <a:t>▾ 投 产 阶 段</a:t>
              </a:r>
              <a:endParaRPr lang="en-US" sz="1100"/>
            </a:p>
          </p:txBody>
        </p:sp>
        <p:sp>
          <p:nvSpPr>
            <p:cNvPr id="25" name="AutoShape 25"/>
            <p:cNvSpPr/>
            <p:nvPr/>
          </p:nvSpPr>
          <p:spPr>
            <a:xfrm>
              <a:off x="6515" y="6138"/>
              <a:ext cx="3934" cy="120"/>
            </a:xfrm>
            <a:prstGeom prst="rect">
              <a:avLst/>
            </a:prstGeom>
            <a:solidFill>
              <a:srgbClr val="DDD6CC">
                <a:alpha val="100000"/>
              </a:srgbClr>
            </a:solidFill>
            <a:ln>
              <a:headEnd type="none"/>
              <a:tailEnd type="none"/>
            </a:ln>
          </p:spPr>
        </p:sp>
        <p:sp>
          <p:nvSpPr>
            <p:cNvPr id="26" name="AutoShape 26"/>
            <p:cNvSpPr/>
            <p:nvPr/>
          </p:nvSpPr>
          <p:spPr>
            <a:xfrm>
              <a:off x="1080" y="6528"/>
              <a:ext cx="120" cy="120"/>
            </a:xfrm>
            <a:prstGeom prst="ellipse">
              <a:avLst/>
            </a:prstGeom>
            <a:solidFill>
              <a:srgbClr val="C43E3E">
                <a:alpha val="100000"/>
              </a:srgbClr>
            </a:solidFill>
            <a:ln>
              <a:headEnd type="none"/>
              <a:tailEnd type="none"/>
            </a:ln>
          </p:spPr>
        </p:sp>
        <p:sp>
          <p:nvSpPr>
            <p:cNvPr id="27" name="TextBox 27"/>
            <p:cNvSpPr txBox="1"/>
            <p:nvPr/>
          </p:nvSpPr>
          <p:spPr>
            <a:xfrm>
              <a:off x="1320" y="6491"/>
              <a:ext cx="3006" cy="225"/>
            </a:xfrm>
            <a:prstGeom prst="rect">
              <a:avLst/>
            </a:prstGeom>
            <a:ln>
              <a:headEnd type="none"/>
              <a:tailEnd type="none"/>
            </a:ln>
          </p:spPr>
          <p:txBody>
            <a:bodyPr vert="horz" wrap="none" lIns="0" tIns="0" rIns="0" bIns="0" rtlCol="0" anchor="t" anchorCtr="0"/>
            <a:lstStyle/>
            <a:p>
              <a:pPr algn="l">
                <a:defRPr/>
              </a:pPr>
              <a:r>
                <a:rPr lang="en-US" sz="900" b="1" i="0" strike="noStrike">
                  <a:solidFill>
                    <a:schemeClr val="tx1">
                      <a:alpha val="100000"/>
                    </a:schemeClr>
                  </a:solidFill>
                  <a:latin typeface="Source Han Sans" panose="020B0500000000000000" charset="-122"/>
                  <a:ea typeface="Source Han Sans" panose="020B0500000000000000" charset="-122"/>
                  <a:cs typeface="Source Han Sans" panose="020B0500000000000000" charset="-122"/>
                </a:rPr>
                <a:t>投产阶段：Agent-本体协同执行</a:t>
              </a:r>
              <a:endParaRPr lang="en-US" sz="900" b="1" i="0" strike="noStrike">
                <a:solidFill>
                  <a:schemeClr val="tx1">
                    <a:alpha val="100000"/>
                  </a:schemeClr>
                </a:solidFill>
                <a:latin typeface="Source Han Sans" panose="020B0500000000000000" charset="-122"/>
                <a:ea typeface="Source Han Sans" panose="020B0500000000000000" charset="-122"/>
                <a:cs typeface="Source Han Sans" panose="020B0500000000000000" charset="-122"/>
              </a:endParaRPr>
            </a:p>
          </p:txBody>
        </p:sp>
        <p:sp>
          <p:nvSpPr>
            <p:cNvPr id="28" name="AutoShape 28"/>
            <p:cNvSpPr/>
            <p:nvPr/>
          </p:nvSpPr>
          <p:spPr>
            <a:xfrm>
              <a:off x="1080" y="6881"/>
              <a:ext cx="480" cy="480"/>
            </a:xfrm>
            <a:prstGeom prst="ellipse">
              <a:avLst/>
            </a:prstGeom>
            <a:solidFill>
              <a:srgbClr val="9ACAF1"/>
            </a:solidFill>
            <a:ln>
              <a:headEnd type="none"/>
              <a:tailEnd type="none"/>
            </a:ln>
          </p:spPr>
        </p:sp>
        <p:sp>
          <p:nvSpPr>
            <p:cNvPr id="29" name="TextBox 29"/>
            <p:cNvSpPr txBox="1"/>
            <p:nvPr/>
          </p:nvSpPr>
          <p:spPr>
            <a:xfrm>
              <a:off x="1211" y="7008"/>
              <a:ext cx="348" cy="225"/>
            </a:xfrm>
            <a:prstGeom prst="rect">
              <a:avLst/>
            </a:prstGeom>
            <a:ln>
              <a:headEnd type="none"/>
              <a:tailEnd type="none"/>
            </a:ln>
          </p:spPr>
          <p:txBody>
            <a:bodyPr vert="horz" wrap="none" lIns="0" tIns="0" rIns="0" bIns="0" rtlCol="0" anchor="t" anchorCtr="0"/>
            <a:lstStyle/>
            <a:p>
              <a:pPr algn="l">
                <a:defRPr/>
              </a:pPr>
              <a:r>
                <a:rPr lang="en-US" sz="900" b="1" i="0" strike="noStrike">
                  <a:solidFill>
                    <a:srgbClr val="F5F0EB">
                      <a:alpha val="100000"/>
                    </a:srgbClr>
                  </a:solidFill>
                  <a:latin typeface="Arial" panose="020B0604020202020204"/>
                  <a:ea typeface="Arial" panose="020B0604020202020204"/>
                  <a:cs typeface="Arial" panose="020B0604020202020204"/>
                </a:rPr>
                <a:t>03</a:t>
              </a:r>
              <a:endParaRPr lang="en-US" sz="1100"/>
            </a:p>
          </p:txBody>
        </p:sp>
        <p:sp>
          <p:nvSpPr>
            <p:cNvPr id="30" name="AutoShape 30"/>
            <p:cNvSpPr/>
            <p:nvPr/>
          </p:nvSpPr>
          <p:spPr>
            <a:xfrm>
              <a:off x="1305" y="7361"/>
              <a:ext cx="120" cy="628"/>
            </a:xfrm>
            <a:prstGeom prst="rect">
              <a:avLst/>
            </a:prstGeom>
            <a:solidFill>
              <a:srgbClr val="DDD6CC">
                <a:alpha val="100000"/>
              </a:srgbClr>
            </a:solidFill>
            <a:ln>
              <a:headEnd type="none"/>
              <a:tailEnd type="none"/>
            </a:ln>
          </p:spPr>
        </p:sp>
        <p:sp>
          <p:nvSpPr>
            <p:cNvPr id="31" name="TextBox 31"/>
            <p:cNvSpPr txBox="1"/>
            <p:nvPr/>
          </p:nvSpPr>
          <p:spPr>
            <a:xfrm>
              <a:off x="1770" y="6956"/>
              <a:ext cx="8680" cy="240"/>
            </a:xfrm>
            <a:prstGeom prst="rect">
              <a:avLst/>
            </a:prstGeom>
            <a:ln>
              <a:headEnd type="none"/>
              <a:tailEnd type="none"/>
            </a:ln>
          </p:spPr>
          <p:txBody>
            <a:bodyPr vert="horz" wrap="none" lIns="0" tIns="0" rIns="0" bIns="0" rtlCol="0" anchor="t" anchorCtr="0"/>
            <a:lstStyle/>
            <a:p>
              <a:pPr algn="l">
                <a:defRPr/>
              </a:pPr>
              <a:r>
                <a:rPr lang="en-US" sz="1000" b="1" i="0" strike="noStrike">
                  <a:solidFill>
                    <a:schemeClr val="tx1">
                      <a:alpha val="100000"/>
                    </a:schemeClr>
                  </a:solidFill>
                  <a:latin typeface="Source Han Sans" panose="020B0500000000000000" charset="-122"/>
                  <a:ea typeface="Source Han Sans" panose="020B0500000000000000" charset="-122"/>
                  <a:cs typeface="Source Han Sans" panose="020B0500000000000000" charset="-122"/>
                </a:rPr>
                <a:t>意图理解</a:t>
              </a:r>
              <a:endParaRPr lang="en-US" sz="1000" b="1" i="0" strike="noStrike">
                <a:solidFill>
                  <a:schemeClr val="tx1">
                    <a:alpha val="100000"/>
                  </a:schemeClr>
                </a:solidFill>
                <a:latin typeface="Source Han Sans" panose="020B0500000000000000" charset="-122"/>
                <a:ea typeface="Source Han Sans" panose="020B0500000000000000" charset="-122"/>
                <a:cs typeface="Source Han Sans" panose="020B0500000000000000" charset="-122"/>
              </a:endParaRPr>
            </a:p>
          </p:txBody>
        </p:sp>
        <p:sp>
          <p:nvSpPr>
            <p:cNvPr id="32" name="TextBox 32"/>
            <p:cNvSpPr txBox="1"/>
            <p:nvPr/>
          </p:nvSpPr>
          <p:spPr>
            <a:xfrm>
              <a:off x="1770" y="7295"/>
              <a:ext cx="8680" cy="527"/>
            </a:xfrm>
            <a:prstGeom prst="rect">
              <a:avLst/>
            </a:prstGeom>
            <a:ln>
              <a:headEnd type="none"/>
              <a:tailEnd type="none"/>
            </a:ln>
          </p:spPr>
          <p:txBody>
            <a:bodyPr vert="horz" wrap="square" lIns="0" tIns="0" rIns="0" bIns="0" rtlCol="0" anchor="t" anchorCtr="0"/>
            <a:lstStyle/>
            <a:p>
              <a:pPr algn="l">
                <a:defRPr/>
              </a:pPr>
              <a:r>
                <a:rPr lang="en-US" sz="9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rPr>
                <a:t>AI Agent接收自然语言输入并完成意图理解，将其转化为符合本体规范的标准化请求，作为下游处理</a:t>
              </a:r>
              <a:endParaRPr lang="en-US" sz="1100">
                <a:solidFill>
                  <a:schemeClr val="tx1"/>
                </a:solidFill>
              </a:endParaRPr>
            </a:p>
            <a:p>
              <a:pPr algn="l"/>
              <a:r>
                <a:rPr sz="9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rPr>
                <a:t>的统一入口。</a:t>
              </a:r>
              <a:endParaRPr sz="9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endParaRPr>
            </a:p>
          </p:txBody>
        </p:sp>
        <p:sp>
          <p:nvSpPr>
            <p:cNvPr id="33" name="AutoShape 33"/>
            <p:cNvSpPr/>
            <p:nvPr/>
          </p:nvSpPr>
          <p:spPr>
            <a:xfrm>
              <a:off x="1080" y="7989"/>
              <a:ext cx="480" cy="480"/>
            </a:xfrm>
            <a:prstGeom prst="ellipse">
              <a:avLst/>
            </a:prstGeom>
            <a:solidFill>
              <a:srgbClr val="9ACAF1"/>
            </a:solidFill>
            <a:ln>
              <a:headEnd type="none"/>
              <a:tailEnd type="none"/>
            </a:ln>
          </p:spPr>
        </p:sp>
        <p:sp>
          <p:nvSpPr>
            <p:cNvPr id="34" name="TextBox 34"/>
            <p:cNvSpPr txBox="1"/>
            <p:nvPr/>
          </p:nvSpPr>
          <p:spPr>
            <a:xfrm>
              <a:off x="1211" y="8116"/>
              <a:ext cx="348" cy="225"/>
            </a:xfrm>
            <a:prstGeom prst="rect">
              <a:avLst/>
            </a:prstGeom>
            <a:ln>
              <a:headEnd type="none"/>
              <a:tailEnd type="none"/>
            </a:ln>
          </p:spPr>
          <p:txBody>
            <a:bodyPr vert="horz" wrap="none" lIns="0" tIns="0" rIns="0" bIns="0" rtlCol="0" anchor="t" anchorCtr="0"/>
            <a:lstStyle/>
            <a:p>
              <a:pPr algn="l">
                <a:defRPr/>
              </a:pPr>
              <a:r>
                <a:rPr lang="en-US" sz="900" b="1" i="0" strike="noStrike">
                  <a:solidFill>
                    <a:srgbClr val="F5F0EB">
                      <a:alpha val="100000"/>
                    </a:srgbClr>
                  </a:solidFill>
                  <a:latin typeface="Arial" panose="020B0604020202020204"/>
                  <a:ea typeface="Arial" panose="020B0604020202020204"/>
                  <a:cs typeface="Arial" panose="020B0604020202020204"/>
                </a:rPr>
                <a:t>04</a:t>
              </a:r>
              <a:endParaRPr lang="en-US" sz="1100"/>
            </a:p>
          </p:txBody>
        </p:sp>
        <p:sp>
          <p:nvSpPr>
            <p:cNvPr id="35" name="AutoShape 35"/>
            <p:cNvSpPr/>
            <p:nvPr/>
          </p:nvSpPr>
          <p:spPr>
            <a:xfrm>
              <a:off x="1305" y="8469"/>
              <a:ext cx="120" cy="628"/>
            </a:xfrm>
            <a:prstGeom prst="rect">
              <a:avLst/>
            </a:prstGeom>
            <a:solidFill>
              <a:srgbClr val="DDD6CC">
                <a:alpha val="100000"/>
              </a:srgbClr>
            </a:solidFill>
            <a:ln>
              <a:headEnd type="none"/>
              <a:tailEnd type="none"/>
            </a:ln>
          </p:spPr>
        </p:sp>
        <p:sp>
          <p:nvSpPr>
            <p:cNvPr id="36" name="TextBox 36"/>
            <p:cNvSpPr txBox="1"/>
            <p:nvPr/>
          </p:nvSpPr>
          <p:spPr>
            <a:xfrm>
              <a:off x="1770" y="8064"/>
              <a:ext cx="8680" cy="240"/>
            </a:xfrm>
            <a:prstGeom prst="rect">
              <a:avLst/>
            </a:prstGeom>
            <a:ln>
              <a:headEnd type="none"/>
              <a:tailEnd type="none"/>
            </a:ln>
          </p:spPr>
          <p:txBody>
            <a:bodyPr vert="horz" wrap="none" lIns="0" tIns="0" rIns="0" bIns="0" rtlCol="0" anchor="t" anchorCtr="0"/>
            <a:lstStyle/>
            <a:p>
              <a:pPr algn="l">
                <a:defRPr/>
              </a:pPr>
              <a:r>
                <a:rPr lang="en-US" sz="1000" b="1" i="0" strike="noStrike">
                  <a:solidFill>
                    <a:schemeClr val="tx1">
                      <a:alpha val="100000"/>
                    </a:schemeClr>
                  </a:solidFill>
                  <a:latin typeface="Source Han Sans" panose="020B0500000000000000" charset="-122"/>
                  <a:ea typeface="Source Han Sans" panose="020B0500000000000000" charset="-122"/>
                  <a:cs typeface="Source Han Sans" panose="020B0500000000000000" charset="-122"/>
                </a:rPr>
                <a:t>语义校验与推理</a:t>
              </a:r>
              <a:endParaRPr lang="en-US" sz="1000" b="1" i="0" strike="noStrike">
                <a:solidFill>
                  <a:schemeClr val="tx1">
                    <a:alpha val="100000"/>
                  </a:schemeClr>
                </a:solidFill>
                <a:latin typeface="Source Han Sans" panose="020B0500000000000000" charset="-122"/>
                <a:ea typeface="Source Han Sans" panose="020B0500000000000000" charset="-122"/>
                <a:cs typeface="Source Han Sans" panose="020B0500000000000000" charset="-122"/>
              </a:endParaRPr>
            </a:p>
          </p:txBody>
        </p:sp>
        <p:sp>
          <p:nvSpPr>
            <p:cNvPr id="37" name="TextBox 37"/>
            <p:cNvSpPr txBox="1"/>
            <p:nvPr/>
          </p:nvSpPr>
          <p:spPr>
            <a:xfrm>
              <a:off x="1770" y="8403"/>
              <a:ext cx="8680" cy="527"/>
            </a:xfrm>
            <a:prstGeom prst="rect">
              <a:avLst/>
            </a:prstGeom>
            <a:ln>
              <a:headEnd type="none"/>
              <a:tailEnd type="none"/>
            </a:ln>
          </p:spPr>
          <p:txBody>
            <a:bodyPr vert="horz" wrap="square" lIns="0" tIns="0" rIns="0" bIns="0" rtlCol="0" anchor="t" anchorCtr="0"/>
            <a:lstStyle/>
            <a:p>
              <a:pPr algn="l">
                <a:defRPr/>
              </a:pPr>
              <a:r>
                <a:rPr lang="en-US" sz="9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rPr>
                <a:t>本体引擎对标准化请求进行语义校验与上下文推理，确定下一步最优动作并生成结构化指令，保障决</a:t>
              </a:r>
              <a:endParaRPr lang="en-US" sz="1100">
                <a:solidFill>
                  <a:schemeClr val="tx1"/>
                </a:solidFill>
              </a:endParaRPr>
            </a:p>
            <a:p>
              <a:pPr algn="l"/>
              <a:r>
                <a:rPr sz="9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rPr>
                <a:t>策准确性与一致性。</a:t>
              </a:r>
              <a:endParaRPr sz="9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endParaRPr>
            </a:p>
          </p:txBody>
        </p:sp>
        <p:sp>
          <p:nvSpPr>
            <p:cNvPr id="38" name="AutoShape 38"/>
            <p:cNvSpPr/>
            <p:nvPr/>
          </p:nvSpPr>
          <p:spPr>
            <a:xfrm>
              <a:off x="1080" y="9097"/>
              <a:ext cx="480" cy="480"/>
            </a:xfrm>
            <a:prstGeom prst="ellipse">
              <a:avLst/>
            </a:prstGeom>
            <a:solidFill>
              <a:srgbClr val="9ACAF1"/>
            </a:solidFill>
            <a:ln>
              <a:headEnd type="none"/>
              <a:tailEnd type="none"/>
            </a:ln>
          </p:spPr>
        </p:sp>
        <p:sp>
          <p:nvSpPr>
            <p:cNvPr id="39" name="TextBox 39"/>
            <p:cNvSpPr txBox="1"/>
            <p:nvPr/>
          </p:nvSpPr>
          <p:spPr>
            <a:xfrm>
              <a:off x="1211" y="9225"/>
              <a:ext cx="348" cy="225"/>
            </a:xfrm>
            <a:prstGeom prst="rect">
              <a:avLst/>
            </a:prstGeom>
            <a:ln>
              <a:headEnd type="none"/>
              <a:tailEnd type="none"/>
            </a:ln>
          </p:spPr>
          <p:txBody>
            <a:bodyPr vert="horz" wrap="none" lIns="0" tIns="0" rIns="0" bIns="0" rtlCol="0" anchor="t" anchorCtr="0"/>
            <a:lstStyle/>
            <a:p>
              <a:pPr algn="l">
                <a:defRPr/>
              </a:pPr>
              <a:r>
                <a:rPr lang="en-US" sz="900" b="1" i="0" strike="noStrike">
                  <a:solidFill>
                    <a:srgbClr val="F5F0EB">
                      <a:alpha val="100000"/>
                    </a:srgbClr>
                  </a:solidFill>
                  <a:latin typeface="Arial" panose="020B0604020202020204"/>
                  <a:ea typeface="Arial" panose="020B0604020202020204"/>
                  <a:cs typeface="Arial" panose="020B0604020202020204"/>
                </a:rPr>
                <a:t>05</a:t>
              </a:r>
              <a:endParaRPr lang="en-US" sz="1100"/>
            </a:p>
          </p:txBody>
        </p:sp>
        <p:sp>
          <p:nvSpPr>
            <p:cNvPr id="40" name="AutoShape 40"/>
            <p:cNvSpPr/>
            <p:nvPr/>
          </p:nvSpPr>
          <p:spPr>
            <a:xfrm>
              <a:off x="1305" y="9577"/>
              <a:ext cx="120" cy="628"/>
            </a:xfrm>
            <a:prstGeom prst="rect">
              <a:avLst/>
            </a:prstGeom>
            <a:solidFill>
              <a:srgbClr val="DDD6CC">
                <a:alpha val="100000"/>
              </a:srgbClr>
            </a:solidFill>
            <a:ln>
              <a:headEnd type="none"/>
              <a:tailEnd type="none"/>
            </a:ln>
          </p:spPr>
        </p:sp>
        <p:sp>
          <p:nvSpPr>
            <p:cNvPr id="41" name="TextBox 41"/>
            <p:cNvSpPr txBox="1"/>
            <p:nvPr/>
          </p:nvSpPr>
          <p:spPr>
            <a:xfrm>
              <a:off x="1770" y="9172"/>
              <a:ext cx="8680" cy="240"/>
            </a:xfrm>
            <a:prstGeom prst="rect">
              <a:avLst/>
            </a:prstGeom>
            <a:ln>
              <a:headEnd type="none"/>
              <a:tailEnd type="none"/>
            </a:ln>
          </p:spPr>
          <p:txBody>
            <a:bodyPr vert="horz" wrap="none" lIns="0" tIns="0" rIns="0" bIns="0" rtlCol="0" anchor="t" anchorCtr="0"/>
            <a:lstStyle/>
            <a:p>
              <a:pPr algn="l">
                <a:defRPr/>
              </a:pPr>
              <a:r>
                <a:rPr lang="en-US" sz="1000" b="1" i="0" strike="noStrike">
                  <a:solidFill>
                    <a:schemeClr val="tx1">
                      <a:alpha val="100000"/>
                    </a:schemeClr>
                  </a:solidFill>
                  <a:latin typeface="Source Han Sans" panose="020B0500000000000000" charset="-122"/>
                  <a:ea typeface="Source Han Sans" panose="020B0500000000000000" charset="-122"/>
                  <a:cs typeface="Source Han Sans" panose="020B0500000000000000" charset="-122"/>
                </a:rPr>
                <a:t>指令执行与回传</a:t>
              </a:r>
              <a:endParaRPr lang="en-US" sz="1000" b="1" i="0" strike="noStrike">
                <a:solidFill>
                  <a:schemeClr val="tx1">
                    <a:alpha val="100000"/>
                  </a:schemeClr>
                </a:solidFill>
                <a:latin typeface="Source Han Sans" panose="020B0500000000000000" charset="-122"/>
                <a:ea typeface="Source Han Sans" panose="020B0500000000000000" charset="-122"/>
                <a:cs typeface="Source Han Sans" panose="020B0500000000000000" charset="-122"/>
              </a:endParaRPr>
            </a:p>
          </p:txBody>
        </p:sp>
        <p:sp>
          <p:nvSpPr>
            <p:cNvPr id="42" name="TextBox 42"/>
            <p:cNvSpPr txBox="1"/>
            <p:nvPr/>
          </p:nvSpPr>
          <p:spPr>
            <a:xfrm>
              <a:off x="1770" y="9511"/>
              <a:ext cx="8680" cy="527"/>
            </a:xfrm>
            <a:prstGeom prst="rect">
              <a:avLst/>
            </a:prstGeom>
            <a:ln>
              <a:headEnd type="none"/>
              <a:tailEnd type="none"/>
            </a:ln>
          </p:spPr>
          <p:txBody>
            <a:bodyPr vert="horz" wrap="square" lIns="0" tIns="0" rIns="0" bIns="0" rtlCol="0" anchor="t" anchorCtr="0"/>
            <a:lstStyle/>
            <a:p>
              <a:pPr algn="l">
                <a:defRPr/>
              </a:pPr>
              <a:r>
                <a:rPr lang="en-US" sz="9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rPr>
                <a:t>AI Agent或外部业务系统接收本体下发的指令并执行具体操作，将执行结果与异常信息实时回传至本</a:t>
              </a:r>
              <a:endParaRPr lang="en-US" sz="1100">
                <a:solidFill>
                  <a:schemeClr val="tx1"/>
                </a:solidFill>
              </a:endParaRPr>
            </a:p>
            <a:p>
              <a:pPr algn="l"/>
              <a:r>
                <a:rPr sz="9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rPr>
                <a:t>体引擎形成状态同步。</a:t>
              </a:r>
              <a:endParaRPr sz="9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endParaRPr>
            </a:p>
          </p:txBody>
        </p:sp>
        <p:sp>
          <p:nvSpPr>
            <p:cNvPr id="43" name="AutoShape 43"/>
            <p:cNvSpPr/>
            <p:nvPr/>
          </p:nvSpPr>
          <p:spPr>
            <a:xfrm>
              <a:off x="1080" y="10205"/>
              <a:ext cx="480" cy="480"/>
            </a:xfrm>
            <a:prstGeom prst="ellipse">
              <a:avLst/>
            </a:prstGeom>
            <a:solidFill>
              <a:srgbClr val="9ACAF1"/>
            </a:solidFill>
            <a:ln>
              <a:headEnd type="none"/>
              <a:tailEnd type="none"/>
            </a:ln>
          </p:spPr>
        </p:sp>
        <p:sp>
          <p:nvSpPr>
            <p:cNvPr id="44" name="TextBox 44"/>
            <p:cNvSpPr txBox="1"/>
            <p:nvPr/>
          </p:nvSpPr>
          <p:spPr>
            <a:xfrm>
              <a:off x="1211" y="10333"/>
              <a:ext cx="348" cy="225"/>
            </a:xfrm>
            <a:prstGeom prst="rect">
              <a:avLst/>
            </a:prstGeom>
            <a:ln>
              <a:headEnd type="none"/>
              <a:tailEnd type="none"/>
            </a:ln>
          </p:spPr>
          <p:txBody>
            <a:bodyPr vert="horz" wrap="none" lIns="0" tIns="0" rIns="0" bIns="0" rtlCol="0" anchor="t" anchorCtr="0"/>
            <a:lstStyle/>
            <a:p>
              <a:pPr algn="l">
                <a:defRPr/>
              </a:pPr>
              <a:r>
                <a:rPr lang="en-US" sz="900" b="1" i="0" strike="noStrike">
                  <a:solidFill>
                    <a:srgbClr val="F5F0EB">
                      <a:alpha val="100000"/>
                    </a:srgbClr>
                  </a:solidFill>
                  <a:latin typeface="Arial" panose="020B0604020202020204"/>
                  <a:ea typeface="Arial" panose="020B0604020202020204"/>
                  <a:cs typeface="Arial" panose="020B0604020202020204"/>
                </a:rPr>
                <a:t>06</a:t>
              </a:r>
              <a:endParaRPr lang="en-US" sz="1100"/>
            </a:p>
          </p:txBody>
        </p:sp>
        <p:sp>
          <p:nvSpPr>
            <p:cNvPr id="45" name="TextBox 45"/>
            <p:cNvSpPr txBox="1"/>
            <p:nvPr/>
          </p:nvSpPr>
          <p:spPr>
            <a:xfrm>
              <a:off x="1770" y="10280"/>
              <a:ext cx="8680" cy="240"/>
            </a:xfrm>
            <a:prstGeom prst="rect">
              <a:avLst/>
            </a:prstGeom>
            <a:ln>
              <a:headEnd type="none"/>
              <a:tailEnd type="none"/>
            </a:ln>
          </p:spPr>
          <p:txBody>
            <a:bodyPr vert="horz" wrap="none" lIns="0" tIns="0" rIns="0" bIns="0" rtlCol="0" anchor="t" anchorCtr="0"/>
            <a:lstStyle/>
            <a:p>
              <a:pPr algn="l">
                <a:defRPr/>
              </a:pPr>
              <a:r>
                <a:rPr lang="en-US" sz="1000" b="1" i="0" strike="noStrike">
                  <a:solidFill>
                    <a:schemeClr val="tx1">
                      <a:alpha val="100000"/>
                    </a:schemeClr>
                  </a:solidFill>
                  <a:latin typeface="Source Han Sans" panose="020B0500000000000000" charset="-122"/>
                  <a:ea typeface="Source Han Sans" panose="020B0500000000000000" charset="-122"/>
                  <a:cs typeface="Source Han Sans" panose="020B0500000000000000" charset="-122"/>
                </a:rPr>
                <a:t>闭环反馈与进化</a:t>
              </a:r>
              <a:endParaRPr lang="en-US" sz="1000" b="1" i="0" strike="noStrike">
                <a:solidFill>
                  <a:schemeClr val="tx1">
                    <a:alpha val="100000"/>
                  </a:schemeClr>
                </a:solidFill>
                <a:latin typeface="Source Han Sans" panose="020B0500000000000000" charset="-122"/>
                <a:ea typeface="Source Han Sans" panose="020B0500000000000000" charset="-122"/>
                <a:cs typeface="Source Han Sans" panose="020B0500000000000000" charset="-122"/>
              </a:endParaRPr>
            </a:p>
          </p:txBody>
        </p:sp>
        <p:sp>
          <p:nvSpPr>
            <p:cNvPr id="46" name="TextBox 46"/>
            <p:cNvSpPr txBox="1"/>
            <p:nvPr/>
          </p:nvSpPr>
          <p:spPr>
            <a:xfrm>
              <a:off x="1770" y="10619"/>
              <a:ext cx="8680" cy="181"/>
            </a:xfrm>
            <a:prstGeom prst="rect">
              <a:avLst/>
            </a:prstGeom>
            <a:ln>
              <a:headEnd type="none"/>
              <a:tailEnd type="none"/>
            </a:ln>
          </p:spPr>
          <p:txBody>
            <a:bodyPr vert="horz" wrap="square" lIns="0" tIns="0" rIns="0" bIns="0" rtlCol="0" anchor="t" anchorCtr="0"/>
            <a:lstStyle/>
            <a:p>
              <a:pPr algn="l">
                <a:defRPr/>
              </a:pPr>
              <a:r>
                <a:rPr lang="en-US" sz="9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rPr>
                <a:t>生产环境中的执行反馈与错误案例闭环回流至研发阶段，驱动本体资产的持续修正与测试验证，实现</a:t>
              </a:r>
              <a:endParaRPr lang="en-US" sz="1100">
                <a:solidFill>
                  <a:schemeClr val="tx1"/>
                </a:solidFill>
              </a:endParaRPr>
            </a:p>
            <a:p>
              <a:pPr algn="l"/>
              <a:r>
                <a:rPr sz="9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rPr>
                <a:t>知识体系的自我进化。</a:t>
              </a:r>
              <a:endParaRPr sz="9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endParaRPr>
            </a:p>
          </p:txBody>
        </p:sp>
        <p:sp>
          <p:nvSpPr>
            <p:cNvPr id="47" name="AutoShape 47"/>
            <p:cNvSpPr/>
            <p:nvPr/>
          </p:nvSpPr>
          <p:spPr>
            <a:xfrm>
              <a:off x="10870" y="3285"/>
              <a:ext cx="120" cy="7065"/>
            </a:xfrm>
            <a:prstGeom prst="rect">
              <a:avLst/>
            </a:prstGeom>
            <a:solidFill>
              <a:srgbClr val="DDD6CC">
                <a:alpha val="60000"/>
              </a:srgbClr>
            </a:solidFill>
            <a:ln>
              <a:headEnd type="none"/>
              <a:tailEnd type="none"/>
            </a:ln>
          </p:spPr>
        </p:sp>
        <p:sp>
          <p:nvSpPr>
            <p:cNvPr id="48" name="TextBox 48"/>
            <p:cNvSpPr txBox="1"/>
            <p:nvPr/>
          </p:nvSpPr>
          <p:spPr>
            <a:xfrm>
              <a:off x="11305" y="3405"/>
              <a:ext cx="1284" cy="225"/>
            </a:xfrm>
            <a:prstGeom prst="rect">
              <a:avLst/>
            </a:prstGeom>
            <a:ln>
              <a:headEnd type="none"/>
              <a:tailEnd type="none"/>
            </a:ln>
          </p:spPr>
          <p:txBody>
            <a:bodyPr vert="horz" wrap="none" lIns="0" tIns="0" rIns="0" bIns="0" rtlCol="0" anchor="t" anchorCtr="0"/>
            <a:lstStyle/>
            <a:p>
              <a:pPr algn="l">
                <a:defRPr/>
              </a:pPr>
              <a:r>
                <a:rPr lang="en-US" sz="900" b="1" i="0" strike="noStrike">
                  <a:solidFill>
                    <a:srgbClr val="8B1A1A">
                      <a:alpha val="100000"/>
                    </a:srgbClr>
                  </a:solidFill>
                  <a:latin typeface="Source Han Sans" panose="020B0500000000000000" charset="-122"/>
                  <a:ea typeface="Source Han Sans" panose="020B0500000000000000" charset="-122"/>
                  <a:cs typeface="Source Han Sans" panose="020B0500000000000000" charset="-122"/>
                </a:rPr>
                <a:t>核心价值主张</a:t>
              </a:r>
              <a:endParaRPr lang="en-US" sz="1100"/>
            </a:p>
          </p:txBody>
        </p:sp>
        <p:sp>
          <p:nvSpPr>
            <p:cNvPr id="49" name="AutoShape 49"/>
            <p:cNvSpPr/>
            <p:nvPr/>
          </p:nvSpPr>
          <p:spPr>
            <a:xfrm>
              <a:off x="12665" y="3495"/>
              <a:ext cx="5450" cy="120"/>
            </a:xfrm>
            <a:prstGeom prst="rect">
              <a:avLst/>
            </a:prstGeom>
            <a:solidFill>
              <a:srgbClr val="DDD6CC">
                <a:alpha val="100000"/>
              </a:srgbClr>
            </a:solidFill>
            <a:ln>
              <a:headEnd type="none"/>
              <a:tailEnd type="none"/>
            </a:ln>
          </p:spPr>
        </p:sp>
        <p:sp>
          <p:nvSpPr>
            <p:cNvPr id="50" name="AutoShape 50"/>
            <p:cNvSpPr/>
            <p:nvPr/>
          </p:nvSpPr>
          <p:spPr>
            <a:xfrm>
              <a:off x="11305" y="3960"/>
              <a:ext cx="6810" cy="1930"/>
            </a:xfrm>
            <a:prstGeom prst="roundRect">
              <a:avLst>
                <a:gd name="adj" fmla="val 3479"/>
              </a:avLst>
            </a:prstGeom>
            <a:solidFill>
              <a:schemeClr val="bg1">
                <a:lumMod val="95000"/>
              </a:schemeClr>
            </a:solidFill>
            <a:ln w="9525">
              <a:solidFill>
                <a:srgbClr val="DDD6CC">
                  <a:alpha val="100000"/>
                </a:srgbClr>
              </a:solidFill>
              <a:prstDash val="solid"/>
              <a:headEnd type="none"/>
              <a:tailEnd type="none"/>
            </a:ln>
          </p:spPr>
        </p:sp>
        <p:sp>
          <p:nvSpPr>
            <p:cNvPr id="51" name="AutoShape 51"/>
            <p:cNvSpPr/>
            <p:nvPr/>
          </p:nvSpPr>
          <p:spPr>
            <a:xfrm>
              <a:off x="11305" y="3945"/>
              <a:ext cx="6810" cy="15"/>
            </a:xfrm>
            <a:prstGeom prst="line">
              <a:avLst/>
            </a:prstGeom>
            <a:ln w="28575">
              <a:solidFill>
                <a:srgbClr val="C43E3E">
                  <a:alpha val="100000"/>
                </a:srgbClr>
              </a:solidFill>
              <a:prstDash val="solid"/>
              <a:headEnd type="none"/>
              <a:tailEnd type="none"/>
            </a:ln>
          </p:spPr>
        </p:sp>
        <p:sp>
          <p:nvSpPr>
            <p:cNvPr id="52" name="TextBox 52"/>
            <p:cNvSpPr txBox="1"/>
            <p:nvPr/>
          </p:nvSpPr>
          <p:spPr>
            <a:xfrm>
              <a:off x="11799" y="4245"/>
              <a:ext cx="6032" cy="255"/>
            </a:xfrm>
            <a:prstGeom prst="rect">
              <a:avLst/>
            </a:prstGeom>
            <a:ln>
              <a:headEnd type="none"/>
              <a:tailEnd type="none"/>
            </a:ln>
          </p:spPr>
          <p:txBody>
            <a:bodyPr vert="horz" wrap="none" lIns="0" tIns="0" rIns="0" bIns="0" rtlCol="0" anchor="t" anchorCtr="0"/>
            <a:lstStyle/>
            <a:p>
              <a:pPr algn="l">
                <a:defRPr/>
              </a:pPr>
              <a:r>
                <a:rPr lang="en-US" sz="1100" b="1" i="0" strike="noStrike">
                  <a:solidFill>
                    <a:schemeClr val="tx1">
                      <a:alpha val="100000"/>
                    </a:schemeClr>
                  </a:solidFill>
                  <a:latin typeface="Source Han Sans" panose="020B0500000000000000" charset="-122"/>
                  <a:ea typeface="Source Han Sans" panose="020B0500000000000000" charset="-122"/>
                  <a:cs typeface="Source Han Sans" panose="020B0500000000000000" charset="-122"/>
                </a:rPr>
                <a:t>设计驱动与精准高效</a:t>
              </a:r>
              <a:endParaRPr lang="en-US" sz="1100" b="1" i="0" strike="noStrike">
                <a:solidFill>
                  <a:schemeClr val="tx1">
                    <a:alpha val="100000"/>
                  </a:schemeClr>
                </a:solidFill>
                <a:latin typeface="Source Han Sans" panose="020B0500000000000000" charset="-122"/>
                <a:ea typeface="Source Han Sans" panose="020B0500000000000000" charset="-122"/>
                <a:cs typeface="Source Han Sans" panose="020B0500000000000000" charset="-122"/>
              </a:endParaRPr>
            </a:p>
          </p:txBody>
        </p:sp>
        <p:sp>
          <p:nvSpPr>
            <p:cNvPr id="53" name="TextBox 53"/>
            <p:cNvSpPr txBox="1"/>
            <p:nvPr/>
          </p:nvSpPr>
          <p:spPr>
            <a:xfrm>
              <a:off x="11799" y="4657"/>
              <a:ext cx="6032" cy="912"/>
            </a:xfrm>
            <a:prstGeom prst="rect">
              <a:avLst/>
            </a:prstGeom>
            <a:ln>
              <a:headEnd type="none"/>
              <a:tailEnd type="none"/>
            </a:ln>
          </p:spPr>
          <p:txBody>
            <a:bodyPr vert="horz" wrap="square" lIns="0" tIns="0" rIns="0" bIns="0" rtlCol="0" anchor="t" anchorCtr="0"/>
            <a:lstStyle/>
            <a:p>
              <a:pPr algn="l">
                <a:defRPr/>
              </a:pPr>
              <a:r>
                <a:rPr lang="en-US" sz="10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rPr>
                <a:t>本体设计先于测试确保体系前瞻稳定，消除语义二义性保障数据</a:t>
              </a:r>
              <a:endParaRPr lang="en-US" sz="1100">
                <a:solidFill>
                  <a:schemeClr val="tx1"/>
                </a:solidFill>
              </a:endParaRPr>
            </a:p>
            <a:p>
              <a:pPr algn="l"/>
              <a:r>
                <a:rPr sz="10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rPr>
                <a:t>与决策一致，兼顾100%准确性与合理创造性支撑大规模实时应</a:t>
              </a:r>
              <a:endParaRPr sz="10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endParaRPr>
            </a:p>
            <a:p>
              <a:pPr algn="l"/>
              <a:r>
                <a:rPr sz="10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rPr>
                <a:t>用。</a:t>
              </a:r>
              <a:endParaRPr sz="10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endParaRPr>
            </a:p>
          </p:txBody>
        </p:sp>
        <p:sp>
          <p:nvSpPr>
            <p:cNvPr id="54" name="AutoShape 54"/>
            <p:cNvSpPr/>
            <p:nvPr/>
          </p:nvSpPr>
          <p:spPr>
            <a:xfrm>
              <a:off x="11305" y="6145"/>
              <a:ext cx="6810" cy="1930"/>
            </a:xfrm>
            <a:prstGeom prst="roundRect">
              <a:avLst>
                <a:gd name="adj" fmla="val 3479"/>
              </a:avLst>
            </a:prstGeom>
            <a:solidFill>
              <a:schemeClr val="bg1">
                <a:lumMod val="95000"/>
              </a:schemeClr>
            </a:solidFill>
            <a:ln w="9525">
              <a:solidFill>
                <a:srgbClr val="DDD6CC">
                  <a:alpha val="100000"/>
                </a:srgbClr>
              </a:solidFill>
              <a:prstDash val="solid"/>
              <a:headEnd type="none"/>
              <a:tailEnd type="none"/>
            </a:ln>
          </p:spPr>
        </p:sp>
        <p:sp>
          <p:nvSpPr>
            <p:cNvPr id="55" name="AutoShape 55"/>
            <p:cNvSpPr/>
            <p:nvPr/>
          </p:nvSpPr>
          <p:spPr>
            <a:xfrm>
              <a:off x="11305" y="6145"/>
              <a:ext cx="6810" cy="15"/>
            </a:xfrm>
            <a:prstGeom prst="line">
              <a:avLst/>
            </a:prstGeom>
            <a:ln w="28575">
              <a:solidFill>
                <a:srgbClr val="C43E3E">
                  <a:alpha val="100000"/>
                </a:srgbClr>
              </a:solidFill>
              <a:prstDash val="solid"/>
              <a:headEnd type="none"/>
              <a:tailEnd type="none"/>
            </a:ln>
          </p:spPr>
        </p:sp>
        <p:sp>
          <p:nvSpPr>
            <p:cNvPr id="56" name="TextBox 56"/>
            <p:cNvSpPr txBox="1"/>
            <p:nvPr/>
          </p:nvSpPr>
          <p:spPr>
            <a:xfrm>
              <a:off x="11799" y="6445"/>
              <a:ext cx="6032" cy="255"/>
            </a:xfrm>
            <a:prstGeom prst="rect">
              <a:avLst/>
            </a:prstGeom>
            <a:ln>
              <a:headEnd type="none"/>
              <a:tailEnd type="none"/>
            </a:ln>
          </p:spPr>
          <p:txBody>
            <a:bodyPr vert="horz" wrap="none" lIns="0" tIns="0" rIns="0" bIns="0" rtlCol="0" anchor="t" anchorCtr="0"/>
            <a:lstStyle/>
            <a:p>
              <a:pPr algn="l">
                <a:defRPr/>
              </a:pPr>
              <a:r>
                <a:rPr lang="en-US" sz="1100" b="1" i="0" strike="noStrike">
                  <a:solidFill>
                    <a:schemeClr val="tx1">
                      <a:alpha val="100000"/>
                    </a:schemeClr>
                  </a:solidFill>
                  <a:latin typeface="Source Han Sans" panose="020B0500000000000000" charset="-122"/>
                  <a:ea typeface="Source Han Sans" panose="020B0500000000000000" charset="-122"/>
                  <a:cs typeface="Source Han Sans" panose="020B0500000000000000" charset="-122"/>
                </a:rPr>
                <a:t>可扩展与高复用性</a:t>
              </a:r>
              <a:endParaRPr lang="en-US" sz="1100" b="1" i="0" strike="noStrike">
                <a:solidFill>
                  <a:schemeClr val="tx1">
                    <a:alpha val="100000"/>
                  </a:schemeClr>
                </a:solidFill>
                <a:latin typeface="Source Han Sans" panose="020B0500000000000000" charset="-122"/>
                <a:ea typeface="Source Han Sans" panose="020B0500000000000000" charset="-122"/>
                <a:cs typeface="Source Han Sans" panose="020B0500000000000000" charset="-122"/>
              </a:endParaRPr>
            </a:p>
          </p:txBody>
        </p:sp>
        <p:sp>
          <p:nvSpPr>
            <p:cNvPr id="57" name="TextBox 57"/>
            <p:cNvSpPr txBox="1"/>
            <p:nvPr/>
          </p:nvSpPr>
          <p:spPr>
            <a:xfrm>
              <a:off x="11799" y="6857"/>
              <a:ext cx="6032" cy="912"/>
            </a:xfrm>
            <a:prstGeom prst="rect">
              <a:avLst/>
            </a:prstGeom>
            <a:ln>
              <a:headEnd type="none"/>
              <a:tailEnd type="none"/>
            </a:ln>
          </p:spPr>
          <p:txBody>
            <a:bodyPr vert="horz" wrap="square" lIns="0" tIns="0" rIns="0" bIns="0" rtlCol="0" anchor="t" anchorCtr="0"/>
            <a:lstStyle/>
            <a:p>
              <a:pPr algn="l">
                <a:defRPr/>
              </a:pPr>
              <a:r>
                <a:rPr lang="en-US" sz="10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rPr>
                <a:t>支持构建超大规模本体承载企业核心知识，模块化设计使本体组</a:t>
              </a:r>
              <a:endParaRPr lang="en-US" sz="1100">
                <a:solidFill>
                  <a:schemeClr val="tx1"/>
                </a:solidFill>
              </a:endParaRPr>
            </a:p>
            <a:p>
              <a:pPr algn="l"/>
              <a:r>
                <a:rPr sz="10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rPr>
                <a:t>件可跨场景复用降低开发成本，松耦合架构确保体系从容应对业</a:t>
              </a:r>
              <a:endParaRPr sz="10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endParaRPr>
            </a:p>
            <a:p>
              <a:pPr algn="l"/>
              <a:r>
                <a:rPr sz="10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rPr>
                <a:t>务变化。</a:t>
              </a:r>
              <a:endParaRPr sz="10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endParaRPr>
            </a:p>
          </p:txBody>
        </p:sp>
        <p:sp>
          <p:nvSpPr>
            <p:cNvPr id="58" name="AutoShape 58"/>
            <p:cNvSpPr/>
            <p:nvPr/>
          </p:nvSpPr>
          <p:spPr>
            <a:xfrm>
              <a:off x="11305" y="8345"/>
              <a:ext cx="6810" cy="1930"/>
            </a:xfrm>
            <a:prstGeom prst="roundRect">
              <a:avLst>
                <a:gd name="adj" fmla="val 3479"/>
              </a:avLst>
            </a:prstGeom>
            <a:solidFill>
              <a:schemeClr val="bg1">
                <a:lumMod val="95000"/>
              </a:schemeClr>
            </a:solidFill>
            <a:ln w="9525">
              <a:solidFill>
                <a:srgbClr val="DDD6CC">
                  <a:alpha val="100000"/>
                </a:srgbClr>
              </a:solidFill>
              <a:prstDash val="solid"/>
              <a:headEnd type="none"/>
              <a:tailEnd type="none"/>
            </a:ln>
          </p:spPr>
        </p:sp>
        <p:sp>
          <p:nvSpPr>
            <p:cNvPr id="59" name="AutoShape 59"/>
            <p:cNvSpPr/>
            <p:nvPr/>
          </p:nvSpPr>
          <p:spPr>
            <a:xfrm>
              <a:off x="11305" y="8345"/>
              <a:ext cx="6810" cy="15"/>
            </a:xfrm>
            <a:prstGeom prst="line">
              <a:avLst/>
            </a:prstGeom>
            <a:ln w="28575">
              <a:solidFill>
                <a:srgbClr val="C43E3E">
                  <a:alpha val="100000"/>
                </a:srgbClr>
              </a:solidFill>
              <a:prstDash val="solid"/>
              <a:headEnd type="none"/>
              <a:tailEnd type="none"/>
            </a:ln>
          </p:spPr>
        </p:sp>
        <p:sp>
          <p:nvSpPr>
            <p:cNvPr id="60" name="TextBox 60"/>
            <p:cNvSpPr txBox="1"/>
            <p:nvPr/>
          </p:nvSpPr>
          <p:spPr>
            <a:xfrm>
              <a:off x="11799" y="8645"/>
              <a:ext cx="6032" cy="255"/>
            </a:xfrm>
            <a:prstGeom prst="rect">
              <a:avLst/>
            </a:prstGeom>
            <a:ln>
              <a:headEnd type="none"/>
              <a:tailEnd type="none"/>
            </a:ln>
          </p:spPr>
          <p:txBody>
            <a:bodyPr vert="horz" wrap="none" lIns="0" tIns="0" rIns="0" bIns="0" rtlCol="0" anchor="t" anchorCtr="0"/>
            <a:lstStyle/>
            <a:p>
              <a:pPr algn="l">
                <a:defRPr/>
              </a:pPr>
              <a:r>
                <a:rPr lang="en-US" sz="1100" b="1" i="0" strike="noStrike">
                  <a:solidFill>
                    <a:schemeClr val="tx1">
                      <a:alpha val="100000"/>
                    </a:schemeClr>
                  </a:solidFill>
                  <a:latin typeface="Source Han Sans" panose="020B0500000000000000" charset="-122"/>
                  <a:ea typeface="Source Han Sans" panose="020B0500000000000000" charset="-122"/>
                  <a:cs typeface="Source Han Sans" panose="020B0500000000000000" charset="-122"/>
                </a:rPr>
                <a:t>业务融合与AI赋能</a:t>
              </a:r>
              <a:endParaRPr lang="en-US" sz="1100" b="1" i="0" strike="noStrike">
                <a:solidFill>
                  <a:schemeClr val="tx1">
                    <a:alpha val="100000"/>
                  </a:schemeClr>
                </a:solidFill>
                <a:latin typeface="Source Han Sans" panose="020B0500000000000000" charset="-122"/>
                <a:ea typeface="Source Han Sans" panose="020B0500000000000000" charset="-122"/>
                <a:cs typeface="Source Han Sans" panose="020B0500000000000000" charset="-122"/>
              </a:endParaRPr>
            </a:p>
          </p:txBody>
        </p:sp>
        <p:sp>
          <p:nvSpPr>
            <p:cNvPr id="61" name="TextBox 61"/>
            <p:cNvSpPr txBox="1"/>
            <p:nvPr/>
          </p:nvSpPr>
          <p:spPr>
            <a:xfrm>
              <a:off x="11799" y="9057"/>
              <a:ext cx="6044" cy="912"/>
            </a:xfrm>
            <a:prstGeom prst="rect">
              <a:avLst/>
            </a:prstGeom>
            <a:ln>
              <a:headEnd type="none"/>
              <a:tailEnd type="none"/>
            </a:ln>
          </p:spPr>
          <p:txBody>
            <a:bodyPr vert="horz" wrap="square" lIns="0" tIns="0" rIns="0" bIns="0" rtlCol="0" anchor="t" anchorCtr="0"/>
            <a:lstStyle/>
            <a:p>
              <a:pPr algn="l">
                <a:defRPr/>
              </a:pPr>
              <a:r>
                <a:rPr lang="en-US" sz="10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rPr>
                <a:t>卓越的可视化能力让业务专家直观检查并深度参与本体建设，与</a:t>
              </a:r>
              <a:endParaRPr lang="en-US" sz="1100">
                <a:solidFill>
                  <a:schemeClr val="tx1"/>
                </a:solidFill>
              </a:endParaRPr>
            </a:p>
            <a:p>
              <a:pPr algn="l"/>
              <a:r>
                <a:rPr sz="10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rPr>
                <a:t>传统IT系统丝滑对接盘活存量数据资产，通过提示词与Agent技术</a:t>
              </a:r>
              <a:endParaRPr sz="10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endParaRPr>
            </a:p>
            <a:p>
              <a:pPr algn="l"/>
              <a:r>
                <a:rPr sz="10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rPr>
                <a:t>实现AI协同的智能闭环。</a:t>
              </a:r>
              <a:endParaRPr sz="1000" b="0" i="0" strike="noStrike">
                <a:solidFill>
                  <a:schemeClr val="tx1">
                    <a:alpha val="80000"/>
                  </a:schemeClr>
                </a:solidFill>
                <a:latin typeface="Source Han Sans" panose="020B0500000000000000" charset="-122"/>
                <a:ea typeface="Source Han Sans" panose="020B0500000000000000" charset="-122"/>
                <a:cs typeface="Source Han Sans" panose="020B0500000000000000" charset="-122"/>
              </a:endParaRPr>
            </a:p>
          </p:txBody>
        </p:sp>
      </p:grpSp>
      <p:sp>
        <p:nvSpPr>
          <p:cNvPr id="9" name="AutoShape 10"/>
          <p:cNvSpPr/>
          <p:nvPr>
            <p:custDataLst>
              <p:tags r:id="rId1"/>
            </p:custDataLst>
          </p:nvPr>
        </p:nvSpPr>
        <p:spPr>
          <a:xfrm>
            <a:off x="7162165" y="2277745"/>
            <a:ext cx="180000" cy="180000"/>
          </a:xfrm>
          <a:custGeom>
            <a:avLst/>
            <a:gdLst/>
            <a:ahLst/>
            <a:cxnLst/>
            <a:rect l="l" t="t" r="r" b="b"/>
            <a:pathLst>
              <a:path w="9998" h="10000">
                <a:moveTo>
                  <a:pt x="7889" y="0"/>
                </a:moveTo>
                <a:cubicBezTo>
                  <a:pt x="8136" y="-105"/>
                  <a:pt x="8364" y="-52"/>
                  <a:pt x="8573" y="158"/>
                </a:cubicBezTo>
                <a:lnTo>
                  <a:pt x="9822" y="1599"/>
                </a:lnTo>
                <a:cubicBezTo>
                  <a:pt x="9939" y="1749"/>
                  <a:pt x="9998" y="1921"/>
                  <a:pt x="9998" y="2117"/>
                </a:cubicBezTo>
                <a:cubicBezTo>
                  <a:pt x="9998" y="2312"/>
                  <a:pt x="9939" y="2485"/>
                  <a:pt x="9822" y="2635"/>
                </a:cubicBezTo>
                <a:lnTo>
                  <a:pt x="8573" y="4077"/>
                </a:lnTo>
                <a:cubicBezTo>
                  <a:pt x="8364" y="4287"/>
                  <a:pt x="8136" y="4332"/>
                  <a:pt x="7889" y="4212"/>
                </a:cubicBezTo>
                <a:cubicBezTo>
                  <a:pt x="7641" y="4092"/>
                  <a:pt x="7511" y="3874"/>
                  <a:pt x="7499" y="3559"/>
                </a:cubicBezTo>
                <a:lnTo>
                  <a:pt x="7499" y="2838"/>
                </a:lnTo>
                <a:lnTo>
                  <a:pt x="6874" y="2838"/>
                </a:lnTo>
                <a:cubicBezTo>
                  <a:pt x="6665" y="2838"/>
                  <a:pt x="6496" y="2935"/>
                  <a:pt x="6366" y="3131"/>
                </a:cubicBezTo>
                <a:lnTo>
                  <a:pt x="5546" y="4392"/>
                </a:lnTo>
                <a:lnTo>
                  <a:pt x="4765" y="3198"/>
                </a:lnTo>
                <a:lnTo>
                  <a:pt x="5370" y="2252"/>
                </a:lnTo>
                <a:cubicBezTo>
                  <a:pt x="5760" y="1696"/>
                  <a:pt x="6262" y="1411"/>
                  <a:pt x="6874" y="1396"/>
                </a:cubicBezTo>
                <a:lnTo>
                  <a:pt x="7499" y="1396"/>
                </a:lnTo>
                <a:lnTo>
                  <a:pt x="7499" y="676"/>
                </a:lnTo>
                <a:cubicBezTo>
                  <a:pt x="7511" y="360"/>
                  <a:pt x="7641" y="135"/>
                  <a:pt x="7889" y="0"/>
                </a:cubicBezTo>
                <a:moveTo>
                  <a:pt x="3202" y="5608"/>
                </a:moveTo>
                <a:lnTo>
                  <a:pt x="3984" y="6802"/>
                </a:lnTo>
                <a:lnTo>
                  <a:pt x="3202" y="5608"/>
                </a:lnTo>
                <a:lnTo>
                  <a:pt x="3984" y="6802"/>
                </a:lnTo>
                <a:lnTo>
                  <a:pt x="3378" y="7748"/>
                </a:lnTo>
                <a:cubicBezTo>
                  <a:pt x="2987" y="8303"/>
                  <a:pt x="2486" y="8588"/>
                  <a:pt x="1875" y="8604"/>
                </a:cubicBezTo>
                <a:lnTo>
                  <a:pt x="625" y="8604"/>
                </a:lnTo>
                <a:cubicBezTo>
                  <a:pt x="442" y="8604"/>
                  <a:pt x="292" y="8536"/>
                  <a:pt x="176" y="8401"/>
                </a:cubicBezTo>
                <a:cubicBezTo>
                  <a:pt x="58" y="8265"/>
                  <a:pt x="0" y="8093"/>
                  <a:pt x="0" y="7883"/>
                </a:cubicBezTo>
                <a:cubicBezTo>
                  <a:pt x="0" y="7673"/>
                  <a:pt x="58" y="7500"/>
                  <a:pt x="176" y="7365"/>
                </a:cubicBezTo>
                <a:cubicBezTo>
                  <a:pt x="292" y="7229"/>
                  <a:pt x="442" y="7162"/>
                  <a:pt x="625" y="7162"/>
                </a:cubicBezTo>
                <a:lnTo>
                  <a:pt x="1875" y="7162"/>
                </a:lnTo>
                <a:cubicBezTo>
                  <a:pt x="2083" y="7162"/>
                  <a:pt x="2252" y="7064"/>
                  <a:pt x="2382" y="6869"/>
                </a:cubicBezTo>
                <a:lnTo>
                  <a:pt x="3202" y="5608"/>
                </a:lnTo>
                <a:moveTo>
                  <a:pt x="8573" y="9842"/>
                </a:moveTo>
                <a:cubicBezTo>
                  <a:pt x="8364" y="10052"/>
                  <a:pt x="8136" y="10105"/>
                  <a:pt x="7889" y="10000"/>
                </a:cubicBezTo>
                <a:cubicBezTo>
                  <a:pt x="7641" y="9864"/>
                  <a:pt x="7511" y="9639"/>
                  <a:pt x="7499" y="9324"/>
                </a:cubicBezTo>
                <a:lnTo>
                  <a:pt x="7499" y="8604"/>
                </a:lnTo>
                <a:lnTo>
                  <a:pt x="6874" y="8604"/>
                </a:lnTo>
                <a:cubicBezTo>
                  <a:pt x="6262" y="8588"/>
                  <a:pt x="5760" y="8303"/>
                  <a:pt x="5370" y="7748"/>
                </a:cubicBezTo>
                <a:lnTo>
                  <a:pt x="2382" y="3131"/>
                </a:lnTo>
                <a:cubicBezTo>
                  <a:pt x="2252" y="2935"/>
                  <a:pt x="2083" y="2838"/>
                  <a:pt x="1875" y="2838"/>
                </a:cubicBezTo>
                <a:lnTo>
                  <a:pt x="625" y="2838"/>
                </a:lnTo>
                <a:cubicBezTo>
                  <a:pt x="442" y="2838"/>
                  <a:pt x="292" y="2770"/>
                  <a:pt x="176" y="2635"/>
                </a:cubicBezTo>
                <a:cubicBezTo>
                  <a:pt x="58" y="2499"/>
                  <a:pt x="0" y="2327"/>
                  <a:pt x="0" y="2117"/>
                </a:cubicBezTo>
                <a:cubicBezTo>
                  <a:pt x="0" y="1907"/>
                  <a:pt x="58" y="1734"/>
                  <a:pt x="176" y="1599"/>
                </a:cubicBezTo>
                <a:cubicBezTo>
                  <a:pt x="292" y="1463"/>
                  <a:pt x="442" y="1396"/>
                  <a:pt x="625" y="1396"/>
                </a:cubicBezTo>
                <a:lnTo>
                  <a:pt x="1875" y="1396"/>
                </a:lnTo>
                <a:cubicBezTo>
                  <a:pt x="2486" y="1411"/>
                  <a:pt x="2987" y="1696"/>
                  <a:pt x="3378" y="2252"/>
                </a:cubicBezTo>
                <a:lnTo>
                  <a:pt x="6366" y="6869"/>
                </a:lnTo>
                <a:cubicBezTo>
                  <a:pt x="6496" y="7064"/>
                  <a:pt x="6665" y="7162"/>
                  <a:pt x="6874" y="7162"/>
                </a:cubicBezTo>
                <a:lnTo>
                  <a:pt x="7499" y="7162"/>
                </a:lnTo>
                <a:lnTo>
                  <a:pt x="7499" y="6441"/>
                </a:lnTo>
                <a:cubicBezTo>
                  <a:pt x="7511" y="6125"/>
                  <a:pt x="7641" y="5900"/>
                  <a:pt x="7889" y="5766"/>
                </a:cubicBezTo>
                <a:cubicBezTo>
                  <a:pt x="8136" y="5660"/>
                  <a:pt x="8364" y="5713"/>
                  <a:pt x="8573" y="5923"/>
                </a:cubicBezTo>
                <a:lnTo>
                  <a:pt x="9822" y="7365"/>
                </a:lnTo>
                <a:cubicBezTo>
                  <a:pt x="9939" y="7515"/>
                  <a:pt x="9998" y="7687"/>
                  <a:pt x="9998" y="7883"/>
                </a:cubicBezTo>
                <a:cubicBezTo>
                  <a:pt x="9998" y="8078"/>
                  <a:pt x="9939" y="8251"/>
                  <a:pt x="9822" y="8401"/>
                </a:cubicBezTo>
              </a:path>
            </a:pathLst>
          </a:custGeom>
          <a:solidFill>
            <a:srgbClr val="C00000"/>
          </a:solidFill>
          <a:ln>
            <a:headEnd type="none"/>
            <a:tailEnd type="none"/>
          </a:ln>
        </p:spPr>
      </p:sp>
      <p:sp>
        <p:nvSpPr>
          <p:cNvPr id="62" name="AutoShape 15"/>
          <p:cNvSpPr/>
          <p:nvPr>
            <p:custDataLst>
              <p:tags r:id="rId2"/>
            </p:custDataLst>
          </p:nvPr>
        </p:nvSpPr>
        <p:spPr>
          <a:xfrm>
            <a:off x="7162165" y="3673380"/>
            <a:ext cx="180000" cy="180000"/>
          </a:xfrm>
          <a:custGeom>
            <a:avLst/>
            <a:gdLst/>
            <a:ahLst/>
            <a:cxnLst/>
            <a:rect l="l" t="t" r="r" b="b"/>
            <a:pathLst>
              <a:path w="9998" h="10000">
                <a:moveTo>
                  <a:pt x="9998" y="1563"/>
                </a:moveTo>
                <a:lnTo>
                  <a:pt x="9998" y="2500"/>
                </a:lnTo>
                <a:lnTo>
                  <a:pt x="9998" y="1563"/>
                </a:lnTo>
                <a:lnTo>
                  <a:pt x="9998" y="2500"/>
                </a:lnTo>
                <a:cubicBezTo>
                  <a:pt x="9968" y="2942"/>
                  <a:pt x="9477" y="3313"/>
                  <a:pt x="8525" y="3613"/>
                </a:cubicBezTo>
                <a:cubicBezTo>
                  <a:pt x="7587" y="3899"/>
                  <a:pt x="6412" y="4049"/>
                  <a:pt x="4999" y="4063"/>
                </a:cubicBezTo>
                <a:cubicBezTo>
                  <a:pt x="3585" y="4049"/>
                  <a:pt x="2410" y="3899"/>
                  <a:pt x="1473" y="3613"/>
                </a:cubicBezTo>
                <a:cubicBezTo>
                  <a:pt x="521" y="3313"/>
                  <a:pt x="30" y="2942"/>
                  <a:pt x="0" y="2500"/>
                </a:cubicBezTo>
                <a:lnTo>
                  <a:pt x="0" y="1563"/>
                </a:lnTo>
                <a:cubicBezTo>
                  <a:pt x="30" y="1119"/>
                  <a:pt x="521" y="748"/>
                  <a:pt x="1473" y="449"/>
                </a:cubicBezTo>
                <a:cubicBezTo>
                  <a:pt x="2410" y="163"/>
                  <a:pt x="3585" y="13"/>
                  <a:pt x="4999" y="0"/>
                </a:cubicBezTo>
                <a:cubicBezTo>
                  <a:pt x="6412" y="13"/>
                  <a:pt x="7587" y="163"/>
                  <a:pt x="8525" y="449"/>
                </a:cubicBezTo>
                <a:cubicBezTo>
                  <a:pt x="9477" y="748"/>
                  <a:pt x="9968" y="1119"/>
                  <a:pt x="9998" y="1563"/>
                </a:cubicBezTo>
                <a:moveTo>
                  <a:pt x="8771" y="4199"/>
                </a:moveTo>
                <a:cubicBezTo>
                  <a:pt x="9247" y="4055"/>
                  <a:pt x="9656" y="3867"/>
                  <a:pt x="9998" y="3633"/>
                </a:cubicBezTo>
                <a:lnTo>
                  <a:pt x="9998" y="5625"/>
                </a:lnTo>
                <a:cubicBezTo>
                  <a:pt x="9968" y="6067"/>
                  <a:pt x="9477" y="6438"/>
                  <a:pt x="8525" y="6738"/>
                </a:cubicBezTo>
                <a:cubicBezTo>
                  <a:pt x="7587" y="7024"/>
                  <a:pt x="6412" y="7174"/>
                  <a:pt x="4999" y="7188"/>
                </a:cubicBezTo>
                <a:cubicBezTo>
                  <a:pt x="3585" y="7174"/>
                  <a:pt x="2410" y="7024"/>
                  <a:pt x="1473" y="6738"/>
                </a:cubicBezTo>
                <a:cubicBezTo>
                  <a:pt x="521" y="6438"/>
                  <a:pt x="30" y="6067"/>
                  <a:pt x="0" y="5625"/>
                </a:cubicBezTo>
                <a:lnTo>
                  <a:pt x="0" y="3633"/>
                </a:lnTo>
                <a:cubicBezTo>
                  <a:pt x="342" y="3867"/>
                  <a:pt x="751" y="4055"/>
                  <a:pt x="1227" y="4199"/>
                </a:cubicBezTo>
                <a:cubicBezTo>
                  <a:pt x="2269" y="4511"/>
                  <a:pt x="3526" y="4674"/>
                  <a:pt x="4999" y="4688"/>
                </a:cubicBezTo>
                <a:cubicBezTo>
                  <a:pt x="6471" y="4674"/>
                  <a:pt x="7729" y="4511"/>
                  <a:pt x="8771" y="4199"/>
                </a:cubicBezTo>
                <a:moveTo>
                  <a:pt x="0" y="6758"/>
                </a:moveTo>
                <a:cubicBezTo>
                  <a:pt x="342" y="6992"/>
                  <a:pt x="751" y="7180"/>
                  <a:pt x="1227" y="7324"/>
                </a:cubicBezTo>
                <a:cubicBezTo>
                  <a:pt x="2269" y="7636"/>
                  <a:pt x="3526" y="7799"/>
                  <a:pt x="4999" y="7812"/>
                </a:cubicBezTo>
                <a:cubicBezTo>
                  <a:pt x="6471" y="7799"/>
                  <a:pt x="7729" y="7636"/>
                  <a:pt x="8771" y="7324"/>
                </a:cubicBezTo>
                <a:cubicBezTo>
                  <a:pt x="9247" y="7180"/>
                  <a:pt x="9656" y="6992"/>
                  <a:pt x="9998" y="6758"/>
                </a:cubicBezTo>
                <a:lnTo>
                  <a:pt x="9998" y="8438"/>
                </a:lnTo>
                <a:cubicBezTo>
                  <a:pt x="9968" y="8880"/>
                  <a:pt x="9477" y="9251"/>
                  <a:pt x="8525" y="9551"/>
                </a:cubicBezTo>
                <a:cubicBezTo>
                  <a:pt x="7587" y="9837"/>
                  <a:pt x="6412" y="9986"/>
                  <a:pt x="4999" y="10000"/>
                </a:cubicBezTo>
                <a:cubicBezTo>
                  <a:pt x="3585" y="9986"/>
                  <a:pt x="2410" y="9837"/>
                  <a:pt x="1473" y="9551"/>
                </a:cubicBezTo>
                <a:cubicBezTo>
                  <a:pt x="521" y="9251"/>
                  <a:pt x="30" y="8880"/>
                  <a:pt x="0" y="8438"/>
                </a:cubicBezTo>
              </a:path>
            </a:pathLst>
          </a:custGeom>
          <a:solidFill>
            <a:srgbClr val="C00000"/>
          </a:solidFill>
          <a:ln>
            <a:headEnd type="none"/>
            <a:tailEnd type="none"/>
          </a:ln>
        </p:spPr>
      </p:sp>
      <p:sp>
        <p:nvSpPr>
          <p:cNvPr id="63" name="AutoShape 20"/>
          <p:cNvSpPr/>
          <p:nvPr>
            <p:custDataLst>
              <p:tags r:id="rId3"/>
            </p:custDataLst>
          </p:nvPr>
        </p:nvSpPr>
        <p:spPr>
          <a:xfrm>
            <a:off x="7162165" y="5068475"/>
            <a:ext cx="180000" cy="180000"/>
          </a:xfrm>
          <a:custGeom>
            <a:avLst/>
            <a:gdLst/>
            <a:ahLst/>
            <a:cxnLst/>
            <a:rect l="l" t="t" r="r" b="b"/>
            <a:pathLst>
              <a:path w="9998" h="10000">
                <a:moveTo>
                  <a:pt x="4550" y="0"/>
                </a:moveTo>
                <a:cubicBezTo>
                  <a:pt x="4849" y="-132"/>
                  <a:pt x="5155" y="-132"/>
                  <a:pt x="5468" y="0"/>
                </a:cubicBezTo>
                <a:lnTo>
                  <a:pt x="9725" y="2012"/>
                </a:lnTo>
                <a:cubicBezTo>
                  <a:pt x="9893" y="2104"/>
                  <a:pt x="9984" y="2250"/>
                  <a:pt x="9998" y="2450"/>
                </a:cubicBezTo>
                <a:cubicBezTo>
                  <a:pt x="9984" y="2649"/>
                  <a:pt x="9893" y="2795"/>
                  <a:pt x="9725" y="2888"/>
                </a:cubicBezTo>
                <a:lnTo>
                  <a:pt x="5448" y="4900"/>
                </a:lnTo>
                <a:cubicBezTo>
                  <a:pt x="5148" y="5033"/>
                  <a:pt x="4842" y="5033"/>
                  <a:pt x="4530" y="4900"/>
                </a:cubicBezTo>
                <a:lnTo>
                  <a:pt x="273" y="2888"/>
                </a:lnTo>
                <a:cubicBezTo>
                  <a:pt x="104" y="2795"/>
                  <a:pt x="13" y="2649"/>
                  <a:pt x="0" y="2450"/>
                </a:cubicBezTo>
                <a:cubicBezTo>
                  <a:pt x="13" y="2250"/>
                  <a:pt x="104" y="2104"/>
                  <a:pt x="273" y="2012"/>
                </a:cubicBezTo>
                <a:lnTo>
                  <a:pt x="4550" y="0"/>
                </a:lnTo>
                <a:moveTo>
                  <a:pt x="8690" y="4084"/>
                </a:moveTo>
                <a:lnTo>
                  <a:pt x="9725" y="4562"/>
                </a:lnTo>
                <a:lnTo>
                  <a:pt x="8690" y="4084"/>
                </a:lnTo>
                <a:lnTo>
                  <a:pt x="9725" y="4562"/>
                </a:lnTo>
                <a:cubicBezTo>
                  <a:pt x="9893" y="4654"/>
                  <a:pt x="9984" y="4800"/>
                  <a:pt x="9998" y="5000"/>
                </a:cubicBezTo>
                <a:cubicBezTo>
                  <a:pt x="9984" y="5199"/>
                  <a:pt x="9893" y="5345"/>
                  <a:pt x="9725" y="5438"/>
                </a:cubicBezTo>
                <a:lnTo>
                  <a:pt x="5448" y="7450"/>
                </a:lnTo>
                <a:cubicBezTo>
                  <a:pt x="5148" y="7582"/>
                  <a:pt x="4842" y="7582"/>
                  <a:pt x="4530" y="7450"/>
                </a:cubicBezTo>
                <a:lnTo>
                  <a:pt x="273" y="5438"/>
                </a:lnTo>
                <a:cubicBezTo>
                  <a:pt x="104" y="5345"/>
                  <a:pt x="13" y="5199"/>
                  <a:pt x="0" y="5000"/>
                </a:cubicBezTo>
                <a:cubicBezTo>
                  <a:pt x="13" y="4800"/>
                  <a:pt x="104" y="4654"/>
                  <a:pt x="273" y="4562"/>
                </a:cubicBezTo>
                <a:lnTo>
                  <a:pt x="1308" y="4084"/>
                </a:lnTo>
                <a:lnTo>
                  <a:pt x="4276" y="5478"/>
                </a:lnTo>
                <a:cubicBezTo>
                  <a:pt x="4758" y="5690"/>
                  <a:pt x="5240" y="5690"/>
                  <a:pt x="5722" y="5478"/>
                </a:cubicBezTo>
                <a:lnTo>
                  <a:pt x="8690" y="4084"/>
                </a:lnTo>
                <a:moveTo>
                  <a:pt x="5722" y="8028"/>
                </a:moveTo>
                <a:lnTo>
                  <a:pt x="8690" y="6633"/>
                </a:lnTo>
                <a:lnTo>
                  <a:pt x="5722" y="8028"/>
                </a:lnTo>
                <a:lnTo>
                  <a:pt x="8690" y="6633"/>
                </a:lnTo>
                <a:lnTo>
                  <a:pt x="9725" y="7112"/>
                </a:lnTo>
                <a:cubicBezTo>
                  <a:pt x="9893" y="7204"/>
                  <a:pt x="9984" y="7350"/>
                  <a:pt x="9998" y="7550"/>
                </a:cubicBezTo>
                <a:cubicBezTo>
                  <a:pt x="9984" y="7749"/>
                  <a:pt x="9893" y="7895"/>
                  <a:pt x="9725" y="7988"/>
                </a:cubicBezTo>
                <a:lnTo>
                  <a:pt x="5448" y="10000"/>
                </a:lnTo>
                <a:cubicBezTo>
                  <a:pt x="5148" y="10132"/>
                  <a:pt x="4842" y="10132"/>
                  <a:pt x="4530" y="10000"/>
                </a:cubicBezTo>
                <a:lnTo>
                  <a:pt x="273" y="7988"/>
                </a:lnTo>
                <a:cubicBezTo>
                  <a:pt x="104" y="7895"/>
                  <a:pt x="13" y="7749"/>
                  <a:pt x="0" y="7550"/>
                </a:cubicBezTo>
                <a:cubicBezTo>
                  <a:pt x="13" y="7350"/>
                  <a:pt x="104" y="7204"/>
                  <a:pt x="273" y="7112"/>
                </a:cubicBezTo>
                <a:lnTo>
                  <a:pt x="1308" y="6633"/>
                </a:lnTo>
                <a:lnTo>
                  <a:pt x="4276" y="8028"/>
                </a:lnTo>
                <a:cubicBezTo>
                  <a:pt x="4758" y="8240"/>
                  <a:pt x="5240" y="8240"/>
                  <a:pt x="5722" y="8028"/>
                </a:cubicBezTo>
              </a:path>
            </a:pathLst>
          </a:custGeom>
          <a:solidFill>
            <a:srgbClr val="C00000"/>
          </a:solidFill>
          <a:ln>
            <a:headEnd type="none"/>
            <a:tailEnd type="none"/>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1983" y="762"/>
            <a:ext cx="12194258" cy="6859270"/>
          </a:xfrm>
          <a:prstGeom prst="rect">
            <a:avLst/>
          </a:prstGeom>
          <a:noFill/>
          <a:ln w="25400" cap="flat" cmpd="sng">
            <a:noFill/>
            <a:prstDash val="solid"/>
            <a:round/>
          </a:ln>
        </p:spPr>
      </p:pic>
      <p:sp>
        <p:nvSpPr>
          <p:cNvPr id="3" name="AutoShape 3"/>
          <p:cNvSpPr/>
          <p:nvPr/>
        </p:nvSpPr>
        <p:spPr>
          <a:xfrm>
            <a:off x="11839051" y="6351176"/>
            <a:ext cx="330261" cy="431880"/>
          </a:xfrm>
          <a:prstGeom prst="roundRect">
            <a:avLst>
              <a:gd name="adj" fmla="val 0"/>
            </a:avLst>
          </a:prstGeom>
          <a:noFill/>
          <a:ln w="25400" cap="flat" cmpd="sng">
            <a:noFill/>
            <a:prstDash val="solid"/>
            <a:round/>
          </a:ln>
        </p:spPr>
        <p:txBody>
          <a:bodyPr vert="horz" wrap="square" lIns="63511" tIns="63511" rIns="63511" bIns="63511" rtlCol="0" anchor="ctr"/>
          <a:lstStyle/>
          <a:p>
            <a:pPr algn="ctr">
              <a:defRPr/>
            </a:pPr>
          </a:p>
        </p:txBody>
      </p:sp>
      <p:sp>
        <p:nvSpPr>
          <p:cNvPr id="4" name="AutoShape 4"/>
          <p:cNvSpPr/>
          <p:nvPr/>
        </p:nvSpPr>
        <p:spPr>
          <a:xfrm>
            <a:off x="622874" y="1066998"/>
            <a:ext cx="11216177" cy="749439"/>
          </a:xfrm>
          <a:prstGeom prst="roundRect">
            <a:avLst>
              <a:gd name="adj" fmla="val 0"/>
            </a:avLst>
          </a:prstGeom>
          <a:solidFill>
            <a:schemeClr val="bg1">
              <a:lumMod val="95000"/>
            </a:schemeClr>
          </a:solidFill>
          <a:ln w="25400" cap="flat" cmpd="sng">
            <a:noFill/>
            <a:prstDash val="solid"/>
            <a:round/>
          </a:ln>
        </p:spPr>
        <p:txBody>
          <a:bodyPr vert="horz" wrap="square" lIns="63511" tIns="63511" rIns="63511" bIns="63511" rtlCol="0" anchor="ctr"/>
          <a:lstStyle/>
          <a:p>
            <a:pPr algn="ctr">
              <a:defRPr/>
            </a:pPr>
          </a:p>
        </p:txBody>
      </p:sp>
      <p:sp>
        <p:nvSpPr>
          <p:cNvPr id="5" name="AutoShape 5"/>
          <p:cNvSpPr/>
          <p:nvPr/>
        </p:nvSpPr>
        <p:spPr>
          <a:xfrm>
            <a:off x="330720" y="0"/>
            <a:ext cx="10187286" cy="876462"/>
          </a:xfrm>
          <a:prstGeom prst="rect">
            <a:avLst/>
          </a:prstGeom>
          <a:noFill/>
          <a:ln w="12700" cap="flat" cmpd="sng">
            <a:noFill/>
            <a:prstDash val="solid"/>
            <a:round/>
          </a:ln>
        </p:spPr>
        <p:txBody>
          <a:bodyPr vert="horz" wrap="square" lIns="127023" tIns="63511" rIns="127023" bIns="63511" rtlCol="0" anchor="ctr" anchorCtr="0"/>
          <a:lstStyle/>
          <a:p>
            <a:pPr marL="0" indent="0" algn="l" defTabSz="1219200">
              <a:lnSpc>
                <a:spcPct val="100000"/>
              </a:lnSpc>
              <a:defRPr/>
            </a:pPr>
            <a:r>
              <a:rPr lang="en-US" sz="28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核心总结 </a:t>
            </a:r>
            <a:r>
              <a:rPr lang="en-US" sz="20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（工业AI的破局之道与未来方向）</a:t>
            </a:r>
            <a:endParaRPr lang="en-US" sz="1100"/>
          </a:p>
        </p:txBody>
      </p:sp>
      <p:sp>
        <p:nvSpPr>
          <p:cNvPr id="6" name="AutoShape 6"/>
          <p:cNvSpPr/>
          <p:nvPr>
            <p:custDataLst>
              <p:tags r:id="rId2"/>
            </p:custDataLst>
          </p:nvPr>
        </p:nvSpPr>
        <p:spPr>
          <a:xfrm>
            <a:off x="610171" y="2006972"/>
            <a:ext cx="3620170" cy="4229883"/>
          </a:xfrm>
          <a:prstGeom prst="roundRect">
            <a:avLst>
              <a:gd name="adj" fmla="val 1403"/>
            </a:avLst>
          </a:prstGeom>
          <a:solidFill>
            <a:srgbClr val="FFFFFF">
              <a:alpha val="100000"/>
            </a:srgbClr>
          </a:solidFill>
          <a:ln w="12700" cap="flat" cmpd="sng">
            <a:solidFill>
              <a:srgbClr val="E2E6EA">
                <a:alpha val="100000"/>
              </a:srgbClr>
            </a:solidFill>
            <a:prstDash val="solid"/>
            <a:miter lim="1000000"/>
          </a:ln>
        </p:spPr>
        <p:txBody>
          <a:bodyPr vert="horz" wrap="square" lIns="63511" tIns="63511" rIns="63511" bIns="63511" rtlCol="0" anchor="ctr"/>
          <a:lstStyle/>
          <a:p>
            <a:pPr algn="ctr">
              <a:defRPr/>
            </a:pPr>
          </a:p>
        </p:txBody>
      </p:sp>
      <p:sp>
        <p:nvSpPr>
          <p:cNvPr id="7" name="AutoShape 7"/>
          <p:cNvSpPr/>
          <p:nvPr>
            <p:custDataLst>
              <p:tags r:id="rId3"/>
            </p:custDataLst>
          </p:nvPr>
        </p:nvSpPr>
        <p:spPr>
          <a:xfrm>
            <a:off x="851516" y="2006972"/>
            <a:ext cx="3137481" cy="38107"/>
          </a:xfrm>
          <a:prstGeom prst="roundRect">
            <a:avLst>
              <a:gd name="adj" fmla="val 0"/>
            </a:avLst>
          </a:prstGeom>
          <a:solidFill>
            <a:srgbClr val="C00000">
              <a:alpha val="100000"/>
            </a:srgbClr>
          </a:solidFill>
          <a:ln w="25400" cap="flat" cmpd="sng">
            <a:noFill/>
            <a:prstDash val="solid"/>
            <a:round/>
          </a:ln>
        </p:spPr>
        <p:txBody>
          <a:bodyPr vert="horz" wrap="square" lIns="63511" tIns="63511" rIns="63511" bIns="63511" rtlCol="0" anchor="ctr"/>
          <a:lstStyle/>
          <a:p>
            <a:pPr algn="ctr">
              <a:defRPr/>
            </a:pPr>
          </a:p>
        </p:txBody>
      </p:sp>
      <p:sp>
        <p:nvSpPr>
          <p:cNvPr id="8" name="AutoShape 8"/>
          <p:cNvSpPr/>
          <p:nvPr>
            <p:custDataLst>
              <p:tags r:id="rId4"/>
            </p:custDataLst>
          </p:nvPr>
        </p:nvSpPr>
        <p:spPr>
          <a:xfrm>
            <a:off x="851516" y="2362637"/>
            <a:ext cx="508094" cy="533499"/>
          </a:xfrm>
          <a:prstGeom prst="ellipse">
            <a:avLst/>
          </a:prstGeom>
          <a:solidFill>
            <a:srgbClr val="00B0F0"/>
          </a:solidFill>
          <a:ln w="25400" cap="flat" cmpd="sng">
            <a:noFill/>
            <a:prstDash val="solid"/>
            <a:round/>
          </a:ln>
        </p:spPr>
        <p:txBody>
          <a:bodyPr vert="horz" wrap="square" lIns="63511" tIns="63511" rIns="63511" bIns="63511" rtlCol="0" anchor="ctr"/>
          <a:lstStyle/>
          <a:p>
            <a:pPr algn="ctr">
              <a:defRPr/>
            </a:pPr>
          </a:p>
        </p:txBody>
      </p:sp>
      <p:sp>
        <p:nvSpPr>
          <p:cNvPr id="9" name="Freeform 9"/>
          <p:cNvSpPr/>
          <p:nvPr>
            <p:custDataLst>
              <p:tags r:id="rId5"/>
            </p:custDataLst>
          </p:nvPr>
        </p:nvSpPr>
        <p:spPr>
          <a:xfrm>
            <a:off x="1003643" y="2515066"/>
            <a:ext cx="215814" cy="228148"/>
          </a:xfrm>
          <a:custGeom>
            <a:avLst/>
            <a:gdLst/>
            <a:ahLst/>
            <a:cxnLst/>
            <a:rect l="l" t="t" r="r" b="b"/>
            <a:pathLst>
              <a:path w="215774" h="228106">
                <a:moveTo>
                  <a:pt x="107887" y="0"/>
                </a:moveTo>
                <a:cubicBezTo>
                  <a:pt x="109974" y="0"/>
                  <a:pt x="111911" y="450"/>
                  <a:pt x="113720" y="1347"/>
                </a:cubicBezTo>
                <a:lnTo>
                  <a:pt x="198427" y="37048"/>
                </a:lnTo>
                <a:cubicBezTo>
                  <a:pt x="203507" y="39115"/>
                  <a:pt x="207554" y="42393"/>
                  <a:pt x="210544" y="46860"/>
                </a:cubicBezTo>
                <a:cubicBezTo>
                  <a:pt x="213816" y="51328"/>
                  <a:pt x="215473" y="56538"/>
                  <a:pt x="215473" y="62488"/>
                </a:cubicBezTo>
                <a:cubicBezTo>
                  <a:pt x="215774" y="77667"/>
                  <a:pt x="213234" y="95518"/>
                  <a:pt x="207855" y="116063"/>
                </a:cubicBezTo>
                <a:cubicBezTo>
                  <a:pt x="202474" y="136585"/>
                  <a:pt x="192747" y="156524"/>
                  <a:pt x="178714" y="175878"/>
                </a:cubicBezTo>
                <a:cubicBezTo>
                  <a:pt x="164962" y="195504"/>
                  <a:pt x="145249" y="211737"/>
                  <a:pt x="119551" y="224536"/>
                </a:cubicBezTo>
                <a:cubicBezTo>
                  <a:pt x="111761" y="228106"/>
                  <a:pt x="103991" y="228106"/>
                  <a:pt x="96223" y="224536"/>
                </a:cubicBezTo>
                <a:cubicBezTo>
                  <a:pt x="70526" y="211737"/>
                  <a:pt x="50790" y="195504"/>
                  <a:pt x="37060" y="175878"/>
                </a:cubicBezTo>
                <a:cubicBezTo>
                  <a:pt x="23006" y="156524"/>
                  <a:pt x="13299" y="136585"/>
                  <a:pt x="7920" y="116063"/>
                </a:cubicBezTo>
                <a:cubicBezTo>
                  <a:pt x="2539" y="95518"/>
                  <a:pt x="0" y="77667"/>
                  <a:pt x="301" y="62488"/>
                </a:cubicBezTo>
                <a:cubicBezTo>
                  <a:pt x="301" y="56538"/>
                  <a:pt x="1937" y="51328"/>
                  <a:pt x="5230" y="46860"/>
                </a:cubicBezTo>
                <a:cubicBezTo>
                  <a:pt x="8199" y="42393"/>
                  <a:pt x="12245" y="39115"/>
                  <a:pt x="17346" y="37048"/>
                </a:cubicBezTo>
                <a:lnTo>
                  <a:pt x="102055" y="1347"/>
                </a:lnTo>
                <a:cubicBezTo>
                  <a:pt x="103842" y="450"/>
                  <a:pt x="105778" y="0"/>
                  <a:pt x="107887" y="0"/>
                </a:cubicBezTo>
                <a:moveTo>
                  <a:pt x="107887" y="29908"/>
                </a:moveTo>
                <a:lnTo>
                  <a:pt x="107887" y="198647"/>
                </a:lnTo>
                <a:lnTo>
                  <a:pt x="107887" y="29908"/>
                </a:lnTo>
                <a:lnTo>
                  <a:pt x="107887" y="198647"/>
                </a:lnTo>
                <a:cubicBezTo>
                  <a:pt x="128203" y="188228"/>
                  <a:pt x="144193" y="174981"/>
                  <a:pt x="155858" y="158927"/>
                </a:cubicBezTo>
                <a:cubicBezTo>
                  <a:pt x="167201" y="142850"/>
                  <a:pt x="175271" y="126324"/>
                  <a:pt x="180049" y="109371"/>
                </a:cubicBezTo>
                <a:cubicBezTo>
                  <a:pt x="184525" y="92104"/>
                  <a:pt x="186785" y="76634"/>
                  <a:pt x="186785" y="62937"/>
                </a:cubicBezTo>
                <a:lnTo>
                  <a:pt x="107887" y="29908"/>
                </a:lnTo>
              </a:path>
            </a:pathLst>
          </a:custGeom>
          <a:solidFill>
            <a:srgbClr val="FFFFFF">
              <a:alpha val="100000"/>
            </a:srgbClr>
          </a:solidFill>
          <a:ln w="25400" cap="flat" cmpd="sng">
            <a:noFill/>
            <a:prstDash val="solid"/>
            <a:round/>
          </a:ln>
        </p:spPr>
        <p:txBody>
          <a:bodyPr vert="horz" wrap="square" lIns="63511" tIns="63511" rIns="63511" bIns="63511" rtlCol="0" anchor="ctr"/>
          <a:lstStyle/>
          <a:p>
            <a:pPr algn="ctr">
              <a:defRPr/>
            </a:pPr>
          </a:p>
        </p:txBody>
      </p:sp>
      <p:sp>
        <p:nvSpPr>
          <p:cNvPr id="10" name="AutoShape 10"/>
          <p:cNvSpPr/>
          <p:nvPr>
            <p:custDataLst>
              <p:tags r:id="rId6"/>
            </p:custDataLst>
          </p:nvPr>
        </p:nvSpPr>
        <p:spPr>
          <a:xfrm>
            <a:off x="1473931" y="2362637"/>
            <a:ext cx="2286423" cy="304856"/>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20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01 天然矛盾</a:t>
            </a:r>
            <a:endParaRPr lang="en-US" sz="20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1" name="AutoShape 11"/>
          <p:cNvSpPr/>
          <p:nvPr>
            <p:custDataLst>
              <p:tags r:id="rId7"/>
            </p:custDataLst>
          </p:nvPr>
        </p:nvSpPr>
        <p:spPr>
          <a:xfrm>
            <a:off x="1473931" y="2731006"/>
            <a:ext cx="2286423" cy="127024"/>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000" b="1" i="0" u="none" strike="noStrike">
                <a:solidFill>
                  <a:schemeClr val="tx1">
                    <a:alpha val="50196"/>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创造性 vs 确定性</a:t>
            </a:r>
            <a:endParaRPr lang="en-US" sz="1000" b="1" i="0" u="none" strike="noStrike">
              <a:solidFill>
                <a:schemeClr val="tx1">
                  <a:alpha val="50196"/>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2" name="AutoShape 12"/>
          <p:cNvSpPr/>
          <p:nvPr>
            <p:custDataLst>
              <p:tags r:id="rId8"/>
            </p:custDataLst>
          </p:nvPr>
        </p:nvSpPr>
        <p:spPr>
          <a:xfrm>
            <a:off x="864219" y="3289909"/>
            <a:ext cx="3137481" cy="228642"/>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600" b="1" i="0" u="none" strike="noStrike">
                <a:solidFill>
                  <a:srgbClr val="0A1F3D"/>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LLM与工业需求的本质冲突</a:t>
            </a:r>
            <a:endParaRPr lang="en-US" sz="1100"/>
          </a:p>
        </p:txBody>
      </p:sp>
      <p:sp>
        <p:nvSpPr>
          <p:cNvPr id="13" name="AutoShape 13"/>
          <p:cNvSpPr/>
          <p:nvPr>
            <p:custDataLst>
              <p:tags r:id="rId9"/>
            </p:custDataLst>
          </p:nvPr>
        </p:nvSpPr>
        <p:spPr>
          <a:xfrm>
            <a:off x="1003944" y="3721789"/>
            <a:ext cx="2997755" cy="2045079"/>
          </a:xfrm>
          <a:prstGeom prst="rect">
            <a:avLst/>
          </a:prstGeom>
          <a:noFill/>
          <a:ln w="12700" cap="flat" cmpd="sng">
            <a:noFill/>
            <a:prstDash val="solid"/>
            <a:round/>
          </a:ln>
        </p:spPr>
        <p:txBody>
          <a:bodyPr vert="horz" wrap="square" lIns="0" tIns="0" rIns="0" bIns="0" rtlCol="0" anchor="t" anchorCtr="0"/>
          <a:lstStyle>
            <a:lvl1pPr marL="355600" indent="-177800"/>
            <a:lvl2pPr marL="812800" indent="-177800"/>
            <a:lvl3pPr marL="1270000" indent="-177800"/>
            <a:lvl4pPr marL="1727200" indent="-177800"/>
            <a:lvl5pPr marL="2184400" indent="-177800"/>
            <a:lvl6pPr marL="2641600" indent="-177800"/>
            <a:lvl7pPr marL="3098800" indent="-177800"/>
            <a:lvl8pPr marL="3556000" indent="-177800"/>
            <a:lvl9pPr marL="4013200" indent="-177800"/>
          </a:lstStyle>
          <a:p>
            <a:pPr marL="177800" indent="-165100" algn="l" defTabSz="1219200">
              <a:lnSpc>
                <a:spcPct val="100000"/>
              </a:lnSpc>
              <a:buClr>
                <a:srgbClr val="0A1F3D"/>
              </a:buClr>
              <a:buFont typeface="Wingdings" panose="05000000000000000000"/>
              <a:buChar char="Ø"/>
              <a:defRPr/>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LLM基于统计概率的生成特性，无法保证输出内容的绝对准确，易出现“幻觉”与逻辑谬误。</a:t>
            </a:r>
            <a:endParaRPr lang="en-US" sz="1100"/>
          </a:p>
          <a:p>
            <a:pPr marL="177800" indent="-165100" algn="l" defTabSz="1219200">
              <a:lnSpc>
                <a:spcPct val="100000"/>
              </a:lnSpc>
              <a:buClr>
                <a:srgbClr val="0A1F3D"/>
              </a:buClr>
              <a:buFont typeface="Wingdings" panose="05000000000000000000"/>
              <a:buChar char="Ø"/>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工业领域对安全、合规与可靠性有着零容错的严苛要求，这种不确定性成为AI规模化落地的核心障碍。</a:t>
            </a:r>
            <a:endPar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4" name="AutoShape 14"/>
          <p:cNvSpPr/>
          <p:nvPr>
            <p:custDataLst>
              <p:tags r:id="rId10"/>
            </p:custDataLst>
          </p:nvPr>
        </p:nvSpPr>
        <p:spPr>
          <a:xfrm>
            <a:off x="4433579" y="2006972"/>
            <a:ext cx="3620170" cy="4229883"/>
          </a:xfrm>
          <a:prstGeom prst="roundRect">
            <a:avLst>
              <a:gd name="adj" fmla="val 1403"/>
            </a:avLst>
          </a:prstGeom>
          <a:solidFill>
            <a:srgbClr val="FFFFFF">
              <a:alpha val="100000"/>
            </a:srgbClr>
          </a:solidFill>
          <a:ln w="12700" cap="flat" cmpd="sng">
            <a:solidFill>
              <a:srgbClr val="E2E6EA">
                <a:alpha val="100000"/>
              </a:srgbClr>
            </a:solidFill>
            <a:prstDash val="solid"/>
            <a:miter lim="1000000"/>
          </a:ln>
        </p:spPr>
        <p:txBody>
          <a:bodyPr vert="horz" wrap="square" lIns="63511" tIns="63511" rIns="63511" bIns="63511" rtlCol="0" anchor="ctr"/>
          <a:lstStyle/>
          <a:p>
            <a:pPr algn="ctr">
              <a:defRPr/>
            </a:pPr>
          </a:p>
        </p:txBody>
      </p:sp>
      <p:sp>
        <p:nvSpPr>
          <p:cNvPr id="15" name="AutoShape 15"/>
          <p:cNvSpPr/>
          <p:nvPr>
            <p:custDataLst>
              <p:tags r:id="rId11"/>
            </p:custDataLst>
          </p:nvPr>
        </p:nvSpPr>
        <p:spPr>
          <a:xfrm>
            <a:off x="4674924" y="2006972"/>
            <a:ext cx="3137481" cy="38107"/>
          </a:xfrm>
          <a:prstGeom prst="roundRect">
            <a:avLst>
              <a:gd name="adj" fmla="val 0"/>
            </a:avLst>
          </a:prstGeom>
          <a:solidFill>
            <a:srgbClr val="C00000">
              <a:alpha val="100000"/>
            </a:srgbClr>
          </a:solidFill>
          <a:ln w="25400" cap="flat" cmpd="sng">
            <a:noFill/>
            <a:prstDash val="solid"/>
            <a:round/>
          </a:ln>
        </p:spPr>
        <p:txBody>
          <a:bodyPr vert="horz" wrap="square" lIns="63511" tIns="63511" rIns="63511" bIns="63511" rtlCol="0" anchor="ctr"/>
          <a:lstStyle/>
          <a:p>
            <a:pPr algn="ctr">
              <a:defRPr/>
            </a:pPr>
          </a:p>
        </p:txBody>
      </p:sp>
      <p:sp>
        <p:nvSpPr>
          <p:cNvPr id="16" name="AutoShape 16"/>
          <p:cNvSpPr/>
          <p:nvPr>
            <p:custDataLst>
              <p:tags r:id="rId12"/>
            </p:custDataLst>
          </p:nvPr>
        </p:nvSpPr>
        <p:spPr>
          <a:xfrm>
            <a:off x="4674924" y="2362637"/>
            <a:ext cx="508094" cy="533499"/>
          </a:xfrm>
          <a:prstGeom prst="ellipse">
            <a:avLst/>
          </a:prstGeom>
          <a:solidFill>
            <a:srgbClr val="00B0F0"/>
          </a:solidFill>
          <a:ln w="25400" cap="flat" cmpd="sng">
            <a:noFill/>
            <a:prstDash val="solid"/>
            <a:round/>
          </a:ln>
        </p:spPr>
        <p:txBody>
          <a:bodyPr vert="horz" wrap="square" lIns="63511" tIns="63511" rIns="63511" bIns="63511" rtlCol="0" anchor="ctr"/>
          <a:lstStyle/>
          <a:p>
            <a:pPr algn="ctr">
              <a:defRPr/>
            </a:pPr>
          </a:p>
        </p:txBody>
      </p:sp>
      <p:sp>
        <p:nvSpPr>
          <p:cNvPr id="17" name="Freeform 17"/>
          <p:cNvSpPr/>
          <p:nvPr>
            <p:custDataLst>
              <p:tags r:id="rId13"/>
            </p:custDataLst>
          </p:nvPr>
        </p:nvSpPr>
        <p:spPr>
          <a:xfrm>
            <a:off x="4827352" y="2510238"/>
            <a:ext cx="215212" cy="234234"/>
          </a:xfrm>
          <a:custGeom>
            <a:avLst/>
            <a:gdLst/>
            <a:ahLst/>
            <a:cxnLst/>
            <a:rect l="l" t="t" r="r" b="b"/>
            <a:pathLst>
              <a:path w="215172" h="234191">
                <a:moveTo>
                  <a:pt x="39901" y="89680"/>
                </a:moveTo>
                <a:cubicBezTo>
                  <a:pt x="43473" y="77936"/>
                  <a:pt x="49155" y="67585"/>
                  <a:pt x="56924" y="58625"/>
                </a:cubicBezTo>
                <a:cubicBezTo>
                  <a:pt x="71559" y="42414"/>
                  <a:pt x="88453" y="34309"/>
                  <a:pt x="107586" y="34309"/>
                </a:cubicBezTo>
                <a:cubicBezTo>
                  <a:pt x="126696" y="34309"/>
                  <a:pt x="143591" y="42414"/>
                  <a:pt x="158247" y="58625"/>
                </a:cubicBezTo>
                <a:lnTo>
                  <a:pt x="165866" y="67428"/>
                </a:lnTo>
                <a:lnTo>
                  <a:pt x="150630" y="67428"/>
                </a:lnTo>
                <a:cubicBezTo>
                  <a:pt x="146432" y="67428"/>
                  <a:pt x="142989" y="68977"/>
                  <a:pt x="140320" y="72076"/>
                </a:cubicBezTo>
                <a:cubicBezTo>
                  <a:pt x="137608" y="75174"/>
                  <a:pt x="136274" y="79149"/>
                  <a:pt x="136274" y="83976"/>
                </a:cubicBezTo>
                <a:cubicBezTo>
                  <a:pt x="136274" y="88803"/>
                  <a:pt x="137608" y="92778"/>
                  <a:pt x="140320" y="95876"/>
                </a:cubicBezTo>
                <a:cubicBezTo>
                  <a:pt x="142989" y="98975"/>
                  <a:pt x="146432" y="100547"/>
                  <a:pt x="150630" y="100547"/>
                </a:cubicBezTo>
                <a:lnTo>
                  <a:pt x="200817" y="100547"/>
                </a:lnTo>
                <a:cubicBezTo>
                  <a:pt x="200817" y="100547"/>
                  <a:pt x="200817" y="100547"/>
                  <a:pt x="200817" y="100547"/>
                </a:cubicBezTo>
                <a:cubicBezTo>
                  <a:pt x="200817" y="100547"/>
                  <a:pt x="200817" y="100547"/>
                  <a:pt x="200817" y="100547"/>
                </a:cubicBezTo>
                <a:cubicBezTo>
                  <a:pt x="204992" y="100547"/>
                  <a:pt x="208436" y="98975"/>
                  <a:pt x="211148" y="95876"/>
                </a:cubicBezTo>
                <a:cubicBezTo>
                  <a:pt x="213816" y="92778"/>
                  <a:pt x="215172" y="88803"/>
                  <a:pt x="215172" y="83976"/>
                </a:cubicBezTo>
                <a:lnTo>
                  <a:pt x="215172" y="26046"/>
                </a:lnTo>
                <a:cubicBezTo>
                  <a:pt x="215172" y="21196"/>
                  <a:pt x="213816" y="17244"/>
                  <a:pt x="211148" y="14145"/>
                </a:cubicBezTo>
                <a:cubicBezTo>
                  <a:pt x="208436" y="11025"/>
                  <a:pt x="204992" y="9475"/>
                  <a:pt x="200817" y="9475"/>
                </a:cubicBezTo>
                <a:cubicBezTo>
                  <a:pt x="196642" y="9475"/>
                  <a:pt x="193199" y="11025"/>
                  <a:pt x="190509" y="14145"/>
                </a:cubicBezTo>
                <a:cubicBezTo>
                  <a:pt x="187818" y="17244"/>
                  <a:pt x="186484" y="21196"/>
                  <a:pt x="186484" y="26046"/>
                </a:cubicBezTo>
                <a:lnTo>
                  <a:pt x="186484" y="44144"/>
                </a:lnTo>
                <a:lnTo>
                  <a:pt x="178413" y="35341"/>
                </a:lnTo>
                <a:cubicBezTo>
                  <a:pt x="165264" y="20162"/>
                  <a:pt x="150178" y="9991"/>
                  <a:pt x="133132" y="4827"/>
                </a:cubicBezTo>
                <a:cubicBezTo>
                  <a:pt x="116087" y="0"/>
                  <a:pt x="99064" y="0"/>
                  <a:pt x="82039" y="4827"/>
                </a:cubicBezTo>
                <a:cubicBezTo>
                  <a:pt x="64995" y="9991"/>
                  <a:pt x="49887" y="20162"/>
                  <a:pt x="36759" y="35341"/>
                </a:cubicBezTo>
                <a:cubicBezTo>
                  <a:pt x="25697" y="48095"/>
                  <a:pt x="17776" y="62420"/>
                  <a:pt x="12998" y="78295"/>
                </a:cubicBezTo>
                <a:cubicBezTo>
                  <a:pt x="11793" y="82763"/>
                  <a:pt x="11944" y="87075"/>
                  <a:pt x="13451" y="91229"/>
                </a:cubicBezTo>
                <a:cubicBezTo>
                  <a:pt x="15237" y="95001"/>
                  <a:pt x="17927" y="97763"/>
                  <a:pt x="21521" y="99514"/>
                </a:cubicBezTo>
                <a:cubicBezTo>
                  <a:pt x="25395" y="100883"/>
                  <a:pt x="29140" y="100704"/>
                  <a:pt x="32734" y="98997"/>
                </a:cubicBezTo>
                <a:cubicBezTo>
                  <a:pt x="36006" y="96910"/>
                  <a:pt x="38395" y="93811"/>
                  <a:pt x="39901" y="89680"/>
                </a:cubicBezTo>
                <a:moveTo>
                  <a:pt x="10309" y="134160"/>
                </a:moveTo>
                <a:cubicBezTo>
                  <a:pt x="7898" y="135193"/>
                  <a:pt x="5810" y="136742"/>
                  <a:pt x="4025" y="138830"/>
                </a:cubicBezTo>
                <a:cubicBezTo>
                  <a:pt x="2216" y="140896"/>
                  <a:pt x="1033" y="143299"/>
                  <a:pt x="452" y="146060"/>
                </a:cubicBezTo>
                <a:cubicBezTo>
                  <a:pt x="452" y="146396"/>
                  <a:pt x="301" y="146913"/>
                  <a:pt x="0" y="147609"/>
                </a:cubicBezTo>
                <a:cubicBezTo>
                  <a:pt x="0" y="148642"/>
                  <a:pt x="0" y="149518"/>
                  <a:pt x="0" y="150214"/>
                </a:cubicBezTo>
                <a:lnTo>
                  <a:pt x="0" y="208144"/>
                </a:lnTo>
                <a:cubicBezTo>
                  <a:pt x="0" y="212972"/>
                  <a:pt x="1335" y="216946"/>
                  <a:pt x="4025" y="220045"/>
                </a:cubicBezTo>
                <a:cubicBezTo>
                  <a:pt x="6714" y="223144"/>
                  <a:pt x="10159" y="224715"/>
                  <a:pt x="14355" y="224715"/>
                </a:cubicBezTo>
                <a:cubicBezTo>
                  <a:pt x="18531" y="224715"/>
                  <a:pt x="21952" y="223144"/>
                  <a:pt x="24663" y="220045"/>
                </a:cubicBezTo>
                <a:cubicBezTo>
                  <a:pt x="27333" y="216946"/>
                  <a:pt x="28688" y="212972"/>
                  <a:pt x="28688" y="208144"/>
                </a:cubicBezTo>
                <a:lnTo>
                  <a:pt x="28688" y="190046"/>
                </a:lnTo>
                <a:lnTo>
                  <a:pt x="36759" y="198849"/>
                </a:lnTo>
                <a:cubicBezTo>
                  <a:pt x="49887" y="214005"/>
                  <a:pt x="64995" y="224176"/>
                  <a:pt x="82039" y="229363"/>
                </a:cubicBezTo>
                <a:cubicBezTo>
                  <a:pt x="99064" y="234190"/>
                  <a:pt x="116087" y="234190"/>
                  <a:pt x="133132" y="229363"/>
                </a:cubicBezTo>
                <a:cubicBezTo>
                  <a:pt x="150178" y="224176"/>
                  <a:pt x="165264" y="214005"/>
                  <a:pt x="178413" y="198849"/>
                </a:cubicBezTo>
                <a:cubicBezTo>
                  <a:pt x="189475" y="186073"/>
                  <a:pt x="197395" y="171747"/>
                  <a:pt x="202173" y="155895"/>
                </a:cubicBezTo>
                <a:cubicBezTo>
                  <a:pt x="203356" y="151404"/>
                  <a:pt x="203206" y="147092"/>
                  <a:pt x="201720" y="142961"/>
                </a:cubicBezTo>
                <a:cubicBezTo>
                  <a:pt x="199913" y="139166"/>
                  <a:pt x="197223" y="136405"/>
                  <a:pt x="193651" y="134676"/>
                </a:cubicBezTo>
                <a:cubicBezTo>
                  <a:pt x="189755" y="133284"/>
                  <a:pt x="186011" y="133464"/>
                  <a:pt x="182438" y="135193"/>
                </a:cubicBezTo>
                <a:cubicBezTo>
                  <a:pt x="179145" y="137259"/>
                  <a:pt x="176756" y="140379"/>
                  <a:pt x="175271" y="144510"/>
                </a:cubicBezTo>
                <a:cubicBezTo>
                  <a:pt x="171677" y="156231"/>
                  <a:pt x="165995" y="166583"/>
                  <a:pt x="158247" y="175565"/>
                </a:cubicBezTo>
                <a:cubicBezTo>
                  <a:pt x="143591" y="191776"/>
                  <a:pt x="126696" y="199881"/>
                  <a:pt x="107586" y="199881"/>
                </a:cubicBezTo>
                <a:cubicBezTo>
                  <a:pt x="88453" y="199881"/>
                  <a:pt x="71559" y="191776"/>
                  <a:pt x="56924" y="175565"/>
                </a:cubicBezTo>
                <a:lnTo>
                  <a:pt x="49305" y="166762"/>
                </a:lnTo>
                <a:lnTo>
                  <a:pt x="64543" y="166762"/>
                </a:lnTo>
                <a:cubicBezTo>
                  <a:pt x="68718" y="166762"/>
                  <a:pt x="72161" y="165213"/>
                  <a:pt x="74851" y="162114"/>
                </a:cubicBezTo>
                <a:cubicBezTo>
                  <a:pt x="77542" y="158994"/>
                  <a:pt x="78897" y="155020"/>
                  <a:pt x="78897" y="150214"/>
                </a:cubicBezTo>
                <a:cubicBezTo>
                  <a:pt x="78897" y="145364"/>
                  <a:pt x="77542" y="141412"/>
                  <a:pt x="74851" y="138314"/>
                </a:cubicBezTo>
                <a:cubicBezTo>
                  <a:pt x="72161" y="135193"/>
                  <a:pt x="68718" y="133643"/>
                  <a:pt x="64543" y="133643"/>
                </a:cubicBezTo>
                <a:lnTo>
                  <a:pt x="14355" y="133643"/>
                </a:lnTo>
                <a:cubicBezTo>
                  <a:pt x="13753" y="133643"/>
                  <a:pt x="13150" y="133643"/>
                  <a:pt x="12548" y="133643"/>
                </a:cubicBezTo>
                <a:cubicBezTo>
                  <a:pt x="11643" y="133980"/>
                  <a:pt x="10912" y="134160"/>
                  <a:pt x="10309" y="134160"/>
                </a:cubicBezTo>
              </a:path>
            </a:pathLst>
          </a:custGeom>
          <a:solidFill>
            <a:srgbClr val="FFFFFF">
              <a:alpha val="100000"/>
            </a:srgbClr>
          </a:solidFill>
          <a:ln w="25400" cap="flat" cmpd="sng">
            <a:noFill/>
            <a:prstDash val="solid"/>
            <a:round/>
          </a:ln>
        </p:spPr>
        <p:txBody>
          <a:bodyPr vert="horz" wrap="square" lIns="63511" tIns="63511" rIns="63511" bIns="63511" rtlCol="0" anchor="ctr"/>
          <a:lstStyle/>
          <a:p>
            <a:pPr algn="ctr">
              <a:defRPr/>
            </a:pPr>
          </a:p>
        </p:txBody>
      </p:sp>
      <p:sp>
        <p:nvSpPr>
          <p:cNvPr id="18" name="AutoShape 18"/>
          <p:cNvSpPr/>
          <p:nvPr>
            <p:custDataLst>
              <p:tags r:id="rId14"/>
            </p:custDataLst>
          </p:nvPr>
        </p:nvSpPr>
        <p:spPr>
          <a:xfrm>
            <a:off x="5297339" y="2362637"/>
            <a:ext cx="2286423" cy="304856"/>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20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02 事实基石</a:t>
            </a:r>
            <a:endParaRPr lang="en-US" sz="20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9" name="AutoShape 19"/>
          <p:cNvSpPr/>
          <p:nvPr>
            <p:custDataLst>
              <p:tags r:id="rId15"/>
            </p:custDataLst>
          </p:nvPr>
        </p:nvSpPr>
        <p:spPr>
          <a:xfrm>
            <a:off x="5297339" y="2731006"/>
            <a:ext cx="2286423" cy="127024"/>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000" b="1" i="0" u="none" strike="noStrike">
                <a:solidFill>
                  <a:schemeClr val="tx1">
                    <a:alpha val="50196"/>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本体构建可信底座</a:t>
            </a:r>
            <a:endParaRPr lang="en-US" sz="1000" b="1" i="0" u="none" strike="noStrike">
              <a:solidFill>
                <a:schemeClr val="tx1">
                  <a:alpha val="50196"/>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0" name="AutoShape 20"/>
          <p:cNvSpPr/>
          <p:nvPr>
            <p:custDataLst>
              <p:tags r:id="rId16"/>
            </p:custDataLst>
          </p:nvPr>
        </p:nvSpPr>
        <p:spPr>
          <a:xfrm>
            <a:off x="4687626" y="3289909"/>
            <a:ext cx="3137481" cy="228642"/>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600" b="1" i="0" u="none" strike="noStrike">
                <a:solidFill>
                  <a:srgbClr val="0A1F3D"/>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本体：工业AI的稳定知识锚点</a:t>
            </a:r>
            <a:endParaRPr lang="en-US" sz="1100"/>
          </a:p>
        </p:txBody>
      </p:sp>
      <p:sp>
        <p:nvSpPr>
          <p:cNvPr id="21" name="AutoShape 21"/>
          <p:cNvSpPr/>
          <p:nvPr>
            <p:custDataLst>
              <p:tags r:id="rId17"/>
            </p:custDataLst>
          </p:nvPr>
        </p:nvSpPr>
        <p:spPr>
          <a:xfrm>
            <a:off x="4649519" y="3721789"/>
            <a:ext cx="2997755" cy="1600496"/>
          </a:xfrm>
          <a:prstGeom prst="rect">
            <a:avLst/>
          </a:prstGeom>
          <a:noFill/>
          <a:ln w="12700" cap="flat" cmpd="sng">
            <a:noFill/>
            <a:prstDash val="solid"/>
            <a:round/>
          </a:ln>
        </p:spPr>
        <p:txBody>
          <a:bodyPr vert="horz" wrap="square" lIns="0" tIns="0" rIns="0" bIns="0" rtlCol="0" anchor="t" anchorCtr="0"/>
          <a:lstStyle>
            <a:lvl1pPr marL="355600" indent="-177800"/>
            <a:lvl2pPr marL="812800" indent="-177800"/>
            <a:lvl3pPr marL="1270000" indent="-177800"/>
            <a:lvl4pPr marL="1727200" indent="-177800"/>
            <a:lvl5pPr marL="2184400" indent="-177800"/>
            <a:lvl6pPr marL="2641600" indent="-177800"/>
            <a:lvl7pPr marL="3098800" indent="-177800"/>
            <a:lvl8pPr marL="3556000" indent="-177800"/>
            <a:lvl9pPr marL="4013200" indent="-177800"/>
          </a:lstStyle>
          <a:p>
            <a:pPr marL="177800" indent="-165100" algn="l" defTabSz="1219200">
              <a:lnSpc>
                <a:spcPct val="100000"/>
              </a:lnSpc>
              <a:buClr>
                <a:srgbClr val="0A1F3D"/>
              </a:buClr>
              <a:buFont typeface="Wingdings" panose="05000000000000000000"/>
              <a:buChar char="Ø"/>
              <a:defRPr/>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通过构建与现实世界精准映射的数字孪生本体，为AI提供形式化、可执行的事实基础。</a:t>
            </a:r>
            <a:endParaRPr lang="en-US" sz="1100"/>
          </a:p>
          <a:p>
            <a:pPr marL="177800" indent="-165100" algn="l" defTabSz="1219200">
              <a:lnSpc>
                <a:spcPct val="100000"/>
              </a:lnSpc>
              <a:buClr>
                <a:srgbClr val="0A1F3D"/>
              </a:buClr>
              <a:buFont typeface="Wingdings" panose="05000000000000000000"/>
              <a:buChar char="Ø"/>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从根本上杜绝模型幻觉，确保推理过程的可追溯性与结果的绝对可信，是满足工业场景合规性的关键。</a:t>
            </a:r>
            <a:endPar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2" name="AutoShape 22"/>
          <p:cNvSpPr/>
          <p:nvPr>
            <p:custDataLst>
              <p:tags r:id="rId18"/>
            </p:custDataLst>
          </p:nvPr>
        </p:nvSpPr>
        <p:spPr>
          <a:xfrm>
            <a:off x="8256987" y="2006972"/>
            <a:ext cx="3620170" cy="4229883"/>
          </a:xfrm>
          <a:prstGeom prst="roundRect">
            <a:avLst>
              <a:gd name="adj" fmla="val 1403"/>
            </a:avLst>
          </a:prstGeom>
          <a:solidFill>
            <a:srgbClr val="FFFFFF">
              <a:alpha val="100000"/>
            </a:srgbClr>
          </a:solidFill>
          <a:ln w="12700" cap="flat" cmpd="sng">
            <a:solidFill>
              <a:srgbClr val="E2E6EA">
                <a:alpha val="100000"/>
              </a:srgbClr>
            </a:solidFill>
            <a:prstDash val="solid"/>
            <a:miter lim="1000000"/>
          </a:ln>
        </p:spPr>
        <p:txBody>
          <a:bodyPr vert="horz" wrap="square" lIns="63511" tIns="63511" rIns="63511" bIns="63511" rtlCol="0" anchor="ctr"/>
          <a:lstStyle/>
          <a:p>
            <a:pPr algn="ctr">
              <a:defRPr/>
            </a:pPr>
          </a:p>
        </p:txBody>
      </p:sp>
      <p:sp>
        <p:nvSpPr>
          <p:cNvPr id="23" name="AutoShape 23"/>
          <p:cNvSpPr/>
          <p:nvPr>
            <p:custDataLst>
              <p:tags r:id="rId19"/>
            </p:custDataLst>
          </p:nvPr>
        </p:nvSpPr>
        <p:spPr>
          <a:xfrm>
            <a:off x="8498332" y="2006972"/>
            <a:ext cx="3137481" cy="38107"/>
          </a:xfrm>
          <a:prstGeom prst="roundRect">
            <a:avLst>
              <a:gd name="adj" fmla="val 0"/>
            </a:avLst>
          </a:prstGeom>
          <a:solidFill>
            <a:srgbClr val="C00000">
              <a:alpha val="100000"/>
            </a:srgbClr>
          </a:solidFill>
          <a:ln w="25400" cap="flat" cmpd="sng">
            <a:noFill/>
            <a:prstDash val="solid"/>
            <a:round/>
          </a:ln>
        </p:spPr>
        <p:txBody>
          <a:bodyPr vert="horz" wrap="square" lIns="63511" tIns="63511" rIns="63511" bIns="63511" rtlCol="0" anchor="ctr"/>
          <a:lstStyle/>
          <a:p>
            <a:pPr algn="ctr">
              <a:defRPr/>
            </a:pPr>
          </a:p>
        </p:txBody>
      </p:sp>
      <p:sp>
        <p:nvSpPr>
          <p:cNvPr id="24" name="AutoShape 24"/>
          <p:cNvSpPr/>
          <p:nvPr>
            <p:custDataLst>
              <p:tags r:id="rId20"/>
            </p:custDataLst>
          </p:nvPr>
        </p:nvSpPr>
        <p:spPr>
          <a:xfrm>
            <a:off x="8498332" y="2362637"/>
            <a:ext cx="508094" cy="533499"/>
          </a:xfrm>
          <a:prstGeom prst="ellipse">
            <a:avLst/>
          </a:prstGeom>
          <a:solidFill>
            <a:srgbClr val="00B0F0"/>
          </a:solidFill>
          <a:ln w="25400" cap="flat" cmpd="sng">
            <a:noFill/>
            <a:prstDash val="solid"/>
            <a:round/>
          </a:ln>
        </p:spPr>
        <p:txBody>
          <a:bodyPr vert="horz" wrap="square" lIns="63511" tIns="63511" rIns="63511" bIns="63511" rtlCol="0" anchor="ctr"/>
          <a:lstStyle/>
          <a:p>
            <a:pPr algn="ctr">
              <a:defRPr/>
            </a:pPr>
          </a:p>
        </p:txBody>
      </p:sp>
      <p:sp>
        <p:nvSpPr>
          <p:cNvPr id="25" name="Freeform 25"/>
          <p:cNvSpPr/>
          <p:nvPr>
            <p:custDataLst>
              <p:tags r:id="rId21"/>
            </p:custDataLst>
          </p:nvPr>
        </p:nvSpPr>
        <p:spPr>
          <a:xfrm>
            <a:off x="8636379" y="2514190"/>
            <a:ext cx="217731" cy="227206"/>
          </a:xfrm>
          <a:custGeom>
            <a:avLst/>
            <a:gdLst/>
            <a:ahLst/>
            <a:cxnLst/>
            <a:rect l="l" t="t" r="r" b="b"/>
            <a:pathLst>
              <a:path w="217691" h="227164">
                <a:moveTo>
                  <a:pt x="66911" y="170603"/>
                </a:moveTo>
                <a:lnTo>
                  <a:pt x="53782" y="156906"/>
                </a:lnTo>
                <a:lnTo>
                  <a:pt x="66911" y="170603"/>
                </a:lnTo>
                <a:lnTo>
                  <a:pt x="53782" y="156906"/>
                </a:lnTo>
                <a:cubicBezTo>
                  <a:pt x="50103" y="152774"/>
                  <a:pt x="48962" y="148059"/>
                  <a:pt x="50382" y="142760"/>
                </a:cubicBezTo>
                <a:cubicBezTo>
                  <a:pt x="51802" y="138629"/>
                  <a:pt x="53481" y="133621"/>
                  <a:pt x="55461" y="127739"/>
                </a:cubicBezTo>
                <a:lnTo>
                  <a:pt x="10568" y="127739"/>
                </a:lnTo>
                <a:cubicBezTo>
                  <a:pt x="6608" y="127739"/>
                  <a:pt x="3659" y="125965"/>
                  <a:pt x="1679" y="122418"/>
                </a:cubicBezTo>
                <a:cubicBezTo>
                  <a:pt x="0" y="118869"/>
                  <a:pt x="0" y="115345"/>
                  <a:pt x="1679" y="111819"/>
                </a:cubicBezTo>
                <a:lnTo>
                  <a:pt x="24126" y="72481"/>
                </a:lnTo>
                <a:cubicBezTo>
                  <a:pt x="30044" y="62466"/>
                  <a:pt x="38804" y="57302"/>
                  <a:pt x="50382" y="57010"/>
                </a:cubicBezTo>
                <a:lnTo>
                  <a:pt x="85118" y="57010"/>
                </a:lnTo>
                <a:cubicBezTo>
                  <a:pt x="86237" y="55236"/>
                  <a:pt x="87227" y="53619"/>
                  <a:pt x="88087" y="52137"/>
                </a:cubicBezTo>
                <a:cubicBezTo>
                  <a:pt x="99947" y="34445"/>
                  <a:pt x="112945" y="21780"/>
                  <a:pt x="127064" y="14146"/>
                </a:cubicBezTo>
                <a:cubicBezTo>
                  <a:pt x="141181" y="6467"/>
                  <a:pt x="155148" y="2043"/>
                  <a:pt x="168988" y="876"/>
                </a:cubicBezTo>
                <a:cubicBezTo>
                  <a:pt x="182804" y="0"/>
                  <a:pt x="194964" y="584"/>
                  <a:pt x="205423" y="2650"/>
                </a:cubicBezTo>
                <a:cubicBezTo>
                  <a:pt x="210503" y="4109"/>
                  <a:pt x="213731" y="7500"/>
                  <a:pt x="215151" y="12799"/>
                </a:cubicBezTo>
                <a:cubicBezTo>
                  <a:pt x="217131" y="23712"/>
                  <a:pt x="217691" y="36375"/>
                  <a:pt x="216851" y="50812"/>
                </a:cubicBezTo>
                <a:cubicBezTo>
                  <a:pt x="215711" y="65251"/>
                  <a:pt x="211470" y="79846"/>
                  <a:pt x="204154" y="94575"/>
                </a:cubicBezTo>
                <a:cubicBezTo>
                  <a:pt x="196793" y="109305"/>
                  <a:pt x="184654" y="122844"/>
                  <a:pt x="167718" y="135238"/>
                </a:cubicBezTo>
                <a:cubicBezTo>
                  <a:pt x="166296" y="136114"/>
                  <a:pt x="164747" y="137147"/>
                  <a:pt x="163069" y="138337"/>
                </a:cubicBezTo>
                <a:lnTo>
                  <a:pt x="163069" y="174576"/>
                </a:lnTo>
                <a:cubicBezTo>
                  <a:pt x="162767" y="186657"/>
                  <a:pt x="157839" y="195796"/>
                  <a:pt x="148241" y="201993"/>
                </a:cubicBezTo>
                <a:lnTo>
                  <a:pt x="110535" y="225412"/>
                </a:lnTo>
                <a:cubicBezTo>
                  <a:pt x="107135" y="227163"/>
                  <a:pt x="103755" y="227163"/>
                  <a:pt x="100377" y="225412"/>
                </a:cubicBezTo>
                <a:cubicBezTo>
                  <a:pt x="96976" y="223346"/>
                  <a:pt x="95297" y="220248"/>
                  <a:pt x="95297" y="216138"/>
                </a:cubicBezTo>
                <a:lnTo>
                  <a:pt x="95297" y="168828"/>
                </a:lnTo>
                <a:cubicBezTo>
                  <a:pt x="89357" y="170895"/>
                  <a:pt x="84257" y="172669"/>
                  <a:pt x="80039" y="174151"/>
                </a:cubicBezTo>
                <a:cubicBezTo>
                  <a:pt x="74959" y="175610"/>
                  <a:pt x="70569" y="174420"/>
                  <a:pt x="66911" y="170603"/>
                </a:cubicBezTo>
                <a:moveTo>
                  <a:pt x="163069" y="74681"/>
                </a:moveTo>
                <a:cubicBezTo>
                  <a:pt x="169546" y="74389"/>
                  <a:pt x="174475" y="71447"/>
                  <a:pt x="177875" y="65857"/>
                </a:cubicBezTo>
                <a:cubicBezTo>
                  <a:pt x="180694" y="59951"/>
                  <a:pt x="180694" y="54046"/>
                  <a:pt x="177875" y="48163"/>
                </a:cubicBezTo>
                <a:cubicBezTo>
                  <a:pt x="174475" y="42550"/>
                  <a:pt x="169546" y="39608"/>
                  <a:pt x="163069" y="39339"/>
                </a:cubicBezTo>
                <a:cubicBezTo>
                  <a:pt x="156569" y="39608"/>
                  <a:pt x="151619" y="42550"/>
                  <a:pt x="148241" y="48163"/>
                </a:cubicBezTo>
                <a:cubicBezTo>
                  <a:pt x="145400" y="54046"/>
                  <a:pt x="145400" y="59951"/>
                  <a:pt x="148241" y="65857"/>
                </a:cubicBezTo>
                <a:cubicBezTo>
                  <a:pt x="151619" y="71447"/>
                  <a:pt x="156569" y="74389"/>
                  <a:pt x="163069" y="74681"/>
                </a:cubicBezTo>
              </a:path>
            </a:pathLst>
          </a:custGeom>
          <a:solidFill>
            <a:srgbClr val="FFFFFF">
              <a:alpha val="100000"/>
            </a:srgbClr>
          </a:solidFill>
          <a:ln w="25400" cap="flat" cmpd="sng">
            <a:noFill/>
            <a:prstDash val="solid"/>
            <a:round/>
          </a:ln>
        </p:spPr>
        <p:txBody>
          <a:bodyPr vert="horz" wrap="square" lIns="63511" tIns="63511" rIns="63511" bIns="63511" rtlCol="0" anchor="ctr"/>
          <a:lstStyle/>
          <a:p>
            <a:pPr algn="ctr">
              <a:defRPr/>
            </a:pPr>
          </a:p>
        </p:txBody>
      </p:sp>
      <p:sp>
        <p:nvSpPr>
          <p:cNvPr id="26" name="AutoShape 26"/>
          <p:cNvSpPr/>
          <p:nvPr>
            <p:custDataLst>
              <p:tags r:id="rId22"/>
            </p:custDataLst>
          </p:nvPr>
        </p:nvSpPr>
        <p:spPr>
          <a:xfrm>
            <a:off x="9120747" y="2362637"/>
            <a:ext cx="2286423" cy="304856"/>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20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03 未来方向</a:t>
            </a:r>
            <a:endParaRPr lang="en-US" sz="2000" b="1" i="0" u="none" strike="noStrike">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7" name="AutoShape 27"/>
          <p:cNvSpPr/>
          <p:nvPr>
            <p:custDataLst>
              <p:tags r:id="rId23"/>
            </p:custDataLst>
          </p:nvPr>
        </p:nvSpPr>
        <p:spPr>
          <a:xfrm>
            <a:off x="9120747" y="2731006"/>
            <a:ext cx="2286423" cy="127024"/>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000" b="1" i="0" u="none" strike="noStrike">
                <a:solidFill>
                  <a:schemeClr val="tx1">
                    <a:alpha val="50196"/>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神经符号架构融合</a:t>
            </a:r>
            <a:endParaRPr lang="en-US" sz="1000" b="1" i="0" u="none" strike="noStrike">
              <a:solidFill>
                <a:schemeClr val="tx1">
                  <a:alpha val="50196"/>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8" name="AutoShape 28"/>
          <p:cNvSpPr/>
          <p:nvPr>
            <p:custDataLst>
              <p:tags r:id="rId24"/>
            </p:custDataLst>
          </p:nvPr>
        </p:nvSpPr>
        <p:spPr>
          <a:xfrm>
            <a:off x="8511034" y="3289909"/>
            <a:ext cx="3137481" cy="228642"/>
          </a:xfrm>
          <a:prstGeom prst="rect">
            <a:avLst/>
          </a:prstGeom>
          <a:noFill/>
          <a:ln w="12700" cap="flat" cmpd="sng">
            <a:noFill/>
            <a:prstDash val="solid"/>
            <a:round/>
          </a:ln>
        </p:spPr>
        <p:txBody>
          <a:bodyPr vert="horz" wrap="none" lIns="0" tIns="0" rIns="0" bIns="0" rtlCol="0" anchor="t" anchorCtr="0"/>
          <a:lstStyle/>
          <a:p>
            <a:pPr marL="0" indent="0" algn="l" defTabSz="1219200">
              <a:lnSpc>
                <a:spcPct val="100000"/>
              </a:lnSpc>
              <a:defRPr/>
            </a:pPr>
            <a:r>
              <a:rPr lang="en-US" sz="1600" b="1" i="0" u="none" strike="noStrike">
                <a:solidFill>
                  <a:srgbClr val="0A1F3D"/>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融合架构开启下一代AI</a:t>
            </a:r>
            <a:endParaRPr lang="en-US" sz="1100"/>
          </a:p>
        </p:txBody>
      </p:sp>
      <p:sp>
        <p:nvSpPr>
          <p:cNvPr id="29" name="AutoShape 29"/>
          <p:cNvSpPr/>
          <p:nvPr>
            <p:custDataLst>
              <p:tags r:id="rId25"/>
            </p:custDataLst>
          </p:nvPr>
        </p:nvSpPr>
        <p:spPr>
          <a:xfrm>
            <a:off x="8472927" y="3721789"/>
            <a:ext cx="2997755" cy="1918055"/>
          </a:xfrm>
          <a:prstGeom prst="rect">
            <a:avLst/>
          </a:prstGeom>
          <a:noFill/>
          <a:ln w="12700" cap="flat" cmpd="sng">
            <a:noFill/>
            <a:prstDash val="solid"/>
            <a:round/>
          </a:ln>
        </p:spPr>
        <p:txBody>
          <a:bodyPr vert="horz" wrap="square" lIns="0" tIns="0" rIns="0" bIns="0" rtlCol="0" anchor="t" anchorCtr="0"/>
          <a:lstStyle>
            <a:lvl1pPr marL="469900" indent="-177800"/>
            <a:lvl2pPr marL="927100" indent="-177800"/>
            <a:lvl3pPr marL="1384300" indent="-177800"/>
            <a:lvl4pPr marL="1841500" indent="-177800"/>
            <a:lvl5pPr marL="2298700" indent="-177800"/>
            <a:lvl6pPr marL="2755900" indent="-177800"/>
            <a:lvl7pPr marL="3213100" indent="-177800"/>
            <a:lvl8pPr marL="3670300" indent="-177800"/>
            <a:lvl9pPr marL="4127500" indent="-177800"/>
          </a:lstStyle>
          <a:p>
            <a:pPr marL="292100" indent="-279400" algn="l" defTabSz="1219200">
              <a:lnSpc>
                <a:spcPct val="100000"/>
              </a:lnSpc>
              <a:buClr>
                <a:srgbClr val="0A1F3D"/>
              </a:buClr>
              <a:buFont typeface="Wingdings" panose="05000000000000000000"/>
              <a:buChar char="Ø"/>
              <a:defRPr/>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结合本体的符号推理能力与LLM的自然语言理解能力，形成“符号+神经”的优势互补架构。</a:t>
            </a:r>
            <a:endParaRPr lang="en-US" sz="1100"/>
          </a:p>
          <a:p>
            <a:pPr marL="292100" indent="-279400" algn="l" defTabSz="1219200">
              <a:lnSpc>
                <a:spcPct val="100000"/>
              </a:lnSpc>
              <a:buClr>
                <a:srgbClr val="0A1F3D"/>
              </a:buClr>
              <a:buFont typeface="Wingdings" panose="05000000000000000000"/>
              <a:buChar char="Ø"/>
            </a:pPr>
            <a:r>
              <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既保留大模型的灵活性与交互能力，又具备本体的严谨性与可解释性，是构建可靠企业级AI的必由之路。</a:t>
            </a:r>
            <a:endParaRPr lang="en-US" sz="1400" b="0" i="0" u="none"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0" name="AutoShape 30"/>
          <p:cNvSpPr/>
          <p:nvPr/>
        </p:nvSpPr>
        <p:spPr>
          <a:xfrm>
            <a:off x="813409" y="1168616"/>
            <a:ext cx="10873213" cy="406475"/>
          </a:xfrm>
          <a:prstGeom prst="rect">
            <a:avLst/>
          </a:prstGeom>
          <a:noFill/>
          <a:ln w="12700" cap="flat" cmpd="sng">
            <a:noFill/>
            <a:prstDash val="solid"/>
            <a:round/>
          </a:ln>
        </p:spPr>
        <p:txBody>
          <a:bodyPr vert="horz" wrap="square" lIns="0" tIns="0" rIns="0" bIns="0" rtlCol="0" anchor="t" anchorCtr="0"/>
          <a:lstStyle/>
          <a:p>
            <a:pPr marL="0" indent="0" algn="l" defTabSz="1219200">
              <a:lnSpc>
                <a:spcPct val="100000"/>
              </a:lnSpc>
              <a:defRPr/>
            </a:pPr>
            <a:r>
              <a:rPr lang="en-US" sz="1600" b="0" i="1" u="none" strike="noStrike">
                <a:solidFill>
                  <a:srgbClr val="0A1F3D">
                    <a:alpha val="81961"/>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深入剖析工业AI落地的核心挑战与解决路径，从LLM与工业需求的本质矛盾出发，探索本体技术作为事实基石的关键作用，最终指向神经符号融合的未来架构方向。</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1016647" y="2540470"/>
            <a:ext cx="10161881" cy="1270235"/>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3600" b="1" i="0" u="none" strike="noStrike">
                <a:solidFill>
                  <a:srgbClr val="C0000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一张经方是怎么开出来的？</a:t>
            </a:r>
            <a:endParaRPr lang="en-US" sz="3600" b="1" i="0" u="none" strike="noStrike">
              <a:solidFill>
                <a:srgbClr val="C00000"/>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5" name="AutoShape 5"/>
          <p:cNvSpPr/>
          <p:nvPr/>
        </p:nvSpPr>
        <p:spPr>
          <a:xfrm>
            <a:off x="1016647" y="4572847"/>
            <a:ext cx="8891646" cy="1016188"/>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600" b="0" i="0" u="none" strike="noStrike">
                <a:solidFill>
                  <a:schemeClr val="tx1">
                    <a:lumMod val="50000"/>
                    <a:lumOff val="50000"/>
                  </a:schemeClr>
                </a:solidFill>
                <a:latin typeface="Kaiti SC"/>
                <a:ea typeface="Kaiti SC"/>
                <a:cs typeface="Kaiti SC"/>
                <a:sym typeface="Kaiti SC"/>
              </a:rPr>
              <a:t>困惑锚点：把脉真的能把出所有病吗？</a:t>
            </a:r>
            <a:endParaRPr lang="en-US" sz="1100">
              <a:solidFill>
                <a:schemeClr val="tx1">
                  <a:lumMod val="50000"/>
                  <a:lumOff val="50000"/>
                </a:schemeClr>
              </a:solidFill>
            </a:endParaRPr>
          </a:p>
          <a:p>
            <a:pPr marL="0" indent="0" algn="l">
              <a:lnSpc>
                <a:spcPct val="142000"/>
              </a:lnSpc>
            </a:pPr>
            <a:r>
              <a:rPr lang="en-US" sz="1600" b="0" i="0" u="none" strike="noStrike">
                <a:solidFill>
                  <a:schemeClr val="tx1">
                    <a:lumMod val="50000"/>
                    <a:lumOff val="50000"/>
                  </a:schemeClr>
                </a:solidFill>
                <a:latin typeface="Kaiti SC"/>
                <a:ea typeface="Kaiti SC"/>
                <a:cs typeface="Kaiti SC"/>
                <a:sym typeface="Kaiti SC"/>
              </a:rPr>
              <a:t>为什么经方家说"问诊才是四诊之首"？</a:t>
            </a:r>
            <a:endParaRPr lang="en-US" sz="1600" b="0" i="0" u="none" strike="noStrike">
              <a:solidFill>
                <a:schemeClr val="tx1">
                  <a:lumMod val="50000"/>
                  <a:lumOff val="50000"/>
                </a:schemeClr>
              </a:solidFill>
              <a:latin typeface="Kaiti SC"/>
              <a:ea typeface="Kaiti SC"/>
              <a:cs typeface="Kaiti SC"/>
              <a:sym typeface="Kaiti SC"/>
            </a:endParaRPr>
          </a:p>
          <a:p>
            <a:pPr marL="0" indent="0" algn="l">
              <a:lnSpc>
                <a:spcPct val="142000"/>
              </a:lnSpc>
            </a:pPr>
            <a:r>
              <a:rPr lang="en-US" sz="1600" b="0" i="0" u="none" strike="noStrike">
                <a:solidFill>
                  <a:schemeClr val="tx1">
                    <a:lumMod val="50000"/>
                    <a:lumOff val="50000"/>
                  </a:schemeClr>
                </a:solidFill>
                <a:latin typeface="Kaiti SC"/>
                <a:ea typeface="Kaiti SC"/>
                <a:cs typeface="Kaiti SC"/>
                <a:sym typeface="Kaiti SC"/>
              </a:rPr>
              <a:t>从病人进门到开出处方，中间到底发生了什么？</a:t>
            </a:r>
            <a:endParaRPr lang="en-US" sz="1600" b="0" i="0" u="none" strike="noStrike">
              <a:solidFill>
                <a:schemeClr val="tx1">
                  <a:lumMod val="50000"/>
                  <a:lumOff val="50000"/>
                </a:schemeClr>
              </a:solidFill>
              <a:latin typeface="Kaiti SC"/>
              <a:ea typeface="Kaiti SC"/>
              <a:cs typeface="Kaiti SC"/>
              <a:sym typeface="Kaiti SC"/>
            </a:endParaRPr>
          </a:p>
        </p:txBody>
      </p:sp>
      <p:sp>
        <p:nvSpPr>
          <p:cNvPr id="2" name="AutoShape 5"/>
          <p:cNvSpPr/>
          <p:nvPr/>
        </p:nvSpPr>
        <p:spPr>
          <a:xfrm>
            <a:off x="330720" y="0"/>
            <a:ext cx="10187286" cy="876462"/>
          </a:xfrm>
          <a:prstGeom prst="rect">
            <a:avLst/>
          </a:prstGeom>
          <a:noFill/>
          <a:ln w="12700" cap="flat" cmpd="sng">
            <a:noFill/>
            <a:prstDash val="solid"/>
            <a:round/>
          </a:ln>
        </p:spPr>
        <p:txBody>
          <a:bodyPr vert="horz" wrap="square" lIns="127023" tIns="63511" rIns="127023" bIns="63511" rtlCol="0" anchor="ctr" anchorCtr="0"/>
          <a:lstStyle/>
          <a:p>
            <a:pPr marL="0" indent="0" algn="l" defTabSz="1219200">
              <a:lnSpc>
                <a:spcPct val="100000"/>
              </a:lnSpc>
              <a:defRPr/>
            </a:pPr>
            <a:r>
              <a:rPr lang="zh-CN" altLang="en-US" sz="28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一个让无数人迷惑的难题</a:t>
            </a:r>
            <a:endParaRPr lang="zh-CN" altLang="en-US" sz="28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36562" y="189371"/>
            <a:ext cx="10161881" cy="635118"/>
          </a:xfrm>
          <a:prstGeom prst="rect">
            <a:avLst/>
          </a:prstGeom>
          <a:noFill/>
          <a:ln w="12700" cap="flat" cmpd="sng">
            <a:noFill/>
            <a:prstDash val="solid"/>
            <a:round/>
          </a:ln>
        </p:spPr>
        <p:txBody>
          <a:bodyPr vert="horz" wrap="square" lIns="127023" tIns="63511" rIns="127023" bIns="63511" rtlCol="0" anchor="ctr" anchorCtr="0">
            <a:noAutofit/>
          </a:bodyPr>
          <a:lstStyle/>
          <a:p>
            <a:pPr lvl="0" algn="l">
              <a:buClrTx/>
              <a:buSzTx/>
              <a:buFontTx/>
              <a:defRPr/>
            </a:pPr>
            <a:r>
              <a:rPr lang="en-US" sz="28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Noto Serif SC" panose="02020200000000000000" charset="-122"/>
              </a:rPr>
              <a:t>经方派：从张仲景走来的临床学派</a:t>
            </a:r>
            <a:endParaRPr lang="en-US" sz="28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Noto Serif SC" panose="02020200000000000000" charset="-122"/>
            </a:endParaRPr>
          </a:p>
        </p:txBody>
      </p:sp>
      <p:sp>
        <p:nvSpPr>
          <p:cNvPr id="4" name="AutoShape 4"/>
          <p:cNvSpPr/>
          <p:nvPr/>
        </p:nvSpPr>
        <p:spPr>
          <a:xfrm>
            <a:off x="1016647" y="2032376"/>
            <a:ext cx="4826894" cy="508094"/>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800" b="0" i="0" u="none" strike="noStrike">
                <a:solidFill>
                  <a:srgbClr val="9C5C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定义</a:t>
            </a:r>
            <a:endParaRPr lang="en-US" sz="1100"/>
          </a:p>
        </p:txBody>
      </p:sp>
      <p:sp>
        <p:nvSpPr>
          <p:cNvPr id="5" name="AutoShape 5"/>
          <p:cNvSpPr/>
          <p:nvPr/>
        </p:nvSpPr>
        <p:spPr>
          <a:xfrm>
            <a:off x="1016647" y="2603982"/>
            <a:ext cx="4826894" cy="1524282"/>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5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以张仲景《伤寒杂病论》所载方剂为核心，以"六经辨证"和"方证对应"为主要诊疗思路的中医学术流派。</a:t>
            </a:r>
            <a:endParaRPr lang="en-US" sz="1100"/>
          </a:p>
        </p:txBody>
      </p:sp>
      <p:sp>
        <p:nvSpPr>
          <p:cNvPr id="6" name="AutoShape 6"/>
          <p:cNvSpPr/>
          <p:nvPr/>
        </p:nvSpPr>
        <p:spPr>
          <a:xfrm>
            <a:off x="1016647" y="3937729"/>
            <a:ext cx="4826894" cy="381071"/>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78736E"/>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临床疗效是唯一检验标准</a:t>
            </a:r>
            <a:endParaRPr lang="en-US" sz="1100"/>
          </a:p>
        </p:txBody>
      </p:sp>
      <p:sp>
        <p:nvSpPr>
          <p:cNvPr id="7" name="AutoShape 7"/>
          <p:cNvSpPr/>
          <p:nvPr/>
        </p:nvSpPr>
        <p:spPr>
          <a:xfrm>
            <a:off x="6351635" y="2032376"/>
            <a:ext cx="4826894" cy="508094"/>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800" b="0" i="0" u="none" strike="noStrike">
                <a:solidFill>
                  <a:srgbClr val="9C5C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历史脉络</a:t>
            </a:r>
            <a:endParaRPr lang="en-US" sz="1100"/>
          </a:p>
        </p:txBody>
      </p:sp>
      <p:sp>
        <p:nvSpPr>
          <p:cNvPr id="8" name="AutoShape 8"/>
          <p:cNvSpPr/>
          <p:nvPr/>
        </p:nvSpPr>
        <p:spPr>
          <a:xfrm>
            <a:off x="6351635" y="2603982"/>
            <a:ext cx="4826894" cy="254047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5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东汉末年：张仲景著《伤寒杂病论》</a:t>
            </a:r>
            <a:endParaRPr lang="en-US" sz="1100"/>
          </a:p>
          <a:p>
            <a:pPr marL="0" indent="0" algn="l">
              <a:lnSpc>
                <a:spcPct val="150000"/>
              </a:lnSpc>
            </a:pPr>
            <a:r>
              <a:rPr lang="en-US" sz="15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晋唐：王叔和整理《伤寒论》</a:t>
            </a:r>
            <a:endParaRPr lang="en-US" sz="15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50000"/>
              </a:lnSpc>
            </a:pPr>
            <a:r>
              <a:rPr lang="en-US" sz="15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宋金：成无己、庞安时等注疏发挥</a:t>
            </a:r>
            <a:endParaRPr lang="en-US" sz="15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50000"/>
              </a:lnSpc>
            </a:pPr>
            <a:r>
              <a:rPr lang="en-US" sz="15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明清：错简派与尊经派之争</a:t>
            </a:r>
            <a:endParaRPr lang="en-US" sz="15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50000"/>
              </a:lnSpc>
            </a:pPr>
            <a:r>
              <a:rPr lang="en-US" sz="15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近现代：曹颖甫、胡希恕、冯世纶等复兴</a:t>
            </a:r>
            <a:endParaRPr lang="en-US" sz="15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cxnSp>
        <p:nvCxnSpPr>
          <p:cNvPr id="9" name="Connector 9"/>
          <p:cNvCxnSpPr/>
          <p:nvPr/>
        </p:nvCxnSpPr>
        <p:spPr>
          <a:xfrm rot="-4297">
            <a:off x="1016651" y="5455660"/>
            <a:ext cx="10161881" cy="12702"/>
          </a:xfrm>
          <a:prstGeom prst="straightConnector1">
            <a:avLst/>
          </a:prstGeom>
          <a:solidFill>
            <a:srgbClr val="DEE0E3">
              <a:alpha val="100000"/>
            </a:srgbClr>
          </a:solidFill>
          <a:ln w="12700" cap="flat" cmpd="sng">
            <a:solidFill>
              <a:srgbClr val="DCD7D2">
                <a:alpha val="100000"/>
              </a:srgbClr>
            </a:solidFill>
            <a:prstDash val="solid"/>
            <a:round/>
            <a:headEnd type="none" w="med" len="med"/>
            <a:tailEnd type="none" w="med" len="med"/>
          </a:ln>
        </p:spPr>
      </p:cxnSp>
      <p:sp>
        <p:nvSpPr>
          <p:cNvPr id="10" name="AutoShape 10"/>
          <p:cNvSpPr/>
          <p:nvPr/>
        </p:nvSpPr>
        <p:spPr>
          <a:xfrm>
            <a:off x="1016647" y="5652547"/>
            <a:ext cx="10161881" cy="381071"/>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78736E"/>
                </a:solidFill>
                <a:latin typeface="Kaiti SC"/>
                <a:ea typeface="Kaiti SC"/>
                <a:cs typeface="Kaiti SC"/>
                <a:sym typeface="Kaiti SC"/>
              </a:rPr>
              <a:t>核心判断：经方派不是"古方派"，而是"临床验证派"——方子管用才用，不管用就换。</a:t>
            </a:r>
            <a:endParaRPr lang="en-US" sz="1100"/>
          </a:p>
        </p:txBody>
      </p:sp>
      <p:sp>
        <p:nvSpPr>
          <p:cNvPr id="11" name="AutoShape 11"/>
          <p:cNvSpPr/>
          <p:nvPr/>
        </p:nvSpPr>
        <p:spPr>
          <a:xfrm>
            <a:off x="1016647" y="6224152"/>
            <a:ext cx="5080941" cy="254047"/>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A09B96"/>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来源：《伤寒论》自序 · 经方医学发展简史</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36562" y="189371"/>
            <a:ext cx="10161881" cy="635118"/>
          </a:xfrm>
          <a:prstGeom prst="rect">
            <a:avLst/>
          </a:prstGeom>
          <a:noFill/>
          <a:ln w="12700" cap="flat" cmpd="sng">
            <a:noFill/>
            <a:prstDash val="solid"/>
            <a:round/>
          </a:ln>
        </p:spPr>
        <p:txBody>
          <a:bodyPr vert="horz" wrap="square" lIns="127023" tIns="63511" rIns="127023" bIns="63511" rtlCol="0" anchor="ctr" anchorCtr="0">
            <a:noAutofit/>
          </a:bodyPr>
          <a:lstStyle/>
          <a:p>
            <a:pPr lvl="0" algn="l">
              <a:buClrTx/>
              <a:buSzTx/>
              <a:buFontTx/>
              <a:defRPr/>
            </a:pPr>
            <a:r>
              <a:rPr lang="en-US" sz="28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Noto Serif SC" panose="02020200000000000000" charset="-122"/>
              </a:rPr>
              <a:t>核心医理：</a:t>
            </a:r>
            <a:r>
              <a:rPr lang="zh-CN" altLang="en-US" sz="28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Noto Serif SC" panose="02020200000000000000" charset="-122"/>
              </a:rPr>
              <a:t>八纲</a:t>
            </a:r>
            <a:r>
              <a:rPr lang="en-US" sz="28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Noto Serif SC" panose="02020200000000000000" charset="-122"/>
              </a:rPr>
              <a:t>六经辨证 × 方证对应</a:t>
            </a:r>
            <a:endParaRPr lang="en-US" sz="28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Noto Serif SC" panose="02020200000000000000" charset="-122"/>
            </a:endParaRPr>
          </a:p>
        </p:txBody>
      </p:sp>
      <p:sp>
        <p:nvSpPr>
          <p:cNvPr id="4" name="AutoShape 4"/>
          <p:cNvSpPr/>
          <p:nvPr/>
        </p:nvSpPr>
        <p:spPr>
          <a:xfrm>
            <a:off x="1056652" y="909050"/>
            <a:ext cx="4826894" cy="444582"/>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1800" b="0" i="0" u="none" strike="noStrike">
                <a:solidFill>
                  <a:srgbClr val="9C5C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第一层：辨</a:t>
            </a:r>
            <a:r>
              <a:rPr lang="zh-CN" altLang="en-US" sz="1800" b="0" i="0" u="none" strike="noStrike">
                <a:solidFill>
                  <a:srgbClr val="9C5C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八纲和</a:t>
            </a:r>
            <a:r>
              <a:rPr lang="en-US" sz="1800" b="0" i="0" u="none" strike="noStrike">
                <a:solidFill>
                  <a:srgbClr val="9C5C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六经</a:t>
            </a:r>
            <a:endParaRPr lang="en-US" sz="1100"/>
          </a:p>
        </p:txBody>
      </p:sp>
      <p:sp>
        <p:nvSpPr>
          <p:cNvPr id="6" name="AutoShape 6"/>
          <p:cNvSpPr/>
          <p:nvPr/>
        </p:nvSpPr>
        <p:spPr>
          <a:xfrm>
            <a:off x="7031085" y="909050"/>
            <a:ext cx="4826894" cy="444582"/>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1800" b="0" i="0" u="none" strike="noStrike">
                <a:solidFill>
                  <a:srgbClr val="9C5C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第二层：辨方证</a:t>
            </a:r>
            <a:endParaRPr lang="en-US" sz="1100"/>
          </a:p>
        </p:txBody>
      </p:sp>
      <p:sp>
        <p:nvSpPr>
          <p:cNvPr id="7" name="AutoShape 7"/>
          <p:cNvSpPr/>
          <p:nvPr/>
        </p:nvSpPr>
        <p:spPr>
          <a:xfrm>
            <a:off x="7393305" y="1629410"/>
            <a:ext cx="4083685" cy="1524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在六经框架内，进一步匹配到具体方剂</a:t>
            </a:r>
            <a:endParaRPr lang="en-US" sz="1100"/>
          </a:p>
          <a:p>
            <a:pPr marL="0" indent="0" algn="l">
              <a:lnSpc>
                <a:spcPct val="150000"/>
              </a:lnSpc>
            </a:pPr>
            <a:r>
              <a:rPr lang="en-US" sz="14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有是证，用是方</a:t>
            </a:r>
            <a:endParaRPr lang="en-US" sz="14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50000"/>
              </a:lnSpc>
            </a:pPr>
            <a:r>
              <a:rPr lang="en-US" sz="14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证以方名，方随证立</a:t>
            </a:r>
            <a:endParaRPr lang="en-US" sz="14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50000"/>
              </a:lnSpc>
            </a:pPr>
            <a:r>
              <a:rPr lang="en-US" sz="14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症状组合与方剂高度对应</a:t>
            </a:r>
            <a:endParaRPr lang="en-US" sz="14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cxnSp>
        <p:nvCxnSpPr>
          <p:cNvPr id="8" name="Connector 8"/>
          <p:cNvCxnSpPr/>
          <p:nvPr/>
        </p:nvCxnSpPr>
        <p:spPr>
          <a:xfrm rot="-4297">
            <a:off x="1016651" y="4820543"/>
            <a:ext cx="10161881" cy="12702"/>
          </a:xfrm>
          <a:prstGeom prst="straightConnector1">
            <a:avLst/>
          </a:prstGeom>
          <a:solidFill>
            <a:srgbClr val="DEE0E3">
              <a:alpha val="100000"/>
            </a:srgbClr>
          </a:solidFill>
          <a:ln w="12700" cap="flat" cmpd="sng">
            <a:solidFill>
              <a:srgbClr val="DCD7D2">
                <a:alpha val="100000"/>
              </a:srgbClr>
            </a:solidFill>
            <a:prstDash val="solid"/>
            <a:round/>
            <a:headEnd type="none" w="med" len="med"/>
            <a:tailEnd type="none" w="med" len="med"/>
          </a:ln>
        </p:spPr>
      </p:cxnSp>
      <p:sp>
        <p:nvSpPr>
          <p:cNvPr id="9" name="AutoShape 9"/>
          <p:cNvSpPr/>
          <p:nvPr/>
        </p:nvSpPr>
        <p:spPr>
          <a:xfrm>
            <a:off x="1016647" y="5080941"/>
            <a:ext cx="10161881" cy="635118"/>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500" b="0" i="0" u="none" strike="noStrike">
                <a:solidFill>
                  <a:srgbClr val="5A5550"/>
                </a:solidFill>
                <a:latin typeface="Kaiti SC"/>
                <a:ea typeface="Kaiti SC"/>
                <a:cs typeface="Kaiti SC"/>
                <a:sym typeface="Kaiti SC"/>
              </a:rPr>
              <a:t>《伤寒论》第317条："病皆与方相应者，乃服之。"——症状和方子对得上，才可以服用。</a:t>
            </a:r>
            <a:endParaRPr lang="en-US" sz="1100"/>
          </a:p>
        </p:txBody>
      </p:sp>
      <p:sp>
        <p:nvSpPr>
          <p:cNvPr id="10" name="AutoShape 10"/>
          <p:cNvSpPr/>
          <p:nvPr/>
        </p:nvSpPr>
        <p:spPr>
          <a:xfrm>
            <a:off x="1016647" y="6224152"/>
            <a:ext cx="5080941" cy="254047"/>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A09B96"/>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来源：《伤寒论》原文 · 冯世纶《经方传真》</a:t>
            </a:r>
            <a:endParaRPr lang="en-US" sz="1100"/>
          </a:p>
        </p:txBody>
      </p:sp>
      <p:graphicFrame>
        <p:nvGraphicFramePr>
          <p:cNvPr id="11" name="表格 10"/>
          <p:cNvGraphicFramePr/>
          <p:nvPr>
            <p:custDataLst>
              <p:tags r:id="rId1"/>
            </p:custDataLst>
          </p:nvPr>
        </p:nvGraphicFramePr>
        <p:xfrm>
          <a:off x="551815" y="1645920"/>
          <a:ext cx="6581775" cy="2179320"/>
        </p:xfrm>
        <a:graphic>
          <a:graphicData uri="http://schemas.openxmlformats.org/drawingml/2006/table">
            <a:tbl>
              <a:tblPr firstRow="1">
                <a:tableStyleId>{3E57F032-6C35-45B4-AE73-DC719C47D059}</a:tableStyleId>
              </a:tblPr>
              <a:tblGrid>
                <a:gridCol w="777240"/>
                <a:gridCol w="2164080"/>
                <a:gridCol w="3640455"/>
              </a:tblGrid>
              <a:tr h="0">
                <a:tc>
                  <a:txBody>
                    <a:bodyPr/>
                    <a:p>
                      <a:pPr algn="ctr"/>
                      <a:r>
                        <a:rPr lang="zh-CN" altLang="en-US" sz="1100"/>
                        <a:t>六经</a:t>
                      </a:r>
                      <a:endParaRPr lang="zh-CN" altLang="en-US" sz="1100"/>
                    </a:p>
                  </a:txBody>
                  <a:tcPr marL="0" marR="0" marT="0" marB="0" anchor="ctr" anchorCtr="0"/>
                </a:tc>
                <a:tc>
                  <a:txBody>
                    <a:bodyPr/>
                    <a:p>
                      <a:pPr algn="ctr"/>
                      <a:r>
                        <a:rPr lang="zh-CN" altLang="en-US" sz="1100"/>
                        <a:t>八纲定位</a:t>
                      </a:r>
                      <a:endParaRPr lang="zh-CN" altLang="en-US" sz="1100"/>
                    </a:p>
                  </a:txBody>
                  <a:tcPr marL="0" marR="0" marT="0" marB="0" anchor="ctr" anchorCtr="0"/>
                </a:tc>
                <a:tc>
                  <a:txBody>
                    <a:bodyPr/>
                    <a:p>
                      <a:pPr algn="ctr"/>
                      <a:r>
                        <a:rPr lang="zh-CN" altLang="en-US" sz="1100"/>
                        <a:t>典型症状（提纲</a:t>
                      </a:r>
                      <a:r>
                        <a:rPr lang="en-US" altLang="zh-CN" sz="1100"/>
                        <a:t>/</a:t>
                      </a:r>
                      <a:r>
                        <a:rPr lang="zh-CN" altLang="en-US" sz="1100"/>
                        <a:t>主症）</a:t>
                      </a:r>
                      <a:endParaRPr lang="zh-CN" altLang="en-US" sz="1100"/>
                    </a:p>
                  </a:txBody>
                  <a:tcPr marL="0" marR="0" marT="0" marB="0" anchor="ctr" anchorCtr="0"/>
                </a:tc>
              </a:tr>
              <a:tr h="0">
                <a:tc>
                  <a:txBody>
                    <a:bodyPr/>
                    <a:p>
                      <a:r>
                        <a:rPr lang="zh-CN" altLang="en-US" sz="1100"/>
                        <a:t>太阳病</a:t>
                      </a:r>
                      <a:endParaRPr lang="zh-CN" altLang="en-US" sz="1100"/>
                    </a:p>
                  </a:txBody>
                  <a:tcPr marL="0" marR="0" marT="0" marB="0" anchor="ctr" anchorCtr="0"/>
                </a:tc>
                <a:tc>
                  <a:txBody>
                    <a:bodyPr/>
                    <a:p>
                      <a:r>
                        <a:rPr lang="zh-CN" altLang="en-US" sz="1100"/>
                        <a:t>表阳证：表、阳、热、实</a:t>
                      </a:r>
                      <a:endParaRPr lang="zh-CN" altLang="en-US" sz="1100"/>
                    </a:p>
                  </a:txBody>
                  <a:tcPr marL="0" marR="0" marT="0" marB="0" anchor="ctr" anchorCtr="0"/>
                </a:tc>
                <a:tc>
                  <a:txBody>
                    <a:bodyPr/>
                    <a:p>
                      <a:r>
                        <a:rPr lang="zh-CN" altLang="en-US" sz="1100"/>
                        <a:t>脉浮，头项强痛而恶寒；发热恶寒并见，头痛身痛，无汗或汗出，脉浮紧或浮缓。</a:t>
                      </a:r>
                      <a:endParaRPr lang="zh-CN" altLang="en-US" sz="1100"/>
                    </a:p>
                  </a:txBody>
                  <a:tcPr marL="0" marR="0" marT="0" marB="0" anchor="ctr" anchorCtr="0"/>
                </a:tc>
              </a:tr>
              <a:tr h="0">
                <a:tc>
                  <a:txBody>
                    <a:bodyPr/>
                    <a:p>
                      <a:r>
                        <a:rPr lang="zh-CN" altLang="en-US" sz="1100"/>
                        <a:t>阳明病</a:t>
                      </a:r>
                      <a:endParaRPr lang="zh-CN" altLang="en-US" sz="1100"/>
                    </a:p>
                  </a:txBody>
                  <a:tcPr marL="0" marR="0" marT="0" marB="0" anchor="ctr" anchorCtr="0"/>
                </a:tc>
                <a:tc>
                  <a:txBody>
                    <a:bodyPr/>
                    <a:p>
                      <a:r>
                        <a:rPr lang="zh-CN" altLang="en-US" sz="1100"/>
                        <a:t>里阳证：里、阳、热、实</a:t>
                      </a:r>
                      <a:endParaRPr lang="zh-CN" altLang="en-US" sz="1100"/>
                    </a:p>
                  </a:txBody>
                  <a:tcPr marL="0" marR="0" marT="0" marB="0" anchor="ctr" anchorCtr="0"/>
                </a:tc>
                <a:tc>
                  <a:txBody>
                    <a:bodyPr/>
                    <a:p>
                      <a:r>
                        <a:rPr lang="zh-CN" altLang="en-US" sz="1100"/>
                        <a:t>胃家实；身热汗出，不恶寒反恶热，大渴，腹满痛，便秘或潮热谵语，脉大或滑实。</a:t>
                      </a:r>
                      <a:endParaRPr lang="zh-CN" altLang="en-US" sz="1100"/>
                    </a:p>
                  </a:txBody>
                  <a:tcPr marL="0" marR="0" marT="0" marB="0" anchor="ctr" anchorCtr="0"/>
                </a:tc>
              </a:tr>
              <a:tr h="0">
                <a:tc>
                  <a:txBody>
                    <a:bodyPr/>
                    <a:p>
                      <a:r>
                        <a:rPr lang="zh-CN" altLang="en-US" sz="1100"/>
                        <a:t>少阳病</a:t>
                      </a:r>
                      <a:endParaRPr lang="zh-CN" altLang="en-US" sz="1100"/>
                    </a:p>
                  </a:txBody>
                  <a:tcPr marL="0" marR="0" marT="0" marB="0" anchor="ctr" anchorCtr="0"/>
                </a:tc>
                <a:tc>
                  <a:txBody>
                    <a:bodyPr/>
                    <a:p>
                      <a:r>
                        <a:rPr lang="zh-CN" altLang="en-US" sz="1100"/>
                        <a:t>半表半里阳证：半表半里、阳、热</a:t>
                      </a:r>
                      <a:endParaRPr lang="zh-CN" altLang="en-US" sz="1100"/>
                    </a:p>
                  </a:txBody>
                  <a:tcPr marL="0" marR="0" marT="0" marB="0" anchor="ctr" anchorCtr="0"/>
                </a:tc>
                <a:tc>
                  <a:txBody>
                    <a:bodyPr/>
                    <a:p>
                      <a:r>
                        <a:rPr lang="zh-CN" altLang="en-US" sz="1100"/>
                        <a:t>口苦，咽干，目眩；往来寒热，胸胁苦满，默默不欲饮食，心烦喜呕，脉弦。</a:t>
                      </a:r>
                      <a:endParaRPr lang="zh-CN" altLang="en-US" sz="1100"/>
                    </a:p>
                  </a:txBody>
                  <a:tcPr marL="0" marR="0" marT="0" marB="0" anchor="ctr" anchorCtr="0"/>
                </a:tc>
              </a:tr>
              <a:tr h="0">
                <a:tc>
                  <a:txBody>
                    <a:bodyPr/>
                    <a:p>
                      <a:r>
                        <a:rPr lang="zh-CN" altLang="en-US" sz="1100"/>
                        <a:t>太阴病</a:t>
                      </a:r>
                      <a:endParaRPr lang="zh-CN" altLang="en-US" sz="1100"/>
                    </a:p>
                  </a:txBody>
                  <a:tcPr marL="0" marR="0" marT="0" marB="0" anchor="ctr" anchorCtr="0"/>
                </a:tc>
                <a:tc>
                  <a:txBody>
                    <a:bodyPr/>
                    <a:p>
                      <a:r>
                        <a:rPr lang="zh-CN" altLang="en-US" sz="1100"/>
                        <a:t>里阴证：里、阴、寒、虚</a:t>
                      </a:r>
                      <a:endParaRPr lang="zh-CN" altLang="en-US" sz="1100"/>
                    </a:p>
                  </a:txBody>
                  <a:tcPr marL="0" marR="0" marT="0" marB="0" anchor="ctr" anchorCtr="0"/>
                </a:tc>
                <a:tc>
                  <a:txBody>
                    <a:bodyPr/>
                    <a:p>
                      <a:r>
                        <a:rPr lang="zh-CN" altLang="en-US" sz="1100"/>
                        <a:t>腹满而吐，食不下，自利益甚，时腹自痛；下利清谷，口不渴，喜温喜按，脉沉缓弱。</a:t>
                      </a:r>
                      <a:endParaRPr lang="zh-CN" altLang="en-US" sz="1100"/>
                    </a:p>
                  </a:txBody>
                  <a:tcPr marL="0" marR="0" marT="0" marB="0" anchor="ctr" anchorCtr="0"/>
                </a:tc>
              </a:tr>
              <a:tr h="0">
                <a:tc>
                  <a:txBody>
                    <a:bodyPr/>
                    <a:p>
                      <a:r>
                        <a:rPr lang="zh-CN" altLang="en-US" sz="1100"/>
                        <a:t>少阴病</a:t>
                      </a:r>
                      <a:endParaRPr lang="zh-CN" altLang="en-US" sz="1100"/>
                    </a:p>
                  </a:txBody>
                  <a:tcPr marL="0" marR="0" marT="0" marB="0" anchor="ctr" anchorCtr="0"/>
                </a:tc>
                <a:tc>
                  <a:txBody>
                    <a:bodyPr/>
                    <a:p>
                      <a:r>
                        <a:rPr lang="zh-CN" altLang="en-US" sz="1100"/>
                        <a:t>表阴证：表、阴、寒、虚</a:t>
                      </a:r>
                      <a:endParaRPr lang="zh-CN" altLang="en-US" sz="1100"/>
                    </a:p>
                  </a:txBody>
                  <a:tcPr marL="0" marR="0" marT="0" marB="0" anchor="ctr" anchorCtr="0"/>
                </a:tc>
                <a:tc>
                  <a:txBody>
                    <a:bodyPr/>
                    <a:p>
                      <a:r>
                        <a:rPr lang="zh-CN" altLang="en-US" sz="1100"/>
                        <a:t>脉微细，但欲寐；无热恶寒，四肢厥冷，精神萎靡，蜷卧。热化证可见心烦不得卧、口燥咽干。</a:t>
                      </a:r>
                      <a:endParaRPr lang="zh-CN" altLang="en-US" sz="1100"/>
                    </a:p>
                  </a:txBody>
                  <a:tcPr marL="0" marR="0" marT="0" marB="0" anchor="ctr" anchorCtr="0"/>
                </a:tc>
              </a:tr>
              <a:tr h="0">
                <a:tc>
                  <a:txBody>
                    <a:bodyPr/>
                    <a:p>
                      <a:r>
                        <a:rPr lang="zh-CN" altLang="en-US" sz="1100"/>
                        <a:t>厥阴病</a:t>
                      </a:r>
                      <a:endParaRPr lang="zh-CN" altLang="en-US" sz="1100"/>
                    </a:p>
                  </a:txBody>
                  <a:tcPr marL="0" marR="0" marT="0" marB="0" anchor="ctr" anchorCtr="0"/>
                </a:tc>
                <a:tc>
                  <a:txBody>
                    <a:bodyPr/>
                    <a:p>
                      <a:r>
                        <a:rPr lang="zh-CN" altLang="en-US" sz="1100"/>
                        <a:t>半表半里阴证：半表半里、阴、寒热错杂</a:t>
                      </a:r>
                      <a:endParaRPr lang="zh-CN" altLang="en-US" sz="1100"/>
                    </a:p>
                  </a:txBody>
                  <a:tcPr marL="0" marR="0" marT="0" marB="0" anchor="ctr" anchorCtr="0"/>
                </a:tc>
                <a:tc>
                  <a:txBody>
                    <a:bodyPr/>
                    <a:p>
                      <a:r>
                        <a:rPr lang="zh-CN" altLang="en-US" sz="1100"/>
                        <a:t>消渴，气上撞心，心中疼热，饥而不欲食；上热下寒，厥热胜复，或吐蛔、久利。</a:t>
                      </a:r>
                      <a:endParaRPr lang="zh-CN" altLang="en-US" sz="1100"/>
                    </a:p>
                  </a:txBody>
                  <a:tcPr marL="0" marR="0" marT="0" marB="0" anchor="ctr" anchorCtr="0"/>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64807" y="189371"/>
            <a:ext cx="10161881" cy="635118"/>
          </a:xfrm>
          <a:prstGeom prst="rect">
            <a:avLst/>
          </a:prstGeom>
          <a:noFill/>
          <a:ln w="12700" cap="flat" cmpd="sng">
            <a:noFill/>
            <a:prstDash val="solid"/>
            <a:round/>
          </a:ln>
        </p:spPr>
        <p:txBody>
          <a:bodyPr vert="horz" wrap="square" lIns="127023" tIns="63511" rIns="127023" bIns="63511" rtlCol="0" anchor="ctr" anchorCtr="0">
            <a:noAutofit/>
          </a:bodyPr>
          <a:lstStyle/>
          <a:p>
            <a:pPr lvl="0" algn="l">
              <a:buClrTx/>
              <a:buSzTx/>
              <a:buFontTx/>
              <a:defRPr/>
            </a:pPr>
            <a:r>
              <a:rPr lang="en-US" sz="28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Noto Serif SC" panose="02020200000000000000" charset="-122"/>
              </a:rPr>
              <a:t>从症状到处方：一次典型的辨证推理</a:t>
            </a:r>
            <a:endParaRPr lang="en-US" sz="28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Noto Serif SC" panose="02020200000000000000" charset="-122"/>
            </a:endParaRPr>
          </a:p>
        </p:txBody>
      </p:sp>
      <p:sp>
        <p:nvSpPr>
          <p:cNvPr id="4" name="AutoShape 4"/>
          <p:cNvSpPr/>
          <p:nvPr/>
        </p:nvSpPr>
        <p:spPr>
          <a:xfrm>
            <a:off x="1016647" y="2462906"/>
            <a:ext cx="1524282" cy="381071"/>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400" b="0" i="0" u="none" strike="noStrike">
                <a:solidFill>
                  <a:srgbClr val="9C5C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输入：症状群</a:t>
            </a:r>
            <a:endParaRPr lang="en-US" sz="1100"/>
          </a:p>
        </p:txBody>
      </p:sp>
      <p:sp>
        <p:nvSpPr>
          <p:cNvPr id="5" name="AutoShape 5"/>
          <p:cNvSpPr/>
          <p:nvPr/>
        </p:nvSpPr>
        <p:spPr>
          <a:xfrm>
            <a:off x="1016647" y="2907489"/>
            <a:ext cx="3556659" cy="1905353"/>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往来寒热</a:t>
            </a:r>
            <a:endParaRPr lang="en-US" sz="1100"/>
          </a:p>
          <a:p>
            <a:pPr marL="0" indent="0" algn="l">
              <a:lnSpc>
                <a:spcPct val="150000"/>
              </a:lnSpc>
            </a:pPr>
            <a:r>
              <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胸胁苦满</a:t>
            </a:r>
            <a:endPar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50000"/>
              </a:lnSpc>
            </a:pPr>
            <a:r>
              <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嘿嘿不欲饮食</a:t>
            </a:r>
            <a:endPar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50000"/>
              </a:lnSpc>
            </a:pPr>
            <a:r>
              <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心烦喜呕</a:t>
            </a:r>
            <a:endPar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50000"/>
              </a:lnSpc>
            </a:pPr>
            <a:r>
              <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口苦咽干目眩</a:t>
            </a:r>
            <a:endPar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50000"/>
              </a:lnSpc>
            </a:pPr>
            <a:r>
              <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脉弦</a:t>
            </a:r>
            <a:endPar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cxnSp>
        <p:nvCxnSpPr>
          <p:cNvPr id="6" name="Connector 6"/>
          <p:cNvCxnSpPr/>
          <p:nvPr/>
        </p:nvCxnSpPr>
        <p:spPr>
          <a:xfrm rot="-68745">
            <a:off x="4827415" y="3599767"/>
            <a:ext cx="635118" cy="12702"/>
          </a:xfrm>
          <a:prstGeom prst="straightConnector1">
            <a:avLst/>
          </a:prstGeom>
          <a:solidFill>
            <a:srgbClr val="DEE0E3">
              <a:alpha val="100000"/>
            </a:srgbClr>
          </a:solidFill>
          <a:ln w="25400" cap="flat" cmpd="sng">
            <a:solidFill>
              <a:srgbClr val="9C5C38">
                <a:alpha val="100000"/>
              </a:srgbClr>
            </a:solidFill>
            <a:prstDash val="solid"/>
            <a:round/>
            <a:headEnd type="none" w="lg" len="lg"/>
            <a:tailEnd type="arrow" w="lg" len="lg"/>
          </a:ln>
        </p:spPr>
      </p:cxnSp>
      <p:sp>
        <p:nvSpPr>
          <p:cNvPr id="7" name="AutoShape 7"/>
          <p:cNvSpPr/>
          <p:nvPr/>
        </p:nvSpPr>
        <p:spPr>
          <a:xfrm>
            <a:off x="5716517" y="2462906"/>
            <a:ext cx="1524282" cy="381071"/>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400" b="0" i="0" u="none" strike="noStrike">
                <a:solidFill>
                  <a:srgbClr val="9C5C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推理：辨证</a:t>
            </a:r>
            <a:endParaRPr lang="en-US" sz="1100"/>
          </a:p>
        </p:txBody>
      </p:sp>
      <p:sp>
        <p:nvSpPr>
          <p:cNvPr id="8" name="AutoShape 8"/>
          <p:cNvSpPr/>
          <p:nvPr/>
        </p:nvSpPr>
        <p:spPr>
          <a:xfrm>
            <a:off x="5716517" y="2907489"/>
            <a:ext cx="2794517" cy="1905353"/>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第一步：辨六经</a:t>
            </a:r>
            <a:endParaRPr lang="en-US" sz="1100"/>
          </a:p>
          <a:p>
            <a:pPr marL="0" indent="0" algn="l">
              <a:lnSpc>
                <a:spcPct val="150000"/>
              </a:lnSpc>
            </a:pPr>
            <a:r>
              <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半表半里，少阳病</a:t>
            </a:r>
            <a:endPar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50000"/>
              </a:lnSpc>
            </a:pPr>
            <a:r>
              <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第二步：辨寒热虚实</a:t>
            </a:r>
            <a:endPar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50000"/>
              </a:lnSpc>
            </a:pPr>
            <a:r>
              <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胆热胃逆，本虚标实</a:t>
            </a:r>
            <a:endPar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50000"/>
              </a:lnSpc>
            </a:pPr>
            <a:r>
              <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第三步：抓主证</a:t>
            </a:r>
            <a:endPar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50000"/>
              </a:lnSpc>
            </a:pPr>
            <a:r>
              <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柴胡证四大主症齐备</a:t>
            </a:r>
            <a:endPar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cxnSp>
        <p:nvCxnSpPr>
          <p:cNvPr id="9" name="Connector 9"/>
          <p:cNvCxnSpPr/>
          <p:nvPr/>
        </p:nvCxnSpPr>
        <p:spPr>
          <a:xfrm rot="-68745">
            <a:off x="8765144" y="3599767"/>
            <a:ext cx="635118" cy="12702"/>
          </a:xfrm>
          <a:prstGeom prst="straightConnector1">
            <a:avLst/>
          </a:prstGeom>
          <a:solidFill>
            <a:srgbClr val="DEE0E3">
              <a:alpha val="100000"/>
            </a:srgbClr>
          </a:solidFill>
          <a:ln w="25400" cap="flat" cmpd="sng">
            <a:solidFill>
              <a:srgbClr val="9C5C38">
                <a:alpha val="100000"/>
              </a:srgbClr>
            </a:solidFill>
            <a:prstDash val="solid"/>
            <a:round/>
            <a:headEnd type="none" w="lg" len="lg"/>
            <a:tailEnd type="arrow" w="lg" len="lg"/>
          </a:ln>
        </p:spPr>
      </p:cxnSp>
      <p:sp>
        <p:nvSpPr>
          <p:cNvPr id="10" name="AutoShape 10"/>
          <p:cNvSpPr/>
          <p:nvPr/>
        </p:nvSpPr>
        <p:spPr>
          <a:xfrm>
            <a:off x="9654246" y="2462906"/>
            <a:ext cx="1524282" cy="381071"/>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400" b="0" i="0" u="none" strike="noStrike">
                <a:solidFill>
                  <a:srgbClr val="9C5C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输出：处方</a:t>
            </a:r>
            <a:endParaRPr lang="en-US" sz="1100"/>
          </a:p>
        </p:txBody>
      </p:sp>
      <p:sp>
        <p:nvSpPr>
          <p:cNvPr id="11" name="AutoShape 11"/>
          <p:cNvSpPr/>
          <p:nvPr/>
        </p:nvSpPr>
        <p:spPr>
          <a:xfrm>
            <a:off x="9654246" y="2907489"/>
            <a:ext cx="1778329" cy="2032376"/>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小柴胡汤</a:t>
            </a:r>
            <a:endParaRPr lang="en-US" sz="1100"/>
          </a:p>
          <a:p>
            <a:pPr marL="0" indent="0" algn="l">
              <a:lnSpc>
                <a:spcPct val="150000"/>
              </a:lnSpc>
            </a:pPr>
            <a:r>
              <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柴胡</a:t>
            </a:r>
            <a:endPar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50000"/>
              </a:lnSpc>
            </a:pPr>
            <a:r>
              <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黄芩</a:t>
            </a:r>
            <a:endPar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50000"/>
              </a:lnSpc>
            </a:pPr>
            <a:r>
              <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半夏</a:t>
            </a:r>
            <a:endPar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50000"/>
              </a:lnSpc>
            </a:pPr>
            <a:r>
              <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人参</a:t>
            </a:r>
            <a:endPar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50000"/>
              </a:lnSpc>
            </a:pPr>
            <a:r>
              <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炙甘草</a:t>
            </a:r>
            <a:endPar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50000"/>
              </a:lnSpc>
            </a:pPr>
            <a:r>
              <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生姜大枣</a:t>
            </a:r>
            <a:endPar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cxnSp>
        <p:nvCxnSpPr>
          <p:cNvPr id="12" name="Connector 12"/>
          <p:cNvCxnSpPr/>
          <p:nvPr/>
        </p:nvCxnSpPr>
        <p:spPr>
          <a:xfrm rot="-4297">
            <a:off x="1016651" y="5378096"/>
            <a:ext cx="10161881" cy="12702"/>
          </a:xfrm>
          <a:prstGeom prst="straightConnector1">
            <a:avLst/>
          </a:prstGeom>
          <a:solidFill>
            <a:srgbClr val="DEE0E3">
              <a:alpha val="100000"/>
            </a:srgbClr>
          </a:solidFill>
          <a:ln w="12700" cap="flat" cmpd="sng">
            <a:solidFill>
              <a:srgbClr val="DCD7D2">
                <a:alpha val="100000"/>
              </a:srgbClr>
            </a:solidFill>
            <a:prstDash val="solid"/>
            <a:round/>
            <a:headEnd type="none" w="med" len="med"/>
            <a:tailEnd type="none" w="med" len="med"/>
          </a:ln>
        </p:spPr>
      </p:cxnSp>
      <p:sp>
        <p:nvSpPr>
          <p:cNvPr id="13" name="AutoShape 13"/>
          <p:cNvSpPr/>
          <p:nvPr/>
        </p:nvSpPr>
        <p:spPr>
          <a:xfrm>
            <a:off x="1016647" y="5423229"/>
            <a:ext cx="10161881" cy="762141"/>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400" b="0" i="0" u="none" strike="noStrike">
                <a:solidFill>
                  <a:srgbClr val="5A5550"/>
                </a:solidFill>
                <a:latin typeface="Kaiti SC"/>
                <a:ea typeface="Kaiti SC"/>
                <a:cs typeface="Kaiti SC"/>
                <a:sym typeface="Kaiti SC"/>
              </a:rPr>
              <a:t>关键：不是"判断你是什么病"，而是"匹配你现在的症状组合对应哪个经典方"。</a:t>
            </a:r>
            <a:endParaRPr lang="en-US" sz="1100"/>
          </a:p>
          <a:p>
            <a:pPr marL="0" indent="0" algn="l">
              <a:lnSpc>
                <a:spcPct val="133000"/>
              </a:lnSpc>
            </a:pPr>
            <a:r>
              <a:rPr lang="en-US" sz="1400" b="0" i="0" u="none" strike="noStrike">
                <a:solidFill>
                  <a:srgbClr val="5A5550"/>
                </a:solidFill>
                <a:latin typeface="Kaiti SC"/>
                <a:ea typeface="Kaiti SC"/>
                <a:cs typeface="Kaiti SC"/>
                <a:sym typeface="Kaiti SC"/>
              </a:rPr>
              <a:t>同一个病人，今天和明天的症状不同，方子可能完全不同。</a:t>
            </a:r>
            <a:endParaRPr lang="en-US" sz="1400" b="0" i="0" u="none" strike="noStrike">
              <a:solidFill>
                <a:srgbClr val="5A5550"/>
              </a:solidFill>
              <a:latin typeface="Kaiti SC"/>
              <a:ea typeface="Kaiti SC"/>
              <a:cs typeface="Kaiti SC"/>
              <a:sym typeface="Kaiti SC"/>
            </a:endParaRPr>
          </a:p>
        </p:txBody>
      </p:sp>
      <p:sp>
        <p:nvSpPr>
          <p:cNvPr id="14" name="AutoShape 14"/>
          <p:cNvSpPr/>
          <p:nvPr/>
        </p:nvSpPr>
        <p:spPr>
          <a:xfrm>
            <a:off x="1016647" y="6224152"/>
            <a:ext cx="6351176" cy="254047"/>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A09B96"/>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示例：小柴胡汤证 · 来源《伤寒论》第96条</a:t>
            </a:r>
            <a:endParaRPr lang="en-US" sz="1100"/>
          </a:p>
        </p:txBody>
      </p:sp>
      <p:pic>
        <p:nvPicPr>
          <p:cNvPr id="15" name="图片 14"/>
          <p:cNvPicPr>
            <a:picLocks noChangeAspect="1"/>
          </p:cNvPicPr>
          <p:nvPr/>
        </p:nvPicPr>
        <p:blipFill>
          <a:blip r:embed="rId1"/>
          <a:stretch>
            <a:fillRect/>
          </a:stretch>
        </p:blipFill>
        <p:spPr>
          <a:xfrm>
            <a:off x="408940" y="920115"/>
            <a:ext cx="11168380" cy="15335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36562" y="190641"/>
            <a:ext cx="10161881" cy="635118"/>
          </a:xfrm>
          <a:prstGeom prst="rect">
            <a:avLst/>
          </a:prstGeom>
          <a:noFill/>
          <a:ln w="12700" cap="flat" cmpd="sng">
            <a:noFill/>
            <a:prstDash val="solid"/>
            <a:round/>
          </a:ln>
        </p:spPr>
        <p:txBody>
          <a:bodyPr vert="horz" wrap="square" lIns="127023" tIns="63511" rIns="127023" bIns="63511" rtlCol="0" anchor="ctr" anchorCtr="0">
            <a:noAutofit/>
          </a:bodyPr>
          <a:lstStyle/>
          <a:p>
            <a:pPr lvl="0" algn="l">
              <a:buClrTx/>
              <a:buSzTx/>
              <a:buFontTx/>
              <a:defRPr/>
            </a:pPr>
            <a:r>
              <a:rPr lang="en-US" sz="28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Noto Serif SC" panose="02020200000000000000" charset="-122"/>
              </a:rPr>
              <a:t>经方诊断到底难在哪？</a:t>
            </a:r>
            <a:endParaRPr lang="en-US" sz="28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Noto Serif SC" panose="02020200000000000000" charset="-122"/>
            </a:endParaRPr>
          </a:p>
        </p:txBody>
      </p:sp>
      <p:sp>
        <p:nvSpPr>
          <p:cNvPr id="4" name="AutoShape 4"/>
          <p:cNvSpPr/>
          <p:nvPr/>
        </p:nvSpPr>
        <p:spPr>
          <a:xfrm>
            <a:off x="840752" y="1269130"/>
            <a:ext cx="10161881" cy="508094"/>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800" b="0" i="0" u="none" strike="noStrike">
                <a:solidFill>
                  <a:srgbClr val="9C5C38"/>
                </a:solidFill>
                <a:latin typeface="Kaiti SC"/>
                <a:ea typeface="Kaiti SC"/>
                <a:cs typeface="Kaiti SC"/>
                <a:sym typeface="Kaiti SC"/>
              </a:rPr>
              <a:t>为什么学了十年经方，还是可能开错方子？</a:t>
            </a:r>
            <a:endParaRPr lang="en-US" sz="1100"/>
          </a:p>
        </p:txBody>
      </p:sp>
      <p:sp>
        <p:nvSpPr>
          <p:cNvPr id="5" name="AutoShape 5"/>
          <p:cNvSpPr/>
          <p:nvPr>
            <p:custDataLst>
              <p:tags r:id="rId1"/>
            </p:custDataLst>
          </p:nvPr>
        </p:nvSpPr>
        <p:spPr>
          <a:xfrm>
            <a:off x="840752" y="2158294"/>
            <a:ext cx="3048564" cy="444582"/>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600" b="0" i="0" u="none" strike="noStrike">
                <a:solidFill>
                  <a:srgbClr val="2B2B2B"/>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01 症状是主观的</a:t>
            </a:r>
            <a:endParaRPr lang="en-US" sz="1100"/>
          </a:p>
        </p:txBody>
      </p:sp>
      <p:sp>
        <p:nvSpPr>
          <p:cNvPr id="6" name="AutoShape 6"/>
          <p:cNvSpPr/>
          <p:nvPr>
            <p:custDataLst>
              <p:tags r:id="rId2"/>
            </p:custDataLst>
          </p:nvPr>
        </p:nvSpPr>
        <p:spPr>
          <a:xfrm>
            <a:off x="840752" y="2729900"/>
            <a:ext cx="3048564" cy="1270235"/>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300" b="0" i="0" u="none" strike="noStrike">
                <a:solidFill>
                  <a:srgbClr val="5A55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没有客观指标，全靠病人描述和医生判断。</a:t>
            </a:r>
            <a:endParaRPr lang="en-US" sz="1100"/>
          </a:p>
          <a:p>
            <a:pPr marL="0" indent="0" algn="l">
              <a:lnSpc>
                <a:spcPct val="142000"/>
              </a:lnSpc>
            </a:pPr>
            <a:r>
              <a:rPr lang="en-US" sz="1300" b="0" i="0" u="none" strike="noStrike">
                <a:solidFill>
                  <a:srgbClr val="5A55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同样说"不舒服"，含义天差地别。</a:t>
            </a:r>
            <a:endParaRPr lang="en-US" sz="1300" b="0" i="0" u="none" strike="noStrike">
              <a:solidFill>
                <a:srgbClr val="5A5550"/>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7" name="AutoShape 7"/>
          <p:cNvSpPr/>
          <p:nvPr>
            <p:custDataLst>
              <p:tags r:id="rId3"/>
            </p:custDataLst>
          </p:nvPr>
        </p:nvSpPr>
        <p:spPr>
          <a:xfrm>
            <a:off x="4397410" y="2158294"/>
            <a:ext cx="3048564" cy="444582"/>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600" b="0" i="0" u="none" strike="noStrike">
                <a:solidFill>
                  <a:srgbClr val="2B2B2B"/>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02 方证是精密的</a:t>
            </a:r>
            <a:endParaRPr lang="en-US" sz="1100"/>
          </a:p>
        </p:txBody>
      </p:sp>
      <p:sp>
        <p:nvSpPr>
          <p:cNvPr id="8" name="AutoShape 8"/>
          <p:cNvSpPr/>
          <p:nvPr>
            <p:custDataLst>
              <p:tags r:id="rId4"/>
            </p:custDataLst>
          </p:nvPr>
        </p:nvSpPr>
        <p:spPr>
          <a:xfrm>
            <a:off x="4397410" y="2729900"/>
            <a:ext cx="3048564" cy="1270235"/>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300" b="0" i="0" u="none" strike="noStrike">
                <a:solidFill>
                  <a:srgbClr val="5A55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差一个症状、差一味药，效果完全不同。</a:t>
            </a:r>
            <a:endParaRPr lang="en-US" sz="1100"/>
          </a:p>
          <a:p>
            <a:pPr marL="0" indent="0" algn="l">
              <a:lnSpc>
                <a:spcPct val="142000"/>
              </a:lnSpc>
            </a:pPr>
            <a:r>
              <a:rPr lang="en-US" sz="1300" b="0" i="0" u="none" strike="noStrike">
                <a:solidFill>
                  <a:srgbClr val="5A55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像锁和钥匙，差一点都插不进去。</a:t>
            </a:r>
            <a:endParaRPr lang="en-US" sz="1300" b="0" i="0" u="none" strike="noStrike">
              <a:solidFill>
                <a:srgbClr val="5A5550"/>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9" name="AutoShape 9"/>
          <p:cNvSpPr/>
          <p:nvPr>
            <p:custDataLst>
              <p:tags r:id="rId5"/>
            </p:custDataLst>
          </p:nvPr>
        </p:nvSpPr>
        <p:spPr>
          <a:xfrm>
            <a:off x="7954069" y="2158294"/>
            <a:ext cx="3048564" cy="444582"/>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600" b="0" i="0" u="none" strike="noStrike">
                <a:solidFill>
                  <a:srgbClr val="2B2B2B"/>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03 病情是</a:t>
            </a:r>
            <a:r>
              <a:rPr lang="zh-CN" altLang="en-US" sz="1600" b="0" i="0" u="none" strike="noStrike">
                <a:solidFill>
                  <a:srgbClr val="2B2B2B"/>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复杂的、</a:t>
            </a:r>
            <a:r>
              <a:rPr lang="en-US" sz="1600" b="0" i="0" u="none" strike="noStrike">
                <a:solidFill>
                  <a:srgbClr val="2B2B2B"/>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动态的</a:t>
            </a:r>
            <a:endParaRPr lang="en-US" sz="1100"/>
          </a:p>
        </p:txBody>
      </p:sp>
      <p:sp>
        <p:nvSpPr>
          <p:cNvPr id="10" name="AutoShape 10"/>
          <p:cNvSpPr/>
          <p:nvPr>
            <p:custDataLst>
              <p:tags r:id="rId6"/>
            </p:custDataLst>
          </p:nvPr>
        </p:nvSpPr>
        <p:spPr>
          <a:xfrm>
            <a:off x="7954069" y="2729900"/>
            <a:ext cx="3048564" cy="1270235"/>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300" b="0" i="0" u="none" strike="noStrike">
                <a:solidFill>
                  <a:srgbClr val="5A55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证在变，人在变，方子也得跟着变。</a:t>
            </a:r>
            <a:endParaRPr lang="en-US" sz="1100"/>
          </a:p>
          <a:p>
            <a:pPr marL="0" indent="0" algn="l">
              <a:lnSpc>
                <a:spcPct val="142000"/>
              </a:lnSpc>
            </a:pPr>
            <a:r>
              <a:rPr lang="en-US" sz="1300" b="0" i="0" u="none" strike="noStrike">
                <a:solidFill>
                  <a:srgbClr val="5A55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复合病机更需要灵活合方加减。</a:t>
            </a:r>
            <a:endParaRPr lang="en-US" sz="1300" b="0" i="0" u="none" strike="noStrike">
              <a:solidFill>
                <a:srgbClr val="5A5550"/>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cxnSp>
        <p:nvCxnSpPr>
          <p:cNvPr id="11" name="Connector 11"/>
          <p:cNvCxnSpPr/>
          <p:nvPr/>
        </p:nvCxnSpPr>
        <p:spPr>
          <a:xfrm rot="-4297">
            <a:off x="1016651" y="5455660"/>
            <a:ext cx="10161881" cy="12702"/>
          </a:xfrm>
          <a:prstGeom prst="straightConnector1">
            <a:avLst/>
          </a:prstGeom>
          <a:solidFill>
            <a:srgbClr val="DEE0E3">
              <a:alpha val="100000"/>
            </a:srgbClr>
          </a:solidFill>
          <a:ln w="12700" cap="flat" cmpd="sng">
            <a:solidFill>
              <a:srgbClr val="DCD7D2">
                <a:alpha val="100000"/>
              </a:srgbClr>
            </a:solidFill>
            <a:prstDash val="solid"/>
            <a:round/>
            <a:headEnd type="none" w="med" len="med"/>
            <a:tailEnd type="none" w="med" len="med"/>
          </a:ln>
        </p:spPr>
      </p:cxnSp>
      <p:sp>
        <p:nvSpPr>
          <p:cNvPr id="12" name="AutoShape 12"/>
          <p:cNvSpPr/>
          <p:nvPr/>
        </p:nvSpPr>
        <p:spPr>
          <a:xfrm>
            <a:off x="1016647" y="5716058"/>
            <a:ext cx="10161881" cy="635118"/>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500" b="0" i="0" u="none" strike="noStrike">
                <a:solidFill>
                  <a:srgbClr val="2B2B2B"/>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一句话总结：经方的"方证对应"看起来是公式，实际上是在和一个不断变化、表达模糊、千差万别的活人打交道。</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2"/>
          <p:cNvCxnSpPr/>
          <p:nvPr/>
        </p:nvCxnSpPr>
        <p:spPr>
          <a:xfrm rot="-28647">
            <a:off x="1016673" y="1517931"/>
            <a:ext cx="1524282" cy="12702"/>
          </a:xfrm>
          <a:prstGeom prst="straightConnector1">
            <a:avLst/>
          </a:prstGeom>
          <a:solidFill>
            <a:srgbClr val="DEE0E3">
              <a:alpha val="100000"/>
            </a:srgbClr>
          </a:solidFill>
          <a:ln w="25400" cap="flat" cmpd="sng">
            <a:solidFill>
              <a:srgbClr val="E60012">
                <a:alpha val="100000"/>
              </a:srgbClr>
            </a:solidFill>
            <a:prstDash val="solid"/>
            <a:round/>
            <a:headEnd type="none" w="lg" len="lg"/>
            <a:tailEnd type="none" w="lg" len="lg"/>
          </a:ln>
        </p:spPr>
      </p:cxnSp>
      <p:cxnSp>
        <p:nvCxnSpPr>
          <p:cNvPr id="3" name="Connector 3"/>
          <p:cNvCxnSpPr/>
          <p:nvPr/>
        </p:nvCxnSpPr>
        <p:spPr>
          <a:xfrm rot="-28647">
            <a:off x="9654272" y="1517931"/>
            <a:ext cx="1524282" cy="12702"/>
          </a:xfrm>
          <a:prstGeom prst="straightConnector1">
            <a:avLst/>
          </a:prstGeom>
          <a:solidFill>
            <a:srgbClr val="DEE0E3">
              <a:alpha val="100000"/>
            </a:srgbClr>
          </a:solidFill>
          <a:ln w="25400" cap="flat" cmpd="sng">
            <a:solidFill>
              <a:srgbClr val="E60012">
                <a:alpha val="100000"/>
              </a:srgbClr>
            </a:solidFill>
            <a:prstDash val="solid"/>
            <a:round/>
            <a:headEnd type="none" w="lg" len="lg"/>
            <a:tailEnd type="none" w="lg" len="lg"/>
          </a:ln>
        </p:spPr>
      </p:cxnSp>
      <p:sp>
        <p:nvSpPr>
          <p:cNvPr id="4" name="AutoShape 4"/>
          <p:cNvSpPr/>
          <p:nvPr/>
        </p:nvSpPr>
        <p:spPr>
          <a:xfrm>
            <a:off x="1016647" y="2286423"/>
            <a:ext cx="10161881" cy="1524282"/>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7200" b="1" i="0" u="none" strike="noStrike">
                <a:solidFill>
                  <a:srgbClr val="141419"/>
                </a:solidFill>
                <a:latin typeface="Noto Sans SC" panose="020B0200000000000000" charset="-122"/>
                <a:ea typeface="Noto Sans SC" panose="020B0200000000000000" charset="-122"/>
                <a:cs typeface="Noto Sans SC" panose="020B0200000000000000" charset="-122"/>
                <a:sym typeface="Noto Sans SC" panose="020B0200000000000000" charset="-122"/>
              </a:rPr>
              <a:t>THANK YOU</a:t>
            </a:r>
            <a:endParaRPr lang="en-US" sz="1100"/>
          </a:p>
        </p:txBody>
      </p:sp>
      <p:sp>
        <p:nvSpPr>
          <p:cNvPr id="5" name="AutoShape 5"/>
          <p:cNvSpPr/>
          <p:nvPr/>
        </p:nvSpPr>
        <p:spPr>
          <a:xfrm>
            <a:off x="1016647" y="3937729"/>
            <a:ext cx="10161881" cy="635118"/>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0" i="0" u="none" strike="noStrike">
                <a:solidFill>
                  <a:srgbClr val="50555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感 谢 聆 听</a:t>
            </a:r>
            <a:endParaRPr lang="en-US" sz="1100"/>
          </a:p>
        </p:txBody>
      </p:sp>
      <p:cxnSp>
        <p:nvCxnSpPr>
          <p:cNvPr id="6" name="Connector 6"/>
          <p:cNvCxnSpPr/>
          <p:nvPr/>
        </p:nvCxnSpPr>
        <p:spPr>
          <a:xfrm rot="-17188">
            <a:off x="4827368" y="4947566"/>
            <a:ext cx="2540470" cy="12702"/>
          </a:xfrm>
          <a:prstGeom prst="straightConnector1">
            <a:avLst/>
          </a:prstGeom>
          <a:solidFill>
            <a:srgbClr val="DEE0E3">
              <a:alpha val="100000"/>
            </a:srgbClr>
          </a:solidFill>
          <a:ln w="12700" cap="flat" cmpd="sng">
            <a:solidFill>
              <a:srgbClr val="E60012">
                <a:alpha val="80000"/>
              </a:srgbClr>
            </a:solidFill>
            <a:prstDash val="solid"/>
            <a:round/>
            <a:headEnd type="none" w="med" len="med"/>
            <a:tailEnd type="none" w="med" len="med"/>
          </a:ln>
        </p:spPr>
      </p:cxnSp>
      <p:cxnSp>
        <p:nvCxnSpPr>
          <p:cNvPr id="8" name="Connector 8"/>
          <p:cNvCxnSpPr/>
          <p:nvPr/>
        </p:nvCxnSpPr>
        <p:spPr>
          <a:xfrm rot="-28647">
            <a:off x="1016673" y="6217801"/>
            <a:ext cx="1524282" cy="12702"/>
          </a:xfrm>
          <a:prstGeom prst="straightConnector1">
            <a:avLst/>
          </a:prstGeom>
          <a:solidFill>
            <a:srgbClr val="DEE0E3">
              <a:alpha val="100000"/>
            </a:srgbClr>
          </a:solidFill>
          <a:ln w="12700" cap="flat" cmpd="sng">
            <a:solidFill>
              <a:srgbClr val="E60012">
                <a:alpha val="60000"/>
              </a:srgbClr>
            </a:solidFill>
            <a:prstDash val="solid"/>
            <a:round/>
            <a:headEnd type="none" w="med" len="med"/>
            <a:tailEnd type="none" w="med" len="med"/>
          </a:ln>
        </p:spPr>
      </p:cxnSp>
      <p:cxnSp>
        <p:nvCxnSpPr>
          <p:cNvPr id="9" name="Connector 9"/>
          <p:cNvCxnSpPr/>
          <p:nvPr/>
        </p:nvCxnSpPr>
        <p:spPr>
          <a:xfrm rot="-28647">
            <a:off x="9654272" y="6217801"/>
            <a:ext cx="1524282" cy="12702"/>
          </a:xfrm>
          <a:prstGeom prst="straightConnector1">
            <a:avLst/>
          </a:prstGeom>
          <a:solidFill>
            <a:srgbClr val="DEE0E3">
              <a:alpha val="100000"/>
            </a:srgbClr>
          </a:solidFill>
          <a:ln w="12700" cap="flat" cmpd="sng">
            <a:solidFill>
              <a:srgbClr val="E60012">
                <a:alpha val="60000"/>
              </a:srgbClr>
            </a:solidFill>
            <a:prstDash val="solid"/>
            <a:round/>
            <a:headEnd type="none" w="med" len="med"/>
            <a:tailEnd type="none" w="med" len="med"/>
          </a:ln>
        </p:spPr>
      </p:cxnSp>
      <p:pic>
        <p:nvPicPr>
          <p:cNvPr id="10" name="Picture 10"/>
          <p:cNvPicPr>
            <a:picLocks noChangeAspect="1"/>
          </p:cNvPicPr>
          <p:nvPr/>
        </p:nvPicPr>
        <p:blipFill>
          <a:blip r:embed="rId1"/>
          <a:stretch>
            <a:fillRect/>
          </a:stretch>
        </p:blipFill>
        <p:spPr>
          <a:xfrm>
            <a:off x="10670434" y="6191258"/>
            <a:ext cx="1524282" cy="66801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本体工程打造</a:t>
            </a:r>
            <a:r>
              <a:rPr lang="zh-CN" altLang="en-US"/>
              <a:t>过程</a:t>
            </a:r>
            <a:endParaRPr lang="zh-CN" altLang="en-US"/>
          </a:p>
        </p:txBody>
      </p:sp>
      <p:sp>
        <p:nvSpPr>
          <p:cNvPr id="3" name="矩形 2"/>
          <p:cNvSpPr/>
          <p:nvPr/>
        </p:nvSpPr>
        <p:spPr>
          <a:xfrm>
            <a:off x="624840" y="1197610"/>
            <a:ext cx="1391285" cy="30861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800"/>
              <a:t>流程设计</a:t>
            </a:r>
            <a:endParaRPr lang="zh-CN" altLang="en-US" sz="1800"/>
          </a:p>
        </p:txBody>
      </p:sp>
      <p:sp>
        <p:nvSpPr>
          <p:cNvPr id="5" name="矩形 4"/>
          <p:cNvSpPr/>
          <p:nvPr/>
        </p:nvSpPr>
        <p:spPr>
          <a:xfrm>
            <a:off x="2785110" y="1197610"/>
            <a:ext cx="1391285" cy="30861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800"/>
              <a:t>顶层设计</a:t>
            </a:r>
            <a:endParaRPr lang="zh-CN" altLang="en-US" sz="1800"/>
          </a:p>
        </p:txBody>
      </p:sp>
      <p:cxnSp>
        <p:nvCxnSpPr>
          <p:cNvPr id="6" name="直接箭头连接符 5"/>
          <p:cNvCxnSpPr>
            <a:stCxn id="3" idx="3"/>
            <a:endCxn id="5" idx="1"/>
          </p:cNvCxnSpPr>
          <p:nvPr/>
        </p:nvCxnSpPr>
        <p:spPr>
          <a:xfrm>
            <a:off x="2016125" y="1351915"/>
            <a:ext cx="76898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aphicFrame>
        <p:nvGraphicFramePr>
          <p:cNvPr id="7" name="对象 6">
            <a:hlinkClick r:id="" action="ppaction://ole?verb="/>
          </p:cNvPr>
          <p:cNvGraphicFramePr>
            <a:graphicFrameLocks noChangeAspect="1"/>
          </p:cNvGraphicFramePr>
          <p:nvPr/>
        </p:nvGraphicFramePr>
        <p:xfrm>
          <a:off x="3073400" y="1629410"/>
          <a:ext cx="971550" cy="666750"/>
        </p:xfrm>
        <a:graphic>
          <a:graphicData uri="http://schemas.openxmlformats.org/presentationml/2006/ole">
            <mc:AlternateContent xmlns:mc="http://schemas.openxmlformats.org/markup-compatibility/2006">
              <mc:Choice xmlns:v="urn:schemas-microsoft-com:vml" Requires="v">
                <p:oleObj spid="_x0000_s1026" name="" showAsIcon="1" r:id="rId1" imgW="971550" imgH="666750" progId="Package">
                  <p:embed/>
                </p:oleObj>
              </mc:Choice>
              <mc:Fallback>
                <p:oleObj name="" showAsIcon="1" r:id="rId1" imgW="971550" imgH="666750" progId="Package">
                  <p:embed/>
                  <p:pic>
                    <p:nvPicPr>
                      <p:cNvPr id="0" name="图片 1025"/>
                      <p:cNvPicPr/>
                      <p:nvPr/>
                    </p:nvPicPr>
                    <p:blipFill>
                      <a:blip r:embed="rId2"/>
                      <a:stretch>
                        <a:fillRect/>
                      </a:stretch>
                    </p:blipFill>
                    <p:spPr>
                      <a:xfrm>
                        <a:off x="3073400" y="1629410"/>
                        <a:ext cx="971550" cy="666750"/>
                      </a:xfrm>
                      <a:prstGeom prst="rect">
                        <a:avLst/>
                      </a:prstGeom>
                    </p:spPr>
                  </p:pic>
                </p:oleObj>
              </mc:Fallback>
            </mc:AlternateContent>
          </a:graphicData>
        </a:graphic>
      </p:graphicFrame>
      <p:sp>
        <p:nvSpPr>
          <p:cNvPr id="8" name="矩形 7"/>
          <p:cNvSpPr/>
          <p:nvPr/>
        </p:nvSpPr>
        <p:spPr>
          <a:xfrm>
            <a:off x="4729480" y="1197610"/>
            <a:ext cx="1391285" cy="30861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800"/>
              <a:t>BPMN</a:t>
            </a:r>
            <a:r>
              <a:rPr lang="zh-CN" altLang="en-US" sz="1800"/>
              <a:t>生成</a:t>
            </a:r>
            <a:endParaRPr lang="zh-CN" altLang="en-US" sz="1800"/>
          </a:p>
        </p:txBody>
      </p:sp>
      <p:cxnSp>
        <p:nvCxnSpPr>
          <p:cNvPr id="9" name="直接箭头连接符 8"/>
          <p:cNvCxnSpPr>
            <a:stCxn id="5" idx="3"/>
            <a:endCxn id="8" idx="1"/>
          </p:cNvCxnSpPr>
          <p:nvPr/>
        </p:nvCxnSpPr>
        <p:spPr>
          <a:xfrm>
            <a:off x="4176395" y="1351915"/>
            <a:ext cx="55308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aphicFrame>
        <p:nvGraphicFramePr>
          <p:cNvPr id="10" name="对象 9">
            <a:hlinkClick r:id="" action="ppaction://ole?verb="/>
          </p:cNvPr>
          <p:cNvGraphicFramePr>
            <a:graphicFrameLocks noChangeAspect="1"/>
          </p:cNvGraphicFramePr>
          <p:nvPr/>
        </p:nvGraphicFramePr>
        <p:xfrm>
          <a:off x="5017770" y="1629410"/>
          <a:ext cx="971550" cy="666750"/>
        </p:xfrm>
        <a:graphic>
          <a:graphicData uri="http://schemas.openxmlformats.org/presentationml/2006/ole">
            <mc:AlternateContent xmlns:mc="http://schemas.openxmlformats.org/markup-compatibility/2006">
              <mc:Choice xmlns:v="urn:schemas-microsoft-com:vml" Requires="v">
                <p:oleObj spid="_x0000_s1027" name="" showAsIcon="1" r:id="rId3" imgW="971550" imgH="666750" progId="Package">
                  <p:embed/>
                </p:oleObj>
              </mc:Choice>
              <mc:Fallback>
                <p:oleObj name="" showAsIcon="1" r:id="rId3" imgW="971550" imgH="666750" progId="Package">
                  <p:embed/>
                  <p:pic>
                    <p:nvPicPr>
                      <p:cNvPr id="0" name="图片 1026"/>
                      <p:cNvPicPr/>
                      <p:nvPr/>
                    </p:nvPicPr>
                    <p:blipFill>
                      <a:blip r:embed="rId4"/>
                      <a:stretch>
                        <a:fillRect/>
                      </a:stretch>
                    </p:blipFill>
                    <p:spPr>
                      <a:xfrm>
                        <a:off x="5017770" y="1629410"/>
                        <a:ext cx="971550" cy="666750"/>
                      </a:xfrm>
                      <a:prstGeom prst="rect">
                        <a:avLst/>
                      </a:prstGeom>
                    </p:spPr>
                  </p:pic>
                </p:oleObj>
              </mc:Fallback>
            </mc:AlternateContent>
          </a:graphicData>
        </a:graphic>
      </p:graphicFrame>
      <p:sp>
        <p:nvSpPr>
          <p:cNvPr id="11" name="矩形 10"/>
          <p:cNvSpPr/>
          <p:nvPr/>
        </p:nvSpPr>
        <p:spPr>
          <a:xfrm>
            <a:off x="6601460" y="1197610"/>
            <a:ext cx="2097405" cy="30861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t>按照</a:t>
            </a:r>
            <a:r>
              <a:rPr lang="en-US" altLang="zh-CN" sz="1200"/>
              <a:t>BPMN</a:t>
            </a:r>
            <a:r>
              <a:rPr lang="zh-CN" altLang="en-US" sz="1200"/>
              <a:t>的流程每一步来生成本体和</a:t>
            </a:r>
            <a:r>
              <a:rPr lang="zh-CN" altLang="en-US" sz="1200"/>
              <a:t>程序</a:t>
            </a:r>
            <a:endParaRPr lang="zh-CN" altLang="en-US" sz="1200"/>
          </a:p>
        </p:txBody>
      </p:sp>
      <p:cxnSp>
        <p:nvCxnSpPr>
          <p:cNvPr id="12" name="直接箭头连接符 11"/>
          <p:cNvCxnSpPr>
            <a:stCxn id="8" idx="3"/>
            <a:endCxn id="11" idx="1"/>
          </p:cNvCxnSpPr>
          <p:nvPr/>
        </p:nvCxnSpPr>
        <p:spPr>
          <a:xfrm>
            <a:off x="6120765" y="1351915"/>
            <a:ext cx="48069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aphicFrame>
        <p:nvGraphicFramePr>
          <p:cNvPr id="13" name="对象 12">
            <a:hlinkClick r:id="" action="ppaction://ole?verb="/>
          </p:cNvPr>
          <p:cNvGraphicFramePr>
            <a:graphicFrameLocks noChangeAspect="1"/>
          </p:cNvGraphicFramePr>
          <p:nvPr/>
        </p:nvGraphicFramePr>
        <p:xfrm>
          <a:off x="834390" y="1845945"/>
          <a:ext cx="971550" cy="666750"/>
        </p:xfrm>
        <a:graphic>
          <a:graphicData uri="http://schemas.openxmlformats.org/presentationml/2006/ole">
            <mc:AlternateContent xmlns:mc="http://schemas.openxmlformats.org/markup-compatibility/2006">
              <mc:Choice xmlns:v="urn:schemas-microsoft-com:vml" Requires="v">
                <p:oleObj spid="_x0000_s1028" name="" showAsIcon="1" r:id="rId5" imgW="971550" imgH="666750" progId="Package">
                  <p:embed/>
                </p:oleObj>
              </mc:Choice>
              <mc:Fallback>
                <p:oleObj name="" showAsIcon="1" r:id="rId5" imgW="971550" imgH="666750" progId="Package">
                  <p:embed/>
                  <p:pic>
                    <p:nvPicPr>
                      <p:cNvPr id="0" name="图片 1027"/>
                      <p:cNvPicPr/>
                      <p:nvPr/>
                    </p:nvPicPr>
                    <p:blipFill>
                      <a:blip r:embed="rId6"/>
                      <a:stretch>
                        <a:fillRect/>
                      </a:stretch>
                    </p:blipFill>
                    <p:spPr>
                      <a:xfrm>
                        <a:off x="834390" y="1845945"/>
                        <a:ext cx="971550" cy="666750"/>
                      </a:xfrm>
                      <a:prstGeom prst="rect">
                        <a:avLst/>
                      </a:prstGeom>
                    </p:spPr>
                  </p:pic>
                </p:oleObj>
              </mc:Fallback>
            </mc:AlternateContent>
          </a:graphicData>
        </a:graphic>
      </p:graphicFrame>
      <p:sp>
        <p:nvSpPr>
          <p:cNvPr id="15" name="矩形 14"/>
          <p:cNvSpPr/>
          <p:nvPr/>
        </p:nvSpPr>
        <p:spPr>
          <a:xfrm>
            <a:off x="9018270" y="1252855"/>
            <a:ext cx="1391285" cy="30861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t>大模型整体校验</a:t>
            </a:r>
            <a:endParaRPr lang="zh-CN" altLang="en-US" sz="12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10"/>
          <p:cNvSpPr/>
          <p:nvPr/>
        </p:nvSpPr>
        <p:spPr>
          <a:xfrm>
            <a:off x="833120" y="1064895"/>
            <a:ext cx="10665460" cy="659765"/>
          </a:xfrm>
          <a:prstGeom prst="rect">
            <a:avLst/>
          </a:prstGeom>
          <a:blipFill rotWithShape="1">
            <a:blip r:embed="rId1">
              <a:alphaModFix amt="100000"/>
              <a:alphaModFix amt="100000"/>
            </a:blip>
            <a:stretch>
              <a:fillRect/>
            </a:stretch>
          </a:blipFill>
          <a:ln>
            <a:headEnd type="none"/>
            <a:tailEnd type="none"/>
          </a:ln>
        </p:spPr>
      </p:sp>
      <p:sp>
        <p:nvSpPr>
          <p:cNvPr id="4" name="标题 3"/>
          <p:cNvSpPr/>
          <p:nvPr>
            <p:ph type="title"/>
          </p:nvPr>
        </p:nvSpPr>
        <p:spPr>
          <a:xfrm>
            <a:off x="335268" y="166371"/>
            <a:ext cx="10179584" cy="871739"/>
          </a:xfrm>
        </p:spPr>
        <p:txBody>
          <a:bodyPr>
            <a:normAutofit/>
          </a:bodyPr>
          <a:p>
            <a:r>
              <a:rPr lang="zh-CN" altLang="en-US"/>
              <a:t>本体-数据库交互机制</a:t>
            </a:r>
            <a:r>
              <a:rPr kumimoji="1" lang="en-US" altLang="zh-CN" sz="2000"/>
              <a:t>(</a:t>
            </a:r>
            <a:r>
              <a:rPr kumimoji="1" lang="en-US" altLang="zh-CN" sz="2000">
                <a:sym typeface="+mn-ea"/>
              </a:rPr>
              <a:t>Ontology-Database Interaction Mechanism)</a:t>
            </a:r>
            <a:endParaRPr kumimoji="1" lang="en-US" altLang="zh-CN" sz="2000"/>
          </a:p>
        </p:txBody>
      </p:sp>
      <p:sp>
        <p:nvSpPr>
          <p:cNvPr id="10" name="AutoShape 9"/>
          <p:cNvSpPr/>
          <p:nvPr>
            <p:custDataLst>
              <p:tags r:id="rId2"/>
            </p:custDataLst>
          </p:nvPr>
        </p:nvSpPr>
        <p:spPr>
          <a:xfrm>
            <a:off x="913130" y="1930400"/>
            <a:ext cx="3428365" cy="4094480"/>
          </a:xfrm>
          <a:prstGeom prst="roundRect">
            <a:avLst>
              <a:gd name="adj" fmla="val 1334"/>
            </a:avLst>
          </a:prstGeom>
          <a:solidFill>
            <a:srgbClr val="FFFFFF">
              <a:alpha val="100000"/>
            </a:srgbClr>
          </a:solidFill>
          <a:ln w="9525">
            <a:solidFill>
              <a:srgbClr val="ECECEC">
                <a:alpha val="100000"/>
              </a:srgbClr>
            </a:solidFill>
            <a:prstDash val="solid"/>
            <a:headEnd type="none"/>
            <a:tailEnd type="none"/>
          </a:ln>
        </p:spPr>
      </p:sp>
      <p:sp>
        <p:nvSpPr>
          <p:cNvPr id="11" name="AutoShape 10"/>
          <p:cNvSpPr/>
          <p:nvPr>
            <p:custDataLst>
              <p:tags r:id="rId3"/>
            </p:custDataLst>
          </p:nvPr>
        </p:nvSpPr>
        <p:spPr>
          <a:xfrm>
            <a:off x="1151255" y="2231390"/>
            <a:ext cx="419100" cy="457200"/>
          </a:xfrm>
          <a:prstGeom prst="ellipse">
            <a:avLst/>
          </a:prstGeom>
          <a:solidFill>
            <a:srgbClr val="C00000"/>
          </a:solidFill>
          <a:ln>
            <a:headEnd type="none"/>
            <a:tailEnd type="none"/>
          </a:ln>
        </p:spPr>
      </p:sp>
      <p:sp>
        <p:nvSpPr>
          <p:cNvPr id="12" name="AutoShape 11"/>
          <p:cNvSpPr/>
          <p:nvPr>
            <p:custDataLst>
              <p:tags r:id="rId4"/>
            </p:custDataLst>
          </p:nvPr>
        </p:nvSpPr>
        <p:spPr>
          <a:xfrm>
            <a:off x="1265555" y="2356485"/>
            <a:ext cx="190500" cy="207645"/>
          </a:xfrm>
          <a:custGeom>
            <a:avLst/>
            <a:gdLst/>
            <a:ahLst/>
            <a:cxnLst/>
            <a:rect l="l" t="t" r="r" b="b"/>
            <a:pathLst>
              <a:path w="9998" h="10000">
                <a:moveTo>
                  <a:pt x="8123" y="4063"/>
                </a:moveTo>
                <a:cubicBezTo>
                  <a:pt x="8110" y="4974"/>
                  <a:pt x="7850" y="5775"/>
                  <a:pt x="7342" y="6465"/>
                </a:cubicBezTo>
                <a:lnTo>
                  <a:pt x="9822" y="8926"/>
                </a:lnTo>
                <a:cubicBezTo>
                  <a:pt x="9939" y="9056"/>
                  <a:pt x="9998" y="9205"/>
                  <a:pt x="9998" y="9375"/>
                </a:cubicBezTo>
                <a:cubicBezTo>
                  <a:pt x="9998" y="9544"/>
                  <a:pt x="9939" y="9694"/>
                  <a:pt x="9822" y="9824"/>
                </a:cubicBezTo>
                <a:cubicBezTo>
                  <a:pt x="9692" y="9941"/>
                  <a:pt x="9542" y="10000"/>
                  <a:pt x="9373" y="10000"/>
                </a:cubicBezTo>
                <a:cubicBezTo>
                  <a:pt x="9203" y="10000"/>
                  <a:pt x="9054" y="9941"/>
                  <a:pt x="8924" y="9824"/>
                </a:cubicBezTo>
                <a:lnTo>
                  <a:pt x="6464" y="7344"/>
                </a:lnTo>
                <a:cubicBezTo>
                  <a:pt x="5774" y="7851"/>
                  <a:pt x="4973" y="8111"/>
                  <a:pt x="4062" y="8125"/>
                </a:cubicBezTo>
                <a:cubicBezTo>
                  <a:pt x="2916" y="8099"/>
                  <a:pt x="1959" y="7702"/>
                  <a:pt x="1191" y="6934"/>
                </a:cubicBezTo>
                <a:cubicBezTo>
                  <a:pt x="423" y="6165"/>
                  <a:pt x="26" y="5208"/>
                  <a:pt x="0" y="4063"/>
                </a:cubicBezTo>
                <a:cubicBezTo>
                  <a:pt x="26" y="2917"/>
                  <a:pt x="423" y="1959"/>
                  <a:pt x="1191" y="1191"/>
                </a:cubicBezTo>
                <a:cubicBezTo>
                  <a:pt x="1959" y="423"/>
                  <a:pt x="2916" y="26"/>
                  <a:pt x="4062" y="0"/>
                </a:cubicBezTo>
                <a:cubicBezTo>
                  <a:pt x="5207" y="26"/>
                  <a:pt x="6164" y="423"/>
                  <a:pt x="6932" y="1191"/>
                </a:cubicBezTo>
                <a:cubicBezTo>
                  <a:pt x="7700" y="1959"/>
                  <a:pt x="8097" y="2917"/>
                  <a:pt x="8123" y="4063"/>
                </a:cubicBezTo>
                <a:moveTo>
                  <a:pt x="4062" y="6875"/>
                </a:moveTo>
                <a:cubicBezTo>
                  <a:pt x="4569" y="6875"/>
                  <a:pt x="5038" y="6751"/>
                  <a:pt x="5468" y="6504"/>
                </a:cubicBezTo>
                <a:cubicBezTo>
                  <a:pt x="5897" y="6256"/>
                  <a:pt x="6242" y="5911"/>
                  <a:pt x="6503" y="5469"/>
                </a:cubicBezTo>
                <a:cubicBezTo>
                  <a:pt x="6750" y="5026"/>
                  <a:pt x="6874" y="4557"/>
                  <a:pt x="6874" y="4063"/>
                </a:cubicBezTo>
                <a:cubicBezTo>
                  <a:pt x="6874" y="3567"/>
                  <a:pt x="6750" y="3098"/>
                  <a:pt x="6503" y="2656"/>
                </a:cubicBezTo>
                <a:cubicBezTo>
                  <a:pt x="6242" y="2213"/>
                  <a:pt x="5897" y="1868"/>
                  <a:pt x="5468" y="1621"/>
                </a:cubicBezTo>
                <a:cubicBezTo>
                  <a:pt x="5038" y="1373"/>
                  <a:pt x="4569" y="1250"/>
                  <a:pt x="4062" y="1250"/>
                </a:cubicBezTo>
                <a:cubicBezTo>
                  <a:pt x="3554" y="1250"/>
                  <a:pt x="3085" y="1373"/>
                  <a:pt x="2656" y="1621"/>
                </a:cubicBezTo>
                <a:cubicBezTo>
                  <a:pt x="2226" y="1868"/>
                  <a:pt x="1881" y="2213"/>
                  <a:pt x="1621" y="2656"/>
                </a:cubicBezTo>
                <a:cubicBezTo>
                  <a:pt x="1373" y="3098"/>
                  <a:pt x="1250" y="3567"/>
                  <a:pt x="1250" y="4063"/>
                </a:cubicBezTo>
                <a:cubicBezTo>
                  <a:pt x="1250" y="4557"/>
                  <a:pt x="1373" y="5026"/>
                  <a:pt x="1621" y="5469"/>
                </a:cubicBezTo>
                <a:cubicBezTo>
                  <a:pt x="1881" y="5911"/>
                  <a:pt x="2226" y="6256"/>
                  <a:pt x="2656" y="6504"/>
                </a:cubicBezTo>
                <a:cubicBezTo>
                  <a:pt x="3085" y="6751"/>
                  <a:pt x="3554" y="6875"/>
                  <a:pt x="4062" y="6875"/>
                </a:cubicBezTo>
              </a:path>
            </a:pathLst>
          </a:custGeom>
          <a:solidFill>
            <a:srgbClr val="FFFFFF">
              <a:alpha val="100000"/>
            </a:srgbClr>
          </a:solidFill>
          <a:ln>
            <a:headEnd type="none"/>
            <a:tailEnd type="none"/>
          </a:ln>
        </p:spPr>
      </p:sp>
      <p:sp>
        <p:nvSpPr>
          <p:cNvPr id="13" name="TextBox 12"/>
          <p:cNvSpPr txBox="1"/>
          <p:nvPr>
            <p:custDataLst>
              <p:tags r:id="rId5"/>
            </p:custDataLst>
          </p:nvPr>
        </p:nvSpPr>
        <p:spPr>
          <a:xfrm>
            <a:off x="1684020" y="2322830"/>
            <a:ext cx="2171700" cy="259715"/>
          </a:xfrm>
          <a:prstGeom prst="rect">
            <a:avLst/>
          </a:prstGeom>
          <a:ln>
            <a:headEnd type="none"/>
            <a:tailEnd type="none"/>
          </a:ln>
        </p:spPr>
        <p:txBody>
          <a:bodyPr vert="horz" wrap="none" lIns="0" tIns="0" rIns="0" bIns="0" rtlCol="0" anchor="t" anchorCtr="0"/>
          <a:lstStyle/>
          <a:p>
            <a:pPr algn="l">
              <a:defRPr/>
            </a:pPr>
            <a:r>
              <a:rPr lang="en-US" sz="20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SPARQL查询执行路径</a:t>
            </a:r>
            <a:endParaRPr lang="en-US" sz="20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AutoShape 17"/>
          <p:cNvSpPr/>
          <p:nvPr>
            <p:custDataLst>
              <p:tags r:id="rId6"/>
            </p:custDataLst>
          </p:nvPr>
        </p:nvSpPr>
        <p:spPr>
          <a:xfrm>
            <a:off x="1151255" y="5968365"/>
            <a:ext cx="2952115" cy="10160"/>
          </a:xfrm>
          <a:prstGeom prst="line">
            <a:avLst/>
          </a:prstGeom>
          <a:ln w="9525">
            <a:solidFill>
              <a:srgbClr val="ECECEC">
                <a:alpha val="100000"/>
              </a:srgbClr>
            </a:solidFill>
            <a:prstDash val="solid"/>
            <a:headEnd type="none"/>
            <a:tailEnd type="none"/>
          </a:ln>
        </p:spPr>
      </p:sp>
      <p:sp>
        <p:nvSpPr>
          <p:cNvPr id="19" name="TextBox 18"/>
          <p:cNvSpPr txBox="1"/>
          <p:nvPr>
            <p:custDataLst>
              <p:tags r:id="rId7"/>
            </p:custDataLst>
          </p:nvPr>
        </p:nvSpPr>
        <p:spPr>
          <a:xfrm>
            <a:off x="1151255" y="6021705"/>
            <a:ext cx="2952115" cy="124460"/>
          </a:xfrm>
          <a:prstGeom prst="rect">
            <a:avLst/>
          </a:prstGeom>
          <a:ln>
            <a:headEnd type="none"/>
            <a:tailEnd type="none"/>
          </a:ln>
        </p:spPr>
        <p:txBody>
          <a:bodyPr vert="horz" wrap="none" lIns="0" tIns="0" rIns="0" bIns="0" rtlCol="0" anchor="t" anchorCtr="0"/>
          <a:lstStyle/>
          <a:p>
            <a:pPr algn="l">
              <a:defRPr/>
            </a:pPr>
            <a:r>
              <a:rPr lang="en-US" sz="1200" b="1" i="0" strike="noStrike">
                <a:solidFill>
                  <a:srgbClr val="C00000">
                    <a:alpha val="100000"/>
                  </a:srgbClr>
                </a:solidFill>
                <a:latin typeface="微软雅黑" panose="020B0503020204020204" pitchFamily="34" charset="-122"/>
                <a:ea typeface="微软雅黑" panose="020B0503020204020204" pitchFamily="34" charset="-122"/>
                <a:cs typeface="Poppins" panose="00000500000000000000"/>
              </a:rPr>
              <a:t>QUERY PATH</a:t>
            </a:r>
            <a:endParaRPr lang="en-US" sz="1200" b="1" i="0" strike="noStrike">
              <a:solidFill>
                <a:srgbClr val="C00000">
                  <a:alpha val="100000"/>
                </a:srgbClr>
              </a:solidFill>
              <a:latin typeface="微软雅黑" panose="020B0503020204020204" pitchFamily="34" charset="-122"/>
              <a:ea typeface="微软雅黑" panose="020B0503020204020204" pitchFamily="34" charset="-122"/>
              <a:cs typeface="Poppins" panose="00000500000000000000"/>
            </a:endParaRPr>
          </a:p>
        </p:txBody>
      </p:sp>
      <p:sp>
        <p:nvSpPr>
          <p:cNvPr id="20" name="AutoShape 19"/>
          <p:cNvSpPr/>
          <p:nvPr>
            <p:custDataLst>
              <p:tags r:id="rId8"/>
            </p:custDataLst>
          </p:nvPr>
        </p:nvSpPr>
        <p:spPr>
          <a:xfrm>
            <a:off x="4531360" y="1930400"/>
            <a:ext cx="3428365" cy="4094480"/>
          </a:xfrm>
          <a:prstGeom prst="roundRect">
            <a:avLst>
              <a:gd name="adj" fmla="val 1334"/>
            </a:avLst>
          </a:prstGeom>
          <a:solidFill>
            <a:srgbClr val="FFFFFF">
              <a:alpha val="100000"/>
            </a:srgbClr>
          </a:solidFill>
          <a:ln w="9525">
            <a:solidFill>
              <a:srgbClr val="ECECEC">
                <a:alpha val="100000"/>
              </a:srgbClr>
            </a:solidFill>
            <a:prstDash val="solid"/>
            <a:headEnd type="none"/>
            <a:tailEnd type="none"/>
          </a:ln>
        </p:spPr>
      </p:sp>
      <p:sp>
        <p:nvSpPr>
          <p:cNvPr id="21" name="AutoShape 20"/>
          <p:cNvSpPr/>
          <p:nvPr>
            <p:custDataLst>
              <p:tags r:id="rId9"/>
            </p:custDataLst>
          </p:nvPr>
        </p:nvSpPr>
        <p:spPr>
          <a:xfrm>
            <a:off x="4769485" y="2231390"/>
            <a:ext cx="419100" cy="457200"/>
          </a:xfrm>
          <a:prstGeom prst="ellipse">
            <a:avLst/>
          </a:prstGeom>
          <a:solidFill>
            <a:srgbClr val="C00000"/>
          </a:solidFill>
          <a:ln>
            <a:headEnd type="none"/>
            <a:tailEnd type="none"/>
          </a:ln>
        </p:spPr>
      </p:sp>
      <p:sp>
        <p:nvSpPr>
          <p:cNvPr id="22" name="AutoShape 21"/>
          <p:cNvSpPr/>
          <p:nvPr>
            <p:custDataLst>
              <p:tags r:id="rId10"/>
            </p:custDataLst>
          </p:nvPr>
        </p:nvSpPr>
        <p:spPr>
          <a:xfrm>
            <a:off x="4883785" y="2356485"/>
            <a:ext cx="190500" cy="207645"/>
          </a:xfrm>
          <a:custGeom>
            <a:avLst/>
            <a:gdLst/>
            <a:ahLst/>
            <a:cxnLst/>
            <a:rect l="l" t="t" r="r" b="b"/>
            <a:pathLst>
              <a:path w="9998" h="10000">
                <a:moveTo>
                  <a:pt x="9303" y="5255"/>
                </a:moveTo>
                <a:cubicBezTo>
                  <a:pt x="9766" y="4617"/>
                  <a:pt x="9998" y="3886"/>
                  <a:pt x="9998" y="3064"/>
                </a:cubicBezTo>
                <a:cubicBezTo>
                  <a:pt x="9998" y="2255"/>
                  <a:pt x="9766" y="1532"/>
                  <a:pt x="9303" y="894"/>
                </a:cubicBezTo>
                <a:cubicBezTo>
                  <a:pt x="8872" y="368"/>
                  <a:pt x="8370" y="70"/>
                  <a:pt x="7796" y="0"/>
                </a:cubicBezTo>
                <a:cubicBezTo>
                  <a:pt x="7233" y="-56"/>
                  <a:pt x="6709" y="134"/>
                  <a:pt x="6224" y="574"/>
                </a:cubicBezTo>
                <a:lnTo>
                  <a:pt x="6191" y="596"/>
                </a:lnTo>
                <a:cubicBezTo>
                  <a:pt x="6069" y="709"/>
                  <a:pt x="5998" y="858"/>
                  <a:pt x="5976" y="1043"/>
                </a:cubicBezTo>
                <a:cubicBezTo>
                  <a:pt x="5954" y="1213"/>
                  <a:pt x="5987" y="1383"/>
                  <a:pt x="6075" y="1553"/>
                </a:cubicBezTo>
                <a:cubicBezTo>
                  <a:pt x="6163" y="1695"/>
                  <a:pt x="6273" y="1780"/>
                  <a:pt x="6406" y="1809"/>
                </a:cubicBezTo>
                <a:cubicBezTo>
                  <a:pt x="6549" y="1851"/>
                  <a:pt x="6681" y="1815"/>
                  <a:pt x="6803" y="1702"/>
                </a:cubicBezTo>
                <a:lnTo>
                  <a:pt x="6836" y="1681"/>
                </a:lnTo>
                <a:cubicBezTo>
                  <a:pt x="7112" y="1439"/>
                  <a:pt x="7404" y="1333"/>
                  <a:pt x="7714" y="1362"/>
                </a:cubicBezTo>
                <a:cubicBezTo>
                  <a:pt x="8034" y="1390"/>
                  <a:pt x="8315" y="1553"/>
                  <a:pt x="8558" y="1851"/>
                </a:cubicBezTo>
                <a:cubicBezTo>
                  <a:pt x="8812" y="2205"/>
                  <a:pt x="8939" y="2610"/>
                  <a:pt x="8939" y="3064"/>
                </a:cubicBezTo>
                <a:cubicBezTo>
                  <a:pt x="8939" y="3532"/>
                  <a:pt x="8812" y="3936"/>
                  <a:pt x="8558" y="4277"/>
                </a:cubicBezTo>
                <a:lnTo>
                  <a:pt x="6687" y="6681"/>
                </a:lnTo>
                <a:cubicBezTo>
                  <a:pt x="6411" y="7007"/>
                  <a:pt x="6097" y="7170"/>
                  <a:pt x="5744" y="7170"/>
                </a:cubicBezTo>
                <a:cubicBezTo>
                  <a:pt x="5390" y="7170"/>
                  <a:pt x="5076" y="7007"/>
                  <a:pt x="4800" y="6681"/>
                </a:cubicBezTo>
                <a:cubicBezTo>
                  <a:pt x="4568" y="6369"/>
                  <a:pt x="4442" y="6007"/>
                  <a:pt x="4420" y="5596"/>
                </a:cubicBezTo>
                <a:cubicBezTo>
                  <a:pt x="4398" y="5198"/>
                  <a:pt x="4480" y="4822"/>
                  <a:pt x="4668" y="4468"/>
                </a:cubicBezTo>
                <a:lnTo>
                  <a:pt x="4684" y="4426"/>
                </a:lnTo>
                <a:cubicBezTo>
                  <a:pt x="4761" y="4269"/>
                  <a:pt x="4789" y="4106"/>
                  <a:pt x="4767" y="3936"/>
                </a:cubicBezTo>
                <a:cubicBezTo>
                  <a:pt x="4745" y="3752"/>
                  <a:pt x="4673" y="3603"/>
                  <a:pt x="4552" y="3489"/>
                </a:cubicBezTo>
                <a:cubicBezTo>
                  <a:pt x="4430" y="3375"/>
                  <a:pt x="4303" y="3333"/>
                  <a:pt x="4171" y="3362"/>
                </a:cubicBezTo>
                <a:cubicBezTo>
                  <a:pt x="4027" y="3390"/>
                  <a:pt x="3912" y="3482"/>
                  <a:pt x="3824" y="3638"/>
                </a:cubicBezTo>
                <a:lnTo>
                  <a:pt x="3807" y="3681"/>
                </a:lnTo>
                <a:cubicBezTo>
                  <a:pt x="3465" y="4305"/>
                  <a:pt x="3316" y="4985"/>
                  <a:pt x="3360" y="5723"/>
                </a:cubicBezTo>
                <a:cubicBezTo>
                  <a:pt x="3404" y="6447"/>
                  <a:pt x="3635" y="7085"/>
                  <a:pt x="4055" y="7638"/>
                </a:cubicBezTo>
                <a:cubicBezTo>
                  <a:pt x="4551" y="8234"/>
                  <a:pt x="5114" y="8532"/>
                  <a:pt x="5744" y="8532"/>
                </a:cubicBezTo>
                <a:cubicBezTo>
                  <a:pt x="6384" y="8532"/>
                  <a:pt x="6952" y="8234"/>
                  <a:pt x="7449" y="7638"/>
                </a:cubicBezTo>
                <a:lnTo>
                  <a:pt x="9303" y="5255"/>
                </a:lnTo>
                <a:moveTo>
                  <a:pt x="695" y="4745"/>
                </a:moveTo>
                <a:cubicBezTo>
                  <a:pt x="231" y="5383"/>
                  <a:pt x="0" y="6113"/>
                  <a:pt x="0" y="6936"/>
                </a:cubicBezTo>
                <a:cubicBezTo>
                  <a:pt x="0" y="7744"/>
                  <a:pt x="231" y="8468"/>
                  <a:pt x="695" y="9106"/>
                </a:cubicBezTo>
                <a:cubicBezTo>
                  <a:pt x="1125" y="9631"/>
                  <a:pt x="1628" y="9929"/>
                  <a:pt x="2202" y="10000"/>
                </a:cubicBezTo>
                <a:cubicBezTo>
                  <a:pt x="2764" y="10056"/>
                  <a:pt x="3294" y="9865"/>
                  <a:pt x="3791" y="9426"/>
                </a:cubicBezTo>
                <a:lnTo>
                  <a:pt x="3807" y="9404"/>
                </a:lnTo>
                <a:cubicBezTo>
                  <a:pt x="3928" y="9290"/>
                  <a:pt x="4000" y="9141"/>
                  <a:pt x="4022" y="8957"/>
                </a:cubicBezTo>
                <a:cubicBezTo>
                  <a:pt x="4044" y="8787"/>
                  <a:pt x="4016" y="8617"/>
                  <a:pt x="3940" y="8447"/>
                </a:cubicBezTo>
                <a:cubicBezTo>
                  <a:pt x="3840" y="8305"/>
                  <a:pt x="3724" y="8219"/>
                  <a:pt x="3592" y="8191"/>
                </a:cubicBezTo>
                <a:cubicBezTo>
                  <a:pt x="3448" y="8149"/>
                  <a:pt x="3316" y="8184"/>
                  <a:pt x="3195" y="8298"/>
                </a:cubicBezTo>
                <a:lnTo>
                  <a:pt x="3162" y="8319"/>
                </a:lnTo>
                <a:cubicBezTo>
                  <a:pt x="2886" y="8560"/>
                  <a:pt x="2593" y="8666"/>
                  <a:pt x="2284" y="8638"/>
                </a:cubicBezTo>
                <a:cubicBezTo>
                  <a:pt x="1964" y="8610"/>
                  <a:pt x="1682" y="8447"/>
                  <a:pt x="1440" y="8149"/>
                </a:cubicBezTo>
                <a:cubicBezTo>
                  <a:pt x="1186" y="7794"/>
                  <a:pt x="1059" y="7390"/>
                  <a:pt x="1059" y="6936"/>
                </a:cubicBezTo>
                <a:cubicBezTo>
                  <a:pt x="1059" y="6468"/>
                  <a:pt x="1191" y="6063"/>
                  <a:pt x="1457" y="5723"/>
                </a:cubicBezTo>
                <a:lnTo>
                  <a:pt x="3311" y="3319"/>
                </a:lnTo>
                <a:cubicBezTo>
                  <a:pt x="3586" y="2993"/>
                  <a:pt x="3900" y="2830"/>
                  <a:pt x="4254" y="2830"/>
                </a:cubicBezTo>
                <a:cubicBezTo>
                  <a:pt x="4607" y="2830"/>
                  <a:pt x="4922" y="2993"/>
                  <a:pt x="5198" y="3319"/>
                </a:cubicBezTo>
                <a:cubicBezTo>
                  <a:pt x="5429" y="3631"/>
                  <a:pt x="5556" y="3992"/>
                  <a:pt x="5578" y="4404"/>
                </a:cubicBezTo>
                <a:cubicBezTo>
                  <a:pt x="5600" y="4801"/>
                  <a:pt x="5517" y="5177"/>
                  <a:pt x="5330" y="5532"/>
                </a:cubicBezTo>
                <a:lnTo>
                  <a:pt x="5314" y="5574"/>
                </a:lnTo>
                <a:cubicBezTo>
                  <a:pt x="5236" y="5730"/>
                  <a:pt x="5209" y="5901"/>
                  <a:pt x="5231" y="6085"/>
                </a:cubicBezTo>
                <a:cubicBezTo>
                  <a:pt x="5253" y="6255"/>
                  <a:pt x="5324" y="6397"/>
                  <a:pt x="5446" y="6511"/>
                </a:cubicBezTo>
                <a:cubicBezTo>
                  <a:pt x="5567" y="6624"/>
                  <a:pt x="5694" y="6666"/>
                  <a:pt x="5827" y="6638"/>
                </a:cubicBezTo>
                <a:cubicBezTo>
                  <a:pt x="5970" y="6610"/>
                  <a:pt x="6086" y="6518"/>
                  <a:pt x="6174" y="6362"/>
                </a:cubicBezTo>
                <a:lnTo>
                  <a:pt x="6191" y="6319"/>
                </a:lnTo>
                <a:cubicBezTo>
                  <a:pt x="6533" y="5695"/>
                  <a:pt x="6682" y="5014"/>
                  <a:pt x="6638" y="4277"/>
                </a:cubicBezTo>
                <a:cubicBezTo>
                  <a:pt x="6594" y="3553"/>
                  <a:pt x="6362" y="2914"/>
                  <a:pt x="5943" y="2362"/>
                </a:cubicBezTo>
                <a:cubicBezTo>
                  <a:pt x="5446" y="1766"/>
                  <a:pt x="4883" y="1468"/>
                  <a:pt x="4254" y="1468"/>
                </a:cubicBezTo>
                <a:cubicBezTo>
                  <a:pt x="3614" y="1468"/>
                  <a:pt x="3051" y="1766"/>
                  <a:pt x="2566" y="2362"/>
                </a:cubicBezTo>
              </a:path>
            </a:pathLst>
          </a:custGeom>
          <a:solidFill>
            <a:srgbClr val="FFFFFF">
              <a:alpha val="100000"/>
            </a:srgbClr>
          </a:solidFill>
          <a:ln>
            <a:headEnd type="none"/>
            <a:tailEnd type="none"/>
          </a:ln>
        </p:spPr>
      </p:sp>
      <p:sp>
        <p:nvSpPr>
          <p:cNvPr id="23" name="TextBox 22"/>
          <p:cNvSpPr txBox="1"/>
          <p:nvPr>
            <p:custDataLst>
              <p:tags r:id="rId11"/>
            </p:custDataLst>
          </p:nvPr>
        </p:nvSpPr>
        <p:spPr>
          <a:xfrm>
            <a:off x="5302885" y="2322830"/>
            <a:ext cx="1931035" cy="259715"/>
          </a:xfrm>
          <a:prstGeom prst="rect">
            <a:avLst/>
          </a:prstGeom>
          <a:ln>
            <a:headEnd type="none"/>
            <a:tailEnd type="none"/>
          </a:ln>
        </p:spPr>
        <p:txBody>
          <a:bodyPr vert="horz" wrap="none" lIns="0" tIns="0" rIns="0" bIns="0" rtlCol="0" anchor="t" anchorCtr="0"/>
          <a:lstStyle/>
          <a:p>
            <a:pPr algn="l">
              <a:defRPr/>
            </a:pPr>
            <a:r>
              <a:rPr lang="en-US" sz="20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OBDA虚拟映射原理</a:t>
            </a:r>
            <a:endParaRPr lang="en-US" sz="20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 name="AutoShape 27"/>
          <p:cNvSpPr/>
          <p:nvPr>
            <p:custDataLst>
              <p:tags r:id="rId12"/>
            </p:custDataLst>
          </p:nvPr>
        </p:nvSpPr>
        <p:spPr>
          <a:xfrm>
            <a:off x="4769485" y="5968365"/>
            <a:ext cx="2952115" cy="10160"/>
          </a:xfrm>
          <a:prstGeom prst="line">
            <a:avLst/>
          </a:prstGeom>
          <a:ln w="9525">
            <a:solidFill>
              <a:srgbClr val="ECECEC">
                <a:alpha val="100000"/>
              </a:srgbClr>
            </a:solidFill>
            <a:prstDash val="solid"/>
            <a:headEnd type="none"/>
            <a:tailEnd type="none"/>
          </a:ln>
        </p:spPr>
      </p:sp>
      <p:sp>
        <p:nvSpPr>
          <p:cNvPr id="29" name="TextBox 28"/>
          <p:cNvSpPr txBox="1"/>
          <p:nvPr>
            <p:custDataLst>
              <p:tags r:id="rId13"/>
            </p:custDataLst>
          </p:nvPr>
        </p:nvSpPr>
        <p:spPr>
          <a:xfrm>
            <a:off x="4769485" y="6021705"/>
            <a:ext cx="2952115" cy="124460"/>
          </a:xfrm>
          <a:prstGeom prst="rect">
            <a:avLst/>
          </a:prstGeom>
          <a:ln>
            <a:headEnd type="none"/>
            <a:tailEnd type="none"/>
          </a:ln>
        </p:spPr>
        <p:txBody>
          <a:bodyPr vert="horz" wrap="none" lIns="0" tIns="0" rIns="0" bIns="0" rtlCol="0" anchor="t" anchorCtr="0"/>
          <a:lstStyle/>
          <a:p>
            <a:pPr algn="l">
              <a:defRPr/>
            </a:pPr>
            <a:r>
              <a:rPr lang="en-US" sz="1200" b="1" i="0" strike="noStrike">
                <a:solidFill>
                  <a:srgbClr val="C00000">
                    <a:alpha val="100000"/>
                  </a:srgbClr>
                </a:solidFill>
                <a:latin typeface="微软雅黑" panose="020B0503020204020204" pitchFamily="34" charset="-122"/>
                <a:ea typeface="微软雅黑" panose="020B0503020204020204" pitchFamily="34" charset="-122"/>
                <a:cs typeface="Poppins" panose="00000500000000000000"/>
              </a:rPr>
              <a:t>MAPPING LAYER</a:t>
            </a:r>
            <a:endParaRPr lang="en-US" sz="1200" b="1" i="0" strike="noStrike">
              <a:solidFill>
                <a:srgbClr val="C00000">
                  <a:alpha val="100000"/>
                </a:srgbClr>
              </a:solidFill>
              <a:latin typeface="微软雅黑" panose="020B0503020204020204" pitchFamily="34" charset="-122"/>
              <a:ea typeface="微软雅黑" panose="020B0503020204020204" pitchFamily="34" charset="-122"/>
              <a:cs typeface="Poppins" panose="00000500000000000000"/>
            </a:endParaRPr>
          </a:p>
        </p:txBody>
      </p:sp>
      <p:sp>
        <p:nvSpPr>
          <p:cNvPr id="30" name="AutoShape 29"/>
          <p:cNvSpPr/>
          <p:nvPr>
            <p:custDataLst>
              <p:tags r:id="rId14"/>
            </p:custDataLst>
          </p:nvPr>
        </p:nvSpPr>
        <p:spPr>
          <a:xfrm>
            <a:off x="8150225" y="1930400"/>
            <a:ext cx="3428365" cy="4094480"/>
          </a:xfrm>
          <a:prstGeom prst="roundRect">
            <a:avLst>
              <a:gd name="adj" fmla="val 1334"/>
            </a:avLst>
          </a:prstGeom>
          <a:solidFill>
            <a:srgbClr val="FFFFFF">
              <a:alpha val="100000"/>
            </a:srgbClr>
          </a:solidFill>
          <a:ln w="9525">
            <a:solidFill>
              <a:srgbClr val="ECECEC">
                <a:alpha val="100000"/>
              </a:srgbClr>
            </a:solidFill>
            <a:prstDash val="solid"/>
            <a:headEnd type="none"/>
            <a:tailEnd type="none"/>
          </a:ln>
        </p:spPr>
      </p:sp>
      <p:sp>
        <p:nvSpPr>
          <p:cNvPr id="31" name="AutoShape 30"/>
          <p:cNvSpPr/>
          <p:nvPr>
            <p:custDataLst>
              <p:tags r:id="rId15"/>
            </p:custDataLst>
          </p:nvPr>
        </p:nvSpPr>
        <p:spPr>
          <a:xfrm>
            <a:off x="8388350" y="2231390"/>
            <a:ext cx="419100" cy="457200"/>
          </a:xfrm>
          <a:prstGeom prst="ellipse">
            <a:avLst/>
          </a:prstGeom>
          <a:solidFill>
            <a:srgbClr val="C00000"/>
          </a:solidFill>
          <a:ln>
            <a:headEnd type="none"/>
            <a:tailEnd type="none"/>
          </a:ln>
        </p:spPr>
      </p:sp>
      <p:sp>
        <p:nvSpPr>
          <p:cNvPr id="32" name="AutoShape 31"/>
          <p:cNvSpPr/>
          <p:nvPr>
            <p:custDataLst>
              <p:tags r:id="rId16"/>
            </p:custDataLst>
          </p:nvPr>
        </p:nvSpPr>
        <p:spPr>
          <a:xfrm>
            <a:off x="8502650" y="2356485"/>
            <a:ext cx="190500" cy="207645"/>
          </a:xfrm>
          <a:custGeom>
            <a:avLst/>
            <a:gdLst/>
            <a:ahLst/>
            <a:cxnLst/>
            <a:rect l="l" t="t" r="r" b="b"/>
            <a:pathLst>
              <a:path w="9998" h="10000">
                <a:moveTo>
                  <a:pt x="5051" y="895"/>
                </a:moveTo>
                <a:lnTo>
                  <a:pt x="6405" y="1471"/>
                </a:lnTo>
                <a:lnTo>
                  <a:pt x="5051" y="895"/>
                </a:lnTo>
                <a:lnTo>
                  <a:pt x="6405" y="1471"/>
                </a:lnTo>
                <a:lnTo>
                  <a:pt x="4999" y="2107"/>
                </a:lnTo>
                <a:lnTo>
                  <a:pt x="3593" y="1471"/>
                </a:lnTo>
                <a:lnTo>
                  <a:pt x="4947" y="895"/>
                </a:lnTo>
                <a:cubicBezTo>
                  <a:pt x="4981" y="881"/>
                  <a:pt x="5016" y="881"/>
                  <a:pt x="5051" y="895"/>
                </a:cubicBezTo>
                <a:moveTo>
                  <a:pt x="2361" y="1769"/>
                </a:moveTo>
                <a:lnTo>
                  <a:pt x="2361" y="3996"/>
                </a:lnTo>
                <a:lnTo>
                  <a:pt x="2361" y="1769"/>
                </a:lnTo>
                <a:lnTo>
                  <a:pt x="2361" y="3996"/>
                </a:lnTo>
                <a:cubicBezTo>
                  <a:pt x="2337" y="3996"/>
                  <a:pt x="2314" y="4002"/>
                  <a:pt x="2291" y="4016"/>
                </a:cubicBezTo>
                <a:lnTo>
                  <a:pt x="625" y="4732"/>
                </a:lnTo>
                <a:cubicBezTo>
                  <a:pt x="231" y="4930"/>
                  <a:pt x="23" y="5281"/>
                  <a:pt x="0" y="5785"/>
                </a:cubicBezTo>
                <a:lnTo>
                  <a:pt x="0" y="8151"/>
                </a:lnTo>
                <a:cubicBezTo>
                  <a:pt x="11" y="8615"/>
                  <a:pt x="208" y="8953"/>
                  <a:pt x="590" y="9165"/>
                </a:cubicBezTo>
                <a:lnTo>
                  <a:pt x="2256" y="10000"/>
                </a:lnTo>
                <a:cubicBezTo>
                  <a:pt x="2510" y="10132"/>
                  <a:pt x="2771" y="10132"/>
                  <a:pt x="3038" y="10000"/>
                </a:cubicBezTo>
                <a:lnTo>
                  <a:pt x="4999" y="9026"/>
                </a:lnTo>
                <a:lnTo>
                  <a:pt x="6978" y="10000"/>
                </a:lnTo>
                <a:cubicBezTo>
                  <a:pt x="7232" y="10132"/>
                  <a:pt x="7493" y="10132"/>
                  <a:pt x="7759" y="10000"/>
                </a:cubicBezTo>
                <a:lnTo>
                  <a:pt x="9425" y="9165"/>
                </a:lnTo>
                <a:cubicBezTo>
                  <a:pt x="9795" y="8966"/>
                  <a:pt x="9986" y="8628"/>
                  <a:pt x="9998" y="8151"/>
                </a:cubicBezTo>
                <a:lnTo>
                  <a:pt x="9998" y="5785"/>
                </a:lnTo>
                <a:cubicBezTo>
                  <a:pt x="9974" y="5281"/>
                  <a:pt x="9766" y="4930"/>
                  <a:pt x="9373" y="4732"/>
                </a:cubicBezTo>
                <a:lnTo>
                  <a:pt x="7707" y="4016"/>
                </a:lnTo>
                <a:cubicBezTo>
                  <a:pt x="7683" y="4002"/>
                  <a:pt x="7660" y="3996"/>
                  <a:pt x="7637" y="3996"/>
                </a:cubicBezTo>
                <a:cubicBezTo>
                  <a:pt x="7637" y="3996"/>
                  <a:pt x="7637" y="3996"/>
                  <a:pt x="7637" y="3996"/>
                </a:cubicBezTo>
                <a:lnTo>
                  <a:pt x="7637" y="1769"/>
                </a:lnTo>
                <a:cubicBezTo>
                  <a:pt x="7614" y="1265"/>
                  <a:pt x="7406" y="914"/>
                  <a:pt x="7012" y="716"/>
                </a:cubicBezTo>
                <a:lnTo>
                  <a:pt x="5346" y="0"/>
                </a:lnTo>
                <a:cubicBezTo>
                  <a:pt x="5114" y="-106"/>
                  <a:pt x="4883" y="-106"/>
                  <a:pt x="4652" y="0"/>
                </a:cubicBezTo>
                <a:lnTo>
                  <a:pt x="2986" y="716"/>
                </a:lnTo>
                <a:cubicBezTo>
                  <a:pt x="2592" y="914"/>
                  <a:pt x="2383" y="1265"/>
                  <a:pt x="2361" y="1769"/>
                </a:cubicBezTo>
                <a:moveTo>
                  <a:pt x="6804" y="4115"/>
                </a:moveTo>
                <a:lnTo>
                  <a:pt x="5381" y="4732"/>
                </a:lnTo>
                <a:lnTo>
                  <a:pt x="6804" y="4115"/>
                </a:lnTo>
                <a:lnTo>
                  <a:pt x="5381" y="4732"/>
                </a:lnTo>
                <a:lnTo>
                  <a:pt x="5381" y="2962"/>
                </a:lnTo>
                <a:lnTo>
                  <a:pt x="6804" y="2326"/>
                </a:lnTo>
                <a:lnTo>
                  <a:pt x="6804" y="4115"/>
                </a:lnTo>
                <a:moveTo>
                  <a:pt x="2690" y="4911"/>
                </a:moveTo>
                <a:lnTo>
                  <a:pt x="4044" y="5507"/>
                </a:lnTo>
                <a:lnTo>
                  <a:pt x="2690" y="4911"/>
                </a:lnTo>
                <a:lnTo>
                  <a:pt x="4044" y="5507"/>
                </a:lnTo>
                <a:lnTo>
                  <a:pt x="2638" y="6123"/>
                </a:lnTo>
                <a:lnTo>
                  <a:pt x="1232" y="5507"/>
                </a:lnTo>
                <a:lnTo>
                  <a:pt x="2586" y="4911"/>
                </a:lnTo>
                <a:cubicBezTo>
                  <a:pt x="2620" y="4897"/>
                  <a:pt x="2655" y="4897"/>
                  <a:pt x="2690" y="4911"/>
                </a:cubicBezTo>
                <a:moveTo>
                  <a:pt x="3020" y="8966"/>
                </a:moveTo>
                <a:lnTo>
                  <a:pt x="3020" y="6978"/>
                </a:lnTo>
                <a:lnTo>
                  <a:pt x="3020" y="8966"/>
                </a:lnTo>
                <a:lnTo>
                  <a:pt x="3020" y="6978"/>
                </a:lnTo>
                <a:lnTo>
                  <a:pt x="4444" y="6342"/>
                </a:lnTo>
                <a:lnTo>
                  <a:pt x="4444" y="8250"/>
                </a:lnTo>
                <a:lnTo>
                  <a:pt x="3020" y="8966"/>
                </a:lnTo>
                <a:moveTo>
                  <a:pt x="7308" y="4911"/>
                </a:moveTo>
                <a:cubicBezTo>
                  <a:pt x="7342" y="4897"/>
                  <a:pt x="7377" y="4897"/>
                  <a:pt x="7412" y="4911"/>
                </a:cubicBezTo>
                <a:lnTo>
                  <a:pt x="8766" y="5507"/>
                </a:lnTo>
                <a:lnTo>
                  <a:pt x="7360" y="6123"/>
                </a:lnTo>
                <a:lnTo>
                  <a:pt x="5954" y="5507"/>
                </a:lnTo>
                <a:lnTo>
                  <a:pt x="7308" y="4911"/>
                </a:lnTo>
                <a:moveTo>
                  <a:pt x="9078" y="8290"/>
                </a:moveTo>
                <a:lnTo>
                  <a:pt x="7742" y="8966"/>
                </a:lnTo>
                <a:lnTo>
                  <a:pt x="9078" y="8290"/>
                </a:lnTo>
                <a:lnTo>
                  <a:pt x="7742" y="8966"/>
                </a:lnTo>
                <a:lnTo>
                  <a:pt x="7742" y="6978"/>
                </a:lnTo>
                <a:lnTo>
                  <a:pt x="9165" y="6342"/>
                </a:lnTo>
                <a:lnTo>
                  <a:pt x="9165" y="8151"/>
                </a:lnTo>
                <a:cubicBezTo>
                  <a:pt x="9165" y="8217"/>
                  <a:pt x="9136" y="8263"/>
                  <a:pt x="9078" y="8290"/>
                </a:cubicBezTo>
              </a:path>
            </a:pathLst>
          </a:custGeom>
          <a:solidFill>
            <a:srgbClr val="FFFFFF">
              <a:alpha val="100000"/>
            </a:srgbClr>
          </a:solidFill>
          <a:ln>
            <a:headEnd type="none"/>
            <a:tailEnd type="none"/>
          </a:ln>
        </p:spPr>
      </p:sp>
      <p:sp>
        <p:nvSpPr>
          <p:cNvPr id="33" name="TextBox 32"/>
          <p:cNvSpPr txBox="1"/>
          <p:nvPr>
            <p:custDataLst>
              <p:tags r:id="rId17"/>
            </p:custDataLst>
          </p:nvPr>
        </p:nvSpPr>
        <p:spPr>
          <a:xfrm>
            <a:off x="8921750" y="2322830"/>
            <a:ext cx="1669415" cy="259715"/>
          </a:xfrm>
          <a:prstGeom prst="rect">
            <a:avLst/>
          </a:prstGeom>
          <a:ln>
            <a:headEnd type="none"/>
            <a:tailEnd type="none"/>
          </a:ln>
        </p:spPr>
        <p:txBody>
          <a:bodyPr vert="horz" wrap="none" lIns="0" tIns="0" rIns="0" bIns="0" rtlCol="0" anchor="t" anchorCtr="0"/>
          <a:lstStyle/>
          <a:p>
            <a:pPr algn="l">
              <a:defRPr/>
            </a:pPr>
            <a:r>
              <a:rPr lang="en-US" sz="20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7+1语言本体结构</a:t>
            </a:r>
            <a:endParaRPr lang="en-US" sz="20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8" name="AutoShape 37"/>
          <p:cNvSpPr/>
          <p:nvPr>
            <p:custDataLst>
              <p:tags r:id="rId18"/>
            </p:custDataLst>
          </p:nvPr>
        </p:nvSpPr>
        <p:spPr>
          <a:xfrm>
            <a:off x="8388350" y="5968365"/>
            <a:ext cx="2952115" cy="10160"/>
          </a:xfrm>
          <a:prstGeom prst="line">
            <a:avLst/>
          </a:prstGeom>
          <a:ln w="9525">
            <a:solidFill>
              <a:srgbClr val="ECECEC">
                <a:alpha val="100000"/>
              </a:srgbClr>
            </a:solidFill>
            <a:prstDash val="solid"/>
            <a:headEnd type="none"/>
            <a:tailEnd type="none"/>
          </a:ln>
        </p:spPr>
      </p:sp>
      <p:sp>
        <p:nvSpPr>
          <p:cNvPr id="39" name="TextBox 38"/>
          <p:cNvSpPr txBox="1"/>
          <p:nvPr>
            <p:custDataLst>
              <p:tags r:id="rId19"/>
            </p:custDataLst>
          </p:nvPr>
        </p:nvSpPr>
        <p:spPr>
          <a:xfrm>
            <a:off x="8388350" y="6021705"/>
            <a:ext cx="2952115" cy="124460"/>
          </a:xfrm>
          <a:prstGeom prst="rect">
            <a:avLst/>
          </a:prstGeom>
          <a:ln>
            <a:headEnd type="none"/>
            <a:tailEnd type="none"/>
          </a:ln>
        </p:spPr>
        <p:txBody>
          <a:bodyPr vert="horz" wrap="none" lIns="0" tIns="0" rIns="0" bIns="0" rtlCol="0" anchor="t" anchorCtr="0"/>
          <a:lstStyle/>
          <a:p>
            <a:pPr algn="l">
              <a:defRPr/>
            </a:pPr>
            <a:r>
              <a:rPr lang="en-US" sz="1200" b="1" i="0" strike="noStrike">
                <a:solidFill>
                  <a:srgbClr val="C00000">
                    <a:alpha val="100000"/>
                  </a:srgbClr>
                </a:solidFill>
                <a:latin typeface="微软雅黑" panose="020B0503020204020204" pitchFamily="34" charset="-122"/>
                <a:ea typeface="微软雅黑" panose="020B0503020204020204" pitchFamily="34" charset="-122"/>
                <a:cs typeface="Poppins" panose="00000500000000000000"/>
              </a:rPr>
              <a:t>ONTOLOGY DESIGN</a:t>
            </a:r>
            <a:endParaRPr lang="en-US" sz="1200" b="1" i="0" strike="noStrike">
              <a:solidFill>
                <a:srgbClr val="C00000">
                  <a:alpha val="100000"/>
                </a:srgbClr>
              </a:solidFill>
              <a:latin typeface="微软雅黑" panose="020B0503020204020204" pitchFamily="34" charset="-122"/>
              <a:ea typeface="微软雅黑" panose="020B0503020204020204" pitchFamily="34" charset="-122"/>
              <a:cs typeface="Poppins" panose="00000500000000000000"/>
            </a:endParaRPr>
          </a:p>
        </p:txBody>
      </p:sp>
      <p:sp>
        <p:nvSpPr>
          <p:cNvPr id="9" name="TextBox 8"/>
          <p:cNvSpPr txBox="1"/>
          <p:nvPr/>
        </p:nvSpPr>
        <p:spPr>
          <a:xfrm>
            <a:off x="985520" y="1145540"/>
            <a:ext cx="10354945" cy="455930"/>
          </a:xfrm>
          <a:prstGeom prst="rect">
            <a:avLst/>
          </a:prstGeom>
          <a:ln>
            <a:headEnd type="none"/>
            <a:tailEnd type="none"/>
          </a:ln>
        </p:spPr>
        <p:txBody>
          <a:bodyPr vert="horz" wrap="square" lIns="0" tIns="0" rIns="0" bIns="0" rtlCol="0" anchor="t" anchorCtr="0"/>
          <a:lstStyle/>
          <a:p>
            <a:pPr algn="l">
              <a:defRPr/>
            </a:pPr>
            <a:r>
              <a:rPr lang="en-US" sz="1600" b="0" i="1"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SPARQL查询经Ontop透明编译为SQL，7+1语言本体同时承载形式化语义与业务约束，OBDA映射使虚拟ABox与MySQL实时同步——</a:t>
            </a:r>
            <a:r>
              <a:rPr sz="1600" b="0" i="1"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三者共同实现"用本体语言操作关系数据库"的开发体验。</a:t>
            </a:r>
            <a:endParaRPr sz="1600" b="0" i="1"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 name="文本框 40"/>
          <p:cNvSpPr txBox="1"/>
          <p:nvPr>
            <p:custDataLst>
              <p:tags r:id="rId20"/>
            </p:custDataLst>
          </p:nvPr>
        </p:nvSpPr>
        <p:spPr>
          <a:xfrm>
            <a:off x="1035685" y="2804795"/>
            <a:ext cx="3362960" cy="2092960"/>
          </a:xfrm>
          <a:prstGeom prst="rect">
            <a:avLst/>
          </a:prstGeom>
          <a:noFill/>
        </p:spPr>
        <p:txBody>
          <a:bodyPr wrap="square" rtlCol="0">
            <a:noAutofit/>
          </a:bodyPr>
          <a:p>
            <a:pPr marL="285750" indent="-285750" algn="l">
              <a:buFont typeface="Wingdings" panose="05000000000000000000" charset="0"/>
              <a:buChar char="Ø"/>
              <a:defRPr/>
            </a:pPr>
            <a:r>
              <a:rPr 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JobWorker通过BackendService发起</a:t>
            </a:r>
            <a:r>
              <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SPARQL查询，Ontop拦截后将查询计划重写为等价SQL，利用MySQL索引优化执行效率。</a:t>
            </a:r>
            <a:endPar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buFont typeface="Wingdings" panose="05000000000000000000" charset="0"/>
              <a:buChar char="Ø"/>
              <a:defRPr/>
            </a:pPr>
            <a:endPar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buFont typeface="Wingdings" panose="05000000000000000000" charset="0"/>
              <a:buChar char="Ø"/>
              <a:defRPr/>
            </a:pPr>
            <a:r>
              <a:rPr 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查询结果以Map&lt;String,String&gt;形式返回，</a:t>
            </a:r>
            <a:r>
              <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包含实例IRI、属性值与类型信息，Worker据此完成</a:t>
            </a:r>
            <a:r>
              <a:rPr lang="zh-CN"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例如</a:t>
            </a:r>
            <a:r>
              <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最低价格筛选与标签匹配等业务逻辑。</a:t>
            </a:r>
            <a:endParaRPr sz="16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buFont typeface="Wingdings" panose="05000000000000000000" charset="0"/>
              <a:buChar char="Ø"/>
              <a:defRPr/>
            </a:pPr>
            <a:endParaRPr lang="en-US" altLang="zh-CN" sz="16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2" name="文本框 41"/>
          <p:cNvSpPr txBox="1"/>
          <p:nvPr>
            <p:custDataLst>
              <p:tags r:id="rId21"/>
            </p:custDataLst>
          </p:nvPr>
        </p:nvSpPr>
        <p:spPr>
          <a:xfrm>
            <a:off x="4568190" y="2745105"/>
            <a:ext cx="3380740" cy="2799715"/>
          </a:xfrm>
          <a:prstGeom prst="rect">
            <a:avLst/>
          </a:prstGeom>
          <a:noFill/>
        </p:spPr>
        <p:txBody>
          <a:bodyPr wrap="square" rtlCol="0">
            <a:spAutoFit/>
          </a:bodyPr>
          <a:p>
            <a:pPr marL="285750" indent="-285750" algn="l">
              <a:buFont typeface="Wingdings" panose="05000000000000000000" charset="0"/>
              <a:buChar char="Ø"/>
              <a:defRPr/>
            </a:pPr>
            <a:r>
              <a:rPr 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Ontop mapping文件声明关系表列到OWL数</a:t>
            </a:r>
            <a:r>
              <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据属性的对应规则，支持多表JOIN</a:t>
            </a:r>
            <a:r>
              <a:rPr lang="zh-CN"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WHERE条件过滤与数据类型转换，构建虚拟RDF图谱。</a:t>
            </a:r>
            <a:endPar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buFont typeface="Wingdings" panose="05000000000000000000" charset="0"/>
              <a:buChar char="Ø"/>
              <a:defRPr/>
            </a:pPr>
            <a:endPar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buFont typeface="Wingdings" panose="05000000000000000000" charset="0"/>
              <a:buChar char="Ø"/>
              <a:defRPr/>
            </a:pPr>
            <a:r>
              <a:rPr 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映射层缓存TBox结构但直连ABox数据源，</a:t>
            </a:r>
            <a:r>
              <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确保本体推理基于最新业务数据，避免传统ETL导致的数据延迟与一致性问题。</a:t>
            </a:r>
            <a:endParaRPr sz="16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buFont typeface="Wingdings" panose="05000000000000000000" charset="0"/>
              <a:buChar char="Ø"/>
            </a:pPr>
            <a:endParaRPr lang="en-US" altLang="zh-CN" sz="16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3" name="文本框 42"/>
          <p:cNvSpPr txBox="1"/>
          <p:nvPr>
            <p:custDataLst>
              <p:tags r:id="rId22"/>
            </p:custDataLst>
          </p:nvPr>
        </p:nvSpPr>
        <p:spPr>
          <a:xfrm>
            <a:off x="8258175" y="2781935"/>
            <a:ext cx="3357880" cy="2553335"/>
          </a:xfrm>
          <a:prstGeom prst="rect">
            <a:avLst/>
          </a:prstGeom>
          <a:noFill/>
        </p:spPr>
        <p:txBody>
          <a:bodyPr wrap="square" rtlCol="0">
            <a:spAutoFit/>
          </a:bodyPr>
          <a:p>
            <a:pPr marL="342900" indent="-342900" algn="l">
              <a:buFont typeface="Wingdings" panose="05000000000000000000" charset="0"/>
              <a:buChar char="Ø"/>
              <a:defRPr/>
            </a:pPr>
            <a:r>
              <a:rPr 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7+1语言</a:t>
            </a:r>
            <a:r>
              <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允许在本体公理中嵌入默认值、约束检查与业务规则片段。</a:t>
            </a:r>
            <a:endPar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l">
              <a:buFont typeface="Wingdings" panose="05000000000000000000" charset="0"/>
              <a:buChar char="Ø"/>
              <a:defRPr/>
            </a:pPr>
            <a:endPar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l">
              <a:buFont typeface="Wingdings" panose="05000000000000000000" charset="0"/>
              <a:buChar char="Ø"/>
              <a:defRPr/>
            </a:pPr>
            <a:r>
              <a:rPr lang="zh-CN" alt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该语言保持描述逻辑的可判定性，</a:t>
            </a:r>
            <a:r>
              <a:rPr lang="en-US" altLang="zh-CN"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Openllet</a:t>
            </a:r>
            <a:r>
              <a:rPr lang="zh-CN" alt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可正常进行类层次推理与一致性检测，同时支持</a:t>
            </a:r>
            <a:r>
              <a:rPr lang="en-US" altLang="zh-CN"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getBestMatchedType</a:t>
            </a:r>
            <a:r>
              <a:rPr lang="zh-CN" alt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等自定义语义查询接口。</a:t>
            </a:r>
            <a:endParaRPr lang="zh-CN" alt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defRPr/>
            </a:pPr>
            <a:endParaRPr lang="zh-CN" alt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a:t>本体落地五大核心挑战</a:t>
            </a:r>
            <a:endParaRPr lang="zh-CN" altLang="en-US"/>
          </a:p>
        </p:txBody>
      </p:sp>
      <p:grpSp>
        <p:nvGrpSpPr>
          <p:cNvPr id="3" name="组合 2"/>
          <p:cNvGrpSpPr/>
          <p:nvPr/>
        </p:nvGrpSpPr>
        <p:grpSpPr>
          <a:xfrm>
            <a:off x="589725" y="810200"/>
            <a:ext cx="10665333" cy="5423595"/>
            <a:chOff x="929" y="1276"/>
            <a:chExt cx="16796" cy="8541"/>
          </a:xfrm>
        </p:grpSpPr>
        <p:sp>
          <p:nvSpPr>
            <p:cNvPr id="12" name="AutoShape 12"/>
            <p:cNvSpPr/>
            <p:nvPr/>
          </p:nvSpPr>
          <p:spPr>
            <a:xfrm>
              <a:off x="929" y="1276"/>
              <a:ext cx="16796" cy="1080"/>
            </a:xfrm>
            <a:prstGeom prst="rect">
              <a:avLst/>
            </a:prstGeom>
            <a:blipFill rotWithShape="1">
              <a:blip r:embed="rId1">
                <a:alphaModFix amt="100000"/>
                <a:alphaModFix amt="100000"/>
              </a:blip>
              <a:stretch>
                <a:fillRect/>
              </a:stretch>
            </a:blipFill>
            <a:ln>
              <a:headEnd type="none"/>
              <a:tailEnd type="none"/>
            </a:ln>
          </p:spPr>
        </p:sp>
        <p:sp>
          <p:nvSpPr>
            <p:cNvPr id="14" name="AutoShape 14"/>
            <p:cNvSpPr/>
            <p:nvPr/>
          </p:nvSpPr>
          <p:spPr>
            <a:xfrm>
              <a:off x="929" y="2566"/>
              <a:ext cx="4041" cy="5944"/>
            </a:xfrm>
            <a:prstGeom prst="roundRect">
              <a:avLst>
                <a:gd name="adj" fmla="val 793"/>
              </a:avLst>
            </a:prstGeom>
            <a:solidFill>
              <a:srgbClr val="F3ECE3">
                <a:alpha val="100000"/>
              </a:srgbClr>
            </a:solidFill>
            <a:ln w="9525">
              <a:solidFill>
                <a:srgbClr val="E0D5C9">
                  <a:alpha val="100000"/>
                </a:srgbClr>
              </a:solidFill>
              <a:prstDash val="solid"/>
              <a:headEnd type="none"/>
              <a:tailEnd type="none"/>
            </a:ln>
          </p:spPr>
        </p:sp>
        <p:sp>
          <p:nvSpPr>
            <p:cNvPr id="15" name="AutoShape 15"/>
            <p:cNvSpPr/>
            <p:nvPr/>
          </p:nvSpPr>
          <p:spPr>
            <a:xfrm>
              <a:off x="929" y="2566"/>
              <a:ext cx="4041" cy="15"/>
            </a:xfrm>
            <a:prstGeom prst="line">
              <a:avLst/>
            </a:prstGeom>
            <a:ln w="28575">
              <a:solidFill>
                <a:srgbClr val="B5302A">
                  <a:alpha val="100000"/>
                </a:srgbClr>
              </a:solidFill>
              <a:prstDash val="solid"/>
              <a:headEnd type="none"/>
              <a:tailEnd type="none"/>
            </a:ln>
          </p:spPr>
        </p:sp>
        <p:sp>
          <p:nvSpPr>
            <p:cNvPr id="16" name="AutoShape 16"/>
            <p:cNvSpPr/>
            <p:nvPr/>
          </p:nvSpPr>
          <p:spPr>
            <a:xfrm>
              <a:off x="2784" y="2851"/>
              <a:ext cx="330" cy="330"/>
            </a:xfrm>
            <a:custGeom>
              <a:avLst/>
              <a:gdLst/>
              <a:ahLst/>
              <a:cxnLst/>
              <a:rect l="l" t="t" r="r" b="b"/>
              <a:pathLst>
                <a:path w="9998" h="10000">
                  <a:moveTo>
                    <a:pt x="9998" y="1563"/>
                  </a:moveTo>
                  <a:cubicBezTo>
                    <a:pt x="9984" y="1914"/>
                    <a:pt x="9737" y="2226"/>
                    <a:pt x="9256" y="2500"/>
                  </a:cubicBezTo>
                  <a:cubicBezTo>
                    <a:pt x="8657" y="2825"/>
                    <a:pt x="7856" y="3027"/>
                    <a:pt x="6854" y="3105"/>
                  </a:cubicBezTo>
                  <a:cubicBezTo>
                    <a:pt x="6788" y="3066"/>
                    <a:pt x="6717" y="3034"/>
                    <a:pt x="6639" y="3008"/>
                  </a:cubicBezTo>
                  <a:cubicBezTo>
                    <a:pt x="5845" y="2682"/>
                    <a:pt x="4881" y="2513"/>
                    <a:pt x="3749" y="2500"/>
                  </a:cubicBezTo>
                  <a:cubicBezTo>
                    <a:pt x="3593" y="2500"/>
                    <a:pt x="3437" y="2506"/>
                    <a:pt x="3281" y="2520"/>
                  </a:cubicBezTo>
                  <a:lnTo>
                    <a:pt x="3242" y="2500"/>
                  </a:lnTo>
                  <a:cubicBezTo>
                    <a:pt x="2760" y="2226"/>
                    <a:pt x="2512" y="1914"/>
                    <a:pt x="2500" y="1563"/>
                  </a:cubicBezTo>
                  <a:cubicBezTo>
                    <a:pt x="2526" y="1119"/>
                    <a:pt x="2890" y="748"/>
                    <a:pt x="3593" y="449"/>
                  </a:cubicBezTo>
                  <a:cubicBezTo>
                    <a:pt x="4296" y="163"/>
                    <a:pt x="5181" y="13"/>
                    <a:pt x="6249" y="0"/>
                  </a:cubicBezTo>
                  <a:cubicBezTo>
                    <a:pt x="7316" y="13"/>
                    <a:pt x="8201" y="163"/>
                    <a:pt x="8904" y="449"/>
                  </a:cubicBezTo>
                  <a:cubicBezTo>
                    <a:pt x="9607" y="748"/>
                    <a:pt x="9972" y="1119"/>
                    <a:pt x="9998" y="1563"/>
                  </a:cubicBezTo>
                  <a:moveTo>
                    <a:pt x="3144" y="3145"/>
                  </a:moveTo>
                  <a:cubicBezTo>
                    <a:pt x="3339" y="3131"/>
                    <a:pt x="3541" y="3125"/>
                    <a:pt x="3749" y="3125"/>
                  </a:cubicBezTo>
                  <a:cubicBezTo>
                    <a:pt x="4361" y="3125"/>
                    <a:pt x="4921" y="3183"/>
                    <a:pt x="5429" y="3301"/>
                  </a:cubicBezTo>
                  <a:cubicBezTo>
                    <a:pt x="5949" y="3405"/>
                    <a:pt x="6385" y="3548"/>
                    <a:pt x="6737" y="3730"/>
                  </a:cubicBezTo>
                  <a:cubicBezTo>
                    <a:pt x="7231" y="4004"/>
                    <a:pt x="7485" y="4323"/>
                    <a:pt x="7499" y="4688"/>
                  </a:cubicBezTo>
                  <a:cubicBezTo>
                    <a:pt x="7499" y="4766"/>
                    <a:pt x="7485" y="4844"/>
                    <a:pt x="7459" y="4922"/>
                  </a:cubicBezTo>
                  <a:cubicBezTo>
                    <a:pt x="7355" y="5182"/>
                    <a:pt x="7127" y="5409"/>
                    <a:pt x="6776" y="5605"/>
                  </a:cubicBezTo>
                  <a:cubicBezTo>
                    <a:pt x="6776" y="5605"/>
                    <a:pt x="6776" y="5605"/>
                    <a:pt x="6776" y="5605"/>
                  </a:cubicBezTo>
                  <a:cubicBezTo>
                    <a:pt x="6776" y="5605"/>
                    <a:pt x="6776" y="5605"/>
                    <a:pt x="6776" y="5605"/>
                  </a:cubicBezTo>
                  <a:cubicBezTo>
                    <a:pt x="6776" y="5605"/>
                    <a:pt x="6776" y="5605"/>
                    <a:pt x="6776" y="5605"/>
                  </a:cubicBezTo>
                  <a:cubicBezTo>
                    <a:pt x="6776" y="5605"/>
                    <a:pt x="6776" y="5605"/>
                    <a:pt x="6776" y="5605"/>
                  </a:cubicBezTo>
                  <a:cubicBezTo>
                    <a:pt x="6762" y="5618"/>
                    <a:pt x="6756" y="5625"/>
                    <a:pt x="6756" y="5625"/>
                  </a:cubicBezTo>
                  <a:cubicBezTo>
                    <a:pt x="6756" y="5625"/>
                    <a:pt x="6756" y="5625"/>
                    <a:pt x="6756" y="5625"/>
                  </a:cubicBezTo>
                  <a:cubicBezTo>
                    <a:pt x="6404" y="5820"/>
                    <a:pt x="5968" y="5970"/>
                    <a:pt x="5448" y="6074"/>
                  </a:cubicBezTo>
                  <a:cubicBezTo>
                    <a:pt x="4940" y="6191"/>
                    <a:pt x="4374" y="6250"/>
                    <a:pt x="3749" y="6250"/>
                  </a:cubicBezTo>
                  <a:cubicBezTo>
                    <a:pt x="2551" y="6236"/>
                    <a:pt x="1588" y="6048"/>
                    <a:pt x="859" y="5684"/>
                  </a:cubicBezTo>
                  <a:cubicBezTo>
                    <a:pt x="820" y="5658"/>
                    <a:pt x="781" y="5638"/>
                    <a:pt x="742" y="5625"/>
                  </a:cubicBezTo>
                  <a:cubicBezTo>
                    <a:pt x="260" y="5351"/>
                    <a:pt x="13" y="5039"/>
                    <a:pt x="0" y="4688"/>
                  </a:cubicBezTo>
                  <a:cubicBezTo>
                    <a:pt x="13" y="4336"/>
                    <a:pt x="247" y="4030"/>
                    <a:pt x="703" y="3770"/>
                  </a:cubicBezTo>
                  <a:cubicBezTo>
                    <a:pt x="1158" y="3509"/>
                    <a:pt x="1757" y="3327"/>
                    <a:pt x="2500" y="3223"/>
                  </a:cubicBezTo>
                  <a:cubicBezTo>
                    <a:pt x="2708" y="3183"/>
                    <a:pt x="2922" y="3157"/>
                    <a:pt x="3144" y="3145"/>
                  </a:cubicBezTo>
                  <a:moveTo>
                    <a:pt x="8123" y="4688"/>
                  </a:moveTo>
                  <a:cubicBezTo>
                    <a:pt x="8097" y="4258"/>
                    <a:pt x="7941" y="3912"/>
                    <a:pt x="7655" y="3652"/>
                  </a:cubicBezTo>
                  <a:cubicBezTo>
                    <a:pt x="8214" y="3561"/>
                    <a:pt x="8709" y="3424"/>
                    <a:pt x="9139" y="3242"/>
                  </a:cubicBezTo>
                  <a:cubicBezTo>
                    <a:pt x="9464" y="3112"/>
                    <a:pt x="9750" y="2949"/>
                    <a:pt x="9998" y="2754"/>
                  </a:cubicBezTo>
                  <a:lnTo>
                    <a:pt x="9998" y="3438"/>
                  </a:lnTo>
                  <a:cubicBezTo>
                    <a:pt x="9984" y="3828"/>
                    <a:pt x="9698" y="4160"/>
                    <a:pt x="9139" y="4434"/>
                  </a:cubicBezTo>
                  <a:cubicBezTo>
                    <a:pt x="8852" y="4576"/>
                    <a:pt x="8513" y="4693"/>
                    <a:pt x="8123" y="4785"/>
                  </a:cubicBezTo>
                  <a:cubicBezTo>
                    <a:pt x="8123" y="4785"/>
                    <a:pt x="8123" y="4785"/>
                    <a:pt x="8123" y="4785"/>
                  </a:cubicBezTo>
                  <a:cubicBezTo>
                    <a:pt x="8123" y="4759"/>
                    <a:pt x="8123" y="4726"/>
                    <a:pt x="8123" y="4688"/>
                  </a:cubicBezTo>
                  <a:moveTo>
                    <a:pt x="7499" y="6563"/>
                  </a:moveTo>
                  <a:cubicBezTo>
                    <a:pt x="7485" y="6914"/>
                    <a:pt x="7238" y="7226"/>
                    <a:pt x="6756" y="7500"/>
                  </a:cubicBezTo>
                  <a:cubicBezTo>
                    <a:pt x="6730" y="7513"/>
                    <a:pt x="6704" y="7526"/>
                    <a:pt x="6678" y="7539"/>
                  </a:cubicBezTo>
                  <a:cubicBezTo>
                    <a:pt x="6665" y="7539"/>
                    <a:pt x="6652" y="7545"/>
                    <a:pt x="6639" y="7559"/>
                  </a:cubicBezTo>
                  <a:cubicBezTo>
                    <a:pt x="5910" y="7923"/>
                    <a:pt x="4947" y="8111"/>
                    <a:pt x="3749" y="8125"/>
                  </a:cubicBezTo>
                  <a:cubicBezTo>
                    <a:pt x="3124" y="8125"/>
                    <a:pt x="2558" y="8066"/>
                    <a:pt x="2050" y="7949"/>
                  </a:cubicBezTo>
                  <a:cubicBezTo>
                    <a:pt x="1529" y="7845"/>
                    <a:pt x="1093" y="7695"/>
                    <a:pt x="742" y="7500"/>
                  </a:cubicBezTo>
                  <a:cubicBezTo>
                    <a:pt x="260" y="7226"/>
                    <a:pt x="13" y="6914"/>
                    <a:pt x="0" y="6563"/>
                  </a:cubicBezTo>
                  <a:lnTo>
                    <a:pt x="0" y="5879"/>
                  </a:lnTo>
                  <a:cubicBezTo>
                    <a:pt x="247" y="6074"/>
                    <a:pt x="533" y="6237"/>
                    <a:pt x="859" y="6367"/>
                  </a:cubicBezTo>
                  <a:cubicBezTo>
                    <a:pt x="1653" y="6692"/>
                    <a:pt x="2616" y="6861"/>
                    <a:pt x="3749" y="6875"/>
                  </a:cubicBezTo>
                  <a:cubicBezTo>
                    <a:pt x="4881" y="6861"/>
                    <a:pt x="5845" y="6692"/>
                    <a:pt x="6639" y="6367"/>
                  </a:cubicBezTo>
                  <a:cubicBezTo>
                    <a:pt x="6795" y="6302"/>
                    <a:pt x="6945" y="6230"/>
                    <a:pt x="7088" y="6152"/>
                  </a:cubicBezTo>
                  <a:cubicBezTo>
                    <a:pt x="7205" y="6087"/>
                    <a:pt x="7316" y="6016"/>
                    <a:pt x="7420" y="5938"/>
                  </a:cubicBezTo>
                  <a:cubicBezTo>
                    <a:pt x="7433" y="5924"/>
                    <a:pt x="7453" y="5911"/>
                    <a:pt x="7479" y="5898"/>
                  </a:cubicBezTo>
                  <a:cubicBezTo>
                    <a:pt x="7479" y="5885"/>
                    <a:pt x="7485" y="5879"/>
                    <a:pt x="7499" y="5879"/>
                  </a:cubicBezTo>
                  <a:lnTo>
                    <a:pt x="7499" y="5938"/>
                  </a:lnTo>
                  <a:lnTo>
                    <a:pt x="7499" y="6055"/>
                  </a:lnTo>
                  <a:lnTo>
                    <a:pt x="7499" y="6563"/>
                  </a:lnTo>
                  <a:moveTo>
                    <a:pt x="8123" y="6563"/>
                  </a:moveTo>
                  <a:lnTo>
                    <a:pt x="8123" y="5938"/>
                  </a:lnTo>
                  <a:lnTo>
                    <a:pt x="8123" y="6563"/>
                  </a:lnTo>
                  <a:lnTo>
                    <a:pt x="8123" y="5938"/>
                  </a:lnTo>
                  <a:lnTo>
                    <a:pt x="8123" y="5430"/>
                  </a:lnTo>
                  <a:cubicBezTo>
                    <a:pt x="8501" y="5351"/>
                    <a:pt x="8839" y="5247"/>
                    <a:pt x="9139" y="5117"/>
                  </a:cubicBezTo>
                  <a:cubicBezTo>
                    <a:pt x="9464" y="4987"/>
                    <a:pt x="9750" y="4824"/>
                    <a:pt x="9998" y="4629"/>
                  </a:cubicBezTo>
                  <a:lnTo>
                    <a:pt x="9998" y="5312"/>
                  </a:lnTo>
                  <a:cubicBezTo>
                    <a:pt x="9998" y="5520"/>
                    <a:pt x="9900" y="5722"/>
                    <a:pt x="9705" y="5918"/>
                  </a:cubicBezTo>
                  <a:cubicBezTo>
                    <a:pt x="9366" y="6243"/>
                    <a:pt x="8839" y="6490"/>
                    <a:pt x="8123" y="6660"/>
                  </a:cubicBezTo>
                  <a:cubicBezTo>
                    <a:pt x="8123" y="6634"/>
                    <a:pt x="8123" y="6601"/>
                    <a:pt x="8123" y="6563"/>
                  </a:cubicBezTo>
                  <a:moveTo>
                    <a:pt x="3749" y="8750"/>
                  </a:moveTo>
                  <a:cubicBezTo>
                    <a:pt x="4881" y="8736"/>
                    <a:pt x="5845" y="8567"/>
                    <a:pt x="6639" y="8242"/>
                  </a:cubicBezTo>
                  <a:cubicBezTo>
                    <a:pt x="6964" y="8112"/>
                    <a:pt x="7251" y="7949"/>
                    <a:pt x="7499" y="7754"/>
                  </a:cubicBezTo>
                  <a:lnTo>
                    <a:pt x="7499" y="8438"/>
                  </a:lnTo>
                  <a:cubicBezTo>
                    <a:pt x="7472" y="8880"/>
                    <a:pt x="7107" y="9251"/>
                    <a:pt x="6405" y="9551"/>
                  </a:cubicBezTo>
                  <a:cubicBezTo>
                    <a:pt x="5701" y="9837"/>
                    <a:pt x="4816" y="9986"/>
                    <a:pt x="3749" y="10000"/>
                  </a:cubicBezTo>
                  <a:cubicBezTo>
                    <a:pt x="2681" y="9986"/>
                    <a:pt x="1796" y="9837"/>
                    <a:pt x="1094" y="9551"/>
                  </a:cubicBezTo>
                  <a:cubicBezTo>
                    <a:pt x="390" y="9251"/>
                    <a:pt x="26" y="8880"/>
                    <a:pt x="0" y="8438"/>
                  </a:cubicBezTo>
                  <a:lnTo>
                    <a:pt x="0" y="7754"/>
                  </a:lnTo>
                  <a:cubicBezTo>
                    <a:pt x="247" y="7949"/>
                    <a:pt x="533" y="8112"/>
                    <a:pt x="859" y="8242"/>
                  </a:cubicBezTo>
                  <a:cubicBezTo>
                    <a:pt x="1653" y="8567"/>
                    <a:pt x="2616" y="8736"/>
                    <a:pt x="3749" y="8750"/>
                  </a:cubicBezTo>
                </a:path>
              </a:pathLst>
            </a:custGeom>
            <a:solidFill>
              <a:srgbClr val="B5302A">
                <a:alpha val="100000"/>
              </a:srgbClr>
            </a:solidFill>
            <a:ln>
              <a:headEnd type="none"/>
              <a:tailEnd type="none"/>
            </a:ln>
          </p:spPr>
        </p:sp>
        <p:sp>
          <p:nvSpPr>
            <p:cNvPr id="17" name="TextBox 17"/>
            <p:cNvSpPr txBox="1"/>
            <p:nvPr/>
          </p:nvSpPr>
          <p:spPr>
            <a:xfrm>
              <a:off x="1154" y="3316"/>
              <a:ext cx="3592" cy="255"/>
            </a:xfrm>
            <a:prstGeom prst="rect">
              <a:avLst/>
            </a:prstGeom>
            <a:ln>
              <a:headEnd type="none"/>
              <a:tailEnd type="none"/>
            </a:ln>
          </p:spPr>
          <p:txBody>
            <a:bodyPr vert="horz" wrap="none" lIns="0" tIns="0" rIns="0" bIns="0" rtlCol="0" anchor="t" anchorCtr="0"/>
            <a:lstStyle/>
            <a:p>
              <a:pPr algn="l">
                <a:defRPr/>
              </a:pPr>
              <a:r>
                <a:rPr lang="en-US" sz="1100" b="1" i="0" strike="noStrike">
                  <a:solidFill>
                    <a:srgbClr val="1C0A0A">
                      <a:alpha val="100000"/>
                    </a:srgbClr>
                  </a:solidFill>
                  <a:latin typeface="Alibaba PuHuiTi 3.0 55 Regular"/>
                  <a:ea typeface="Alibaba PuHuiTi 3.0 55 Regular"/>
                  <a:cs typeface="Alibaba PuHuiTi 3.0 55 Regular"/>
                </a:rPr>
                <a:t>❶ 本体构建成本高、扩展难</a:t>
              </a:r>
              <a:endParaRPr lang="en-US" sz="1100"/>
            </a:p>
          </p:txBody>
        </p:sp>
        <p:sp>
          <p:nvSpPr>
            <p:cNvPr id="18" name="AutoShape 18"/>
            <p:cNvSpPr/>
            <p:nvPr/>
          </p:nvSpPr>
          <p:spPr>
            <a:xfrm>
              <a:off x="1154" y="3800"/>
              <a:ext cx="75" cy="75"/>
            </a:xfrm>
            <a:prstGeom prst="ellipse">
              <a:avLst/>
            </a:prstGeom>
            <a:solidFill>
              <a:srgbClr val="B5302A">
                <a:alpha val="54901"/>
              </a:srgbClr>
            </a:solidFill>
            <a:ln>
              <a:headEnd type="none"/>
              <a:tailEnd type="none"/>
            </a:ln>
          </p:spPr>
        </p:sp>
        <p:sp>
          <p:nvSpPr>
            <p:cNvPr id="19" name="TextBox 19"/>
            <p:cNvSpPr txBox="1"/>
            <p:nvPr/>
          </p:nvSpPr>
          <p:spPr>
            <a:xfrm>
              <a:off x="1319" y="3755"/>
              <a:ext cx="3427" cy="1082"/>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rPr>
                <a:t>精确本体打磨需大量人力进行多轮对抗</a:t>
              </a:r>
              <a:endParaRPr lang="en-US" sz="1200">
                <a:latin typeface="微软雅黑" panose="020B0503020204020204" pitchFamily="34" charset="-122"/>
                <a:ea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rPr>
                <a:t>校验与测试验证，从语料清洗到资产生</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rPr>
                <a:t>成全流程周期长、资源消耗大，短期难</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rPr>
                <a:t>以压缩成本。</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20" name="AutoShape 20"/>
            <p:cNvSpPr/>
            <p:nvPr/>
          </p:nvSpPr>
          <p:spPr>
            <a:xfrm>
              <a:off x="1154" y="5052"/>
              <a:ext cx="75" cy="75"/>
            </a:xfrm>
            <a:prstGeom prst="ellipse">
              <a:avLst/>
            </a:prstGeom>
            <a:solidFill>
              <a:srgbClr val="B5302A">
                <a:alpha val="54901"/>
              </a:srgbClr>
            </a:solidFill>
            <a:ln>
              <a:headEnd type="none"/>
              <a:tailEnd type="none"/>
            </a:ln>
          </p:spPr>
        </p:sp>
        <p:sp>
          <p:nvSpPr>
            <p:cNvPr id="21" name="TextBox 21"/>
            <p:cNvSpPr txBox="1"/>
            <p:nvPr/>
          </p:nvSpPr>
          <p:spPr>
            <a:xfrm>
              <a:off x="1319" y="5007"/>
              <a:ext cx="3427" cy="79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rPr>
                <a:t>建设必须从顶层规划，由简到繁逐步推</a:t>
              </a:r>
              <a:endParaRPr lang="en-US" sz="1200">
                <a:latin typeface="微软雅黑" panose="020B0503020204020204" pitchFamily="34" charset="-122"/>
                <a:ea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rPr>
                <a:t>进，缺乏统一架构将导致后期重构代价</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rPr>
                <a:t>极高。</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22" name="AutoShape 22"/>
            <p:cNvSpPr/>
            <p:nvPr/>
          </p:nvSpPr>
          <p:spPr>
            <a:xfrm>
              <a:off x="1154" y="6014"/>
              <a:ext cx="75" cy="75"/>
            </a:xfrm>
            <a:prstGeom prst="ellipse">
              <a:avLst/>
            </a:prstGeom>
            <a:solidFill>
              <a:srgbClr val="B5302A">
                <a:alpha val="54901"/>
              </a:srgbClr>
            </a:solidFill>
            <a:ln>
              <a:headEnd type="none"/>
              <a:tailEnd type="none"/>
            </a:ln>
          </p:spPr>
        </p:sp>
        <p:sp>
          <p:nvSpPr>
            <p:cNvPr id="23" name="TextBox 23"/>
            <p:cNvSpPr txBox="1"/>
            <p:nvPr/>
          </p:nvSpPr>
          <p:spPr>
            <a:xfrm>
              <a:off x="1319" y="5969"/>
              <a:ext cx="3427" cy="79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rPr>
                <a:t>缺乏成熟的自动化构建工具链，大部分</a:t>
              </a:r>
              <a:endParaRPr lang="en-US" sz="1200">
                <a:latin typeface="微软雅黑" panose="020B0503020204020204" pitchFamily="34" charset="-122"/>
                <a:ea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rPr>
                <a:t>环节依赖专家人工审核，限制本体规模</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rPr>
                <a:t>上限与迭代速度。</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24" name="AutoShape 24"/>
            <p:cNvSpPr/>
            <p:nvPr/>
          </p:nvSpPr>
          <p:spPr>
            <a:xfrm>
              <a:off x="5180" y="2566"/>
              <a:ext cx="4041" cy="5944"/>
            </a:xfrm>
            <a:prstGeom prst="roundRect">
              <a:avLst>
                <a:gd name="adj" fmla="val 793"/>
              </a:avLst>
            </a:prstGeom>
            <a:solidFill>
              <a:srgbClr val="F3ECE3">
                <a:alpha val="100000"/>
              </a:srgbClr>
            </a:solidFill>
            <a:ln w="9525">
              <a:solidFill>
                <a:srgbClr val="E0D5C9">
                  <a:alpha val="100000"/>
                </a:srgbClr>
              </a:solidFill>
              <a:prstDash val="solid"/>
              <a:headEnd type="none"/>
              <a:tailEnd type="none"/>
            </a:ln>
          </p:spPr>
        </p:sp>
        <p:sp>
          <p:nvSpPr>
            <p:cNvPr id="25" name="AutoShape 25"/>
            <p:cNvSpPr/>
            <p:nvPr/>
          </p:nvSpPr>
          <p:spPr>
            <a:xfrm>
              <a:off x="5180" y="2566"/>
              <a:ext cx="4041" cy="15"/>
            </a:xfrm>
            <a:prstGeom prst="line">
              <a:avLst/>
            </a:prstGeom>
            <a:ln w="28575">
              <a:solidFill>
                <a:srgbClr val="B5302A">
                  <a:alpha val="100000"/>
                </a:srgbClr>
              </a:solidFill>
              <a:prstDash val="solid"/>
              <a:headEnd type="none"/>
              <a:tailEnd type="none"/>
            </a:ln>
          </p:spPr>
        </p:sp>
        <p:sp>
          <p:nvSpPr>
            <p:cNvPr id="26" name="AutoShape 26"/>
            <p:cNvSpPr/>
            <p:nvPr/>
          </p:nvSpPr>
          <p:spPr>
            <a:xfrm>
              <a:off x="7036" y="2851"/>
              <a:ext cx="330" cy="330"/>
            </a:xfrm>
            <a:custGeom>
              <a:avLst/>
              <a:gdLst/>
              <a:ahLst/>
              <a:cxnLst/>
              <a:rect l="l" t="t" r="r" b="b"/>
              <a:pathLst>
                <a:path w="9998" h="10000">
                  <a:moveTo>
                    <a:pt x="0" y="1667"/>
                  </a:moveTo>
                  <a:cubicBezTo>
                    <a:pt x="10" y="1198"/>
                    <a:pt x="109" y="807"/>
                    <a:pt x="297" y="495"/>
                  </a:cubicBezTo>
                  <a:cubicBezTo>
                    <a:pt x="484" y="182"/>
                    <a:pt x="718" y="17"/>
                    <a:pt x="1000" y="0"/>
                  </a:cubicBezTo>
                  <a:lnTo>
                    <a:pt x="3999" y="0"/>
                  </a:lnTo>
                  <a:lnTo>
                    <a:pt x="8998" y="0"/>
                  </a:lnTo>
                  <a:cubicBezTo>
                    <a:pt x="9279" y="17"/>
                    <a:pt x="9513" y="182"/>
                    <a:pt x="9701" y="495"/>
                  </a:cubicBezTo>
                  <a:cubicBezTo>
                    <a:pt x="9888" y="807"/>
                    <a:pt x="9987" y="1198"/>
                    <a:pt x="9998" y="1667"/>
                  </a:cubicBezTo>
                  <a:lnTo>
                    <a:pt x="9998" y="8333"/>
                  </a:lnTo>
                  <a:cubicBezTo>
                    <a:pt x="9987" y="8801"/>
                    <a:pt x="9888" y="9192"/>
                    <a:pt x="9701" y="9505"/>
                  </a:cubicBezTo>
                  <a:cubicBezTo>
                    <a:pt x="9513" y="9817"/>
                    <a:pt x="9279" y="9982"/>
                    <a:pt x="8998" y="10000"/>
                  </a:cubicBezTo>
                  <a:lnTo>
                    <a:pt x="4999" y="10000"/>
                  </a:lnTo>
                  <a:lnTo>
                    <a:pt x="1000" y="10000"/>
                  </a:lnTo>
                  <a:cubicBezTo>
                    <a:pt x="718" y="9982"/>
                    <a:pt x="484" y="9817"/>
                    <a:pt x="297" y="9505"/>
                  </a:cubicBezTo>
                  <a:cubicBezTo>
                    <a:pt x="109" y="9192"/>
                    <a:pt x="10" y="8801"/>
                    <a:pt x="0" y="8333"/>
                  </a:cubicBezTo>
                  <a:lnTo>
                    <a:pt x="0" y="1667"/>
                  </a:lnTo>
                  <a:moveTo>
                    <a:pt x="4999" y="1667"/>
                  </a:moveTo>
                  <a:lnTo>
                    <a:pt x="4999" y="8333"/>
                  </a:lnTo>
                  <a:lnTo>
                    <a:pt x="4999" y="1667"/>
                  </a:lnTo>
                  <a:lnTo>
                    <a:pt x="4999" y="8333"/>
                  </a:lnTo>
                  <a:lnTo>
                    <a:pt x="8998" y="8333"/>
                  </a:lnTo>
                  <a:lnTo>
                    <a:pt x="8998" y="1667"/>
                  </a:lnTo>
                  <a:lnTo>
                    <a:pt x="4999" y="1667"/>
                  </a:lnTo>
                  <a:moveTo>
                    <a:pt x="2781" y="2917"/>
                  </a:moveTo>
                  <a:cubicBezTo>
                    <a:pt x="2729" y="2725"/>
                    <a:pt x="2635" y="2621"/>
                    <a:pt x="2500" y="2604"/>
                  </a:cubicBezTo>
                  <a:cubicBezTo>
                    <a:pt x="2364" y="2621"/>
                    <a:pt x="2270" y="2725"/>
                    <a:pt x="2218" y="2917"/>
                  </a:cubicBezTo>
                  <a:lnTo>
                    <a:pt x="1219" y="6667"/>
                  </a:lnTo>
                  <a:cubicBezTo>
                    <a:pt x="1156" y="6961"/>
                    <a:pt x="1208" y="7187"/>
                    <a:pt x="1375" y="7344"/>
                  </a:cubicBezTo>
                  <a:cubicBezTo>
                    <a:pt x="1551" y="7448"/>
                    <a:pt x="1687" y="7361"/>
                    <a:pt x="1781" y="7083"/>
                  </a:cubicBezTo>
                  <a:lnTo>
                    <a:pt x="1921" y="6562"/>
                  </a:lnTo>
                  <a:lnTo>
                    <a:pt x="3078" y="6562"/>
                  </a:lnTo>
                  <a:lnTo>
                    <a:pt x="3218" y="7083"/>
                  </a:lnTo>
                  <a:cubicBezTo>
                    <a:pt x="3312" y="7361"/>
                    <a:pt x="3447" y="7448"/>
                    <a:pt x="3624" y="7344"/>
                  </a:cubicBezTo>
                  <a:cubicBezTo>
                    <a:pt x="3790" y="7187"/>
                    <a:pt x="3842" y="6961"/>
                    <a:pt x="3780" y="6667"/>
                  </a:cubicBezTo>
                  <a:lnTo>
                    <a:pt x="2781" y="2917"/>
                  </a:lnTo>
                  <a:moveTo>
                    <a:pt x="2500" y="4401"/>
                  </a:moveTo>
                  <a:lnTo>
                    <a:pt x="2796" y="5521"/>
                  </a:lnTo>
                  <a:lnTo>
                    <a:pt x="2500" y="4401"/>
                  </a:lnTo>
                  <a:lnTo>
                    <a:pt x="2796" y="5521"/>
                  </a:lnTo>
                  <a:lnTo>
                    <a:pt x="2203" y="5521"/>
                  </a:lnTo>
                  <a:lnTo>
                    <a:pt x="2500" y="4401"/>
                  </a:lnTo>
                  <a:moveTo>
                    <a:pt x="6999" y="2604"/>
                  </a:moveTo>
                  <a:cubicBezTo>
                    <a:pt x="7186" y="2638"/>
                    <a:pt x="7290" y="2812"/>
                    <a:pt x="7311" y="3125"/>
                  </a:cubicBezTo>
                  <a:lnTo>
                    <a:pt x="7311" y="3229"/>
                  </a:lnTo>
                  <a:lnTo>
                    <a:pt x="7998" y="3229"/>
                  </a:lnTo>
                  <a:lnTo>
                    <a:pt x="8248" y="3229"/>
                  </a:lnTo>
                  <a:cubicBezTo>
                    <a:pt x="8436" y="3263"/>
                    <a:pt x="8540" y="3437"/>
                    <a:pt x="8561" y="3750"/>
                  </a:cubicBezTo>
                  <a:cubicBezTo>
                    <a:pt x="8540" y="4062"/>
                    <a:pt x="8436" y="4236"/>
                    <a:pt x="8248" y="4271"/>
                  </a:cubicBezTo>
                  <a:lnTo>
                    <a:pt x="8217" y="4271"/>
                  </a:lnTo>
                  <a:lnTo>
                    <a:pt x="8186" y="4401"/>
                  </a:lnTo>
                  <a:cubicBezTo>
                    <a:pt x="8050" y="5026"/>
                    <a:pt x="7847" y="5590"/>
                    <a:pt x="7577" y="6094"/>
                  </a:cubicBezTo>
                  <a:cubicBezTo>
                    <a:pt x="7587" y="6111"/>
                    <a:pt x="7602" y="6128"/>
                    <a:pt x="7623" y="6146"/>
                  </a:cubicBezTo>
                  <a:lnTo>
                    <a:pt x="7905" y="6432"/>
                  </a:lnTo>
                  <a:cubicBezTo>
                    <a:pt x="8061" y="6623"/>
                    <a:pt x="8097" y="6857"/>
                    <a:pt x="8014" y="7135"/>
                  </a:cubicBezTo>
                  <a:cubicBezTo>
                    <a:pt x="7899" y="7395"/>
                    <a:pt x="7758" y="7456"/>
                    <a:pt x="7592" y="7318"/>
                  </a:cubicBezTo>
                  <a:lnTo>
                    <a:pt x="7295" y="7031"/>
                  </a:lnTo>
                  <a:cubicBezTo>
                    <a:pt x="7222" y="6961"/>
                    <a:pt x="7154" y="6883"/>
                    <a:pt x="7092" y="6797"/>
                  </a:cubicBezTo>
                  <a:cubicBezTo>
                    <a:pt x="6925" y="7005"/>
                    <a:pt x="6748" y="7178"/>
                    <a:pt x="6561" y="7318"/>
                  </a:cubicBezTo>
                  <a:lnTo>
                    <a:pt x="6499" y="7344"/>
                  </a:lnTo>
                  <a:cubicBezTo>
                    <a:pt x="6321" y="7448"/>
                    <a:pt x="6186" y="7361"/>
                    <a:pt x="6093" y="7083"/>
                  </a:cubicBezTo>
                  <a:cubicBezTo>
                    <a:pt x="6030" y="6788"/>
                    <a:pt x="6082" y="6562"/>
                    <a:pt x="6249" y="6406"/>
                  </a:cubicBezTo>
                  <a:lnTo>
                    <a:pt x="6311" y="6354"/>
                  </a:lnTo>
                  <a:cubicBezTo>
                    <a:pt x="6405" y="6284"/>
                    <a:pt x="6498" y="6198"/>
                    <a:pt x="6592" y="6094"/>
                  </a:cubicBezTo>
                  <a:lnTo>
                    <a:pt x="6405" y="5781"/>
                  </a:lnTo>
                  <a:cubicBezTo>
                    <a:pt x="6280" y="5538"/>
                    <a:pt x="6280" y="5295"/>
                    <a:pt x="6405" y="5052"/>
                  </a:cubicBezTo>
                  <a:cubicBezTo>
                    <a:pt x="6551" y="4844"/>
                    <a:pt x="6696" y="4844"/>
                    <a:pt x="6842" y="5052"/>
                  </a:cubicBezTo>
                  <a:lnTo>
                    <a:pt x="7077" y="5417"/>
                  </a:lnTo>
                  <a:lnTo>
                    <a:pt x="7077" y="5443"/>
                  </a:lnTo>
                  <a:cubicBezTo>
                    <a:pt x="7275" y="5095"/>
                    <a:pt x="7431" y="4705"/>
                    <a:pt x="7545" y="4271"/>
                  </a:cubicBezTo>
                  <a:lnTo>
                    <a:pt x="6999" y="4271"/>
                  </a:lnTo>
                  <a:lnTo>
                    <a:pt x="5874" y="4271"/>
                  </a:lnTo>
                  <a:cubicBezTo>
                    <a:pt x="5686" y="4236"/>
                    <a:pt x="5582" y="4062"/>
                    <a:pt x="5561" y="3750"/>
                  </a:cubicBezTo>
                  <a:cubicBezTo>
                    <a:pt x="5582" y="3437"/>
                    <a:pt x="5686" y="3263"/>
                    <a:pt x="5874" y="3229"/>
                  </a:cubicBezTo>
                  <a:lnTo>
                    <a:pt x="6686" y="3229"/>
                  </a:lnTo>
                  <a:lnTo>
                    <a:pt x="6686" y="3125"/>
                  </a:lnTo>
                  <a:cubicBezTo>
                    <a:pt x="6706" y="2812"/>
                    <a:pt x="6811" y="2638"/>
                    <a:pt x="6999" y="2604"/>
                  </a:cubicBezTo>
                </a:path>
              </a:pathLst>
            </a:custGeom>
            <a:solidFill>
              <a:srgbClr val="B5302A">
                <a:alpha val="100000"/>
              </a:srgbClr>
            </a:solidFill>
            <a:ln>
              <a:headEnd type="none"/>
              <a:tailEnd type="none"/>
            </a:ln>
          </p:spPr>
        </p:sp>
        <p:sp>
          <p:nvSpPr>
            <p:cNvPr id="27" name="TextBox 27"/>
            <p:cNvSpPr txBox="1"/>
            <p:nvPr/>
          </p:nvSpPr>
          <p:spPr>
            <a:xfrm>
              <a:off x="5405" y="3316"/>
              <a:ext cx="3592" cy="255"/>
            </a:xfrm>
            <a:prstGeom prst="rect">
              <a:avLst/>
            </a:prstGeom>
            <a:ln>
              <a:headEnd type="none"/>
              <a:tailEnd type="none"/>
            </a:ln>
          </p:spPr>
          <p:txBody>
            <a:bodyPr vert="horz" wrap="none" lIns="0" tIns="0" rIns="0" bIns="0" rtlCol="0" anchor="t" anchorCtr="0"/>
            <a:lstStyle/>
            <a:p>
              <a:pPr algn="l">
                <a:defRPr/>
              </a:pPr>
              <a:r>
                <a:rPr lang="en-US" sz="1100" b="1" i="0" strike="noStrike">
                  <a:solidFill>
                    <a:srgbClr val="1C0A0A">
                      <a:alpha val="100000"/>
                    </a:srgbClr>
                  </a:solidFill>
                  <a:latin typeface="Alibaba PuHuiTi 3.0 55 Regular"/>
                  <a:ea typeface="Alibaba PuHuiTi 3.0 55 Regular"/>
                  <a:cs typeface="Alibaba PuHuiTi 3.0 55 Regular"/>
                </a:rPr>
                <a:t>❷ 大模型多语言生成质量差</a:t>
              </a:r>
              <a:endParaRPr lang="en-US" sz="1100"/>
            </a:p>
          </p:txBody>
        </p:sp>
        <p:sp>
          <p:nvSpPr>
            <p:cNvPr id="28" name="AutoShape 28"/>
            <p:cNvSpPr/>
            <p:nvPr/>
          </p:nvSpPr>
          <p:spPr>
            <a:xfrm>
              <a:off x="5405" y="3800"/>
              <a:ext cx="75" cy="75"/>
            </a:xfrm>
            <a:prstGeom prst="ellipse">
              <a:avLst/>
            </a:prstGeom>
            <a:solidFill>
              <a:srgbClr val="B5302A">
                <a:alpha val="54901"/>
              </a:srgbClr>
            </a:solidFill>
            <a:ln>
              <a:headEnd type="none"/>
              <a:tailEnd type="none"/>
            </a:ln>
          </p:spPr>
        </p:sp>
        <p:sp>
          <p:nvSpPr>
            <p:cNvPr id="29" name="TextBox 29"/>
            <p:cNvSpPr txBox="1"/>
            <p:nvPr/>
          </p:nvSpPr>
          <p:spPr>
            <a:xfrm>
              <a:off x="5570" y="3755"/>
              <a:ext cx="3427" cy="79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大模型对7+1种本体语言的语法语义理</a:t>
              </a:r>
              <a:endParaRPr lang="en-US" sz="1200">
                <a:latin typeface="微软雅黑" panose="020B0503020204020204" pitchFamily="34" charset="-122"/>
                <a:ea typeface="微软雅黑" panose="020B0503020204020204" pitchFamily="34" charset="-122"/>
                <a:cs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解不足，生成内容存在大量格式错误与</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逻辑矛盾，需反复修正。</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 name="AutoShape 30"/>
            <p:cNvSpPr/>
            <p:nvPr/>
          </p:nvSpPr>
          <p:spPr>
            <a:xfrm>
              <a:off x="5405" y="4762"/>
              <a:ext cx="75" cy="75"/>
            </a:xfrm>
            <a:prstGeom prst="ellipse">
              <a:avLst/>
            </a:prstGeom>
            <a:solidFill>
              <a:srgbClr val="B5302A">
                <a:alpha val="54901"/>
              </a:srgbClr>
            </a:solidFill>
            <a:ln>
              <a:headEnd type="none"/>
              <a:tailEnd type="none"/>
            </a:ln>
          </p:spPr>
        </p:sp>
        <p:sp>
          <p:nvSpPr>
            <p:cNvPr id="31" name="TextBox 31"/>
            <p:cNvSpPr txBox="1"/>
            <p:nvPr/>
          </p:nvSpPr>
          <p:spPr>
            <a:xfrm>
              <a:off x="5570" y="4717"/>
              <a:ext cx="3427" cy="79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SWRL标准在工程中未被严格执行，不</a:t>
              </a:r>
              <a:endParaRPr lang="en-US" sz="1200">
                <a:latin typeface="微软雅黑" panose="020B0503020204020204" pitchFamily="34" charset="-122"/>
                <a:ea typeface="微软雅黑" panose="020B0503020204020204" pitchFamily="34" charset="-122"/>
                <a:cs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同平台对同一规则解释存在差异，可移</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植性无法保证。</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2" name="AutoShape 32"/>
            <p:cNvSpPr/>
            <p:nvPr/>
          </p:nvSpPr>
          <p:spPr>
            <a:xfrm>
              <a:off x="5405" y="5723"/>
              <a:ext cx="75" cy="75"/>
            </a:xfrm>
            <a:prstGeom prst="ellipse">
              <a:avLst/>
            </a:prstGeom>
            <a:solidFill>
              <a:srgbClr val="B5302A">
                <a:alpha val="54901"/>
              </a:srgbClr>
            </a:solidFill>
            <a:ln>
              <a:headEnd type="none"/>
              <a:tailEnd type="none"/>
            </a:ln>
          </p:spPr>
        </p:sp>
        <p:sp>
          <p:nvSpPr>
            <p:cNvPr id="33" name="TextBox 33"/>
            <p:cNvSpPr txBox="1"/>
            <p:nvPr/>
          </p:nvSpPr>
          <p:spPr>
            <a:xfrm>
              <a:off x="5570" y="5678"/>
              <a:ext cx="3427" cy="79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rPr>
                <a:t>缺乏统一质量评估基准与自动化检测手</a:t>
              </a:r>
              <a:endParaRPr lang="en-US" sz="1200">
                <a:latin typeface="微软雅黑" panose="020B0503020204020204" pitchFamily="34" charset="-122"/>
                <a:ea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rPr>
                <a:t>段，生成质量高度依赖人工经验，难以</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rPr>
                <a:t>标准化管控。</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34" name="AutoShape 34"/>
            <p:cNvSpPr/>
            <p:nvPr/>
          </p:nvSpPr>
          <p:spPr>
            <a:xfrm>
              <a:off x="9432" y="2453"/>
              <a:ext cx="4041" cy="5944"/>
            </a:xfrm>
            <a:prstGeom prst="roundRect">
              <a:avLst>
                <a:gd name="adj" fmla="val 793"/>
              </a:avLst>
            </a:prstGeom>
            <a:solidFill>
              <a:srgbClr val="F3ECE3">
                <a:alpha val="100000"/>
              </a:srgbClr>
            </a:solidFill>
            <a:ln w="9525">
              <a:solidFill>
                <a:srgbClr val="E0D5C9">
                  <a:alpha val="100000"/>
                </a:srgbClr>
              </a:solidFill>
              <a:prstDash val="solid"/>
              <a:headEnd type="none"/>
              <a:tailEnd type="none"/>
            </a:ln>
          </p:spPr>
        </p:sp>
        <p:sp>
          <p:nvSpPr>
            <p:cNvPr id="35" name="AutoShape 35"/>
            <p:cNvSpPr/>
            <p:nvPr/>
          </p:nvSpPr>
          <p:spPr>
            <a:xfrm>
              <a:off x="9432" y="2566"/>
              <a:ext cx="4041" cy="15"/>
            </a:xfrm>
            <a:prstGeom prst="line">
              <a:avLst/>
            </a:prstGeom>
            <a:ln w="28575">
              <a:solidFill>
                <a:srgbClr val="B5302A">
                  <a:alpha val="100000"/>
                </a:srgbClr>
              </a:solidFill>
              <a:prstDash val="solid"/>
              <a:headEnd type="none"/>
              <a:tailEnd type="none"/>
            </a:ln>
          </p:spPr>
        </p:sp>
        <p:sp>
          <p:nvSpPr>
            <p:cNvPr id="36" name="AutoShape 36"/>
            <p:cNvSpPr/>
            <p:nvPr/>
          </p:nvSpPr>
          <p:spPr>
            <a:xfrm>
              <a:off x="11287" y="2851"/>
              <a:ext cx="330" cy="330"/>
            </a:xfrm>
            <a:custGeom>
              <a:avLst/>
              <a:gdLst/>
              <a:ahLst/>
              <a:cxnLst/>
              <a:rect l="l" t="t" r="r" b="b"/>
              <a:pathLst>
                <a:path w="9998" h="10000">
                  <a:moveTo>
                    <a:pt x="4999" y="0"/>
                  </a:moveTo>
                  <a:cubicBezTo>
                    <a:pt x="5304" y="14"/>
                    <a:pt x="5536" y="163"/>
                    <a:pt x="5696" y="446"/>
                  </a:cubicBezTo>
                  <a:lnTo>
                    <a:pt x="9998" y="8661"/>
                  </a:lnTo>
                  <a:cubicBezTo>
                    <a:pt x="10130" y="8958"/>
                    <a:pt x="10130" y="9256"/>
                    <a:pt x="9998" y="9554"/>
                  </a:cubicBezTo>
                  <a:cubicBezTo>
                    <a:pt x="9838" y="9836"/>
                    <a:pt x="9606" y="9985"/>
                    <a:pt x="9301" y="10000"/>
                  </a:cubicBezTo>
                  <a:lnTo>
                    <a:pt x="697" y="10000"/>
                  </a:lnTo>
                  <a:cubicBezTo>
                    <a:pt x="391" y="9985"/>
                    <a:pt x="159" y="9836"/>
                    <a:pt x="0" y="9554"/>
                  </a:cubicBezTo>
                  <a:cubicBezTo>
                    <a:pt x="-132" y="9256"/>
                    <a:pt x="-132" y="8958"/>
                    <a:pt x="0" y="8661"/>
                  </a:cubicBezTo>
                  <a:lnTo>
                    <a:pt x="4322" y="446"/>
                  </a:lnTo>
                  <a:cubicBezTo>
                    <a:pt x="4481" y="163"/>
                    <a:pt x="4707" y="14"/>
                    <a:pt x="4999" y="0"/>
                  </a:cubicBezTo>
                  <a:moveTo>
                    <a:pt x="4999" y="2857"/>
                  </a:moveTo>
                  <a:cubicBezTo>
                    <a:pt x="4707" y="2887"/>
                    <a:pt x="4547" y="3065"/>
                    <a:pt x="4521" y="3393"/>
                  </a:cubicBezTo>
                  <a:lnTo>
                    <a:pt x="4521" y="5893"/>
                  </a:lnTo>
                  <a:cubicBezTo>
                    <a:pt x="4547" y="6220"/>
                    <a:pt x="4707" y="6399"/>
                    <a:pt x="4999" y="6429"/>
                  </a:cubicBezTo>
                  <a:cubicBezTo>
                    <a:pt x="5291" y="6399"/>
                    <a:pt x="5450" y="6220"/>
                    <a:pt x="5477" y="5893"/>
                  </a:cubicBezTo>
                  <a:lnTo>
                    <a:pt x="5477" y="3393"/>
                  </a:lnTo>
                  <a:cubicBezTo>
                    <a:pt x="5450" y="3065"/>
                    <a:pt x="5291" y="2887"/>
                    <a:pt x="4999" y="2857"/>
                  </a:cubicBezTo>
                  <a:moveTo>
                    <a:pt x="5636" y="7857"/>
                  </a:moveTo>
                  <a:cubicBezTo>
                    <a:pt x="5636" y="7649"/>
                    <a:pt x="5576" y="7478"/>
                    <a:pt x="5457" y="7344"/>
                  </a:cubicBezTo>
                  <a:cubicBezTo>
                    <a:pt x="5337" y="7210"/>
                    <a:pt x="5185" y="7143"/>
                    <a:pt x="4999" y="7143"/>
                  </a:cubicBezTo>
                  <a:cubicBezTo>
                    <a:pt x="4813" y="7143"/>
                    <a:pt x="4660" y="7210"/>
                    <a:pt x="4541" y="7344"/>
                  </a:cubicBezTo>
                  <a:cubicBezTo>
                    <a:pt x="4421" y="7478"/>
                    <a:pt x="4362" y="7649"/>
                    <a:pt x="4362" y="7857"/>
                  </a:cubicBezTo>
                  <a:cubicBezTo>
                    <a:pt x="4362" y="8065"/>
                    <a:pt x="4421" y="8237"/>
                    <a:pt x="4541" y="8371"/>
                  </a:cubicBezTo>
                  <a:cubicBezTo>
                    <a:pt x="4660" y="8504"/>
                    <a:pt x="4813" y="8571"/>
                    <a:pt x="4999" y="8571"/>
                  </a:cubicBezTo>
                  <a:cubicBezTo>
                    <a:pt x="5185" y="8571"/>
                    <a:pt x="5337" y="8504"/>
                    <a:pt x="5457" y="8371"/>
                  </a:cubicBezTo>
                  <a:cubicBezTo>
                    <a:pt x="5576" y="8237"/>
                    <a:pt x="5636" y="8065"/>
                    <a:pt x="5636" y="7857"/>
                  </a:cubicBezTo>
                </a:path>
              </a:pathLst>
            </a:custGeom>
            <a:solidFill>
              <a:srgbClr val="B5302A">
                <a:alpha val="100000"/>
              </a:srgbClr>
            </a:solidFill>
            <a:ln>
              <a:headEnd type="none"/>
              <a:tailEnd type="none"/>
            </a:ln>
          </p:spPr>
        </p:sp>
        <p:sp>
          <p:nvSpPr>
            <p:cNvPr id="37" name="TextBox 37"/>
            <p:cNvSpPr txBox="1"/>
            <p:nvPr/>
          </p:nvSpPr>
          <p:spPr>
            <a:xfrm>
              <a:off x="9657" y="3316"/>
              <a:ext cx="3592" cy="255"/>
            </a:xfrm>
            <a:prstGeom prst="rect">
              <a:avLst/>
            </a:prstGeom>
            <a:ln>
              <a:headEnd type="none"/>
              <a:tailEnd type="none"/>
            </a:ln>
          </p:spPr>
          <p:txBody>
            <a:bodyPr vert="horz" wrap="none" lIns="0" tIns="0" rIns="0" bIns="0" rtlCol="0" anchor="t" anchorCtr="0"/>
            <a:lstStyle/>
            <a:p>
              <a:pPr algn="l">
                <a:defRPr/>
              </a:pPr>
              <a:r>
                <a:rPr lang="en-US" sz="1100" b="1" i="0" strike="noStrike">
                  <a:solidFill>
                    <a:srgbClr val="1C0A0A">
                      <a:alpha val="100000"/>
                    </a:srgbClr>
                  </a:solidFill>
                  <a:latin typeface="Alibaba PuHuiTi 3.0 55 Regular"/>
                  <a:ea typeface="Alibaba PuHuiTi 3.0 55 Regular"/>
                  <a:cs typeface="Alibaba PuHuiTi 3.0 55 Regular"/>
                </a:rPr>
                <a:t>❸ 核心技术栈软件停止维护</a:t>
              </a:r>
              <a:endParaRPr lang="en-US" sz="1100"/>
            </a:p>
          </p:txBody>
        </p:sp>
        <p:sp>
          <p:nvSpPr>
            <p:cNvPr id="38" name="AutoShape 38"/>
            <p:cNvSpPr/>
            <p:nvPr/>
          </p:nvSpPr>
          <p:spPr>
            <a:xfrm>
              <a:off x="9657" y="3800"/>
              <a:ext cx="75" cy="75"/>
            </a:xfrm>
            <a:prstGeom prst="ellipse">
              <a:avLst/>
            </a:prstGeom>
            <a:solidFill>
              <a:srgbClr val="B5302A">
                <a:alpha val="54901"/>
              </a:srgbClr>
            </a:solidFill>
            <a:ln>
              <a:headEnd type="none"/>
              <a:tailEnd type="none"/>
            </a:ln>
          </p:spPr>
        </p:sp>
        <p:sp>
          <p:nvSpPr>
            <p:cNvPr id="39" name="TextBox 39"/>
            <p:cNvSpPr txBox="1"/>
            <p:nvPr/>
          </p:nvSpPr>
          <p:spPr>
            <a:xfrm>
              <a:off x="9821" y="3755"/>
              <a:ext cx="3427" cy="79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多个关键开源软件活跃度低，核心推</a:t>
              </a:r>
              <a:endParaRPr lang="en-US" sz="1200">
                <a:latin typeface="微软雅黑" panose="020B0503020204020204" pitchFamily="34" charset="-122"/>
                <a:ea typeface="微软雅黑" panose="020B0503020204020204" pitchFamily="34" charset="-122"/>
                <a:cs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理机Openllet已超六年未发新版</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0" name="AutoShape 40"/>
            <p:cNvSpPr/>
            <p:nvPr/>
          </p:nvSpPr>
          <p:spPr>
            <a:xfrm>
              <a:off x="9657" y="4762"/>
              <a:ext cx="75" cy="75"/>
            </a:xfrm>
            <a:prstGeom prst="ellipse">
              <a:avLst/>
            </a:prstGeom>
            <a:solidFill>
              <a:srgbClr val="B5302A">
                <a:alpha val="54901"/>
              </a:srgbClr>
            </a:solidFill>
            <a:ln>
              <a:headEnd type="none"/>
              <a:tailEnd type="none"/>
            </a:ln>
          </p:spPr>
        </p:sp>
        <p:sp>
          <p:nvSpPr>
            <p:cNvPr id="41" name="TextBox 41"/>
            <p:cNvSpPr txBox="1"/>
            <p:nvPr/>
          </p:nvSpPr>
          <p:spPr>
            <a:xfrm>
              <a:off x="9821" y="4604"/>
              <a:ext cx="3427" cy="79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长期停维带来安全漏洞累积、新版JDK</a:t>
              </a:r>
              <a:endParaRPr lang="en-US" sz="1200">
                <a:latin typeface="微软雅黑" panose="020B0503020204020204" pitchFamily="34" charset="-122"/>
                <a:ea typeface="微软雅黑" panose="020B0503020204020204" pitchFamily="34" charset="-122"/>
                <a:cs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兼容性退化、依赖冲突等连锁风险，生</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产稳定性堪忧。</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2" name="AutoShape 42"/>
            <p:cNvSpPr/>
            <p:nvPr/>
          </p:nvSpPr>
          <p:spPr>
            <a:xfrm>
              <a:off x="9657" y="5723"/>
              <a:ext cx="75" cy="75"/>
            </a:xfrm>
            <a:prstGeom prst="ellipse">
              <a:avLst/>
            </a:prstGeom>
            <a:solidFill>
              <a:srgbClr val="B5302A">
                <a:alpha val="54901"/>
              </a:srgbClr>
            </a:solidFill>
            <a:ln>
              <a:headEnd type="none"/>
              <a:tailEnd type="none"/>
            </a:ln>
          </p:spPr>
        </p:sp>
        <p:sp>
          <p:nvSpPr>
            <p:cNvPr id="43" name="TextBox 43"/>
            <p:cNvSpPr txBox="1"/>
            <p:nvPr/>
          </p:nvSpPr>
          <p:spPr>
            <a:xfrm>
              <a:off x="9821" y="5678"/>
              <a:ext cx="3466" cy="79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替代方案迁移成本高昂，现有资产与推</a:t>
              </a:r>
              <a:endParaRPr lang="en-US" sz="1200">
                <a:latin typeface="微软雅黑" panose="020B0503020204020204" pitchFamily="34" charset="-122"/>
                <a:ea typeface="微软雅黑" panose="020B0503020204020204" pitchFamily="34" charset="-122"/>
                <a:cs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理逻辑深度绑定旧版API，更换引擎意味着大规模重写。</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4" name="AutoShape 44"/>
            <p:cNvSpPr/>
            <p:nvPr/>
          </p:nvSpPr>
          <p:spPr>
            <a:xfrm>
              <a:off x="13683" y="2566"/>
              <a:ext cx="4041" cy="5944"/>
            </a:xfrm>
            <a:prstGeom prst="roundRect">
              <a:avLst>
                <a:gd name="adj" fmla="val 793"/>
              </a:avLst>
            </a:prstGeom>
            <a:solidFill>
              <a:srgbClr val="F3ECE3">
                <a:alpha val="100000"/>
              </a:srgbClr>
            </a:solidFill>
            <a:ln w="9525">
              <a:solidFill>
                <a:srgbClr val="E0D5C9">
                  <a:alpha val="100000"/>
                </a:srgbClr>
              </a:solidFill>
              <a:prstDash val="solid"/>
              <a:headEnd type="none"/>
              <a:tailEnd type="none"/>
            </a:ln>
          </p:spPr>
        </p:sp>
        <p:sp>
          <p:nvSpPr>
            <p:cNvPr id="45" name="AutoShape 45"/>
            <p:cNvSpPr/>
            <p:nvPr/>
          </p:nvSpPr>
          <p:spPr>
            <a:xfrm>
              <a:off x="13683" y="2566"/>
              <a:ext cx="4041" cy="15"/>
            </a:xfrm>
            <a:prstGeom prst="line">
              <a:avLst/>
            </a:prstGeom>
            <a:ln w="28575">
              <a:solidFill>
                <a:srgbClr val="B5302A">
                  <a:alpha val="100000"/>
                </a:srgbClr>
              </a:solidFill>
              <a:prstDash val="solid"/>
              <a:headEnd type="none"/>
              <a:tailEnd type="none"/>
            </a:ln>
          </p:spPr>
        </p:sp>
        <p:sp>
          <p:nvSpPr>
            <p:cNvPr id="46" name="AutoShape 46"/>
            <p:cNvSpPr/>
            <p:nvPr/>
          </p:nvSpPr>
          <p:spPr>
            <a:xfrm>
              <a:off x="15539" y="2851"/>
              <a:ext cx="330" cy="330"/>
            </a:xfrm>
            <a:custGeom>
              <a:avLst/>
              <a:gdLst/>
              <a:ahLst/>
              <a:cxnLst/>
              <a:rect l="l" t="t" r="r" b="b"/>
              <a:pathLst>
                <a:path w="9998" h="10000">
                  <a:moveTo>
                    <a:pt x="4999" y="0"/>
                  </a:moveTo>
                  <a:cubicBezTo>
                    <a:pt x="5145" y="0"/>
                    <a:pt x="5264" y="58"/>
                    <a:pt x="5358" y="176"/>
                  </a:cubicBezTo>
                  <a:cubicBezTo>
                    <a:pt x="5452" y="293"/>
                    <a:pt x="5499" y="443"/>
                    <a:pt x="5499" y="625"/>
                  </a:cubicBezTo>
                  <a:lnTo>
                    <a:pt x="5499" y="1875"/>
                  </a:lnTo>
                  <a:lnTo>
                    <a:pt x="7374" y="1875"/>
                  </a:lnTo>
                  <a:cubicBezTo>
                    <a:pt x="7696" y="1888"/>
                    <a:pt x="7962" y="2025"/>
                    <a:pt x="8170" y="2285"/>
                  </a:cubicBezTo>
                  <a:cubicBezTo>
                    <a:pt x="8378" y="2545"/>
                    <a:pt x="8488" y="2877"/>
                    <a:pt x="8498" y="3281"/>
                  </a:cubicBezTo>
                  <a:lnTo>
                    <a:pt x="8498" y="8594"/>
                  </a:lnTo>
                  <a:cubicBezTo>
                    <a:pt x="8488" y="8997"/>
                    <a:pt x="8378" y="9329"/>
                    <a:pt x="8170" y="9590"/>
                  </a:cubicBezTo>
                  <a:cubicBezTo>
                    <a:pt x="7962" y="9850"/>
                    <a:pt x="7696" y="9986"/>
                    <a:pt x="7374" y="10000"/>
                  </a:cubicBezTo>
                  <a:lnTo>
                    <a:pt x="2624" y="10000"/>
                  </a:lnTo>
                  <a:cubicBezTo>
                    <a:pt x="2301" y="9986"/>
                    <a:pt x="2036" y="9850"/>
                    <a:pt x="1828" y="9590"/>
                  </a:cubicBezTo>
                  <a:cubicBezTo>
                    <a:pt x="1619" y="9329"/>
                    <a:pt x="1510" y="8997"/>
                    <a:pt x="1500" y="8594"/>
                  </a:cubicBezTo>
                  <a:lnTo>
                    <a:pt x="1500" y="3281"/>
                  </a:lnTo>
                  <a:cubicBezTo>
                    <a:pt x="1510" y="2877"/>
                    <a:pt x="1619" y="2545"/>
                    <a:pt x="1828" y="2285"/>
                  </a:cubicBezTo>
                  <a:cubicBezTo>
                    <a:pt x="2036" y="2025"/>
                    <a:pt x="2301" y="1888"/>
                    <a:pt x="2624" y="1875"/>
                  </a:cubicBezTo>
                  <a:lnTo>
                    <a:pt x="4499" y="1875"/>
                  </a:lnTo>
                  <a:lnTo>
                    <a:pt x="4499" y="625"/>
                  </a:lnTo>
                  <a:cubicBezTo>
                    <a:pt x="4499" y="443"/>
                    <a:pt x="4546" y="293"/>
                    <a:pt x="4640" y="176"/>
                  </a:cubicBezTo>
                  <a:cubicBezTo>
                    <a:pt x="4733" y="58"/>
                    <a:pt x="4853" y="0"/>
                    <a:pt x="4999" y="0"/>
                  </a:cubicBezTo>
                  <a:moveTo>
                    <a:pt x="3249" y="7500"/>
                  </a:moveTo>
                  <a:cubicBezTo>
                    <a:pt x="3093" y="7513"/>
                    <a:pt x="3009" y="7617"/>
                    <a:pt x="2999" y="7813"/>
                  </a:cubicBezTo>
                  <a:cubicBezTo>
                    <a:pt x="3009" y="8007"/>
                    <a:pt x="3093" y="8111"/>
                    <a:pt x="3249" y="8125"/>
                  </a:cubicBezTo>
                  <a:lnTo>
                    <a:pt x="3749" y="8125"/>
                  </a:lnTo>
                  <a:cubicBezTo>
                    <a:pt x="3905" y="8111"/>
                    <a:pt x="3989" y="8007"/>
                    <a:pt x="3999" y="7813"/>
                  </a:cubicBezTo>
                  <a:cubicBezTo>
                    <a:pt x="3989" y="7617"/>
                    <a:pt x="3905" y="7513"/>
                    <a:pt x="3749" y="7500"/>
                  </a:cubicBezTo>
                  <a:lnTo>
                    <a:pt x="3249" y="7500"/>
                  </a:lnTo>
                  <a:moveTo>
                    <a:pt x="4749" y="7500"/>
                  </a:moveTo>
                  <a:cubicBezTo>
                    <a:pt x="4593" y="7513"/>
                    <a:pt x="4509" y="7617"/>
                    <a:pt x="4499" y="7813"/>
                  </a:cubicBezTo>
                  <a:cubicBezTo>
                    <a:pt x="4509" y="8007"/>
                    <a:pt x="4593" y="8111"/>
                    <a:pt x="4749" y="8125"/>
                  </a:cubicBezTo>
                  <a:lnTo>
                    <a:pt x="5249" y="8125"/>
                  </a:lnTo>
                  <a:cubicBezTo>
                    <a:pt x="5405" y="8111"/>
                    <a:pt x="5488" y="8007"/>
                    <a:pt x="5499" y="7813"/>
                  </a:cubicBezTo>
                  <a:cubicBezTo>
                    <a:pt x="5488" y="7617"/>
                    <a:pt x="5405" y="7513"/>
                    <a:pt x="5249" y="7500"/>
                  </a:cubicBezTo>
                  <a:lnTo>
                    <a:pt x="4749" y="7500"/>
                  </a:lnTo>
                  <a:moveTo>
                    <a:pt x="6249" y="7500"/>
                  </a:moveTo>
                  <a:cubicBezTo>
                    <a:pt x="6092" y="7513"/>
                    <a:pt x="6009" y="7617"/>
                    <a:pt x="5999" y="7813"/>
                  </a:cubicBezTo>
                  <a:cubicBezTo>
                    <a:pt x="6009" y="8007"/>
                    <a:pt x="6092" y="8111"/>
                    <a:pt x="6249" y="8125"/>
                  </a:cubicBezTo>
                  <a:lnTo>
                    <a:pt x="6749" y="8125"/>
                  </a:lnTo>
                  <a:cubicBezTo>
                    <a:pt x="6905" y="8111"/>
                    <a:pt x="6988" y="8007"/>
                    <a:pt x="6999" y="7813"/>
                  </a:cubicBezTo>
                  <a:cubicBezTo>
                    <a:pt x="6988" y="7617"/>
                    <a:pt x="6905" y="7513"/>
                    <a:pt x="6749" y="7500"/>
                  </a:cubicBezTo>
                  <a:lnTo>
                    <a:pt x="6249" y="7500"/>
                  </a:lnTo>
                  <a:moveTo>
                    <a:pt x="4124" y="5000"/>
                  </a:moveTo>
                  <a:cubicBezTo>
                    <a:pt x="4114" y="4700"/>
                    <a:pt x="4010" y="4472"/>
                    <a:pt x="3812" y="4316"/>
                  </a:cubicBezTo>
                  <a:cubicBezTo>
                    <a:pt x="3603" y="4186"/>
                    <a:pt x="3395" y="4186"/>
                    <a:pt x="3187" y="4316"/>
                  </a:cubicBezTo>
                  <a:cubicBezTo>
                    <a:pt x="2989" y="4472"/>
                    <a:pt x="2884" y="4700"/>
                    <a:pt x="2874" y="5000"/>
                  </a:cubicBezTo>
                  <a:cubicBezTo>
                    <a:pt x="2884" y="5299"/>
                    <a:pt x="2989" y="5527"/>
                    <a:pt x="3187" y="5684"/>
                  </a:cubicBezTo>
                  <a:cubicBezTo>
                    <a:pt x="3395" y="5814"/>
                    <a:pt x="3603" y="5814"/>
                    <a:pt x="3812" y="5684"/>
                  </a:cubicBezTo>
                  <a:cubicBezTo>
                    <a:pt x="4010" y="5527"/>
                    <a:pt x="4114" y="5299"/>
                    <a:pt x="4124" y="5000"/>
                  </a:cubicBezTo>
                  <a:moveTo>
                    <a:pt x="6499" y="5781"/>
                  </a:moveTo>
                  <a:cubicBezTo>
                    <a:pt x="6738" y="5768"/>
                    <a:pt x="6920" y="5638"/>
                    <a:pt x="7045" y="5391"/>
                  </a:cubicBezTo>
                  <a:cubicBezTo>
                    <a:pt x="7149" y="5130"/>
                    <a:pt x="7149" y="4869"/>
                    <a:pt x="7045" y="4609"/>
                  </a:cubicBezTo>
                  <a:cubicBezTo>
                    <a:pt x="6920" y="4361"/>
                    <a:pt x="6738" y="4231"/>
                    <a:pt x="6499" y="4219"/>
                  </a:cubicBezTo>
                  <a:cubicBezTo>
                    <a:pt x="6259" y="4231"/>
                    <a:pt x="6076" y="4361"/>
                    <a:pt x="5952" y="4609"/>
                  </a:cubicBezTo>
                  <a:cubicBezTo>
                    <a:pt x="5848" y="4869"/>
                    <a:pt x="5848" y="5130"/>
                    <a:pt x="5952" y="5391"/>
                  </a:cubicBezTo>
                  <a:cubicBezTo>
                    <a:pt x="6076" y="5638"/>
                    <a:pt x="6259" y="5768"/>
                    <a:pt x="6499" y="5781"/>
                  </a:cubicBezTo>
                  <a:moveTo>
                    <a:pt x="750" y="4375"/>
                  </a:moveTo>
                  <a:lnTo>
                    <a:pt x="1000" y="4375"/>
                  </a:lnTo>
                  <a:lnTo>
                    <a:pt x="750" y="4375"/>
                  </a:lnTo>
                  <a:lnTo>
                    <a:pt x="1000" y="4375"/>
                  </a:lnTo>
                  <a:lnTo>
                    <a:pt x="1000" y="8125"/>
                  </a:lnTo>
                  <a:lnTo>
                    <a:pt x="750" y="8125"/>
                  </a:lnTo>
                  <a:cubicBezTo>
                    <a:pt x="541" y="8111"/>
                    <a:pt x="364" y="8020"/>
                    <a:pt x="219" y="7852"/>
                  </a:cubicBezTo>
                  <a:cubicBezTo>
                    <a:pt x="83" y="7669"/>
                    <a:pt x="10" y="7448"/>
                    <a:pt x="0" y="7188"/>
                  </a:cubicBezTo>
                  <a:lnTo>
                    <a:pt x="0" y="5312"/>
                  </a:lnTo>
                  <a:cubicBezTo>
                    <a:pt x="10" y="5052"/>
                    <a:pt x="83" y="4830"/>
                    <a:pt x="219" y="4648"/>
                  </a:cubicBezTo>
                  <a:cubicBezTo>
                    <a:pt x="364" y="4479"/>
                    <a:pt x="541" y="4388"/>
                    <a:pt x="750" y="4375"/>
                  </a:cubicBezTo>
                  <a:moveTo>
                    <a:pt x="9248" y="4375"/>
                  </a:moveTo>
                  <a:cubicBezTo>
                    <a:pt x="9456" y="4388"/>
                    <a:pt x="9633" y="4479"/>
                    <a:pt x="9779" y="4648"/>
                  </a:cubicBezTo>
                  <a:cubicBezTo>
                    <a:pt x="9914" y="4830"/>
                    <a:pt x="9987" y="5052"/>
                    <a:pt x="9998" y="5312"/>
                  </a:cubicBezTo>
                  <a:lnTo>
                    <a:pt x="9998" y="7188"/>
                  </a:lnTo>
                  <a:cubicBezTo>
                    <a:pt x="9987" y="7448"/>
                    <a:pt x="9914" y="7669"/>
                    <a:pt x="9779" y="7852"/>
                  </a:cubicBezTo>
                  <a:cubicBezTo>
                    <a:pt x="9633" y="8020"/>
                    <a:pt x="9456" y="8111"/>
                    <a:pt x="9248" y="8125"/>
                  </a:cubicBezTo>
                  <a:lnTo>
                    <a:pt x="8998" y="8125"/>
                  </a:lnTo>
                  <a:lnTo>
                    <a:pt x="8998" y="4375"/>
                  </a:lnTo>
                </a:path>
              </a:pathLst>
            </a:custGeom>
            <a:solidFill>
              <a:srgbClr val="B5302A">
                <a:alpha val="100000"/>
              </a:srgbClr>
            </a:solidFill>
            <a:ln>
              <a:headEnd type="none"/>
              <a:tailEnd type="none"/>
            </a:ln>
          </p:spPr>
        </p:sp>
        <p:sp>
          <p:nvSpPr>
            <p:cNvPr id="47" name="TextBox 47"/>
            <p:cNvSpPr txBox="1"/>
            <p:nvPr/>
          </p:nvSpPr>
          <p:spPr>
            <a:xfrm>
              <a:off x="13908" y="3316"/>
              <a:ext cx="3592" cy="255"/>
            </a:xfrm>
            <a:prstGeom prst="rect">
              <a:avLst/>
            </a:prstGeom>
            <a:ln>
              <a:headEnd type="none"/>
              <a:tailEnd type="none"/>
            </a:ln>
          </p:spPr>
          <p:txBody>
            <a:bodyPr vert="horz" wrap="none" lIns="0" tIns="0" rIns="0" bIns="0" rtlCol="0" anchor="t" anchorCtr="0"/>
            <a:lstStyle/>
            <a:p>
              <a:pPr algn="l">
                <a:defRPr/>
              </a:pPr>
              <a:r>
                <a:rPr lang="en-US" sz="1100" b="1" i="0" strike="noStrike">
                  <a:solidFill>
                    <a:srgbClr val="1C0A0A">
                      <a:alpha val="100000"/>
                    </a:srgbClr>
                  </a:solidFill>
                  <a:latin typeface="Alibaba PuHuiTi 3.0 55 Regular"/>
                  <a:ea typeface="Alibaba PuHuiTi 3.0 55 Regular"/>
                  <a:cs typeface="Alibaba PuHuiTi 3.0 55 Regular"/>
                </a:rPr>
                <a:t>❹ AI对框架软件包使用不成熟</a:t>
              </a:r>
              <a:endParaRPr lang="en-US" sz="1100"/>
            </a:p>
          </p:txBody>
        </p:sp>
        <p:sp>
          <p:nvSpPr>
            <p:cNvPr id="48" name="AutoShape 48"/>
            <p:cNvSpPr/>
            <p:nvPr/>
          </p:nvSpPr>
          <p:spPr>
            <a:xfrm>
              <a:off x="13908" y="3800"/>
              <a:ext cx="75" cy="75"/>
            </a:xfrm>
            <a:prstGeom prst="ellipse">
              <a:avLst/>
            </a:prstGeom>
            <a:solidFill>
              <a:srgbClr val="B5302A">
                <a:alpha val="54901"/>
              </a:srgbClr>
            </a:solidFill>
            <a:ln>
              <a:headEnd type="none"/>
              <a:tailEnd type="none"/>
            </a:ln>
          </p:spPr>
        </p:sp>
        <p:sp>
          <p:nvSpPr>
            <p:cNvPr id="49" name="TextBox 49"/>
            <p:cNvSpPr txBox="1"/>
            <p:nvPr/>
          </p:nvSpPr>
          <p:spPr>
            <a:xfrm>
              <a:off x="14073" y="3755"/>
              <a:ext cx="3431" cy="79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AI对RDF4J、OWL API等软件包的API理</a:t>
              </a:r>
              <a:endParaRPr lang="en-US" sz="1200">
                <a:latin typeface="微软雅黑" panose="020B0503020204020204" pitchFamily="34" charset="-122"/>
                <a:ea typeface="微软雅黑" panose="020B0503020204020204" pitchFamily="34" charset="-122"/>
                <a:cs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解不足，生成代码常出现参数错误与版</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本不兼容问题。</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0" name="AutoShape 50"/>
            <p:cNvSpPr/>
            <p:nvPr/>
          </p:nvSpPr>
          <p:spPr>
            <a:xfrm>
              <a:off x="13908" y="4762"/>
              <a:ext cx="75" cy="75"/>
            </a:xfrm>
            <a:prstGeom prst="ellipse">
              <a:avLst/>
            </a:prstGeom>
            <a:solidFill>
              <a:srgbClr val="B5302A">
                <a:alpha val="54901"/>
              </a:srgbClr>
            </a:solidFill>
            <a:ln>
              <a:headEnd type="none"/>
              <a:tailEnd type="none"/>
            </a:ln>
          </p:spPr>
        </p:sp>
        <p:sp>
          <p:nvSpPr>
            <p:cNvPr id="51" name="TextBox 51"/>
            <p:cNvSpPr txBox="1"/>
            <p:nvPr/>
          </p:nvSpPr>
          <p:spPr>
            <a:xfrm>
              <a:off x="14073" y="4717"/>
              <a:ext cx="3453" cy="79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OBDA解析涉及SQL到SPARQL的复杂映</a:t>
              </a:r>
              <a:endParaRPr lang="en-US" sz="1200">
                <a:latin typeface="微软雅黑" panose="020B0503020204020204" pitchFamily="34" charset="-122"/>
                <a:ea typeface="微软雅黑" panose="020B0503020204020204" pitchFamily="34" charset="-122"/>
                <a:cs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射转换，AI仍难以稳定准确完成，错误</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率高且缺乏自纠错。</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2" name="AutoShape 52"/>
            <p:cNvSpPr/>
            <p:nvPr/>
          </p:nvSpPr>
          <p:spPr>
            <a:xfrm>
              <a:off x="13908" y="5723"/>
              <a:ext cx="75" cy="75"/>
            </a:xfrm>
            <a:prstGeom prst="ellipse">
              <a:avLst/>
            </a:prstGeom>
            <a:solidFill>
              <a:srgbClr val="B5302A">
                <a:alpha val="54901"/>
              </a:srgbClr>
            </a:solidFill>
            <a:ln>
              <a:headEnd type="none"/>
              <a:tailEnd type="none"/>
            </a:ln>
          </p:spPr>
        </p:sp>
        <p:sp>
          <p:nvSpPr>
            <p:cNvPr id="53" name="TextBox 53"/>
            <p:cNvSpPr txBox="1"/>
            <p:nvPr/>
          </p:nvSpPr>
          <p:spPr>
            <a:xfrm>
              <a:off x="14073" y="5678"/>
              <a:ext cx="3427" cy="79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这一短板直接制约端到端智能应用可靠</a:t>
              </a:r>
              <a:endParaRPr lang="en-US" sz="1200">
                <a:latin typeface="微软雅黑" panose="020B0503020204020204" pitchFamily="34" charset="-122"/>
                <a:ea typeface="微软雅黑" panose="020B0503020204020204" pitchFamily="34" charset="-122"/>
                <a:cs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性，AI辅助本体开发的承诺在落地中大</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a:p>
              <a:pPr algn="l"/>
              <a:r>
                <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rPr>
                <a:t>打折扣。</a:t>
              </a:r>
              <a:endParaRPr sz="1000" b="0" i="0" strike="noStrike">
                <a:solidFill>
                  <a:srgbClr val="1C0A0A">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4" name="AutoShape 54"/>
            <p:cNvSpPr/>
            <p:nvPr/>
          </p:nvSpPr>
          <p:spPr>
            <a:xfrm>
              <a:off x="929" y="8689"/>
              <a:ext cx="16796" cy="1128"/>
            </a:xfrm>
            <a:prstGeom prst="roundRect">
              <a:avLst>
                <a:gd name="adj" fmla="val 10193"/>
              </a:avLst>
            </a:prstGeom>
            <a:solidFill>
              <a:srgbClr val="B5302A">
                <a:alpha val="5098"/>
              </a:srgbClr>
            </a:solidFill>
            <a:ln w="9525">
              <a:solidFill>
                <a:srgbClr val="B5302A">
                  <a:alpha val="18039"/>
                </a:srgbClr>
              </a:solidFill>
              <a:prstDash val="solid"/>
              <a:headEnd type="none"/>
              <a:tailEnd type="none"/>
            </a:ln>
          </p:spPr>
        </p:sp>
        <p:sp>
          <p:nvSpPr>
            <p:cNvPr id="55" name="AutoShape 55"/>
            <p:cNvSpPr/>
            <p:nvPr/>
          </p:nvSpPr>
          <p:spPr>
            <a:xfrm>
              <a:off x="929" y="8689"/>
              <a:ext cx="15" cy="1128"/>
            </a:xfrm>
            <a:prstGeom prst="line">
              <a:avLst/>
            </a:prstGeom>
            <a:ln w="38100">
              <a:solidFill>
                <a:srgbClr val="8F2420">
                  <a:alpha val="100000"/>
                </a:srgbClr>
              </a:solidFill>
              <a:prstDash val="solid"/>
              <a:headEnd type="none"/>
              <a:tailEnd type="none"/>
            </a:ln>
          </p:spPr>
        </p:sp>
        <p:sp>
          <p:nvSpPr>
            <p:cNvPr id="56" name="AutoShape 56"/>
            <p:cNvSpPr/>
            <p:nvPr/>
          </p:nvSpPr>
          <p:spPr>
            <a:xfrm>
              <a:off x="1275" y="9058"/>
              <a:ext cx="390" cy="390"/>
            </a:xfrm>
            <a:custGeom>
              <a:avLst/>
              <a:gdLst/>
              <a:ahLst/>
              <a:cxnLst/>
              <a:rect l="l" t="t" r="r" b="b"/>
              <a:pathLst>
                <a:path w="9998" h="10000">
                  <a:moveTo>
                    <a:pt x="5046" y="547"/>
                  </a:moveTo>
                  <a:lnTo>
                    <a:pt x="3546" y="2604"/>
                  </a:lnTo>
                  <a:lnTo>
                    <a:pt x="5046" y="547"/>
                  </a:lnTo>
                  <a:lnTo>
                    <a:pt x="3546" y="2604"/>
                  </a:lnTo>
                  <a:cubicBezTo>
                    <a:pt x="3410" y="2778"/>
                    <a:pt x="3332" y="2995"/>
                    <a:pt x="3312" y="3255"/>
                  </a:cubicBezTo>
                  <a:cubicBezTo>
                    <a:pt x="3301" y="3515"/>
                    <a:pt x="3343" y="3758"/>
                    <a:pt x="3437" y="3984"/>
                  </a:cubicBezTo>
                  <a:cubicBezTo>
                    <a:pt x="3541" y="4210"/>
                    <a:pt x="3676" y="4340"/>
                    <a:pt x="3843" y="4375"/>
                  </a:cubicBezTo>
                  <a:cubicBezTo>
                    <a:pt x="3999" y="4427"/>
                    <a:pt x="4150" y="4366"/>
                    <a:pt x="4296" y="4193"/>
                  </a:cubicBezTo>
                  <a:lnTo>
                    <a:pt x="5843" y="2161"/>
                  </a:lnTo>
                  <a:cubicBezTo>
                    <a:pt x="5978" y="2022"/>
                    <a:pt x="6098" y="2048"/>
                    <a:pt x="6202" y="2240"/>
                  </a:cubicBezTo>
                  <a:cubicBezTo>
                    <a:pt x="6285" y="2448"/>
                    <a:pt x="6269" y="2647"/>
                    <a:pt x="6155" y="2839"/>
                  </a:cubicBezTo>
                  <a:lnTo>
                    <a:pt x="5827" y="3255"/>
                  </a:lnTo>
                  <a:lnTo>
                    <a:pt x="7998" y="6589"/>
                  </a:lnTo>
                  <a:lnTo>
                    <a:pt x="7998" y="1667"/>
                  </a:lnTo>
                  <a:lnTo>
                    <a:pt x="7983" y="1667"/>
                  </a:lnTo>
                  <a:lnTo>
                    <a:pt x="7920" y="1615"/>
                  </a:lnTo>
                  <a:lnTo>
                    <a:pt x="6796" y="391"/>
                  </a:lnTo>
                  <a:cubicBezTo>
                    <a:pt x="6546" y="130"/>
                    <a:pt x="6275" y="0"/>
                    <a:pt x="5983" y="0"/>
                  </a:cubicBezTo>
                  <a:cubicBezTo>
                    <a:pt x="5639" y="0"/>
                    <a:pt x="5327" y="182"/>
                    <a:pt x="5046" y="547"/>
                  </a:cubicBezTo>
                  <a:moveTo>
                    <a:pt x="5405" y="3802"/>
                  </a:moveTo>
                  <a:lnTo>
                    <a:pt x="4593" y="4844"/>
                  </a:lnTo>
                  <a:lnTo>
                    <a:pt x="5405" y="3802"/>
                  </a:lnTo>
                  <a:lnTo>
                    <a:pt x="4593" y="4844"/>
                  </a:lnTo>
                  <a:cubicBezTo>
                    <a:pt x="4343" y="5156"/>
                    <a:pt x="4067" y="5278"/>
                    <a:pt x="3765" y="5208"/>
                  </a:cubicBezTo>
                  <a:cubicBezTo>
                    <a:pt x="3473" y="5138"/>
                    <a:pt x="3228" y="4895"/>
                    <a:pt x="3031" y="4479"/>
                  </a:cubicBezTo>
                  <a:cubicBezTo>
                    <a:pt x="2853" y="4062"/>
                    <a:pt x="2786" y="3619"/>
                    <a:pt x="2828" y="3151"/>
                  </a:cubicBezTo>
                  <a:cubicBezTo>
                    <a:pt x="2858" y="2682"/>
                    <a:pt x="2988" y="2283"/>
                    <a:pt x="3218" y="1953"/>
                  </a:cubicBezTo>
                  <a:lnTo>
                    <a:pt x="4530" y="208"/>
                  </a:lnTo>
                  <a:cubicBezTo>
                    <a:pt x="4342" y="69"/>
                    <a:pt x="4150" y="0"/>
                    <a:pt x="3952" y="0"/>
                  </a:cubicBezTo>
                  <a:cubicBezTo>
                    <a:pt x="3650" y="0"/>
                    <a:pt x="3374" y="139"/>
                    <a:pt x="3124" y="417"/>
                  </a:cubicBezTo>
                  <a:lnTo>
                    <a:pt x="2000" y="1667"/>
                  </a:lnTo>
                  <a:lnTo>
                    <a:pt x="2000" y="7500"/>
                  </a:lnTo>
                  <a:lnTo>
                    <a:pt x="2437" y="7500"/>
                  </a:lnTo>
                  <a:lnTo>
                    <a:pt x="3874" y="9661"/>
                  </a:lnTo>
                  <a:cubicBezTo>
                    <a:pt x="4030" y="9904"/>
                    <a:pt x="4207" y="10017"/>
                    <a:pt x="4405" y="10000"/>
                  </a:cubicBezTo>
                  <a:cubicBezTo>
                    <a:pt x="4603" y="9982"/>
                    <a:pt x="4775" y="9843"/>
                    <a:pt x="4921" y="9583"/>
                  </a:cubicBezTo>
                  <a:cubicBezTo>
                    <a:pt x="5014" y="9427"/>
                    <a:pt x="5076" y="9253"/>
                    <a:pt x="5108" y="9063"/>
                  </a:cubicBezTo>
                  <a:lnTo>
                    <a:pt x="5374" y="9453"/>
                  </a:lnTo>
                  <a:cubicBezTo>
                    <a:pt x="5530" y="9696"/>
                    <a:pt x="5707" y="9809"/>
                    <a:pt x="5905" y="9792"/>
                  </a:cubicBezTo>
                  <a:cubicBezTo>
                    <a:pt x="6103" y="9774"/>
                    <a:pt x="6275" y="9635"/>
                    <a:pt x="6421" y="9375"/>
                  </a:cubicBezTo>
                  <a:cubicBezTo>
                    <a:pt x="6493" y="9253"/>
                    <a:pt x="6545" y="9114"/>
                    <a:pt x="6577" y="8958"/>
                  </a:cubicBezTo>
                  <a:cubicBezTo>
                    <a:pt x="6733" y="9132"/>
                    <a:pt x="6899" y="9201"/>
                    <a:pt x="7077" y="9167"/>
                  </a:cubicBezTo>
                  <a:cubicBezTo>
                    <a:pt x="7264" y="9132"/>
                    <a:pt x="7420" y="8993"/>
                    <a:pt x="7545" y="8750"/>
                  </a:cubicBezTo>
                  <a:cubicBezTo>
                    <a:pt x="7691" y="8489"/>
                    <a:pt x="7758" y="8194"/>
                    <a:pt x="7748" y="7865"/>
                  </a:cubicBezTo>
                  <a:cubicBezTo>
                    <a:pt x="7738" y="7535"/>
                    <a:pt x="7655" y="7248"/>
                    <a:pt x="7499" y="7005"/>
                  </a:cubicBezTo>
                  <a:lnTo>
                    <a:pt x="5405" y="3802"/>
                  </a:lnTo>
                  <a:moveTo>
                    <a:pt x="250" y="1667"/>
                  </a:moveTo>
                  <a:cubicBezTo>
                    <a:pt x="94" y="1684"/>
                    <a:pt x="10" y="1823"/>
                    <a:pt x="0" y="2083"/>
                  </a:cubicBezTo>
                  <a:lnTo>
                    <a:pt x="0" y="7500"/>
                  </a:lnTo>
                  <a:cubicBezTo>
                    <a:pt x="0" y="7743"/>
                    <a:pt x="47" y="7943"/>
                    <a:pt x="141" y="8099"/>
                  </a:cubicBezTo>
                  <a:cubicBezTo>
                    <a:pt x="234" y="8255"/>
                    <a:pt x="354" y="8333"/>
                    <a:pt x="500" y="8333"/>
                  </a:cubicBezTo>
                  <a:lnTo>
                    <a:pt x="1000" y="8333"/>
                  </a:lnTo>
                  <a:cubicBezTo>
                    <a:pt x="1146" y="8333"/>
                    <a:pt x="1265" y="8255"/>
                    <a:pt x="1359" y="8099"/>
                  </a:cubicBezTo>
                  <a:cubicBezTo>
                    <a:pt x="1453" y="7943"/>
                    <a:pt x="1500" y="7743"/>
                    <a:pt x="1500" y="7500"/>
                  </a:cubicBezTo>
                  <a:lnTo>
                    <a:pt x="1500" y="1667"/>
                  </a:lnTo>
                  <a:lnTo>
                    <a:pt x="250" y="1667"/>
                  </a:lnTo>
                  <a:moveTo>
                    <a:pt x="750" y="6667"/>
                  </a:moveTo>
                  <a:cubicBezTo>
                    <a:pt x="906" y="6684"/>
                    <a:pt x="989" y="6823"/>
                    <a:pt x="1000" y="7083"/>
                  </a:cubicBezTo>
                  <a:cubicBezTo>
                    <a:pt x="989" y="7343"/>
                    <a:pt x="906" y="7482"/>
                    <a:pt x="750" y="7500"/>
                  </a:cubicBezTo>
                  <a:cubicBezTo>
                    <a:pt x="594" y="7482"/>
                    <a:pt x="510" y="7343"/>
                    <a:pt x="500" y="7083"/>
                  </a:cubicBezTo>
                  <a:cubicBezTo>
                    <a:pt x="510" y="6823"/>
                    <a:pt x="594" y="6684"/>
                    <a:pt x="750" y="6667"/>
                  </a:cubicBezTo>
                  <a:moveTo>
                    <a:pt x="8498" y="1667"/>
                  </a:moveTo>
                  <a:lnTo>
                    <a:pt x="8498" y="7500"/>
                  </a:lnTo>
                  <a:lnTo>
                    <a:pt x="8498" y="1667"/>
                  </a:lnTo>
                  <a:lnTo>
                    <a:pt x="8498" y="7500"/>
                  </a:lnTo>
                  <a:cubicBezTo>
                    <a:pt x="8498" y="7743"/>
                    <a:pt x="8545" y="7943"/>
                    <a:pt x="8639" y="8099"/>
                  </a:cubicBezTo>
                  <a:cubicBezTo>
                    <a:pt x="8732" y="8255"/>
                    <a:pt x="8852" y="8333"/>
                    <a:pt x="8998" y="8333"/>
                  </a:cubicBezTo>
                  <a:lnTo>
                    <a:pt x="9498" y="8333"/>
                  </a:lnTo>
                  <a:cubicBezTo>
                    <a:pt x="9644" y="8333"/>
                    <a:pt x="9763" y="8255"/>
                    <a:pt x="9857" y="8099"/>
                  </a:cubicBezTo>
                  <a:cubicBezTo>
                    <a:pt x="9951" y="7943"/>
                    <a:pt x="9998" y="7743"/>
                    <a:pt x="9998" y="7500"/>
                  </a:cubicBezTo>
                  <a:lnTo>
                    <a:pt x="9998" y="2083"/>
                  </a:lnTo>
                  <a:cubicBezTo>
                    <a:pt x="9987" y="1823"/>
                    <a:pt x="9904" y="1684"/>
                    <a:pt x="9748" y="1667"/>
                  </a:cubicBezTo>
                  <a:lnTo>
                    <a:pt x="8498" y="1667"/>
                  </a:lnTo>
                  <a:moveTo>
                    <a:pt x="8998" y="7083"/>
                  </a:moveTo>
                  <a:cubicBezTo>
                    <a:pt x="9008" y="6823"/>
                    <a:pt x="9092" y="6684"/>
                    <a:pt x="9248" y="6667"/>
                  </a:cubicBezTo>
                  <a:cubicBezTo>
                    <a:pt x="9404" y="6684"/>
                    <a:pt x="9487" y="6823"/>
                    <a:pt x="9498" y="7083"/>
                  </a:cubicBezTo>
                  <a:cubicBezTo>
                    <a:pt x="9487" y="7343"/>
                    <a:pt x="9404" y="7482"/>
                    <a:pt x="9248" y="7500"/>
                  </a:cubicBezTo>
                  <a:cubicBezTo>
                    <a:pt x="9092" y="7482"/>
                    <a:pt x="9008" y="7343"/>
                    <a:pt x="8998" y="7083"/>
                  </a:cubicBezTo>
                </a:path>
              </a:pathLst>
            </a:custGeom>
            <a:solidFill>
              <a:srgbClr val="B5302A">
                <a:alpha val="100000"/>
              </a:srgbClr>
            </a:solidFill>
            <a:ln>
              <a:headEnd type="none"/>
              <a:tailEnd type="none"/>
            </a:ln>
          </p:spPr>
        </p:sp>
        <p:sp>
          <p:nvSpPr>
            <p:cNvPr id="57" name="TextBox 57"/>
            <p:cNvSpPr txBox="1"/>
            <p:nvPr/>
          </p:nvSpPr>
          <p:spPr>
            <a:xfrm>
              <a:off x="1862" y="8929"/>
              <a:ext cx="15326" cy="255"/>
            </a:xfrm>
            <a:prstGeom prst="rect">
              <a:avLst/>
            </a:prstGeom>
            <a:ln>
              <a:headEnd type="none"/>
              <a:tailEnd type="none"/>
            </a:ln>
          </p:spPr>
          <p:txBody>
            <a:bodyPr vert="horz" wrap="none" lIns="0" tIns="0" rIns="0" bIns="0" rtlCol="0" anchor="t" anchorCtr="0"/>
            <a:lstStyle/>
            <a:p>
              <a:pPr algn="l">
                <a:defRPr/>
              </a:pPr>
              <a:r>
                <a:rPr lang="en-US" sz="1100" b="1" i="0" strike="noStrike">
                  <a:solidFill>
                    <a:srgbClr val="8F2420">
                      <a:alpha val="100000"/>
                    </a:srgbClr>
                  </a:solidFill>
                  <a:latin typeface="Alibaba PuHuiTi 3.0 55 Regular"/>
                  <a:ea typeface="Alibaba PuHuiTi 3.0 55 Regular"/>
                  <a:cs typeface="Alibaba PuHuiTi 3.0 55 Regular"/>
                </a:rPr>
                <a:t>❺ 客户付费障碍</a:t>
              </a:r>
              <a:endParaRPr lang="en-US" sz="1100"/>
            </a:p>
          </p:txBody>
        </p:sp>
        <p:sp>
          <p:nvSpPr>
            <p:cNvPr id="58" name="TextBox 58"/>
            <p:cNvSpPr txBox="1"/>
            <p:nvPr/>
          </p:nvSpPr>
          <p:spPr>
            <a:xfrm>
              <a:off x="1862" y="9308"/>
              <a:ext cx="15371" cy="225"/>
            </a:xfrm>
            <a:prstGeom prst="rect">
              <a:avLst/>
            </a:prstGeom>
            <a:ln>
              <a:headEnd type="none"/>
              <a:tailEnd type="none"/>
            </a:ln>
          </p:spPr>
          <p:txBody>
            <a:bodyPr vert="horz" wrap="none" lIns="0" tIns="0" rIns="0" bIns="0" rtlCol="0" anchor="t" anchorCtr="0"/>
            <a:lstStyle/>
            <a:p>
              <a:pPr algn="l">
                <a:defRPr/>
              </a:pPr>
              <a:r>
                <a:rPr lang="en-US" sz="1000" b="0" i="0" strike="noStrike">
                  <a:solidFill>
                    <a:srgbClr val="1C0A0A">
                      <a:alpha val="81960"/>
                    </a:srgbClr>
                  </a:solidFill>
                  <a:latin typeface="FZYaYiHei GB18030L2 R" panose="02000500000000000000" charset="-122"/>
                  <a:ea typeface="FZYaYiHei GB18030L2 R" panose="02000500000000000000" charset="-122"/>
                  <a:cs typeface="FZYaYiHei GB18030L2 R" panose="02000500000000000000" charset="-122"/>
                </a:rPr>
                <a:t>客户均处于概念验证与试点尝试阶段，尚未形成规模化采购意愿；先交付验证还是先签订合同成为最大商务合作卡点，反映出市场对本体技术成熟度的信心仍不充分。</a:t>
              </a:r>
              <a:endParaRPr lang="en-US" sz="1100"/>
            </a:p>
          </p:txBody>
        </p:sp>
      </p:grpSp>
      <p:sp>
        <p:nvSpPr>
          <p:cNvPr id="13" name="TextBox 13"/>
          <p:cNvSpPr txBox="1"/>
          <p:nvPr/>
        </p:nvSpPr>
        <p:spPr>
          <a:xfrm>
            <a:off x="809385" y="981650"/>
            <a:ext cx="11227167" cy="447675"/>
          </a:xfrm>
          <a:prstGeom prst="rect">
            <a:avLst/>
          </a:prstGeom>
          <a:ln>
            <a:headEnd type="none"/>
            <a:tailEnd type="none"/>
          </a:ln>
        </p:spPr>
        <p:txBody>
          <a:bodyPr vert="horz" wrap="square" lIns="0" tIns="0" rIns="0" bIns="0" rtlCol="0" anchor="t" anchorCtr="0"/>
          <a:lstStyle/>
          <a:p>
            <a:pPr algn="l">
              <a:defRPr/>
            </a:pPr>
            <a:r>
              <a:rPr lang="en-US" sz="1300" b="0" i="1" strike="noStrike">
                <a:solidFill>
                  <a:srgbClr val="1C0A0A">
                    <a:alpha val="78039"/>
                  </a:srgbClr>
                </a:solidFill>
                <a:latin typeface="FZYaYiHei GB18030L2 R" panose="02000500000000000000" charset="-122"/>
                <a:ea typeface="FZYaYiHei GB18030L2 R" panose="02000500000000000000" charset="-122"/>
                <a:cs typeface="FZYaYiHei GB18030L2 R" panose="02000500000000000000" charset="-122"/>
              </a:rPr>
              <a:t>本体技术落地面临构建成本高、多语言生成质量差、核心技术栈停维、AI框架调用不成熟四大技术瓶颈，叠加客户付费意愿不足的商业障</a:t>
            </a:r>
            <a:endParaRPr lang="en-US" sz="1100"/>
          </a:p>
          <a:p>
            <a:pPr algn="l"/>
            <a:r>
              <a:rPr sz="1300" b="0" i="1" strike="noStrike">
                <a:solidFill>
                  <a:srgbClr val="1C0A0A">
                    <a:alpha val="78039"/>
                  </a:srgbClr>
                </a:solidFill>
                <a:latin typeface="FZYaYiHei GB18030L2 R" panose="02000500000000000000" charset="-122"/>
                <a:ea typeface="FZYaYiHei GB18030L2 R" panose="02000500000000000000" charset="-122"/>
                <a:cs typeface="FZYaYiHei GB18030L2 R" panose="02000500000000000000" charset="-122"/>
              </a:rPr>
              <a:t>碍，共同制约端到端智能应用的可靠性与规模化推广。</a:t>
            </a:r>
            <a:endParaRPr sz="1300" b="0" i="1" strike="noStrike">
              <a:solidFill>
                <a:srgbClr val="1C0A0A">
                  <a:alpha val="78039"/>
                </a:srgbClr>
              </a:solidFill>
              <a:latin typeface="FZYaYiHei GB18030L2 R" panose="02000500000000000000" charset="-122"/>
              <a:ea typeface="FZYaYiHei GB18030L2 R" panose="02000500000000000000" charset="-122"/>
              <a:cs typeface="FZYaYiHei GB18030L2 R" panose="02000500000000000000"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AutoShape 10"/>
          <p:cNvSpPr/>
          <p:nvPr/>
        </p:nvSpPr>
        <p:spPr>
          <a:xfrm>
            <a:off x="697230" y="1066800"/>
            <a:ext cx="10665460" cy="800735"/>
          </a:xfrm>
          <a:prstGeom prst="rect">
            <a:avLst/>
          </a:prstGeom>
          <a:solidFill>
            <a:schemeClr val="bg1">
              <a:lumMod val="95000"/>
            </a:schemeClr>
          </a:solidFill>
          <a:ln>
            <a:headEnd type="none"/>
            <a:tailEnd type="none"/>
          </a:ln>
        </p:spPr>
      </p:sp>
      <p:grpSp>
        <p:nvGrpSpPr>
          <p:cNvPr id="57" name="组合 56"/>
          <p:cNvGrpSpPr/>
          <p:nvPr>
            <p:custDataLst>
              <p:tags r:id="rId1"/>
            </p:custDataLst>
          </p:nvPr>
        </p:nvGrpSpPr>
        <p:grpSpPr>
          <a:xfrm>
            <a:off x="625475" y="5219065"/>
            <a:ext cx="5044440" cy="721360"/>
            <a:chOff x="985" y="3207"/>
            <a:chExt cx="7944" cy="1136"/>
          </a:xfrm>
        </p:grpSpPr>
        <p:sp>
          <p:nvSpPr>
            <p:cNvPr id="36" name="AutoShape 13"/>
            <p:cNvSpPr/>
            <p:nvPr>
              <p:custDataLst>
                <p:tags r:id="rId2"/>
              </p:custDataLst>
            </p:nvPr>
          </p:nvSpPr>
          <p:spPr>
            <a:xfrm>
              <a:off x="985" y="3207"/>
              <a:ext cx="686" cy="725"/>
            </a:xfrm>
            <a:prstGeom prst="ellipse">
              <a:avLst/>
            </a:prstGeom>
            <a:solidFill>
              <a:srgbClr val="9ACAF1"/>
            </a:solidFill>
            <a:ln>
              <a:headEnd type="none"/>
              <a:tailEnd type="none"/>
            </a:ln>
          </p:spPr>
        </p:sp>
        <p:sp>
          <p:nvSpPr>
            <p:cNvPr id="37" name="AutoShape 14"/>
            <p:cNvSpPr/>
            <p:nvPr>
              <p:custDataLst>
                <p:tags r:id="rId3"/>
              </p:custDataLst>
            </p:nvPr>
          </p:nvSpPr>
          <p:spPr>
            <a:xfrm>
              <a:off x="1172" y="3404"/>
              <a:ext cx="312" cy="329"/>
            </a:xfrm>
            <a:custGeom>
              <a:avLst/>
              <a:gdLst/>
              <a:ahLst/>
              <a:cxnLst/>
              <a:rect l="l" t="t" r="r" b="b"/>
              <a:pathLst>
                <a:path w="9998" h="10000">
                  <a:moveTo>
                    <a:pt x="9998" y="1563"/>
                  </a:moveTo>
                  <a:lnTo>
                    <a:pt x="9998" y="2500"/>
                  </a:lnTo>
                  <a:lnTo>
                    <a:pt x="9998" y="1563"/>
                  </a:lnTo>
                  <a:lnTo>
                    <a:pt x="9998" y="2500"/>
                  </a:lnTo>
                  <a:cubicBezTo>
                    <a:pt x="9968" y="2942"/>
                    <a:pt x="9477" y="3313"/>
                    <a:pt x="8525" y="3613"/>
                  </a:cubicBezTo>
                  <a:cubicBezTo>
                    <a:pt x="7587" y="3899"/>
                    <a:pt x="6412" y="4049"/>
                    <a:pt x="4999" y="4063"/>
                  </a:cubicBezTo>
                  <a:cubicBezTo>
                    <a:pt x="3585" y="4049"/>
                    <a:pt x="2410" y="3899"/>
                    <a:pt x="1473" y="3613"/>
                  </a:cubicBezTo>
                  <a:cubicBezTo>
                    <a:pt x="521" y="3313"/>
                    <a:pt x="30" y="2942"/>
                    <a:pt x="0" y="2500"/>
                  </a:cubicBezTo>
                  <a:lnTo>
                    <a:pt x="0" y="1563"/>
                  </a:lnTo>
                  <a:cubicBezTo>
                    <a:pt x="30" y="1119"/>
                    <a:pt x="521" y="748"/>
                    <a:pt x="1473" y="449"/>
                  </a:cubicBezTo>
                  <a:cubicBezTo>
                    <a:pt x="2410" y="163"/>
                    <a:pt x="3585" y="13"/>
                    <a:pt x="4999" y="0"/>
                  </a:cubicBezTo>
                  <a:cubicBezTo>
                    <a:pt x="6412" y="13"/>
                    <a:pt x="7587" y="163"/>
                    <a:pt x="8525" y="449"/>
                  </a:cubicBezTo>
                  <a:cubicBezTo>
                    <a:pt x="9477" y="748"/>
                    <a:pt x="9968" y="1119"/>
                    <a:pt x="9998" y="1563"/>
                  </a:cubicBezTo>
                  <a:moveTo>
                    <a:pt x="8771" y="4199"/>
                  </a:moveTo>
                  <a:cubicBezTo>
                    <a:pt x="9247" y="4055"/>
                    <a:pt x="9656" y="3867"/>
                    <a:pt x="9998" y="3633"/>
                  </a:cubicBezTo>
                  <a:lnTo>
                    <a:pt x="9998" y="5625"/>
                  </a:lnTo>
                  <a:cubicBezTo>
                    <a:pt x="9968" y="6067"/>
                    <a:pt x="9477" y="6438"/>
                    <a:pt x="8525" y="6738"/>
                  </a:cubicBezTo>
                  <a:cubicBezTo>
                    <a:pt x="7587" y="7024"/>
                    <a:pt x="6412" y="7174"/>
                    <a:pt x="4999" y="7188"/>
                  </a:cubicBezTo>
                  <a:cubicBezTo>
                    <a:pt x="3585" y="7174"/>
                    <a:pt x="2410" y="7024"/>
                    <a:pt x="1473" y="6738"/>
                  </a:cubicBezTo>
                  <a:cubicBezTo>
                    <a:pt x="521" y="6438"/>
                    <a:pt x="30" y="6067"/>
                    <a:pt x="0" y="5625"/>
                  </a:cubicBezTo>
                  <a:lnTo>
                    <a:pt x="0" y="3633"/>
                  </a:lnTo>
                  <a:cubicBezTo>
                    <a:pt x="342" y="3867"/>
                    <a:pt x="751" y="4055"/>
                    <a:pt x="1227" y="4199"/>
                  </a:cubicBezTo>
                  <a:cubicBezTo>
                    <a:pt x="2269" y="4511"/>
                    <a:pt x="3526" y="4674"/>
                    <a:pt x="4999" y="4688"/>
                  </a:cubicBezTo>
                  <a:cubicBezTo>
                    <a:pt x="6471" y="4674"/>
                    <a:pt x="7729" y="4511"/>
                    <a:pt x="8771" y="4199"/>
                  </a:cubicBezTo>
                  <a:moveTo>
                    <a:pt x="0" y="6758"/>
                  </a:moveTo>
                  <a:cubicBezTo>
                    <a:pt x="342" y="6992"/>
                    <a:pt x="751" y="7180"/>
                    <a:pt x="1227" y="7324"/>
                  </a:cubicBezTo>
                  <a:cubicBezTo>
                    <a:pt x="2269" y="7636"/>
                    <a:pt x="3526" y="7799"/>
                    <a:pt x="4999" y="7812"/>
                  </a:cubicBezTo>
                  <a:cubicBezTo>
                    <a:pt x="6471" y="7799"/>
                    <a:pt x="7729" y="7636"/>
                    <a:pt x="8771" y="7324"/>
                  </a:cubicBezTo>
                  <a:cubicBezTo>
                    <a:pt x="9247" y="7180"/>
                    <a:pt x="9656" y="6992"/>
                    <a:pt x="9998" y="6758"/>
                  </a:cubicBezTo>
                  <a:lnTo>
                    <a:pt x="9998" y="8438"/>
                  </a:lnTo>
                  <a:cubicBezTo>
                    <a:pt x="9968" y="8880"/>
                    <a:pt x="9477" y="9251"/>
                    <a:pt x="8525" y="9551"/>
                  </a:cubicBezTo>
                  <a:cubicBezTo>
                    <a:pt x="7587" y="9837"/>
                    <a:pt x="6412" y="9986"/>
                    <a:pt x="4999" y="10000"/>
                  </a:cubicBezTo>
                  <a:cubicBezTo>
                    <a:pt x="3585" y="9986"/>
                    <a:pt x="2410" y="9837"/>
                    <a:pt x="1473" y="9551"/>
                  </a:cubicBezTo>
                  <a:cubicBezTo>
                    <a:pt x="521" y="9251"/>
                    <a:pt x="30" y="8880"/>
                    <a:pt x="0" y="8438"/>
                  </a:cubicBezTo>
                </a:path>
              </a:pathLst>
            </a:custGeom>
            <a:solidFill>
              <a:schemeClr val="bg1"/>
            </a:solidFill>
            <a:ln>
              <a:headEnd type="none"/>
              <a:tailEnd type="none"/>
            </a:ln>
          </p:spPr>
          <p:txBody>
            <a:bodyPr/>
            <a:p>
              <a:endParaRPr lang="zh-CN" altLang="en-US"/>
            </a:p>
          </p:txBody>
        </p:sp>
        <p:sp>
          <p:nvSpPr>
            <p:cNvPr id="38" name="TextBox 15"/>
            <p:cNvSpPr txBox="1"/>
            <p:nvPr>
              <p:custDataLst>
                <p:tags r:id="rId4"/>
              </p:custDataLst>
            </p:nvPr>
          </p:nvSpPr>
          <p:spPr>
            <a:xfrm>
              <a:off x="1889" y="3223"/>
              <a:ext cx="6980" cy="313"/>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C00000">
                      <a:alpha val="60000"/>
                    </a:srgbClr>
                  </a:solidFill>
                  <a:latin typeface="微软雅黑" panose="020B0503020204020204" pitchFamily="34" charset="-122"/>
                  <a:ea typeface="微软雅黑" panose="020B0503020204020204" pitchFamily="34" charset="-122"/>
                  <a:cs typeface="微软雅黑" panose="020B0503020204020204" pitchFamily="34" charset="-122"/>
                </a:rPr>
                <a:t>01</a:t>
              </a:r>
              <a:r>
                <a:rPr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数据存储层</a:t>
              </a:r>
              <a:endParaRPr lang="en-US"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9" name="TextBox 16"/>
            <p:cNvSpPr txBox="1"/>
            <p:nvPr>
              <p:custDataLst>
                <p:tags r:id="rId5"/>
              </p:custDataLst>
            </p:nvPr>
          </p:nvSpPr>
          <p:spPr>
            <a:xfrm>
              <a:off x="1889" y="3669"/>
              <a:ext cx="7040" cy="67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MySQL 存储披萨订单、配料价格等业务实体，通过 Ontop 虚拟映射</a:t>
              </a:r>
              <a:r>
                <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为 RDF 图谱，无需 ETL 即可被本体层直接查询。</a:t>
              </a:r>
              <a:endPar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58" name="组合 57"/>
          <p:cNvGrpSpPr/>
          <p:nvPr>
            <p:custDataLst>
              <p:tags r:id="rId6"/>
            </p:custDataLst>
          </p:nvPr>
        </p:nvGrpSpPr>
        <p:grpSpPr>
          <a:xfrm>
            <a:off x="625475" y="4149725"/>
            <a:ext cx="5006340" cy="721995"/>
            <a:chOff x="985" y="4707"/>
            <a:chExt cx="7884" cy="1137"/>
          </a:xfrm>
        </p:grpSpPr>
        <p:sp>
          <p:nvSpPr>
            <p:cNvPr id="40" name="AutoShape 17"/>
            <p:cNvSpPr/>
            <p:nvPr>
              <p:custDataLst>
                <p:tags r:id="rId7"/>
              </p:custDataLst>
            </p:nvPr>
          </p:nvSpPr>
          <p:spPr>
            <a:xfrm>
              <a:off x="985" y="4707"/>
              <a:ext cx="686" cy="725"/>
            </a:xfrm>
            <a:prstGeom prst="ellipse">
              <a:avLst/>
            </a:prstGeom>
            <a:solidFill>
              <a:srgbClr val="9ACAF1"/>
            </a:solidFill>
            <a:ln>
              <a:headEnd type="none"/>
              <a:tailEnd type="none"/>
            </a:ln>
          </p:spPr>
        </p:sp>
        <p:sp>
          <p:nvSpPr>
            <p:cNvPr id="41" name="AutoShape 18"/>
            <p:cNvSpPr/>
            <p:nvPr>
              <p:custDataLst>
                <p:tags r:id="rId8"/>
              </p:custDataLst>
            </p:nvPr>
          </p:nvSpPr>
          <p:spPr>
            <a:xfrm>
              <a:off x="1172" y="4905"/>
              <a:ext cx="312" cy="329"/>
            </a:xfrm>
            <a:custGeom>
              <a:avLst/>
              <a:gdLst/>
              <a:ahLst/>
              <a:cxnLst/>
              <a:rect l="l" t="t" r="r" b="b"/>
              <a:pathLst>
                <a:path w="9998" h="10000">
                  <a:moveTo>
                    <a:pt x="0" y="1071"/>
                  </a:moveTo>
                  <a:cubicBezTo>
                    <a:pt x="11" y="773"/>
                    <a:pt x="92" y="520"/>
                    <a:pt x="243" y="312"/>
                  </a:cubicBezTo>
                  <a:cubicBezTo>
                    <a:pt x="405" y="118"/>
                    <a:pt x="601" y="14"/>
                    <a:pt x="833" y="0"/>
                  </a:cubicBezTo>
                  <a:lnTo>
                    <a:pt x="2500" y="0"/>
                  </a:lnTo>
                  <a:cubicBezTo>
                    <a:pt x="2731" y="14"/>
                    <a:pt x="2928" y="118"/>
                    <a:pt x="3090" y="312"/>
                  </a:cubicBezTo>
                  <a:cubicBezTo>
                    <a:pt x="3240" y="520"/>
                    <a:pt x="3321" y="773"/>
                    <a:pt x="3333" y="1071"/>
                  </a:cubicBezTo>
                  <a:lnTo>
                    <a:pt x="3333" y="1429"/>
                  </a:lnTo>
                  <a:lnTo>
                    <a:pt x="6665" y="1429"/>
                  </a:lnTo>
                  <a:lnTo>
                    <a:pt x="6665" y="1071"/>
                  </a:lnTo>
                  <a:cubicBezTo>
                    <a:pt x="6677" y="773"/>
                    <a:pt x="6758" y="520"/>
                    <a:pt x="6908" y="312"/>
                  </a:cubicBezTo>
                  <a:cubicBezTo>
                    <a:pt x="7070" y="118"/>
                    <a:pt x="7267" y="14"/>
                    <a:pt x="7499" y="0"/>
                  </a:cubicBezTo>
                  <a:lnTo>
                    <a:pt x="9165" y="0"/>
                  </a:lnTo>
                  <a:cubicBezTo>
                    <a:pt x="9396" y="14"/>
                    <a:pt x="9593" y="118"/>
                    <a:pt x="9755" y="312"/>
                  </a:cubicBezTo>
                  <a:cubicBezTo>
                    <a:pt x="9905" y="520"/>
                    <a:pt x="9986" y="773"/>
                    <a:pt x="9998" y="1071"/>
                  </a:cubicBezTo>
                  <a:lnTo>
                    <a:pt x="9998" y="3214"/>
                  </a:lnTo>
                  <a:cubicBezTo>
                    <a:pt x="9986" y="3512"/>
                    <a:pt x="9905" y="3765"/>
                    <a:pt x="9755" y="3973"/>
                  </a:cubicBezTo>
                  <a:cubicBezTo>
                    <a:pt x="9593" y="4166"/>
                    <a:pt x="9396" y="4270"/>
                    <a:pt x="9165" y="4286"/>
                  </a:cubicBezTo>
                  <a:lnTo>
                    <a:pt x="7499" y="4286"/>
                  </a:lnTo>
                  <a:cubicBezTo>
                    <a:pt x="7267" y="4270"/>
                    <a:pt x="7070" y="4166"/>
                    <a:pt x="6908" y="3973"/>
                  </a:cubicBezTo>
                  <a:cubicBezTo>
                    <a:pt x="6758" y="3765"/>
                    <a:pt x="6677" y="3512"/>
                    <a:pt x="6665" y="3214"/>
                  </a:cubicBezTo>
                  <a:lnTo>
                    <a:pt x="6665" y="2857"/>
                  </a:lnTo>
                  <a:lnTo>
                    <a:pt x="3333" y="2857"/>
                  </a:lnTo>
                  <a:lnTo>
                    <a:pt x="3333" y="3214"/>
                  </a:lnTo>
                  <a:cubicBezTo>
                    <a:pt x="3333" y="3258"/>
                    <a:pt x="3333" y="3296"/>
                    <a:pt x="3333" y="3326"/>
                  </a:cubicBezTo>
                  <a:lnTo>
                    <a:pt x="4721" y="5714"/>
                  </a:lnTo>
                  <a:lnTo>
                    <a:pt x="6388" y="5714"/>
                  </a:lnTo>
                  <a:cubicBezTo>
                    <a:pt x="6619" y="5729"/>
                    <a:pt x="6816" y="5833"/>
                    <a:pt x="6978" y="6027"/>
                  </a:cubicBezTo>
                  <a:cubicBezTo>
                    <a:pt x="7128" y="6235"/>
                    <a:pt x="7209" y="6488"/>
                    <a:pt x="7221" y="6786"/>
                  </a:cubicBezTo>
                  <a:lnTo>
                    <a:pt x="7221" y="8929"/>
                  </a:lnTo>
                  <a:cubicBezTo>
                    <a:pt x="7209" y="9226"/>
                    <a:pt x="7128" y="9479"/>
                    <a:pt x="6978" y="9688"/>
                  </a:cubicBezTo>
                  <a:cubicBezTo>
                    <a:pt x="6816" y="9881"/>
                    <a:pt x="6619" y="9985"/>
                    <a:pt x="6388" y="10000"/>
                  </a:cubicBezTo>
                  <a:lnTo>
                    <a:pt x="4721" y="10000"/>
                  </a:lnTo>
                  <a:cubicBezTo>
                    <a:pt x="4489" y="9985"/>
                    <a:pt x="4293" y="9881"/>
                    <a:pt x="4131" y="9688"/>
                  </a:cubicBezTo>
                  <a:cubicBezTo>
                    <a:pt x="3980" y="9479"/>
                    <a:pt x="3899" y="9226"/>
                    <a:pt x="3888" y="8929"/>
                  </a:cubicBezTo>
                  <a:lnTo>
                    <a:pt x="3888" y="6786"/>
                  </a:lnTo>
                  <a:cubicBezTo>
                    <a:pt x="3888" y="6741"/>
                    <a:pt x="3888" y="6704"/>
                    <a:pt x="3888" y="6674"/>
                  </a:cubicBezTo>
                  <a:lnTo>
                    <a:pt x="2500" y="4286"/>
                  </a:lnTo>
                  <a:lnTo>
                    <a:pt x="833" y="4286"/>
                  </a:lnTo>
                  <a:cubicBezTo>
                    <a:pt x="601" y="4270"/>
                    <a:pt x="405" y="4166"/>
                    <a:pt x="243" y="3973"/>
                  </a:cubicBezTo>
                  <a:cubicBezTo>
                    <a:pt x="92" y="3765"/>
                    <a:pt x="11" y="3512"/>
                    <a:pt x="0" y="3214"/>
                  </a:cubicBezTo>
                </a:path>
              </a:pathLst>
            </a:custGeom>
            <a:solidFill>
              <a:srgbClr val="FFFFFF"/>
            </a:solidFill>
            <a:ln>
              <a:headEnd type="none"/>
              <a:tailEnd type="none"/>
            </a:ln>
          </p:spPr>
          <p:txBody>
            <a:bodyPr/>
            <a:p>
              <a:endParaRPr lang="zh-CN" altLang="en-US"/>
            </a:p>
          </p:txBody>
        </p:sp>
        <p:sp>
          <p:nvSpPr>
            <p:cNvPr id="42" name="TextBox 19"/>
            <p:cNvSpPr txBox="1"/>
            <p:nvPr>
              <p:custDataLst>
                <p:tags r:id="rId9"/>
              </p:custDataLst>
            </p:nvPr>
          </p:nvSpPr>
          <p:spPr>
            <a:xfrm>
              <a:off x="1889" y="4724"/>
              <a:ext cx="6980" cy="313"/>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C00000">
                      <a:alpha val="60000"/>
                    </a:srgbClr>
                  </a:solidFill>
                  <a:latin typeface="微软雅黑" panose="020B0503020204020204" pitchFamily="34" charset="-122"/>
                  <a:ea typeface="微软雅黑" panose="020B0503020204020204" pitchFamily="34" charset="-122"/>
                  <a:cs typeface="微软雅黑" panose="020B0503020204020204" pitchFamily="34" charset="-122"/>
                </a:rPr>
                <a:t>02</a:t>
              </a:r>
              <a:r>
                <a:rPr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语义映射层</a:t>
              </a:r>
              <a:endParaRPr lang="en-US"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3" name="TextBox 20"/>
            <p:cNvSpPr txBox="1"/>
            <p:nvPr>
              <p:custDataLst>
                <p:tags r:id="rId10"/>
              </p:custDataLst>
            </p:nvPr>
          </p:nvSpPr>
          <p:spPr>
            <a:xfrm>
              <a:off x="1889" y="5170"/>
              <a:ext cx="6980" cy="67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Jena 管理本体模型，Ontop 将 SPARQL 查询自动编译为优化</a:t>
              </a:r>
              <a:endParaRPr lang="en-US" sz="1200">
                <a:latin typeface="微软雅黑" panose="020B0503020204020204" pitchFamily="34" charset="-122"/>
                <a:ea typeface="微软雅黑" panose="020B0503020204020204" pitchFamily="34" charset="-122"/>
                <a:cs typeface="微软雅黑" panose="020B0503020204020204" pitchFamily="34" charset="-122"/>
              </a:endParaRPr>
            </a:p>
            <a:p>
              <a:pPr algn="l"/>
              <a:r>
                <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SQL，实现 ABox 断言与 TBox 推理的统一访问接口。</a:t>
              </a:r>
              <a:endPar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59" name="组合 58"/>
          <p:cNvGrpSpPr/>
          <p:nvPr>
            <p:custDataLst>
              <p:tags r:id="rId11"/>
            </p:custDataLst>
          </p:nvPr>
        </p:nvGrpSpPr>
        <p:grpSpPr>
          <a:xfrm>
            <a:off x="625475" y="3138805"/>
            <a:ext cx="5006340" cy="721995"/>
            <a:chOff x="985" y="6208"/>
            <a:chExt cx="7884" cy="1137"/>
          </a:xfrm>
        </p:grpSpPr>
        <p:sp>
          <p:nvSpPr>
            <p:cNvPr id="44" name="AutoShape 21"/>
            <p:cNvSpPr/>
            <p:nvPr>
              <p:custDataLst>
                <p:tags r:id="rId12"/>
              </p:custDataLst>
            </p:nvPr>
          </p:nvSpPr>
          <p:spPr>
            <a:xfrm>
              <a:off x="985" y="6208"/>
              <a:ext cx="686" cy="725"/>
            </a:xfrm>
            <a:prstGeom prst="ellipse">
              <a:avLst/>
            </a:prstGeom>
            <a:solidFill>
              <a:srgbClr val="9ACAF1"/>
            </a:solidFill>
            <a:ln>
              <a:headEnd type="none"/>
              <a:tailEnd type="none"/>
            </a:ln>
          </p:spPr>
        </p:sp>
        <p:sp>
          <p:nvSpPr>
            <p:cNvPr id="45" name="AutoShape 22"/>
            <p:cNvSpPr/>
            <p:nvPr>
              <p:custDataLst>
                <p:tags r:id="rId13"/>
              </p:custDataLst>
            </p:nvPr>
          </p:nvSpPr>
          <p:spPr>
            <a:xfrm>
              <a:off x="1172" y="6406"/>
              <a:ext cx="312" cy="329"/>
            </a:xfrm>
            <a:custGeom>
              <a:avLst/>
              <a:gdLst/>
              <a:ahLst/>
              <a:cxnLst/>
              <a:rect l="l" t="t" r="r" b="b"/>
              <a:pathLst>
                <a:path w="9998" h="10000">
                  <a:moveTo>
                    <a:pt x="3593" y="0"/>
                  </a:moveTo>
                  <a:cubicBezTo>
                    <a:pt x="3905" y="13"/>
                    <a:pt x="4166" y="117"/>
                    <a:pt x="4374" y="313"/>
                  </a:cubicBezTo>
                  <a:cubicBezTo>
                    <a:pt x="4569" y="521"/>
                    <a:pt x="4673" y="781"/>
                    <a:pt x="4687" y="1094"/>
                  </a:cubicBezTo>
                  <a:lnTo>
                    <a:pt x="4687" y="8906"/>
                  </a:lnTo>
                  <a:cubicBezTo>
                    <a:pt x="4673" y="9218"/>
                    <a:pt x="4569" y="9479"/>
                    <a:pt x="4374" y="9688"/>
                  </a:cubicBezTo>
                  <a:cubicBezTo>
                    <a:pt x="4166" y="9882"/>
                    <a:pt x="3905" y="9986"/>
                    <a:pt x="3593" y="10000"/>
                  </a:cubicBezTo>
                  <a:cubicBezTo>
                    <a:pt x="3306" y="10000"/>
                    <a:pt x="3059" y="9909"/>
                    <a:pt x="2851" y="9727"/>
                  </a:cubicBezTo>
                  <a:cubicBezTo>
                    <a:pt x="2655" y="9544"/>
                    <a:pt x="2538" y="9309"/>
                    <a:pt x="2500" y="9023"/>
                  </a:cubicBezTo>
                  <a:cubicBezTo>
                    <a:pt x="2395" y="9049"/>
                    <a:pt x="2291" y="9063"/>
                    <a:pt x="2187" y="9063"/>
                  </a:cubicBezTo>
                  <a:cubicBezTo>
                    <a:pt x="1835" y="9049"/>
                    <a:pt x="1542" y="8925"/>
                    <a:pt x="1308" y="8691"/>
                  </a:cubicBezTo>
                  <a:cubicBezTo>
                    <a:pt x="1074" y="8457"/>
                    <a:pt x="950" y="8164"/>
                    <a:pt x="937" y="7812"/>
                  </a:cubicBezTo>
                  <a:cubicBezTo>
                    <a:pt x="937" y="7669"/>
                    <a:pt x="963" y="7532"/>
                    <a:pt x="1015" y="7402"/>
                  </a:cubicBezTo>
                  <a:cubicBezTo>
                    <a:pt x="715" y="7285"/>
                    <a:pt x="468" y="7096"/>
                    <a:pt x="273" y="6836"/>
                  </a:cubicBezTo>
                  <a:cubicBezTo>
                    <a:pt x="91" y="6575"/>
                    <a:pt x="0" y="6276"/>
                    <a:pt x="0" y="5938"/>
                  </a:cubicBezTo>
                  <a:cubicBezTo>
                    <a:pt x="0" y="5625"/>
                    <a:pt x="84" y="5345"/>
                    <a:pt x="254" y="5098"/>
                  </a:cubicBezTo>
                  <a:cubicBezTo>
                    <a:pt x="410" y="4850"/>
                    <a:pt x="624" y="4661"/>
                    <a:pt x="898" y="4531"/>
                  </a:cubicBezTo>
                  <a:cubicBezTo>
                    <a:pt x="716" y="4309"/>
                    <a:pt x="625" y="4049"/>
                    <a:pt x="625" y="3750"/>
                  </a:cubicBezTo>
                  <a:cubicBezTo>
                    <a:pt x="625" y="3450"/>
                    <a:pt x="716" y="3190"/>
                    <a:pt x="898" y="2969"/>
                  </a:cubicBezTo>
                  <a:cubicBezTo>
                    <a:pt x="1080" y="2747"/>
                    <a:pt x="1315" y="2598"/>
                    <a:pt x="1601" y="2520"/>
                  </a:cubicBezTo>
                  <a:cubicBezTo>
                    <a:pt x="1575" y="2415"/>
                    <a:pt x="1562" y="2304"/>
                    <a:pt x="1562" y="2188"/>
                  </a:cubicBezTo>
                  <a:cubicBezTo>
                    <a:pt x="1562" y="1888"/>
                    <a:pt x="1653" y="1627"/>
                    <a:pt x="1836" y="1406"/>
                  </a:cubicBezTo>
                  <a:cubicBezTo>
                    <a:pt x="2004" y="1198"/>
                    <a:pt x="2226" y="1055"/>
                    <a:pt x="2500" y="977"/>
                  </a:cubicBezTo>
                  <a:cubicBezTo>
                    <a:pt x="2538" y="690"/>
                    <a:pt x="2655" y="455"/>
                    <a:pt x="2851" y="273"/>
                  </a:cubicBezTo>
                  <a:cubicBezTo>
                    <a:pt x="3059" y="91"/>
                    <a:pt x="3306" y="0"/>
                    <a:pt x="3593" y="0"/>
                  </a:cubicBezTo>
                  <a:moveTo>
                    <a:pt x="6405" y="0"/>
                  </a:moveTo>
                  <a:cubicBezTo>
                    <a:pt x="6691" y="0"/>
                    <a:pt x="6939" y="91"/>
                    <a:pt x="7147" y="273"/>
                  </a:cubicBezTo>
                  <a:cubicBezTo>
                    <a:pt x="7342" y="455"/>
                    <a:pt x="7459" y="690"/>
                    <a:pt x="7499" y="977"/>
                  </a:cubicBezTo>
                  <a:cubicBezTo>
                    <a:pt x="7772" y="1055"/>
                    <a:pt x="7993" y="1198"/>
                    <a:pt x="8162" y="1406"/>
                  </a:cubicBezTo>
                  <a:cubicBezTo>
                    <a:pt x="8344" y="1627"/>
                    <a:pt x="8436" y="1888"/>
                    <a:pt x="8436" y="2188"/>
                  </a:cubicBezTo>
                  <a:cubicBezTo>
                    <a:pt x="8436" y="2304"/>
                    <a:pt x="8423" y="2415"/>
                    <a:pt x="8397" y="2520"/>
                  </a:cubicBezTo>
                  <a:cubicBezTo>
                    <a:pt x="8683" y="2598"/>
                    <a:pt x="8917" y="2747"/>
                    <a:pt x="9100" y="2969"/>
                  </a:cubicBezTo>
                  <a:cubicBezTo>
                    <a:pt x="9282" y="3190"/>
                    <a:pt x="9373" y="3450"/>
                    <a:pt x="9373" y="3750"/>
                  </a:cubicBezTo>
                  <a:cubicBezTo>
                    <a:pt x="9373" y="4049"/>
                    <a:pt x="9282" y="4309"/>
                    <a:pt x="9100" y="4531"/>
                  </a:cubicBezTo>
                  <a:cubicBezTo>
                    <a:pt x="9373" y="4661"/>
                    <a:pt x="9588" y="4850"/>
                    <a:pt x="9744" y="5098"/>
                  </a:cubicBezTo>
                  <a:cubicBezTo>
                    <a:pt x="9913" y="5345"/>
                    <a:pt x="9998" y="5625"/>
                    <a:pt x="9998" y="5938"/>
                  </a:cubicBezTo>
                  <a:cubicBezTo>
                    <a:pt x="9998" y="6276"/>
                    <a:pt x="9907" y="6575"/>
                    <a:pt x="9725" y="6836"/>
                  </a:cubicBezTo>
                  <a:cubicBezTo>
                    <a:pt x="9529" y="7096"/>
                    <a:pt x="9282" y="7285"/>
                    <a:pt x="8983" y="7402"/>
                  </a:cubicBezTo>
                  <a:cubicBezTo>
                    <a:pt x="9035" y="7532"/>
                    <a:pt x="9061" y="7669"/>
                    <a:pt x="9061" y="7812"/>
                  </a:cubicBezTo>
                  <a:cubicBezTo>
                    <a:pt x="9047" y="8164"/>
                    <a:pt x="8924" y="8457"/>
                    <a:pt x="8690" y="8691"/>
                  </a:cubicBezTo>
                  <a:cubicBezTo>
                    <a:pt x="8455" y="8925"/>
                    <a:pt x="8162" y="9049"/>
                    <a:pt x="7811" y="9063"/>
                  </a:cubicBezTo>
                  <a:cubicBezTo>
                    <a:pt x="7707" y="9063"/>
                    <a:pt x="7603" y="9049"/>
                    <a:pt x="7499" y="9023"/>
                  </a:cubicBezTo>
                  <a:cubicBezTo>
                    <a:pt x="7459" y="9309"/>
                    <a:pt x="7342" y="9544"/>
                    <a:pt x="7147" y="9727"/>
                  </a:cubicBezTo>
                  <a:cubicBezTo>
                    <a:pt x="6939" y="9909"/>
                    <a:pt x="6691" y="10000"/>
                    <a:pt x="6405" y="10000"/>
                  </a:cubicBezTo>
                  <a:cubicBezTo>
                    <a:pt x="6092" y="9986"/>
                    <a:pt x="5832" y="9882"/>
                    <a:pt x="5624" y="9688"/>
                  </a:cubicBezTo>
                  <a:cubicBezTo>
                    <a:pt x="5428" y="9479"/>
                    <a:pt x="5324" y="9218"/>
                    <a:pt x="5311" y="8906"/>
                  </a:cubicBezTo>
                  <a:lnTo>
                    <a:pt x="5311" y="1094"/>
                  </a:lnTo>
                  <a:cubicBezTo>
                    <a:pt x="5324" y="781"/>
                    <a:pt x="5428" y="521"/>
                    <a:pt x="5624" y="313"/>
                  </a:cubicBezTo>
                  <a:cubicBezTo>
                    <a:pt x="5832" y="117"/>
                    <a:pt x="6092" y="13"/>
                    <a:pt x="6405" y="0"/>
                  </a:cubicBezTo>
                </a:path>
              </a:pathLst>
            </a:custGeom>
            <a:solidFill>
              <a:schemeClr val="bg1"/>
            </a:solidFill>
            <a:ln>
              <a:headEnd type="none"/>
              <a:tailEnd type="none"/>
            </a:ln>
          </p:spPr>
        </p:sp>
        <p:sp>
          <p:nvSpPr>
            <p:cNvPr id="46" name="TextBox 23"/>
            <p:cNvSpPr txBox="1"/>
            <p:nvPr>
              <p:custDataLst>
                <p:tags r:id="rId14"/>
              </p:custDataLst>
            </p:nvPr>
          </p:nvSpPr>
          <p:spPr>
            <a:xfrm>
              <a:off x="1889" y="6224"/>
              <a:ext cx="6980" cy="313"/>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C00000">
                      <a:alpha val="60000"/>
                    </a:srgbClr>
                  </a:solidFill>
                  <a:latin typeface="微软雅黑" panose="020B0503020204020204" pitchFamily="34" charset="-122"/>
                  <a:ea typeface="微软雅黑" panose="020B0503020204020204" pitchFamily="34" charset="-122"/>
                  <a:cs typeface="微软雅黑" panose="020B0503020204020204" pitchFamily="34" charset="-122"/>
                </a:rPr>
                <a:t>03</a:t>
              </a:r>
              <a:r>
                <a:rPr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本体推理层</a:t>
              </a:r>
              <a:endParaRPr lang="en-US"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 name="TextBox 24"/>
            <p:cNvSpPr txBox="1"/>
            <p:nvPr>
              <p:custDataLst>
                <p:tags r:id="rId15"/>
              </p:custDataLst>
            </p:nvPr>
          </p:nvSpPr>
          <p:spPr>
            <a:xfrm>
              <a:off x="1889" y="6671"/>
              <a:ext cx="6980" cy="67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Openllet 加载 7+1 语言定义的 Pizza 本体，预计算类层次与属性闭</a:t>
              </a:r>
              <a:r>
                <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包，支持 getBestMatchedType 等语义查询服务。</a:t>
              </a:r>
              <a:endPar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60" name="组合 59"/>
          <p:cNvGrpSpPr/>
          <p:nvPr>
            <p:custDataLst>
              <p:tags r:id="rId16"/>
            </p:custDataLst>
          </p:nvPr>
        </p:nvGrpSpPr>
        <p:grpSpPr>
          <a:xfrm>
            <a:off x="625475" y="2042160"/>
            <a:ext cx="5006340" cy="721360"/>
            <a:chOff x="985" y="7709"/>
            <a:chExt cx="7884" cy="1136"/>
          </a:xfrm>
        </p:grpSpPr>
        <p:sp>
          <p:nvSpPr>
            <p:cNvPr id="48" name="AutoShape 25"/>
            <p:cNvSpPr/>
            <p:nvPr>
              <p:custDataLst>
                <p:tags r:id="rId17"/>
              </p:custDataLst>
            </p:nvPr>
          </p:nvSpPr>
          <p:spPr>
            <a:xfrm>
              <a:off x="985" y="7709"/>
              <a:ext cx="686" cy="725"/>
            </a:xfrm>
            <a:prstGeom prst="ellipse">
              <a:avLst/>
            </a:prstGeom>
            <a:solidFill>
              <a:srgbClr val="9ACAF1"/>
            </a:solidFill>
            <a:ln>
              <a:headEnd type="none"/>
              <a:tailEnd type="none"/>
            </a:ln>
          </p:spPr>
        </p:sp>
        <p:sp>
          <p:nvSpPr>
            <p:cNvPr id="49" name="AutoShape 26"/>
            <p:cNvSpPr/>
            <p:nvPr>
              <p:custDataLst>
                <p:tags r:id="rId18"/>
              </p:custDataLst>
            </p:nvPr>
          </p:nvSpPr>
          <p:spPr>
            <a:xfrm>
              <a:off x="1172" y="7906"/>
              <a:ext cx="312" cy="329"/>
            </a:xfrm>
            <a:custGeom>
              <a:avLst/>
              <a:gdLst/>
              <a:ahLst/>
              <a:cxnLst/>
              <a:rect l="l" t="t" r="r" b="b"/>
              <a:pathLst>
                <a:path w="9998" h="10000">
                  <a:moveTo>
                    <a:pt x="9998" y="1875"/>
                  </a:moveTo>
                  <a:cubicBezTo>
                    <a:pt x="9984" y="2213"/>
                    <a:pt x="9880" y="2578"/>
                    <a:pt x="9686" y="2969"/>
                  </a:cubicBezTo>
                  <a:cubicBezTo>
                    <a:pt x="9477" y="3359"/>
                    <a:pt x="9249" y="3730"/>
                    <a:pt x="9002" y="4082"/>
                  </a:cubicBezTo>
                  <a:cubicBezTo>
                    <a:pt x="8742" y="4420"/>
                    <a:pt x="8520" y="4694"/>
                    <a:pt x="8338" y="4902"/>
                  </a:cubicBezTo>
                  <a:cubicBezTo>
                    <a:pt x="8260" y="4993"/>
                    <a:pt x="8169" y="5026"/>
                    <a:pt x="8065" y="5000"/>
                  </a:cubicBezTo>
                  <a:lnTo>
                    <a:pt x="6249" y="5000"/>
                  </a:lnTo>
                  <a:cubicBezTo>
                    <a:pt x="6066" y="5000"/>
                    <a:pt x="5916" y="5058"/>
                    <a:pt x="5800" y="5176"/>
                  </a:cubicBezTo>
                  <a:cubicBezTo>
                    <a:pt x="5682" y="5293"/>
                    <a:pt x="5624" y="5443"/>
                    <a:pt x="5624" y="5625"/>
                  </a:cubicBezTo>
                  <a:cubicBezTo>
                    <a:pt x="5624" y="5807"/>
                    <a:pt x="5682" y="5956"/>
                    <a:pt x="5800" y="6074"/>
                  </a:cubicBezTo>
                  <a:cubicBezTo>
                    <a:pt x="5916" y="6191"/>
                    <a:pt x="6066" y="6250"/>
                    <a:pt x="6249" y="6250"/>
                  </a:cubicBezTo>
                  <a:lnTo>
                    <a:pt x="8123" y="6250"/>
                  </a:lnTo>
                  <a:cubicBezTo>
                    <a:pt x="8657" y="6263"/>
                    <a:pt x="9099" y="6445"/>
                    <a:pt x="9451" y="6797"/>
                  </a:cubicBezTo>
                  <a:cubicBezTo>
                    <a:pt x="9802" y="7148"/>
                    <a:pt x="9984" y="7591"/>
                    <a:pt x="9998" y="8125"/>
                  </a:cubicBezTo>
                  <a:cubicBezTo>
                    <a:pt x="9984" y="8659"/>
                    <a:pt x="9802" y="9101"/>
                    <a:pt x="9451" y="9453"/>
                  </a:cubicBezTo>
                  <a:cubicBezTo>
                    <a:pt x="9099" y="9804"/>
                    <a:pt x="8657" y="9986"/>
                    <a:pt x="8123" y="10000"/>
                  </a:cubicBezTo>
                  <a:lnTo>
                    <a:pt x="2734" y="10000"/>
                  </a:lnTo>
                  <a:cubicBezTo>
                    <a:pt x="2903" y="9804"/>
                    <a:pt x="3098" y="9563"/>
                    <a:pt x="3320" y="9277"/>
                  </a:cubicBezTo>
                  <a:cubicBezTo>
                    <a:pt x="3436" y="9121"/>
                    <a:pt x="3560" y="8945"/>
                    <a:pt x="3691" y="8750"/>
                  </a:cubicBezTo>
                  <a:lnTo>
                    <a:pt x="8123" y="8750"/>
                  </a:lnTo>
                  <a:cubicBezTo>
                    <a:pt x="8305" y="8750"/>
                    <a:pt x="8455" y="8691"/>
                    <a:pt x="8573" y="8574"/>
                  </a:cubicBezTo>
                  <a:cubicBezTo>
                    <a:pt x="8689" y="8456"/>
                    <a:pt x="8748" y="8307"/>
                    <a:pt x="8748" y="8125"/>
                  </a:cubicBezTo>
                  <a:cubicBezTo>
                    <a:pt x="8748" y="7943"/>
                    <a:pt x="8689" y="7793"/>
                    <a:pt x="8573" y="7676"/>
                  </a:cubicBezTo>
                  <a:cubicBezTo>
                    <a:pt x="8455" y="7558"/>
                    <a:pt x="8305" y="7500"/>
                    <a:pt x="8123" y="7500"/>
                  </a:cubicBezTo>
                  <a:lnTo>
                    <a:pt x="6249" y="7500"/>
                  </a:lnTo>
                  <a:cubicBezTo>
                    <a:pt x="5715" y="7486"/>
                    <a:pt x="5272" y="7304"/>
                    <a:pt x="4921" y="6953"/>
                  </a:cubicBezTo>
                  <a:cubicBezTo>
                    <a:pt x="4569" y="6601"/>
                    <a:pt x="4387" y="6159"/>
                    <a:pt x="4374" y="5625"/>
                  </a:cubicBezTo>
                  <a:cubicBezTo>
                    <a:pt x="4387" y="5091"/>
                    <a:pt x="4569" y="4648"/>
                    <a:pt x="4921" y="4297"/>
                  </a:cubicBezTo>
                  <a:cubicBezTo>
                    <a:pt x="5272" y="3945"/>
                    <a:pt x="5715" y="3763"/>
                    <a:pt x="6249" y="3750"/>
                  </a:cubicBezTo>
                  <a:lnTo>
                    <a:pt x="7030" y="3750"/>
                  </a:lnTo>
                  <a:cubicBezTo>
                    <a:pt x="6821" y="3437"/>
                    <a:pt x="6639" y="3118"/>
                    <a:pt x="6483" y="2793"/>
                  </a:cubicBezTo>
                  <a:cubicBezTo>
                    <a:pt x="6339" y="2467"/>
                    <a:pt x="6261" y="2161"/>
                    <a:pt x="6249" y="1875"/>
                  </a:cubicBezTo>
                  <a:cubicBezTo>
                    <a:pt x="6261" y="1341"/>
                    <a:pt x="6444" y="898"/>
                    <a:pt x="6796" y="547"/>
                  </a:cubicBezTo>
                  <a:cubicBezTo>
                    <a:pt x="7147" y="195"/>
                    <a:pt x="7589" y="13"/>
                    <a:pt x="8123" y="0"/>
                  </a:cubicBezTo>
                  <a:cubicBezTo>
                    <a:pt x="8657" y="13"/>
                    <a:pt x="9099" y="195"/>
                    <a:pt x="9451" y="547"/>
                  </a:cubicBezTo>
                  <a:cubicBezTo>
                    <a:pt x="9802" y="898"/>
                    <a:pt x="9984" y="1341"/>
                    <a:pt x="9998" y="1875"/>
                  </a:cubicBezTo>
                  <a:moveTo>
                    <a:pt x="2285" y="9551"/>
                  </a:moveTo>
                  <a:cubicBezTo>
                    <a:pt x="2207" y="9642"/>
                    <a:pt x="2141" y="9714"/>
                    <a:pt x="2089" y="9766"/>
                  </a:cubicBezTo>
                  <a:lnTo>
                    <a:pt x="2050" y="9805"/>
                  </a:lnTo>
                  <a:cubicBezTo>
                    <a:pt x="1920" y="9895"/>
                    <a:pt x="1790" y="9882"/>
                    <a:pt x="1660" y="9766"/>
                  </a:cubicBezTo>
                  <a:cubicBezTo>
                    <a:pt x="1490" y="9583"/>
                    <a:pt x="1275" y="9329"/>
                    <a:pt x="1015" y="9004"/>
                  </a:cubicBezTo>
                  <a:cubicBezTo>
                    <a:pt x="755" y="8678"/>
                    <a:pt x="520" y="8327"/>
                    <a:pt x="312" y="7949"/>
                  </a:cubicBezTo>
                  <a:cubicBezTo>
                    <a:pt x="117" y="7571"/>
                    <a:pt x="13" y="7213"/>
                    <a:pt x="0" y="6875"/>
                  </a:cubicBezTo>
                  <a:cubicBezTo>
                    <a:pt x="13" y="6341"/>
                    <a:pt x="195" y="5898"/>
                    <a:pt x="547" y="5547"/>
                  </a:cubicBezTo>
                  <a:cubicBezTo>
                    <a:pt x="898" y="5195"/>
                    <a:pt x="1341" y="5013"/>
                    <a:pt x="1875" y="5000"/>
                  </a:cubicBezTo>
                  <a:cubicBezTo>
                    <a:pt x="2408" y="5013"/>
                    <a:pt x="2850" y="5195"/>
                    <a:pt x="3202" y="5547"/>
                  </a:cubicBezTo>
                  <a:cubicBezTo>
                    <a:pt x="3554" y="5898"/>
                    <a:pt x="3736" y="6341"/>
                    <a:pt x="3749" y="6875"/>
                  </a:cubicBezTo>
                  <a:cubicBezTo>
                    <a:pt x="3736" y="7174"/>
                    <a:pt x="3651" y="7493"/>
                    <a:pt x="3495" y="7832"/>
                  </a:cubicBezTo>
                  <a:cubicBezTo>
                    <a:pt x="3326" y="8157"/>
                    <a:pt x="3131" y="8476"/>
                    <a:pt x="2910" y="8789"/>
                  </a:cubicBezTo>
                  <a:cubicBezTo>
                    <a:pt x="2688" y="9075"/>
                    <a:pt x="2486" y="9323"/>
                    <a:pt x="2304" y="9531"/>
                  </a:cubicBezTo>
                  <a:lnTo>
                    <a:pt x="2285" y="9551"/>
                  </a:lnTo>
                  <a:moveTo>
                    <a:pt x="2500" y="6875"/>
                  </a:moveTo>
                  <a:cubicBezTo>
                    <a:pt x="2500" y="6693"/>
                    <a:pt x="2441" y="6543"/>
                    <a:pt x="2324" y="6426"/>
                  </a:cubicBezTo>
                  <a:cubicBezTo>
                    <a:pt x="2206" y="6308"/>
                    <a:pt x="2057" y="6250"/>
                    <a:pt x="1875" y="6250"/>
                  </a:cubicBezTo>
                  <a:cubicBezTo>
                    <a:pt x="1692" y="6250"/>
                    <a:pt x="1542" y="6308"/>
                    <a:pt x="1425" y="6426"/>
                  </a:cubicBezTo>
                  <a:cubicBezTo>
                    <a:pt x="1308" y="6543"/>
                    <a:pt x="1250" y="6693"/>
                    <a:pt x="1250" y="6875"/>
                  </a:cubicBezTo>
                  <a:cubicBezTo>
                    <a:pt x="1250" y="7057"/>
                    <a:pt x="1308" y="7206"/>
                    <a:pt x="1425" y="7324"/>
                  </a:cubicBezTo>
                  <a:cubicBezTo>
                    <a:pt x="1542" y="7441"/>
                    <a:pt x="1692" y="7500"/>
                    <a:pt x="1875" y="7500"/>
                  </a:cubicBezTo>
                  <a:cubicBezTo>
                    <a:pt x="2057" y="7500"/>
                    <a:pt x="2206" y="7441"/>
                    <a:pt x="2324" y="7324"/>
                  </a:cubicBezTo>
                  <a:cubicBezTo>
                    <a:pt x="2441" y="7206"/>
                    <a:pt x="2500" y="7057"/>
                    <a:pt x="2500" y="6875"/>
                  </a:cubicBezTo>
                  <a:moveTo>
                    <a:pt x="8123" y="2500"/>
                  </a:moveTo>
                  <a:cubicBezTo>
                    <a:pt x="8305" y="2500"/>
                    <a:pt x="8455" y="2441"/>
                    <a:pt x="8573" y="2324"/>
                  </a:cubicBezTo>
                  <a:cubicBezTo>
                    <a:pt x="8689" y="2206"/>
                    <a:pt x="8748" y="2057"/>
                    <a:pt x="8748" y="1875"/>
                  </a:cubicBezTo>
                  <a:cubicBezTo>
                    <a:pt x="8748" y="1693"/>
                    <a:pt x="8689" y="1543"/>
                    <a:pt x="8573" y="1426"/>
                  </a:cubicBezTo>
                  <a:cubicBezTo>
                    <a:pt x="8455" y="1308"/>
                    <a:pt x="8305" y="1250"/>
                    <a:pt x="8123" y="1250"/>
                  </a:cubicBezTo>
                  <a:cubicBezTo>
                    <a:pt x="7941" y="1250"/>
                    <a:pt x="7791" y="1308"/>
                    <a:pt x="7674" y="1426"/>
                  </a:cubicBezTo>
                  <a:cubicBezTo>
                    <a:pt x="7557" y="1543"/>
                    <a:pt x="7499" y="1693"/>
                    <a:pt x="7499" y="1875"/>
                  </a:cubicBezTo>
                  <a:cubicBezTo>
                    <a:pt x="7499" y="2057"/>
                    <a:pt x="7557" y="2206"/>
                    <a:pt x="7674" y="2324"/>
                  </a:cubicBezTo>
                  <a:cubicBezTo>
                    <a:pt x="7791" y="2441"/>
                    <a:pt x="7941" y="2500"/>
                    <a:pt x="8123" y="2500"/>
                  </a:cubicBezTo>
                </a:path>
              </a:pathLst>
            </a:custGeom>
            <a:solidFill>
              <a:schemeClr val="bg1"/>
            </a:solidFill>
            <a:ln>
              <a:headEnd type="none"/>
              <a:tailEnd type="none"/>
            </a:ln>
          </p:spPr>
        </p:sp>
        <p:sp>
          <p:nvSpPr>
            <p:cNvPr id="50" name="TextBox 27"/>
            <p:cNvSpPr txBox="1"/>
            <p:nvPr>
              <p:custDataLst>
                <p:tags r:id="rId19"/>
              </p:custDataLst>
            </p:nvPr>
          </p:nvSpPr>
          <p:spPr>
            <a:xfrm>
              <a:off x="1889" y="7725"/>
              <a:ext cx="6980" cy="313"/>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C00000">
                      <a:alpha val="60000"/>
                    </a:srgbClr>
                  </a:solidFill>
                  <a:latin typeface="微软雅黑" panose="020B0503020204020204" pitchFamily="34" charset="-122"/>
                  <a:ea typeface="微软雅黑" panose="020B0503020204020204" pitchFamily="34" charset="-122"/>
                  <a:cs typeface="微软雅黑" panose="020B0503020204020204" pitchFamily="34" charset="-122"/>
                </a:rPr>
                <a:t>04</a:t>
              </a:r>
              <a:r>
                <a:rPr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流程编排层</a:t>
              </a:r>
              <a:endParaRPr lang="en-US"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1" name="TextBox 28"/>
            <p:cNvSpPr txBox="1"/>
            <p:nvPr>
              <p:custDataLst>
                <p:tags r:id="rId20"/>
              </p:custDataLst>
            </p:nvPr>
          </p:nvSpPr>
          <p:spPr>
            <a:xfrm>
              <a:off x="1889" y="8171"/>
              <a:ext cx="6980" cy="67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Camunda BPMN 定义标准制作工序，ServiceTask 通过 JobWorker</a:t>
              </a:r>
              <a:r>
                <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调用本体服务，根据推理结果动态选择酱汁、奶酪等组件。</a:t>
              </a:r>
              <a:endPar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54" name="文本框 53"/>
          <p:cNvSpPr txBox="1"/>
          <p:nvPr/>
        </p:nvSpPr>
        <p:spPr>
          <a:xfrm>
            <a:off x="707390" y="1129665"/>
            <a:ext cx="10822940" cy="583565"/>
          </a:xfrm>
          <a:prstGeom prst="rect">
            <a:avLst/>
          </a:prstGeom>
          <a:noFill/>
        </p:spPr>
        <p:txBody>
          <a:bodyPr wrap="square" rtlCol="0" anchor="t">
            <a:spAutoFit/>
          </a:bodyPr>
          <a:p>
            <a:pPr algn="l">
              <a:defRPr/>
            </a:pPr>
            <a:r>
              <a:rPr lang="en-US" sz="1600">
                <a:solidFill>
                  <a:srgbClr val="0A1F3D">
                    <a:alpha val="8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本体作为语义中枢贯穿全流程：MySQL 承载持久化数据，Ontop 实现关系-语义透明映射，Openllet 提供实时推理能力，Camunda 编排业务逻辑——四层协同使流</a:t>
            </a:r>
            <a:r>
              <a:rPr sz="1600">
                <a:solidFill>
                  <a:srgbClr val="0A1F3D">
                    <a:alpha val="8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程节点具备领域知识感知与动态决策能力。</a:t>
            </a:r>
            <a:endParaRPr lang="zh-CN" altLang="en-US" sz="1600">
              <a:solidFill>
                <a:srgbClr val="0A1F3D">
                  <a:alpha val="80000"/>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5" name="标题 54"/>
          <p:cNvSpPr>
            <a:spLocks noGrp="1"/>
          </p:cNvSpPr>
          <p:nvPr>
            <p:ph type="title"/>
          </p:nvPr>
        </p:nvSpPr>
        <p:spPr/>
        <p:txBody>
          <a:bodyPr>
            <a:normAutofit/>
          </a:bodyPr>
          <a:lstStyle/>
          <a:p>
            <a:r>
              <a:rPr kumimoji="1" lang="zh-CN" altLang="en-US" dirty="0"/>
              <a:t>四层技术架构总览</a:t>
            </a:r>
            <a:r>
              <a:rPr kumimoji="1" lang="en-US" altLang="zh-CN" sz="2000" dirty="0">
                <a:solidFill>
                  <a:srgbClr val="C00000"/>
                </a:solidFill>
                <a:latin typeface="微软雅黑" panose="020B0503020204020204" pitchFamily="34" charset="-122"/>
                <a:ea typeface="微软雅黑" panose="020B0503020204020204" pitchFamily="34" charset="-122"/>
              </a:rPr>
              <a:t>(</a:t>
            </a:r>
            <a:r>
              <a:rPr lang="en-US" sz="2000">
                <a:solidFill>
                  <a:srgbClr val="C00000">
                    <a:alpha val="100000"/>
                  </a:srgbClr>
                </a:solidFill>
                <a:latin typeface="微软雅黑" panose="020B0503020204020204" pitchFamily="34" charset="-122"/>
                <a:ea typeface="微软雅黑" panose="020B0503020204020204" pitchFamily="34" charset="-122"/>
                <a:cs typeface="Alibaba PuHuiTi 3.0 55 Regular"/>
                <a:sym typeface="+mn-ea"/>
              </a:rPr>
              <a:t>Four-Layer Technical Architecture Overview)</a:t>
            </a:r>
            <a:endParaRPr kumimoji="1" lang="en-US" altLang="zh-CN" sz="2000" dirty="0">
              <a:solidFill>
                <a:srgbClr val="C00000">
                  <a:alpha val="100000"/>
                </a:srgbClr>
              </a:solidFill>
              <a:latin typeface="微软雅黑" panose="020B0503020204020204" pitchFamily="34" charset="-122"/>
              <a:ea typeface="微软雅黑" panose="020B0503020204020204" pitchFamily="34" charset="-122"/>
              <a:cs typeface="Alibaba PuHuiTi 3.0 55 Regular"/>
              <a:sym typeface="+mn-ea"/>
            </a:endParaRPr>
          </a:p>
        </p:txBody>
      </p:sp>
      <p:grpSp>
        <p:nvGrpSpPr>
          <p:cNvPr id="5" name="组合 4"/>
          <p:cNvGrpSpPr/>
          <p:nvPr/>
        </p:nvGrpSpPr>
        <p:grpSpPr>
          <a:xfrm>
            <a:off x="5882005" y="1917700"/>
            <a:ext cx="5523230" cy="4212590"/>
            <a:chOff x="9263" y="3020"/>
            <a:chExt cx="8698" cy="6634"/>
          </a:xfrm>
        </p:grpSpPr>
        <p:pic>
          <p:nvPicPr>
            <p:cNvPr id="4" name="图片 3"/>
            <p:cNvPicPr/>
            <p:nvPr/>
          </p:nvPicPr>
          <p:blipFill>
            <a:blip r:embed="rId21"/>
            <a:stretch>
              <a:fillRect/>
            </a:stretch>
          </p:blipFill>
          <p:spPr>
            <a:xfrm>
              <a:off x="9263" y="3020"/>
              <a:ext cx="8698" cy="6634"/>
            </a:xfrm>
            <a:prstGeom prst="rect">
              <a:avLst/>
            </a:prstGeom>
          </p:spPr>
        </p:pic>
        <p:pic>
          <p:nvPicPr>
            <p:cNvPr id="64" name="图片 63"/>
            <p:cNvPicPr>
              <a:picLocks noChangeAspect="1"/>
            </p:cNvPicPr>
            <p:nvPr/>
          </p:nvPicPr>
          <p:blipFill>
            <a:blip r:embed="rId22"/>
            <a:stretch>
              <a:fillRect/>
            </a:stretch>
          </p:blipFill>
          <p:spPr>
            <a:xfrm>
              <a:off x="9387" y="3359"/>
              <a:ext cx="2211" cy="1025"/>
            </a:xfrm>
            <a:prstGeom prst="rect">
              <a:avLst/>
            </a:prstGeom>
          </p:spPr>
        </p:pic>
        <p:pic>
          <p:nvPicPr>
            <p:cNvPr id="65" name="图片 64"/>
            <p:cNvPicPr>
              <a:picLocks noChangeAspect="1"/>
            </p:cNvPicPr>
            <p:nvPr/>
          </p:nvPicPr>
          <p:blipFill>
            <a:blip r:embed="rId23"/>
            <a:stretch>
              <a:fillRect/>
            </a:stretch>
          </p:blipFill>
          <p:spPr>
            <a:xfrm>
              <a:off x="9715" y="4799"/>
              <a:ext cx="2144" cy="982"/>
            </a:xfrm>
            <a:prstGeom prst="rect">
              <a:avLst/>
            </a:prstGeom>
          </p:spPr>
        </p:pic>
        <p:pic>
          <p:nvPicPr>
            <p:cNvPr id="66" name="图片 65"/>
            <p:cNvPicPr>
              <a:picLocks noChangeAspect="1"/>
            </p:cNvPicPr>
            <p:nvPr/>
          </p:nvPicPr>
          <p:blipFill>
            <a:blip r:embed="rId24"/>
            <a:stretch>
              <a:fillRect/>
            </a:stretch>
          </p:blipFill>
          <p:spPr>
            <a:xfrm>
              <a:off x="9500" y="6648"/>
              <a:ext cx="2213" cy="942"/>
            </a:xfrm>
            <a:prstGeom prst="rect">
              <a:avLst/>
            </a:prstGeom>
          </p:spPr>
        </p:pic>
        <p:pic>
          <p:nvPicPr>
            <p:cNvPr id="67" name="图片 66"/>
            <p:cNvPicPr>
              <a:picLocks noChangeAspect="1"/>
            </p:cNvPicPr>
            <p:nvPr/>
          </p:nvPicPr>
          <p:blipFill>
            <a:blip r:embed="rId25"/>
            <a:stretch>
              <a:fillRect/>
            </a:stretch>
          </p:blipFill>
          <p:spPr>
            <a:xfrm>
              <a:off x="9942" y="8303"/>
              <a:ext cx="1803" cy="980"/>
            </a:xfrm>
            <a:prstGeom prst="rect">
              <a:avLst/>
            </a:prstGeom>
          </p:spPr>
        </p:pic>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AutoShape 10"/>
          <p:cNvSpPr/>
          <p:nvPr/>
        </p:nvSpPr>
        <p:spPr>
          <a:xfrm>
            <a:off x="619125" y="1064895"/>
            <a:ext cx="11207750" cy="742950"/>
          </a:xfrm>
          <a:prstGeom prst="rect">
            <a:avLst/>
          </a:prstGeom>
          <a:blipFill rotWithShape="1">
            <a:blip r:embed="rId1">
              <a:alphaModFix amt="100000"/>
              <a:alphaModFix amt="100000"/>
            </a:blip>
            <a:stretch>
              <a:fillRect/>
            </a:stretch>
          </a:blipFill>
          <a:ln>
            <a:headEnd type="none"/>
            <a:tailEnd type="none"/>
          </a:ln>
        </p:spPr>
      </p:sp>
      <p:sp>
        <p:nvSpPr>
          <p:cNvPr id="2" name="标题 1"/>
          <p:cNvSpPr>
            <a:spLocks noGrp="1"/>
          </p:cNvSpPr>
          <p:nvPr>
            <p:ph type="title"/>
          </p:nvPr>
        </p:nvSpPr>
        <p:spPr/>
        <p:txBody>
          <a:bodyPr>
            <a:normAutofit/>
          </a:bodyPr>
          <a:p>
            <a:pPr algn="l">
              <a:buClrTx/>
              <a:buSzTx/>
              <a:buFontTx/>
            </a:pPr>
            <a:r>
              <a:rPr lang="zh-CN" altLang="en-US"/>
              <a:t>三种使用场景与精度梯度</a:t>
            </a:r>
            <a:r>
              <a:rPr lang="zh-CN" altLang="en-US" sz="2000"/>
              <a:t>（</a:t>
            </a:r>
            <a:r>
              <a:rPr kumimoji="1" lang="en-US" altLang="zh-CN" sz="2000">
                <a:latin typeface="微软雅黑" panose="020B0503020204020204" pitchFamily="34" charset="-122"/>
                <a:ea typeface="微软雅黑" panose="020B0503020204020204" pitchFamily="34" charset="-122"/>
                <a:sym typeface="+mn-ea"/>
              </a:rPr>
              <a:t>Precision Gradient &amp; Application Scenarios）</a:t>
            </a:r>
            <a:endParaRPr kumimoji="1" lang="en-US" altLang="zh-CN" sz="2000">
              <a:latin typeface="微软雅黑" panose="020B0503020204020204" pitchFamily="34" charset="-122"/>
              <a:ea typeface="微软雅黑" panose="020B0503020204020204" pitchFamily="34" charset="-122"/>
              <a:sym typeface="+mn-ea"/>
            </a:endParaRPr>
          </a:p>
        </p:txBody>
      </p:sp>
      <p:grpSp>
        <p:nvGrpSpPr>
          <p:cNvPr id="3" name="组合 2"/>
          <p:cNvGrpSpPr/>
          <p:nvPr>
            <p:custDataLst>
              <p:tags r:id="rId2"/>
            </p:custDataLst>
          </p:nvPr>
        </p:nvGrpSpPr>
        <p:grpSpPr>
          <a:xfrm>
            <a:off x="608809" y="1163372"/>
            <a:ext cx="11263904" cy="5061578"/>
            <a:chOff x="960" y="2941"/>
            <a:chExt cx="17275" cy="7439"/>
          </a:xfrm>
        </p:grpSpPr>
        <p:sp>
          <p:nvSpPr>
            <p:cNvPr id="14" name="AutoShape 14"/>
            <p:cNvSpPr/>
            <p:nvPr>
              <p:custDataLst>
                <p:tags r:id="rId3"/>
              </p:custDataLst>
            </p:nvPr>
          </p:nvSpPr>
          <p:spPr>
            <a:xfrm>
              <a:off x="960" y="4171"/>
              <a:ext cx="5558" cy="6209"/>
            </a:xfrm>
            <a:prstGeom prst="roundRect">
              <a:avLst>
                <a:gd name="adj" fmla="val 1258"/>
              </a:avLst>
            </a:prstGeom>
            <a:solidFill>
              <a:srgbClr val="FFFFFF">
                <a:alpha val="100000"/>
              </a:srgbClr>
            </a:solidFill>
            <a:ln w="9525">
              <a:solidFill>
                <a:srgbClr val="E2E6EA">
                  <a:alpha val="100000"/>
                </a:srgbClr>
              </a:solidFill>
              <a:prstDash val="solid"/>
              <a:headEnd type="none"/>
              <a:tailEnd type="none"/>
            </a:ln>
          </p:spPr>
        </p:sp>
        <p:sp>
          <p:nvSpPr>
            <p:cNvPr id="15" name="AutoShape 15"/>
            <p:cNvSpPr/>
            <p:nvPr>
              <p:custDataLst>
                <p:tags r:id="rId4"/>
              </p:custDataLst>
            </p:nvPr>
          </p:nvSpPr>
          <p:spPr>
            <a:xfrm>
              <a:off x="1335" y="4186"/>
              <a:ext cx="4814" cy="60"/>
            </a:xfrm>
            <a:prstGeom prst="rect">
              <a:avLst/>
            </a:prstGeom>
            <a:solidFill>
              <a:srgbClr val="C00000"/>
            </a:solidFill>
            <a:ln>
              <a:headEnd type="none"/>
              <a:tailEnd type="none"/>
            </a:ln>
          </p:spPr>
          <p:txBody>
            <a:bodyPr/>
            <a:p>
              <a:endParaRPr lang="zh-CN" altLang="en-US"/>
            </a:p>
          </p:txBody>
        </p:sp>
        <p:sp>
          <p:nvSpPr>
            <p:cNvPr id="16" name="AutoShape 16"/>
            <p:cNvSpPr/>
            <p:nvPr>
              <p:custDataLst>
                <p:tags r:id="rId5"/>
              </p:custDataLst>
            </p:nvPr>
          </p:nvSpPr>
          <p:spPr>
            <a:xfrm>
              <a:off x="1335" y="4708"/>
              <a:ext cx="780" cy="780"/>
            </a:xfrm>
            <a:prstGeom prst="ellipse">
              <a:avLst/>
            </a:prstGeom>
            <a:solidFill>
              <a:srgbClr val="C00000"/>
            </a:solidFill>
            <a:ln>
              <a:headEnd type="none"/>
              <a:tailEnd type="none"/>
            </a:ln>
          </p:spPr>
        </p:sp>
        <p:sp>
          <p:nvSpPr>
            <p:cNvPr id="17" name="AutoShape 17"/>
            <p:cNvSpPr/>
            <p:nvPr>
              <p:custDataLst>
                <p:tags r:id="rId6"/>
              </p:custDataLst>
            </p:nvPr>
          </p:nvSpPr>
          <p:spPr>
            <a:xfrm>
              <a:off x="1560" y="4933"/>
              <a:ext cx="330" cy="330"/>
            </a:xfrm>
            <a:custGeom>
              <a:avLst/>
              <a:gdLst/>
              <a:ahLst/>
              <a:cxnLst/>
              <a:rect l="l" t="t" r="r" b="b"/>
              <a:pathLst>
                <a:path w="9998" h="10000">
                  <a:moveTo>
                    <a:pt x="4999" y="0"/>
                  </a:moveTo>
                  <a:cubicBezTo>
                    <a:pt x="5096" y="0"/>
                    <a:pt x="5186" y="20"/>
                    <a:pt x="5270" y="60"/>
                  </a:cubicBezTo>
                  <a:lnTo>
                    <a:pt x="9206" y="1650"/>
                  </a:lnTo>
                  <a:cubicBezTo>
                    <a:pt x="9442" y="1742"/>
                    <a:pt x="9630" y="1888"/>
                    <a:pt x="9769" y="2087"/>
                  </a:cubicBezTo>
                  <a:cubicBezTo>
                    <a:pt x="9921" y="2286"/>
                    <a:pt x="9998" y="2518"/>
                    <a:pt x="9998" y="2783"/>
                  </a:cubicBezTo>
                  <a:cubicBezTo>
                    <a:pt x="10012" y="3459"/>
                    <a:pt x="9894" y="4254"/>
                    <a:pt x="9644" y="5169"/>
                  </a:cubicBezTo>
                  <a:cubicBezTo>
                    <a:pt x="9394" y="6083"/>
                    <a:pt x="8942" y="6971"/>
                    <a:pt x="8290" y="7833"/>
                  </a:cubicBezTo>
                  <a:cubicBezTo>
                    <a:pt x="7651" y="8707"/>
                    <a:pt x="6735" y="9430"/>
                    <a:pt x="5541" y="10000"/>
                  </a:cubicBezTo>
                  <a:cubicBezTo>
                    <a:pt x="5179" y="10159"/>
                    <a:pt x="4818" y="10159"/>
                    <a:pt x="4457" y="10000"/>
                  </a:cubicBezTo>
                  <a:cubicBezTo>
                    <a:pt x="3263" y="9430"/>
                    <a:pt x="2346" y="8707"/>
                    <a:pt x="1708" y="7833"/>
                  </a:cubicBezTo>
                  <a:cubicBezTo>
                    <a:pt x="1055" y="6971"/>
                    <a:pt x="604" y="6083"/>
                    <a:pt x="354" y="5169"/>
                  </a:cubicBezTo>
                  <a:cubicBezTo>
                    <a:pt x="104" y="4254"/>
                    <a:pt x="-14" y="3459"/>
                    <a:pt x="0" y="2783"/>
                  </a:cubicBezTo>
                  <a:cubicBezTo>
                    <a:pt x="0" y="2518"/>
                    <a:pt x="76" y="2286"/>
                    <a:pt x="229" y="2087"/>
                  </a:cubicBezTo>
                  <a:cubicBezTo>
                    <a:pt x="367" y="1888"/>
                    <a:pt x="555" y="1742"/>
                    <a:pt x="792" y="1650"/>
                  </a:cubicBezTo>
                  <a:lnTo>
                    <a:pt x="4728" y="60"/>
                  </a:lnTo>
                  <a:cubicBezTo>
                    <a:pt x="4811" y="20"/>
                    <a:pt x="4901" y="0"/>
                    <a:pt x="4999" y="0"/>
                  </a:cubicBezTo>
                  <a:moveTo>
                    <a:pt x="4999" y="1332"/>
                  </a:moveTo>
                  <a:lnTo>
                    <a:pt x="4999" y="8847"/>
                  </a:lnTo>
                  <a:lnTo>
                    <a:pt x="4999" y="1332"/>
                  </a:lnTo>
                  <a:lnTo>
                    <a:pt x="4999" y="8847"/>
                  </a:lnTo>
                  <a:cubicBezTo>
                    <a:pt x="5943" y="8383"/>
                    <a:pt x="6686" y="7793"/>
                    <a:pt x="7228" y="7078"/>
                  </a:cubicBezTo>
                  <a:cubicBezTo>
                    <a:pt x="7755" y="6362"/>
                    <a:pt x="8130" y="5626"/>
                    <a:pt x="8352" y="4871"/>
                  </a:cubicBezTo>
                  <a:cubicBezTo>
                    <a:pt x="8560" y="4102"/>
                    <a:pt x="8665" y="3413"/>
                    <a:pt x="8665" y="2803"/>
                  </a:cubicBezTo>
                  <a:lnTo>
                    <a:pt x="4999" y="1332"/>
                  </a:lnTo>
                </a:path>
              </a:pathLst>
            </a:custGeom>
            <a:solidFill>
              <a:srgbClr val="FFFFFF">
                <a:alpha val="100000"/>
              </a:srgbClr>
            </a:solidFill>
            <a:ln>
              <a:headEnd type="none"/>
              <a:tailEnd type="none"/>
            </a:ln>
          </p:spPr>
        </p:sp>
        <p:sp>
          <p:nvSpPr>
            <p:cNvPr id="18" name="TextBox 18"/>
            <p:cNvSpPr txBox="1"/>
            <p:nvPr>
              <p:custDataLst>
                <p:tags r:id="rId7"/>
              </p:custDataLst>
            </p:nvPr>
          </p:nvSpPr>
          <p:spPr>
            <a:xfrm>
              <a:off x="2294" y="4695"/>
              <a:ext cx="1102" cy="450"/>
            </a:xfrm>
            <a:prstGeom prst="rect">
              <a:avLst/>
            </a:prstGeom>
            <a:ln>
              <a:headEnd type="none"/>
              <a:tailEnd type="none"/>
            </a:ln>
          </p:spPr>
          <p:txBody>
            <a:bodyPr vert="horz" wrap="none" lIns="0" tIns="0" rIns="0" bIns="0" rtlCol="0" anchor="t" anchorCtr="0"/>
            <a:lstStyle/>
            <a:p>
              <a:pPr algn="l">
                <a:defRPr/>
              </a:pPr>
              <a:r>
                <a:rPr lang="zh-CN" altLang="en-US" sz="2000" b="1" i="0" strike="noStrike">
                  <a:solidFill>
                    <a:srgbClr val="C00000">
                      <a:alpha val="100000"/>
                    </a:srgbClr>
                  </a:solidFill>
                  <a:latin typeface="微软雅黑" panose="020B0503020204020204" pitchFamily="34" charset="-122"/>
                  <a:ea typeface="微软雅黑" panose="020B0503020204020204" pitchFamily="34" charset="-122"/>
                  <a:cs typeface="Inter" panose="02000503000000020004"/>
                </a:rPr>
                <a:t>完全</a:t>
              </a:r>
              <a:r>
                <a:rPr lang="zh-CN" altLang="en-US" sz="2000" b="1" i="0" strike="noStrike">
                  <a:solidFill>
                    <a:srgbClr val="C00000">
                      <a:alpha val="100000"/>
                    </a:srgbClr>
                  </a:solidFill>
                  <a:latin typeface="微软雅黑" panose="020B0503020204020204" pitchFamily="34" charset="-122"/>
                  <a:ea typeface="微软雅黑" panose="020B0503020204020204" pitchFamily="34" charset="-122"/>
                  <a:cs typeface="Inter" panose="02000503000000020004"/>
                </a:rPr>
                <a:t>可控</a:t>
              </a:r>
              <a:endParaRPr lang="zh-CN" altLang="en-US" sz="2000" b="1" i="0" strike="noStrike">
                <a:solidFill>
                  <a:srgbClr val="C00000">
                    <a:alpha val="100000"/>
                  </a:srgbClr>
                </a:solidFill>
                <a:latin typeface="微软雅黑" panose="020B0503020204020204" pitchFamily="34" charset="-122"/>
                <a:ea typeface="微软雅黑" panose="020B0503020204020204" pitchFamily="34" charset="-122"/>
                <a:cs typeface="Inter" panose="02000503000000020004"/>
              </a:endParaRPr>
            </a:p>
          </p:txBody>
        </p:sp>
        <p:sp>
          <p:nvSpPr>
            <p:cNvPr id="19" name="TextBox 19"/>
            <p:cNvSpPr txBox="1"/>
            <p:nvPr>
              <p:custDataLst>
                <p:tags r:id="rId8"/>
              </p:custDataLst>
            </p:nvPr>
          </p:nvSpPr>
          <p:spPr>
            <a:xfrm>
              <a:off x="2294" y="5248"/>
              <a:ext cx="997" cy="18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C00000">
                      <a:alpha val="50196"/>
                    </a:srgbClr>
                  </a:solidFill>
                  <a:latin typeface="微软雅黑" panose="020B0503020204020204" pitchFamily="34" charset="-122"/>
                  <a:ea typeface="微软雅黑" panose="020B0503020204020204" pitchFamily="34" charset="-122"/>
                  <a:cs typeface="FZYaYiHei GB18030L2 R" panose="02000500000000000000" charset="-122"/>
                </a:rPr>
                <a:t>精确推理</a:t>
              </a:r>
              <a:endParaRPr lang="en-US" sz="1000" b="1" i="0" strike="noStrike">
                <a:solidFill>
                  <a:srgbClr val="C00000">
                    <a:alpha val="50196"/>
                  </a:srgb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20" name="TextBox 20"/>
            <p:cNvSpPr txBox="1"/>
            <p:nvPr>
              <p:custDataLst>
                <p:tags r:id="rId9"/>
              </p:custDataLst>
            </p:nvPr>
          </p:nvSpPr>
          <p:spPr>
            <a:xfrm>
              <a:off x="1353" y="6060"/>
              <a:ext cx="4809" cy="330"/>
            </a:xfrm>
            <a:prstGeom prst="rect">
              <a:avLst/>
            </a:prstGeom>
            <a:ln>
              <a:headEnd type="none"/>
              <a:tailEnd type="none"/>
            </a:ln>
          </p:spPr>
          <p:txBody>
            <a:bodyPr vert="horz" wrap="none" lIns="0" tIns="0" rIns="0" bIns="0" rtlCol="0" anchor="t" anchorCtr="0"/>
            <a:lstStyle/>
            <a:p>
              <a:pPr algn="l">
                <a:defRPr/>
              </a:pPr>
              <a:r>
                <a:rPr lang="zh-CN" altLang="en-US" sz="16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完全可控</a:t>
              </a:r>
              <a:r>
                <a:rPr lang="en-US" sz="16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推理场景</a:t>
              </a:r>
              <a:endParaRPr lang="en-US" sz="16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TextBox 22"/>
            <p:cNvSpPr txBox="1"/>
            <p:nvPr>
              <p:custDataLst>
                <p:tags r:id="rId10"/>
              </p:custDataLst>
            </p:nvPr>
          </p:nvSpPr>
          <p:spPr>
            <a:xfrm>
              <a:off x="1563" y="6705"/>
              <a:ext cx="4599" cy="3013"/>
            </a:xfrm>
            <a:prstGeom prst="rect">
              <a:avLst/>
            </a:prstGeom>
            <a:ln>
              <a:headEnd type="none"/>
              <a:tailEnd type="none"/>
            </a:ln>
          </p:spPr>
          <p:txBody>
            <a:bodyPr vert="horz" wrap="square" lIns="0" tIns="0" rIns="0" bIns="0" rtlCol="0" anchor="t" anchorCtr="0"/>
            <a:lstStyle/>
            <a:p>
              <a:pPr marL="171450" indent="-171450" algn="l">
                <a:buFont typeface="Wingdings" panose="05000000000000000000" charset="0"/>
                <a:buChar char="Ø"/>
                <a:defRPr/>
              </a:pPr>
              <a:r>
                <a:rPr lang="en-US"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rPr>
                <a:t>通过大模型录入各类语料打造精确本体，用提示</a:t>
              </a:r>
              <a:r>
                <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rPr>
                <a:t>词工程确定客户需求后输入本体封装框架，由本体独立完成精确推理。</a:t>
              </a: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marL="171450" indent="-171450" algn="l">
                <a:buFont typeface="Wingdings" panose="05000000000000000000" charset="0"/>
                <a:buChar char="Ø"/>
                <a:defRPr/>
              </a:pP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marL="171450" indent="-171450" algn="l">
                <a:buFont typeface="Wingdings" panose="05000000000000000000" charset="0"/>
                <a:buChar char="Ø"/>
                <a:defRPr/>
              </a:pPr>
              <a:r>
                <a:rPr lang="en-US" sz="1400">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sym typeface="+mn-ea"/>
                </a:rPr>
                <a:t>适用于金融合规、医疗诊断、安全审计等零容错</a:t>
              </a:r>
              <a:r>
                <a:rPr sz="1400">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sym typeface="+mn-ea"/>
                </a:rPr>
                <a:t>领域，推理结果完全由形式化语义保证，不依赖概率模型。</a:t>
              </a: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marL="171450" indent="-171450" algn="l">
                <a:buFont typeface="Wingdings" panose="05000000000000000000" charset="0"/>
                <a:buChar char="Ø"/>
                <a:defRPr/>
              </a:pP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25" name="AutoShape 25"/>
            <p:cNvSpPr/>
            <p:nvPr>
              <p:custDataLst>
                <p:tags r:id="rId11"/>
              </p:custDataLst>
            </p:nvPr>
          </p:nvSpPr>
          <p:spPr>
            <a:xfrm>
              <a:off x="6818" y="4171"/>
              <a:ext cx="5559" cy="6209"/>
            </a:xfrm>
            <a:prstGeom prst="roundRect">
              <a:avLst>
                <a:gd name="adj" fmla="val 1258"/>
              </a:avLst>
            </a:prstGeom>
            <a:solidFill>
              <a:srgbClr val="FFFFFF">
                <a:alpha val="100000"/>
              </a:srgbClr>
            </a:solidFill>
            <a:ln w="9525">
              <a:solidFill>
                <a:srgbClr val="E2E6EA">
                  <a:alpha val="100000"/>
                </a:srgbClr>
              </a:solidFill>
              <a:prstDash val="solid"/>
              <a:headEnd type="none"/>
              <a:tailEnd type="none"/>
            </a:ln>
          </p:spPr>
        </p:sp>
        <p:sp>
          <p:nvSpPr>
            <p:cNvPr id="26" name="AutoShape 26"/>
            <p:cNvSpPr/>
            <p:nvPr>
              <p:custDataLst>
                <p:tags r:id="rId12"/>
              </p:custDataLst>
            </p:nvPr>
          </p:nvSpPr>
          <p:spPr>
            <a:xfrm>
              <a:off x="7193" y="4186"/>
              <a:ext cx="4814" cy="60"/>
            </a:xfrm>
            <a:prstGeom prst="rect">
              <a:avLst/>
            </a:prstGeom>
            <a:solidFill>
              <a:srgbClr val="C00000"/>
            </a:solidFill>
            <a:ln>
              <a:headEnd type="none"/>
              <a:tailEnd type="none"/>
            </a:ln>
          </p:spPr>
        </p:sp>
        <p:sp>
          <p:nvSpPr>
            <p:cNvPr id="27" name="AutoShape 27"/>
            <p:cNvSpPr/>
            <p:nvPr>
              <p:custDataLst>
                <p:tags r:id="rId13"/>
              </p:custDataLst>
            </p:nvPr>
          </p:nvSpPr>
          <p:spPr>
            <a:xfrm>
              <a:off x="7193" y="4708"/>
              <a:ext cx="780" cy="780"/>
            </a:xfrm>
            <a:prstGeom prst="ellipse">
              <a:avLst/>
            </a:prstGeom>
            <a:solidFill>
              <a:srgbClr val="C00000"/>
            </a:solidFill>
            <a:ln>
              <a:headEnd type="none"/>
              <a:tailEnd type="none"/>
            </a:ln>
          </p:spPr>
        </p:sp>
        <p:sp>
          <p:nvSpPr>
            <p:cNvPr id="28" name="AutoShape 28"/>
            <p:cNvSpPr/>
            <p:nvPr>
              <p:custDataLst>
                <p:tags r:id="rId14"/>
              </p:custDataLst>
            </p:nvPr>
          </p:nvSpPr>
          <p:spPr>
            <a:xfrm>
              <a:off x="7418" y="5563"/>
              <a:ext cx="330" cy="330"/>
            </a:xfrm>
            <a:custGeom>
              <a:avLst/>
              <a:gdLst/>
              <a:ahLst/>
              <a:cxnLst/>
              <a:rect l="l" t="t" r="r" b="b"/>
              <a:pathLst>
                <a:path w="9998" h="10000">
                  <a:moveTo>
                    <a:pt x="1854" y="3779"/>
                  </a:moveTo>
                  <a:cubicBezTo>
                    <a:pt x="2020" y="3256"/>
                    <a:pt x="2284" y="2795"/>
                    <a:pt x="2645" y="2396"/>
                  </a:cubicBezTo>
                  <a:cubicBezTo>
                    <a:pt x="3325" y="1674"/>
                    <a:pt x="4110" y="1313"/>
                    <a:pt x="4999" y="1313"/>
                  </a:cubicBezTo>
                  <a:cubicBezTo>
                    <a:pt x="5887" y="1313"/>
                    <a:pt x="6672" y="1674"/>
                    <a:pt x="7353" y="2396"/>
                  </a:cubicBezTo>
                  <a:lnTo>
                    <a:pt x="7707" y="2788"/>
                  </a:lnTo>
                  <a:lnTo>
                    <a:pt x="6999" y="2788"/>
                  </a:lnTo>
                  <a:cubicBezTo>
                    <a:pt x="6804" y="2788"/>
                    <a:pt x="6644" y="2857"/>
                    <a:pt x="6520" y="2995"/>
                  </a:cubicBezTo>
                  <a:cubicBezTo>
                    <a:pt x="6394" y="3133"/>
                    <a:pt x="6332" y="3310"/>
                    <a:pt x="6332" y="3525"/>
                  </a:cubicBezTo>
                  <a:cubicBezTo>
                    <a:pt x="6332" y="3740"/>
                    <a:pt x="6394" y="3917"/>
                    <a:pt x="6520" y="4055"/>
                  </a:cubicBezTo>
                  <a:cubicBezTo>
                    <a:pt x="6644" y="4193"/>
                    <a:pt x="6804" y="4263"/>
                    <a:pt x="6999" y="4263"/>
                  </a:cubicBezTo>
                  <a:lnTo>
                    <a:pt x="9331" y="4263"/>
                  </a:lnTo>
                  <a:cubicBezTo>
                    <a:pt x="9331" y="4263"/>
                    <a:pt x="9331" y="4263"/>
                    <a:pt x="9331" y="4263"/>
                  </a:cubicBezTo>
                  <a:cubicBezTo>
                    <a:pt x="9331" y="4263"/>
                    <a:pt x="9331" y="4263"/>
                    <a:pt x="9331" y="4263"/>
                  </a:cubicBezTo>
                  <a:cubicBezTo>
                    <a:pt x="9525" y="4263"/>
                    <a:pt x="9685" y="4193"/>
                    <a:pt x="9811" y="4055"/>
                  </a:cubicBezTo>
                  <a:cubicBezTo>
                    <a:pt x="9935" y="3917"/>
                    <a:pt x="9998" y="3740"/>
                    <a:pt x="9998" y="3525"/>
                  </a:cubicBezTo>
                  <a:lnTo>
                    <a:pt x="9998" y="945"/>
                  </a:lnTo>
                  <a:cubicBezTo>
                    <a:pt x="9998" y="729"/>
                    <a:pt x="9935" y="553"/>
                    <a:pt x="9811" y="415"/>
                  </a:cubicBezTo>
                  <a:cubicBezTo>
                    <a:pt x="9685" y="276"/>
                    <a:pt x="9525" y="207"/>
                    <a:pt x="9331" y="207"/>
                  </a:cubicBezTo>
                  <a:cubicBezTo>
                    <a:pt x="9137" y="207"/>
                    <a:pt x="8977" y="276"/>
                    <a:pt x="8852" y="415"/>
                  </a:cubicBezTo>
                  <a:cubicBezTo>
                    <a:pt x="8727" y="553"/>
                    <a:pt x="8665" y="729"/>
                    <a:pt x="8665" y="945"/>
                  </a:cubicBezTo>
                  <a:lnTo>
                    <a:pt x="8665" y="1751"/>
                  </a:lnTo>
                  <a:lnTo>
                    <a:pt x="8290" y="1359"/>
                  </a:lnTo>
                  <a:cubicBezTo>
                    <a:pt x="7679" y="683"/>
                    <a:pt x="6978" y="230"/>
                    <a:pt x="6186" y="0"/>
                  </a:cubicBezTo>
                  <a:cubicBezTo>
                    <a:pt x="5394" y="-215"/>
                    <a:pt x="4603" y="-215"/>
                    <a:pt x="3812" y="0"/>
                  </a:cubicBezTo>
                  <a:cubicBezTo>
                    <a:pt x="3020" y="230"/>
                    <a:pt x="2318" y="683"/>
                    <a:pt x="1708" y="1359"/>
                  </a:cubicBezTo>
                  <a:cubicBezTo>
                    <a:pt x="1194" y="1927"/>
                    <a:pt x="826" y="2565"/>
                    <a:pt x="604" y="3272"/>
                  </a:cubicBezTo>
                  <a:cubicBezTo>
                    <a:pt x="548" y="3471"/>
                    <a:pt x="555" y="3663"/>
                    <a:pt x="625" y="3848"/>
                  </a:cubicBezTo>
                  <a:cubicBezTo>
                    <a:pt x="708" y="4016"/>
                    <a:pt x="833" y="4139"/>
                    <a:pt x="1000" y="4217"/>
                  </a:cubicBezTo>
                  <a:cubicBezTo>
                    <a:pt x="1180" y="4278"/>
                    <a:pt x="1354" y="4270"/>
                    <a:pt x="1521" y="4194"/>
                  </a:cubicBezTo>
                  <a:cubicBezTo>
                    <a:pt x="1673" y="4101"/>
                    <a:pt x="1784" y="3963"/>
                    <a:pt x="1854" y="3779"/>
                  </a:cubicBezTo>
                  <a:moveTo>
                    <a:pt x="479" y="5760"/>
                  </a:moveTo>
                  <a:cubicBezTo>
                    <a:pt x="367" y="5806"/>
                    <a:pt x="270" y="5875"/>
                    <a:pt x="187" y="5968"/>
                  </a:cubicBezTo>
                  <a:cubicBezTo>
                    <a:pt x="103" y="6060"/>
                    <a:pt x="48" y="6167"/>
                    <a:pt x="21" y="6290"/>
                  </a:cubicBezTo>
                  <a:cubicBezTo>
                    <a:pt x="21" y="6305"/>
                    <a:pt x="14" y="6328"/>
                    <a:pt x="0" y="6359"/>
                  </a:cubicBezTo>
                  <a:cubicBezTo>
                    <a:pt x="0" y="6405"/>
                    <a:pt x="0" y="6444"/>
                    <a:pt x="0" y="6475"/>
                  </a:cubicBezTo>
                  <a:lnTo>
                    <a:pt x="0" y="9055"/>
                  </a:lnTo>
                  <a:cubicBezTo>
                    <a:pt x="0" y="9270"/>
                    <a:pt x="62" y="9447"/>
                    <a:pt x="187" y="9585"/>
                  </a:cubicBezTo>
                  <a:cubicBezTo>
                    <a:pt x="312" y="9723"/>
                    <a:pt x="472" y="9793"/>
                    <a:pt x="667" y="9793"/>
                  </a:cubicBezTo>
                  <a:cubicBezTo>
                    <a:pt x="861" y="9793"/>
                    <a:pt x="1020" y="9723"/>
                    <a:pt x="1146" y="9585"/>
                  </a:cubicBezTo>
                  <a:cubicBezTo>
                    <a:pt x="1270" y="9447"/>
                    <a:pt x="1333" y="9270"/>
                    <a:pt x="1333" y="9055"/>
                  </a:cubicBezTo>
                  <a:lnTo>
                    <a:pt x="1333" y="8249"/>
                  </a:lnTo>
                  <a:lnTo>
                    <a:pt x="1708" y="8641"/>
                  </a:lnTo>
                  <a:cubicBezTo>
                    <a:pt x="2318" y="9316"/>
                    <a:pt x="3020" y="9769"/>
                    <a:pt x="3812" y="10000"/>
                  </a:cubicBezTo>
                  <a:cubicBezTo>
                    <a:pt x="4603" y="10215"/>
                    <a:pt x="5394" y="10215"/>
                    <a:pt x="6186" y="10000"/>
                  </a:cubicBezTo>
                  <a:cubicBezTo>
                    <a:pt x="6978" y="9769"/>
                    <a:pt x="7679" y="9316"/>
                    <a:pt x="8290" y="8641"/>
                  </a:cubicBezTo>
                  <a:cubicBezTo>
                    <a:pt x="8804" y="8072"/>
                    <a:pt x="9172" y="7434"/>
                    <a:pt x="9394" y="6728"/>
                  </a:cubicBezTo>
                  <a:cubicBezTo>
                    <a:pt x="9449" y="6528"/>
                    <a:pt x="9442" y="6336"/>
                    <a:pt x="9373" y="6152"/>
                  </a:cubicBezTo>
                  <a:cubicBezTo>
                    <a:pt x="9289" y="5983"/>
                    <a:pt x="9164" y="5860"/>
                    <a:pt x="8998" y="5783"/>
                  </a:cubicBezTo>
                  <a:cubicBezTo>
                    <a:pt x="8817" y="5721"/>
                    <a:pt x="8643" y="5729"/>
                    <a:pt x="8477" y="5806"/>
                  </a:cubicBezTo>
                  <a:cubicBezTo>
                    <a:pt x="8324" y="5898"/>
                    <a:pt x="8213" y="6037"/>
                    <a:pt x="8144" y="6221"/>
                  </a:cubicBezTo>
                  <a:cubicBezTo>
                    <a:pt x="7977" y="6743"/>
                    <a:pt x="7713" y="7204"/>
                    <a:pt x="7353" y="7604"/>
                  </a:cubicBezTo>
                  <a:cubicBezTo>
                    <a:pt x="6672" y="8326"/>
                    <a:pt x="5887" y="8687"/>
                    <a:pt x="4999" y="8687"/>
                  </a:cubicBezTo>
                  <a:cubicBezTo>
                    <a:pt x="4110" y="8687"/>
                    <a:pt x="3325" y="8326"/>
                    <a:pt x="2645" y="7604"/>
                  </a:cubicBezTo>
                  <a:lnTo>
                    <a:pt x="2291" y="7212"/>
                  </a:lnTo>
                  <a:lnTo>
                    <a:pt x="2999" y="7212"/>
                  </a:lnTo>
                  <a:cubicBezTo>
                    <a:pt x="3193" y="7212"/>
                    <a:pt x="3353" y="7143"/>
                    <a:pt x="3478" y="7005"/>
                  </a:cubicBezTo>
                  <a:cubicBezTo>
                    <a:pt x="3603" y="6866"/>
                    <a:pt x="3666" y="6689"/>
                    <a:pt x="3666" y="6475"/>
                  </a:cubicBezTo>
                  <a:cubicBezTo>
                    <a:pt x="3666" y="6259"/>
                    <a:pt x="3603" y="6083"/>
                    <a:pt x="3478" y="5945"/>
                  </a:cubicBezTo>
                  <a:cubicBezTo>
                    <a:pt x="3353" y="5806"/>
                    <a:pt x="3193" y="5737"/>
                    <a:pt x="2999" y="5737"/>
                  </a:cubicBezTo>
                  <a:lnTo>
                    <a:pt x="667" y="5737"/>
                  </a:lnTo>
                  <a:cubicBezTo>
                    <a:pt x="639" y="5737"/>
                    <a:pt x="611" y="5737"/>
                    <a:pt x="583" y="5737"/>
                  </a:cubicBezTo>
                  <a:cubicBezTo>
                    <a:pt x="541" y="5752"/>
                    <a:pt x="507" y="5760"/>
                    <a:pt x="479" y="5760"/>
                  </a:cubicBezTo>
                </a:path>
              </a:pathLst>
            </a:custGeom>
            <a:solidFill>
              <a:srgbClr val="FFFFFF">
                <a:alpha val="100000"/>
              </a:srgbClr>
            </a:solidFill>
            <a:ln>
              <a:headEnd type="none"/>
              <a:tailEnd type="none"/>
            </a:ln>
          </p:spPr>
        </p:sp>
        <p:sp>
          <p:nvSpPr>
            <p:cNvPr id="29" name="TextBox 29"/>
            <p:cNvSpPr txBox="1"/>
            <p:nvPr>
              <p:custDataLst>
                <p:tags r:id="rId15"/>
              </p:custDataLst>
            </p:nvPr>
          </p:nvSpPr>
          <p:spPr>
            <a:xfrm>
              <a:off x="8153" y="4695"/>
              <a:ext cx="1113" cy="450"/>
            </a:xfrm>
            <a:prstGeom prst="rect">
              <a:avLst/>
            </a:prstGeom>
            <a:ln>
              <a:headEnd type="none"/>
              <a:tailEnd type="none"/>
            </a:ln>
          </p:spPr>
          <p:txBody>
            <a:bodyPr vert="horz" wrap="none" lIns="0" tIns="0" rIns="0" bIns="0" rtlCol="0" anchor="t" anchorCtr="0"/>
            <a:lstStyle/>
            <a:p>
              <a:pPr algn="l">
                <a:defRPr/>
              </a:pPr>
              <a:r>
                <a:rPr lang="en-US" sz="2000" b="1" i="0" strike="noStrike">
                  <a:solidFill>
                    <a:srgbClr val="C00000">
                      <a:alpha val="100000"/>
                    </a:srgbClr>
                  </a:solidFill>
                  <a:latin typeface="微软雅黑" panose="020B0503020204020204" pitchFamily="34" charset="-122"/>
                  <a:ea typeface="微软雅黑" panose="020B0503020204020204" pitchFamily="34" charset="-122"/>
                  <a:cs typeface="Inter" panose="02000503000000020004"/>
                </a:rPr>
                <a:t>~95%+</a:t>
              </a:r>
              <a:endParaRPr lang="en-US" sz="2000" b="1" i="0" strike="noStrike">
                <a:solidFill>
                  <a:srgbClr val="C00000">
                    <a:alpha val="100000"/>
                  </a:srgbClr>
                </a:solidFill>
                <a:latin typeface="微软雅黑" panose="020B0503020204020204" pitchFamily="34" charset="-122"/>
                <a:ea typeface="微软雅黑" panose="020B0503020204020204" pitchFamily="34" charset="-122"/>
                <a:cs typeface="Inter" panose="02000503000000020004"/>
              </a:endParaRPr>
            </a:p>
          </p:txBody>
        </p:sp>
        <p:sp>
          <p:nvSpPr>
            <p:cNvPr id="30" name="TextBox 30"/>
            <p:cNvSpPr txBox="1"/>
            <p:nvPr>
              <p:custDataLst>
                <p:tags r:id="rId16"/>
              </p:custDataLst>
            </p:nvPr>
          </p:nvSpPr>
          <p:spPr>
            <a:xfrm>
              <a:off x="8153" y="5248"/>
              <a:ext cx="1008" cy="18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C00000">
                      <a:alpha val="50196"/>
                    </a:srgbClr>
                  </a:solidFill>
                  <a:latin typeface="微软雅黑" panose="020B0503020204020204" pitchFamily="34" charset="-122"/>
                  <a:ea typeface="微软雅黑" panose="020B0503020204020204" pitchFamily="34" charset="-122"/>
                  <a:cs typeface="FZYaYiHei GB18030L2 R" panose="02000500000000000000" charset="-122"/>
                </a:rPr>
                <a:t>混合验证</a:t>
              </a:r>
              <a:endParaRPr lang="en-US" sz="1000" b="1" i="0" strike="noStrike">
                <a:solidFill>
                  <a:srgbClr val="C00000">
                    <a:alpha val="50196"/>
                  </a:srgb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31" name="TextBox 31"/>
            <p:cNvSpPr txBox="1"/>
            <p:nvPr>
              <p:custDataLst>
                <p:tags r:id="rId17"/>
              </p:custDataLst>
            </p:nvPr>
          </p:nvSpPr>
          <p:spPr>
            <a:xfrm>
              <a:off x="7212" y="6060"/>
              <a:ext cx="4809" cy="330"/>
            </a:xfrm>
            <a:prstGeom prst="rect">
              <a:avLst/>
            </a:prstGeom>
            <a:ln>
              <a:headEnd type="none"/>
              <a:tailEnd type="none"/>
            </a:ln>
          </p:spPr>
          <p:txBody>
            <a:bodyPr vert="horz" wrap="none" lIns="0" tIns="0" rIns="0" bIns="0" rtlCol="0" anchor="t" anchorCtr="0"/>
            <a:lstStyle/>
            <a:p>
              <a:pPr algn="l">
                <a:defRPr/>
              </a:pPr>
              <a:r>
                <a:rPr lang="en-US" sz="1600" b="1" i="0" strike="noStrike">
                  <a:solidFill>
                    <a:srgbClr val="0A1F3D">
                      <a:alpha val="100000"/>
                    </a:srgbClr>
                  </a:solidFill>
                  <a:latin typeface="微软雅黑" panose="020B0503020204020204" pitchFamily="34" charset="-122"/>
                  <a:ea typeface="微软雅黑" panose="020B0503020204020204" pitchFamily="34" charset="-122"/>
                  <a:cs typeface="Alibaba PuHuiTi 3.0 55 Regular"/>
                </a:rPr>
                <a:t>高准确度混合验证场景</a:t>
              </a:r>
              <a:endParaRPr lang="en-US" sz="1600" b="1" i="0" strike="noStrike">
                <a:solidFill>
                  <a:srgbClr val="0A1F3D">
                    <a:alpha val="100000"/>
                  </a:srgbClr>
                </a:solidFill>
                <a:latin typeface="微软雅黑" panose="020B0503020204020204" pitchFamily="34" charset="-122"/>
                <a:ea typeface="微软雅黑" panose="020B0503020204020204" pitchFamily="34" charset="-122"/>
                <a:cs typeface="Alibaba PuHuiTi 3.0 55 Regular"/>
              </a:endParaRPr>
            </a:p>
          </p:txBody>
        </p:sp>
        <p:sp>
          <p:nvSpPr>
            <p:cNvPr id="33" name="TextBox 33"/>
            <p:cNvSpPr txBox="1"/>
            <p:nvPr>
              <p:custDataLst>
                <p:tags r:id="rId18"/>
              </p:custDataLst>
            </p:nvPr>
          </p:nvSpPr>
          <p:spPr>
            <a:xfrm>
              <a:off x="7154" y="6705"/>
              <a:ext cx="4599" cy="2350"/>
            </a:xfrm>
            <a:prstGeom prst="rect">
              <a:avLst/>
            </a:prstGeom>
            <a:ln>
              <a:headEnd type="none"/>
              <a:tailEnd type="none"/>
            </a:ln>
          </p:spPr>
          <p:txBody>
            <a:bodyPr vert="horz" wrap="square" lIns="0" tIns="0" rIns="0" bIns="0" rtlCol="0" anchor="t" anchorCtr="0"/>
            <a:lstStyle/>
            <a:p>
              <a:pPr marL="171450" indent="-171450" algn="l">
                <a:buFont typeface="Wingdings" panose="05000000000000000000" charset="0"/>
                <a:buChar char="Ø"/>
                <a:defRPr/>
              </a:pPr>
              <a:r>
                <a:rPr lang="en-US"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rPr>
                <a:t>将精确本体直接导入大模型，由大模型生成初步</a:t>
              </a:r>
              <a:r>
                <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rPr>
                <a:t>结果后交由本体系统验证合法性，不合法则触发重新生成。</a:t>
              </a: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marL="171450" indent="-171450" algn="l">
                <a:buFont typeface="Wingdings" panose="05000000000000000000" charset="0"/>
                <a:buChar char="Ø"/>
                <a:defRPr/>
              </a:pP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marL="171450" indent="-171450" algn="l">
                <a:buFont typeface="Wingdings" panose="05000000000000000000" charset="0"/>
                <a:buChar char="Ø"/>
                <a:defRPr/>
              </a:pPr>
              <a:r>
                <a:rPr lang="en-US" sz="14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准确度要求大于90%时采用此模式，兼顾大模型</a:t>
              </a:r>
              <a:r>
                <a:rPr sz="14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的灵活性与本体的严格校验，形成生成-验证闭环。</a:t>
              </a:r>
              <a:endParaRPr sz="14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endParaRPr>
            </a:p>
            <a:p>
              <a:pPr algn="l">
                <a:defRPr/>
              </a:pPr>
              <a:endParaRPr sz="14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6" name="AutoShape 36"/>
            <p:cNvSpPr/>
            <p:nvPr>
              <p:custDataLst>
                <p:tags r:id="rId19"/>
              </p:custDataLst>
            </p:nvPr>
          </p:nvSpPr>
          <p:spPr>
            <a:xfrm>
              <a:off x="12677" y="4171"/>
              <a:ext cx="5558" cy="6209"/>
            </a:xfrm>
            <a:prstGeom prst="roundRect">
              <a:avLst>
                <a:gd name="adj" fmla="val 1258"/>
              </a:avLst>
            </a:prstGeom>
            <a:solidFill>
              <a:srgbClr val="FFFFFF">
                <a:alpha val="100000"/>
              </a:srgbClr>
            </a:solidFill>
            <a:ln w="9525">
              <a:solidFill>
                <a:srgbClr val="E2E6EA">
                  <a:alpha val="100000"/>
                </a:srgbClr>
              </a:solidFill>
              <a:prstDash val="solid"/>
              <a:headEnd type="none"/>
              <a:tailEnd type="none"/>
            </a:ln>
          </p:spPr>
        </p:sp>
        <p:sp>
          <p:nvSpPr>
            <p:cNvPr id="37" name="AutoShape 37"/>
            <p:cNvSpPr/>
            <p:nvPr>
              <p:custDataLst>
                <p:tags r:id="rId20"/>
              </p:custDataLst>
            </p:nvPr>
          </p:nvSpPr>
          <p:spPr>
            <a:xfrm>
              <a:off x="13052" y="4186"/>
              <a:ext cx="4814" cy="60"/>
            </a:xfrm>
            <a:prstGeom prst="rect">
              <a:avLst/>
            </a:prstGeom>
            <a:solidFill>
              <a:srgbClr val="C00000"/>
            </a:solidFill>
            <a:ln>
              <a:headEnd type="none"/>
              <a:tailEnd type="none"/>
            </a:ln>
          </p:spPr>
        </p:sp>
        <p:sp>
          <p:nvSpPr>
            <p:cNvPr id="38" name="AutoShape 38"/>
            <p:cNvSpPr/>
            <p:nvPr>
              <p:custDataLst>
                <p:tags r:id="rId21"/>
              </p:custDataLst>
            </p:nvPr>
          </p:nvSpPr>
          <p:spPr>
            <a:xfrm>
              <a:off x="13052" y="4875"/>
              <a:ext cx="780" cy="780"/>
            </a:xfrm>
            <a:prstGeom prst="ellipse">
              <a:avLst/>
            </a:prstGeom>
            <a:solidFill>
              <a:srgbClr val="C00000"/>
            </a:solidFill>
            <a:ln>
              <a:headEnd type="none"/>
              <a:tailEnd type="none"/>
            </a:ln>
          </p:spPr>
        </p:sp>
        <p:sp>
          <p:nvSpPr>
            <p:cNvPr id="39" name="AutoShape 39"/>
            <p:cNvSpPr/>
            <p:nvPr>
              <p:custDataLst>
                <p:tags r:id="rId22"/>
              </p:custDataLst>
            </p:nvPr>
          </p:nvSpPr>
          <p:spPr>
            <a:xfrm>
              <a:off x="13277" y="5731"/>
              <a:ext cx="330" cy="330"/>
            </a:xfrm>
            <a:custGeom>
              <a:avLst/>
              <a:gdLst/>
              <a:ahLst/>
              <a:cxnLst/>
              <a:rect l="l" t="t" r="r" b="b"/>
              <a:pathLst>
                <a:path w="9998" h="10000">
                  <a:moveTo>
                    <a:pt x="3031" y="7559"/>
                  </a:moveTo>
                  <a:lnTo>
                    <a:pt x="2421" y="6949"/>
                  </a:lnTo>
                  <a:lnTo>
                    <a:pt x="3031" y="7559"/>
                  </a:lnTo>
                  <a:lnTo>
                    <a:pt x="2421" y="6949"/>
                  </a:lnTo>
                  <a:cubicBezTo>
                    <a:pt x="2250" y="6765"/>
                    <a:pt x="2197" y="6555"/>
                    <a:pt x="2263" y="6319"/>
                  </a:cubicBezTo>
                  <a:cubicBezTo>
                    <a:pt x="2329" y="6135"/>
                    <a:pt x="2407" y="5912"/>
                    <a:pt x="2499" y="5650"/>
                  </a:cubicBezTo>
                  <a:lnTo>
                    <a:pt x="413" y="5650"/>
                  </a:lnTo>
                  <a:cubicBezTo>
                    <a:pt x="229" y="5650"/>
                    <a:pt x="92" y="5571"/>
                    <a:pt x="0" y="5413"/>
                  </a:cubicBezTo>
                  <a:cubicBezTo>
                    <a:pt x="-78" y="5255"/>
                    <a:pt x="-78" y="5098"/>
                    <a:pt x="0" y="4941"/>
                  </a:cubicBezTo>
                  <a:lnTo>
                    <a:pt x="1043" y="3189"/>
                  </a:lnTo>
                  <a:cubicBezTo>
                    <a:pt x="1318" y="2743"/>
                    <a:pt x="1725" y="2513"/>
                    <a:pt x="2263" y="2500"/>
                  </a:cubicBezTo>
                  <a:lnTo>
                    <a:pt x="3877" y="2500"/>
                  </a:lnTo>
                  <a:cubicBezTo>
                    <a:pt x="3929" y="2421"/>
                    <a:pt x="3975" y="2349"/>
                    <a:pt x="4015" y="2283"/>
                  </a:cubicBezTo>
                  <a:cubicBezTo>
                    <a:pt x="4566" y="1495"/>
                    <a:pt x="5170" y="931"/>
                    <a:pt x="5826" y="591"/>
                  </a:cubicBezTo>
                  <a:cubicBezTo>
                    <a:pt x="6482" y="249"/>
                    <a:pt x="7131" y="52"/>
                    <a:pt x="7774" y="0"/>
                  </a:cubicBezTo>
                  <a:cubicBezTo>
                    <a:pt x="8416" y="-39"/>
                    <a:pt x="8981" y="-13"/>
                    <a:pt x="9467" y="79"/>
                  </a:cubicBezTo>
                  <a:cubicBezTo>
                    <a:pt x="9703" y="144"/>
                    <a:pt x="9853" y="295"/>
                    <a:pt x="9919" y="531"/>
                  </a:cubicBezTo>
                  <a:cubicBezTo>
                    <a:pt x="10011" y="1017"/>
                    <a:pt x="10037" y="1581"/>
                    <a:pt x="9998" y="2224"/>
                  </a:cubicBezTo>
                  <a:cubicBezTo>
                    <a:pt x="9945" y="2867"/>
                    <a:pt x="9748" y="3517"/>
                    <a:pt x="9408" y="4173"/>
                  </a:cubicBezTo>
                  <a:cubicBezTo>
                    <a:pt x="9066" y="4829"/>
                    <a:pt x="8502" y="5432"/>
                    <a:pt x="7715" y="5984"/>
                  </a:cubicBezTo>
                  <a:cubicBezTo>
                    <a:pt x="7649" y="6023"/>
                    <a:pt x="7577" y="6069"/>
                    <a:pt x="7499" y="6122"/>
                  </a:cubicBezTo>
                  <a:lnTo>
                    <a:pt x="7499" y="7736"/>
                  </a:lnTo>
                  <a:cubicBezTo>
                    <a:pt x="7485" y="8274"/>
                    <a:pt x="7256" y="8681"/>
                    <a:pt x="6810" y="8957"/>
                  </a:cubicBezTo>
                  <a:lnTo>
                    <a:pt x="5058" y="10000"/>
                  </a:lnTo>
                  <a:cubicBezTo>
                    <a:pt x="4900" y="10078"/>
                    <a:pt x="4743" y="10078"/>
                    <a:pt x="4586" y="10000"/>
                  </a:cubicBezTo>
                  <a:cubicBezTo>
                    <a:pt x="4428" y="9908"/>
                    <a:pt x="4350" y="9770"/>
                    <a:pt x="4350" y="9587"/>
                  </a:cubicBezTo>
                  <a:lnTo>
                    <a:pt x="4350" y="7480"/>
                  </a:lnTo>
                  <a:cubicBezTo>
                    <a:pt x="4074" y="7572"/>
                    <a:pt x="3837" y="7651"/>
                    <a:pt x="3641" y="7717"/>
                  </a:cubicBezTo>
                  <a:cubicBezTo>
                    <a:pt x="3405" y="7782"/>
                    <a:pt x="3201" y="7729"/>
                    <a:pt x="3031" y="7559"/>
                  </a:cubicBezTo>
                  <a:moveTo>
                    <a:pt x="7499" y="3287"/>
                  </a:moveTo>
                  <a:cubicBezTo>
                    <a:pt x="7800" y="3274"/>
                    <a:pt x="8029" y="3143"/>
                    <a:pt x="8187" y="2894"/>
                  </a:cubicBezTo>
                  <a:cubicBezTo>
                    <a:pt x="8318" y="2631"/>
                    <a:pt x="8318" y="2368"/>
                    <a:pt x="8187" y="2106"/>
                  </a:cubicBezTo>
                  <a:cubicBezTo>
                    <a:pt x="8029" y="1856"/>
                    <a:pt x="7800" y="1725"/>
                    <a:pt x="7499" y="1713"/>
                  </a:cubicBezTo>
                  <a:cubicBezTo>
                    <a:pt x="7197" y="1725"/>
                    <a:pt x="6967" y="1856"/>
                    <a:pt x="6810" y="2106"/>
                  </a:cubicBezTo>
                  <a:cubicBezTo>
                    <a:pt x="6678" y="2368"/>
                    <a:pt x="6678" y="2631"/>
                    <a:pt x="6810" y="2894"/>
                  </a:cubicBezTo>
                  <a:cubicBezTo>
                    <a:pt x="6967" y="3143"/>
                    <a:pt x="7197" y="3274"/>
                    <a:pt x="7499" y="3287"/>
                  </a:cubicBezTo>
                </a:path>
              </a:pathLst>
            </a:custGeom>
            <a:solidFill>
              <a:srgbClr val="FFFFFF">
                <a:alpha val="100000"/>
              </a:srgbClr>
            </a:solidFill>
            <a:ln>
              <a:headEnd type="none"/>
              <a:tailEnd type="none"/>
            </a:ln>
          </p:spPr>
        </p:sp>
        <p:sp>
          <p:nvSpPr>
            <p:cNvPr id="40" name="TextBox 40"/>
            <p:cNvSpPr txBox="1"/>
            <p:nvPr>
              <p:custDataLst>
                <p:tags r:id="rId23"/>
              </p:custDataLst>
            </p:nvPr>
          </p:nvSpPr>
          <p:spPr>
            <a:xfrm>
              <a:off x="14011" y="4695"/>
              <a:ext cx="1113" cy="450"/>
            </a:xfrm>
            <a:prstGeom prst="rect">
              <a:avLst/>
            </a:prstGeom>
            <a:ln>
              <a:headEnd type="none"/>
              <a:tailEnd type="none"/>
            </a:ln>
          </p:spPr>
          <p:txBody>
            <a:bodyPr vert="horz" wrap="none" lIns="0" tIns="0" rIns="0" bIns="0" rtlCol="0" anchor="t" anchorCtr="0"/>
            <a:lstStyle/>
            <a:p>
              <a:pPr algn="l">
                <a:defRPr/>
              </a:pPr>
              <a:r>
                <a:rPr lang="en-US" sz="2000" b="1" i="0" strike="noStrike">
                  <a:solidFill>
                    <a:srgbClr val="C00000">
                      <a:alpha val="100000"/>
                    </a:srgbClr>
                  </a:solidFill>
                  <a:latin typeface="微软雅黑" panose="020B0503020204020204" pitchFamily="34" charset="-122"/>
                  <a:ea typeface="微软雅黑" panose="020B0503020204020204" pitchFamily="34" charset="-122"/>
                  <a:cs typeface="Inter" panose="02000503000000020004"/>
                </a:rPr>
                <a:t>~90%</a:t>
              </a:r>
              <a:endParaRPr lang="en-US" sz="2000" b="1" i="0" strike="noStrike">
                <a:solidFill>
                  <a:srgbClr val="C00000">
                    <a:alpha val="100000"/>
                  </a:srgbClr>
                </a:solidFill>
                <a:latin typeface="微软雅黑" panose="020B0503020204020204" pitchFamily="34" charset="-122"/>
                <a:ea typeface="微软雅黑" panose="020B0503020204020204" pitchFamily="34" charset="-122"/>
                <a:cs typeface="Inter" panose="02000503000000020004"/>
              </a:endParaRPr>
            </a:p>
          </p:txBody>
        </p:sp>
        <p:sp>
          <p:nvSpPr>
            <p:cNvPr id="41" name="TextBox 41"/>
            <p:cNvSpPr txBox="1"/>
            <p:nvPr>
              <p:custDataLst>
                <p:tags r:id="rId24"/>
              </p:custDataLst>
            </p:nvPr>
          </p:nvSpPr>
          <p:spPr>
            <a:xfrm>
              <a:off x="14011" y="5248"/>
              <a:ext cx="1008" cy="18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C00000">
                      <a:alpha val="50196"/>
                    </a:srgbClr>
                  </a:solidFill>
                  <a:latin typeface="微软雅黑" panose="020B0503020204020204" pitchFamily="34" charset="-122"/>
                  <a:ea typeface="微软雅黑" panose="020B0503020204020204" pitchFamily="34" charset="-122"/>
                  <a:cs typeface="FZYaYiHei GB18030L2 R" panose="02000500000000000000" charset="-122"/>
                </a:rPr>
                <a:t>快速探索</a:t>
              </a:r>
              <a:endParaRPr lang="en-US" sz="1000" b="1" i="0" strike="noStrike">
                <a:solidFill>
                  <a:srgbClr val="C00000">
                    <a:alpha val="50196"/>
                  </a:srgb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42" name="TextBox 42"/>
            <p:cNvSpPr txBox="1"/>
            <p:nvPr>
              <p:custDataLst>
                <p:tags r:id="rId25"/>
              </p:custDataLst>
            </p:nvPr>
          </p:nvSpPr>
          <p:spPr>
            <a:xfrm>
              <a:off x="13070" y="6060"/>
              <a:ext cx="4809" cy="330"/>
            </a:xfrm>
            <a:prstGeom prst="rect">
              <a:avLst/>
            </a:prstGeom>
            <a:ln>
              <a:headEnd type="none"/>
              <a:tailEnd type="none"/>
            </a:ln>
          </p:spPr>
          <p:txBody>
            <a:bodyPr vert="horz" wrap="none" lIns="0" tIns="0" rIns="0" bIns="0" rtlCol="0" anchor="t" anchorCtr="0"/>
            <a:lstStyle/>
            <a:p>
              <a:pPr algn="l">
                <a:defRPr/>
              </a:pPr>
              <a:r>
                <a:rPr lang="en-US" sz="1600" b="1" i="0" strike="noStrike">
                  <a:solidFill>
                    <a:srgbClr val="0A1F3D">
                      <a:alpha val="100000"/>
                    </a:srgbClr>
                  </a:solidFill>
                  <a:latin typeface="微软雅黑" panose="020B0503020204020204" pitchFamily="34" charset="-122"/>
                  <a:ea typeface="微软雅黑" panose="020B0503020204020204" pitchFamily="34" charset="-122"/>
                  <a:cs typeface="Alibaba PuHuiTi 3.0 55 Regular"/>
                </a:rPr>
                <a:t>低要求快速探索场景</a:t>
              </a:r>
              <a:endParaRPr lang="en-US" sz="1600" b="1" i="0" strike="noStrike">
                <a:solidFill>
                  <a:srgbClr val="0A1F3D">
                    <a:alpha val="100000"/>
                  </a:srgbClr>
                </a:solidFill>
                <a:latin typeface="微软雅黑" panose="020B0503020204020204" pitchFamily="34" charset="-122"/>
                <a:ea typeface="微软雅黑" panose="020B0503020204020204" pitchFamily="34" charset="-122"/>
                <a:cs typeface="Alibaba PuHuiTi 3.0 55 Regular"/>
              </a:endParaRPr>
            </a:p>
          </p:txBody>
        </p:sp>
        <p:sp>
          <p:nvSpPr>
            <p:cNvPr id="44" name="TextBox 44"/>
            <p:cNvSpPr txBox="1"/>
            <p:nvPr>
              <p:custDataLst>
                <p:tags r:id="rId26"/>
              </p:custDataLst>
            </p:nvPr>
          </p:nvSpPr>
          <p:spPr>
            <a:xfrm>
              <a:off x="13023" y="6705"/>
              <a:ext cx="4599" cy="2817"/>
            </a:xfrm>
            <a:prstGeom prst="rect">
              <a:avLst/>
            </a:prstGeom>
            <a:ln>
              <a:headEnd type="none"/>
              <a:tailEnd type="none"/>
            </a:ln>
          </p:spPr>
          <p:txBody>
            <a:bodyPr vert="horz" wrap="square" lIns="0" tIns="0" rIns="0" bIns="0" rtlCol="0" anchor="t" anchorCtr="0"/>
            <a:lstStyle/>
            <a:p>
              <a:pPr marL="285750" indent="-285750" algn="l">
                <a:buFont typeface="Wingdings" panose="05000000000000000000" charset="0"/>
                <a:buChar char="Ø"/>
                <a:defRPr/>
              </a:pPr>
              <a:r>
                <a:rPr lang="en-US"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rPr>
                <a:t>利用本体打造基础版本导入大模型，由大模型完</a:t>
              </a:r>
              <a:r>
                <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rPr>
                <a:t>成主要推理任务，本体框架仅做合理性检查而非精确验证。</a:t>
              </a: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marL="285750" indent="-285750" algn="l">
                <a:buFont typeface="Wingdings" panose="05000000000000000000" charset="0"/>
                <a:buChar char="Ø"/>
                <a:defRPr/>
              </a:pP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marL="285750" indent="-285750" algn="l">
                <a:buFont typeface="Wingdings" panose="05000000000000000000" charset="0"/>
                <a:buChar char="Ø"/>
                <a:defRPr/>
              </a:pPr>
              <a:r>
                <a:rPr lang="en-US" sz="1400">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sym typeface="+mn-ea"/>
                </a:rPr>
                <a:t>适用于创意生成、内部探索、原型验证等容忍度</a:t>
              </a:r>
              <a:r>
                <a:rPr sz="1400">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sym typeface="+mn-ea"/>
                </a:rPr>
                <a:t>较高的场景，以最低成本获得可用结果。</a:t>
              </a: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algn="l">
                <a:defRPr/>
              </a:pP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13" name="TextBox 13"/>
            <p:cNvSpPr txBox="1"/>
            <p:nvPr/>
          </p:nvSpPr>
          <p:spPr>
            <a:xfrm>
              <a:off x="1275" y="2941"/>
              <a:ext cx="16680" cy="604"/>
            </a:xfrm>
            <a:prstGeom prst="rect">
              <a:avLst/>
            </a:prstGeom>
            <a:ln>
              <a:headEnd type="none"/>
              <a:tailEnd type="none"/>
            </a:ln>
          </p:spPr>
          <p:txBody>
            <a:bodyPr vert="horz" wrap="square" lIns="0" tIns="0" rIns="0" bIns="0" rtlCol="0" anchor="t" anchorCtr="0"/>
            <a:lstStyle/>
            <a:p>
              <a:pPr algn="l">
                <a:defRPr/>
              </a:pPr>
              <a:r>
                <a:rPr lang="en-US" sz="1600" b="0" i="1" strike="noStrike">
                  <a:solidFill>
                    <a:srgbClr val="0A1F3D">
                      <a:alpha val="81960"/>
                    </a:srgbClr>
                  </a:solidFill>
                  <a:latin typeface="微软雅黑" panose="020B0503020204020204" pitchFamily="34" charset="-122"/>
                  <a:ea typeface="微软雅黑" panose="020B0503020204020204" pitchFamily="34" charset="-122"/>
                  <a:cs typeface="微软雅黑" panose="020B0503020204020204" pitchFamily="34" charset="-122"/>
                </a:rPr>
                <a:t>根据业务准确度要求分为三档：</a:t>
              </a:r>
              <a:r>
                <a:rPr lang="zh-CN" altLang="en-US" sz="1600" b="0" i="1" strike="noStrike">
                  <a:solidFill>
                    <a:srgbClr val="0A1F3D">
                      <a:alpha val="81960"/>
                    </a:srgbClr>
                  </a:solidFill>
                  <a:latin typeface="微软雅黑" panose="020B0503020204020204" pitchFamily="34" charset="-122"/>
                  <a:ea typeface="微软雅黑" panose="020B0503020204020204" pitchFamily="34" charset="-122"/>
                  <a:cs typeface="微软雅黑" panose="020B0503020204020204" pitchFamily="34" charset="-122"/>
                </a:rPr>
                <a:t>完全可控</a:t>
              </a:r>
              <a:r>
                <a:rPr lang="en-US" sz="1600" b="0" i="1" strike="noStrike">
                  <a:solidFill>
                    <a:srgbClr val="0A1F3D">
                      <a:alpha val="81960"/>
                    </a:srgbClr>
                  </a:solidFill>
                  <a:latin typeface="微软雅黑" panose="020B0503020204020204" pitchFamily="34" charset="-122"/>
                  <a:ea typeface="微软雅黑" panose="020B0503020204020204" pitchFamily="34" charset="-122"/>
                  <a:cs typeface="微软雅黑" panose="020B0503020204020204" pitchFamily="34" charset="-122"/>
                </a:rPr>
                <a:t>场景由本体框架独立完成推理；高准确度场景采用大模型生成加本体验证的闭环模式；低要求场景由大模型主导推理、本体仅</a:t>
              </a:r>
              <a:r>
                <a:rPr sz="1600" b="0" i="1" strike="noStrike">
                  <a:solidFill>
                    <a:srgbClr val="0A1F3D">
                      <a:alpha val="81960"/>
                    </a:srgbClr>
                  </a:solidFill>
                  <a:latin typeface="微软雅黑" panose="020B0503020204020204" pitchFamily="34" charset="-122"/>
                  <a:ea typeface="微软雅黑" panose="020B0503020204020204" pitchFamily="34" charset="-122"/>
                  <a:cs typeface="微软雅黑" panose="020B0503020204020204" pitchFamily="34" charset="-122"/>
                </a:rPr>
                <a:t>做合理性检查。</a:t>
              </a:r>
              <a:endParaRPr sz="1600" b="0" i="1" strike="noStrike">
                <a:solidFill>
                  <a:srgbClr val="0A1F3D">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Tree>
  </p:cSld>
  <p:clrMapOvr>
    <a:masterClrMapping/>
  </p:clrMapOvr>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KSO_WM_AICARD_INVALID" val="Invalid"/>
</p:tagLst>
</file>

<file path=ppt/tags/tag3.xml><?xml version="1.0" encoding="utf-8"?>
<p:tagLst xmlns:p="http://schemas.openxmlformats.org/presentationml/2006/main">
  <p:tag name="KSO_WM_AICARD_INVALID" val="Invalid"/>
</p:tagLst>
</file>

<file path=ppt/tags/tag4.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5.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6.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7.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8.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9.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10.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11.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12.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13.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14.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15.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16.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17.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18.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19.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20.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21.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22.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23.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24.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25.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26.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27.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28.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29.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30.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31.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32.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33.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34.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35.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36.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37.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38.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39.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40.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41.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42.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43.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44.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45.xml><?xml version="1.0" encoding="utf-8"?>
<p:tagLst xmlns:p="http://schemas.openxmlformats.org/presentationml/2006/main">
  <p:tag name="KSO_WM_DIAGRAM_VIRTUALLY_FRAME" val="{&quot;height&quot;:332.0615748031496,&quot;left&quot;:72.04944881889763,&quot;top&quot;:152.02811023622047,&quot;width&quot;:842.155905511811}"/>
</p:tagLst>
</file>

<file path=ppt/tags/tag46.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47.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48.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49.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50.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51.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52.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53.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54.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55.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56.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57.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58.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59.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60.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61.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62.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63.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64.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65.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66.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67.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68.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69.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70.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71.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72.xml><?xml version="1.0" encoding="utf-8"?>
<p:tagLst xmlns:p="http://schemas.openxmlformats.org/presentationml/2006/main">
  <p:tag name="KSO_WM_DIAGRAM_VIRTUALLY_FRAME" val="{&quot;height&quot;:113.75,&quot;left&quot;:536.8,&quot;top&quot;:139.65,&quot;width&quot;:99.35}"/>
</p:tagLst>
</file>

<file path=ppt/tags/tag73.xml><?xml version="1.0" encoding="utf-8"?>
<p:tagLst xmlns:p="http://schemas.openxmlformats.org/presentationml/2006/main">
  <p:tag name="KSO_WM_DIAGRAM_VIRTUALLY_FRAME" val="{&quot;height&quot;:113.75,&quot;left&quot;:536.8,&quot;top&quot;:139.65,&quot;width&quot;:99.35}"/>
</p:tagLst>
</file>

<file path=ppt/tags/tag74.xml><?xml version="1.0" encoding="utf-8"?>
<p:tagLst xmlns:p="http://schemas.openxmlformats.org/presentationml/2006/main">
  <p:tag name="KSO_WM_DIAGRAM_VIRTUALLY_FRAME" val="{&quot;height&quot;:113.75,&quot;left&quot;:536.8,&quot;top&quot;:139.65,&quot;width&quot;:99.35}"/>
</p:tagLst>
</file>

<file path=ppt/tags/tag75.xml><?xml version="1.0" encoding="utf-8"?>
<p:tagLst xmlns:p="http://schemas.openxmlformats.org/presentationml/2006/main">
  <p:tag name="KSO_WM_DIAGRAM_VIRTUALLY_FRAME" val="{&quot;height&quot;:113.75,&quot;left&quot;:536.8,&quot;top&quot;:139.65,&quot;width&quot;:99.35}"/>
</p:tagLst>
</file>

<file path=ppt/tags/tag76.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77.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78.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79.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80.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81.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82.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83.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84.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85.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86.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87.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88.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89.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90.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91.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92.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93.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94.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95.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96.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97.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98.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99.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100.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101.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102.xml><?xml version="1.0" encoding="utf-8"?>
<p:tagLst xmlns:p="http://schemas.openxmlformats.org/presentationml/2006/main">
  <p:tag name="KSO_WM_DIAGRAM_VIRTUALLY_FRAME" val="{&quot;height&quot;:333.06165354330705,&quot;left&quot;:48.044960629921256,&quot;top&quot;:158.02929133858268,&quot;width&quot;:887.1642519685038}"/>
</p:tagLst>
</file>

<file path=ppt/tags/tag103.xml><?xml version="1.0" encoding="utf-8"?>
<p:tagLst xmlns:p="http://schemas.openxmlformats.org/presentationml/2006/main">
  <p:tag name="TABLE_ENDDRAG_ORIGIN_RECT" val="518*184"/>
  <p:tag name="TABLE_ENDDRAG_RECT" val="20*129*518*184"/>
</p:tagLst>
</file>

<file path=ppt/tags/tag104.xml><?xml version="1.0" encoding="utf-8"?>
<p:tagLst xmlns:p="http://schemas.openxmlformats.org/presentationml/2006/main">
  <p:tag name="KSO_WM_DIAGRAM_VIRTUALLY_FRAME" val="{&quot;height&quot;:145.0268518518518,&quot;left&quot;:66.20092592592584,&quot;top&quot;:169.94444444444446,&quot;width&quot;:800.1481481481483}"/>
</p:tagLst>
</file>

<file path=ppt/tags/tag105.xml><?xml version="1.0" encoding="utf-8"?>
<p:tagLst xmlns:p="http://schemas.openxmlformats.org/presentationml/2006/main">
  <p:tag name="KSO_WM_DIAGRAM_VIRTUALLY_FRAME" val="{&quot;height&quot;:145.0268518518518,&quot;left&quot;:66.20092592592584,&quot;top&quot;:169.94444444444446,&quot;width&quot;:800.1481481481483}"/>
</p:tagLst>
</file>

<file path=ppt/tags/tag106.xml><?xml version="1.0" encoding="utf-8"?>
<p:tagLst xmlns:p="http://schemas.openxmlformats.org/presentationml/2006/main">
  <p:tag name="KSO_WM_DIAGRAM_VIRTUALLY_FRAME" val="{&quot;height&quot;:145.0268518518518,&quot;left&quot;:66.20092592592584,&quot;top&quot;:169.94444444444446,&quot;width&quot;:800.1481481481483}"/>
</p:tagLst>
</file>

<file path=ppt/tags/tag107.xml><?xml version="1.0" encoding="utf-8"?>
<p:tagLst xmlns:p="http://schemas.openxmlformats.org/presentationml/2006/main">
  <p:tag name="KSO_WM_DIAGRAM_VIRTUALLY_FRAME" val="{&quot;height&quot;:145.0268518518518,&quot;left&quot;:66.20092592592584,&quot;top&quot;:169.94444444444446,&quot;width&quot;:800.1481481481483}"/>
</p:tagLst>
</file>

<file path=ppt/tags/tag108.xml><?xml version="1.0" encoding="utf-8"?>
<p:tagLst xmlns:p="http://schemas.openxmlformats.org/presentationml/2006/main">
  <p:tag name="KSO_WM_DIAGRAM_VIRTUALLY_FRAME" val="{&quot;height&quot;:145.0268518518518,&quot;left&quot;:66.20092592592584,&quot;top&quot;:169.94444444444446,&quot;width&quot;:800.1481481481483}"/>
</p:tagLst>
</file>

<file path=ppt/tags/tag109.xml><?xml version="1.0" encoding="utf-8"?>
<p:tagLst xmlns:p="http://schemas.openxmlformats.org/presentationml/2006/main">
  <p:tag name="KSO_WM_DIAGRAM_VIRTUALLY_FRAME" val="{&quot;height&quot;:145.0268518518518,&quot;left&quot;:66.20092592592584,&quot;top&quot;:169.94444444444446,&quot;width&quot;:800.1481481481483}"/>
</p:tagLst>
</file>

<file path=ppt/tags/tag110.xml><?xml version="1.0" encoding="utf-8"?>
<p:tagLst xmlns:p="http://schemas.openxmlformats.org/presentationml/2006/main">
  <p:tag name="KSO_WM_DIAGRAM_VIRTUALLY_FRAME" val="{&quot;height&quot;:433.6,&quot;left&quot;:59.985039370078745,&quot;top&quot;:70.39999999999998,&quot;width&quot;:854.6649606299212}"/>
</p:tagLst>
</file>

<file path=ppt/tags/tag111.xml><?xml version="1.0" encoding="utf-8"?>
<p:tagLst xmlns:p="http://schemas.openxmlformats.org/presentationml/2006/main">
  <p:tag name="KSO_WM_DIAGRAM_VIRTUALLY_FRAME" val="{&quot;height&quot;:433.6,&quot;left&quot;:59.985039370078745,&quot;top&quot;:70.39999999999998,&quot;width&quot;:854.6649606299212}"/>
</p:tagLst>
</file>

<file path=ppt/tags/tag112.xml><?xml version="1.0" encoding="utf-8"?>
<p:tagLst xmlns:p="http://schemas.openxmlformats.org/presentationml/2006/main">
  <p:tag name="KSO_WM_DIAGRAM_VIRTUALLY_FRAME" val="{&quot;height&quot;:433.6,&quot;left&quot;:59.985039370078745,&quot;top&quot;:70.39999999999998,&quot;width&quot;:854.6649606299212}"/>
</p:tagLst>
</file>

<file path=ppt/tags/tag113.xml><?xml version="1.0" encoding="utf-8"?>
<p:tagLst xmlns:p="http://schemas.openxmlformats.org/presentationml/2006/main">
  <p:tag name="KSO_WM_DIAGRAM_VIRTUALLY_FRAME" val="{&quot;height&quot;:433.6,&quot;left&quot;:59.985039370078745,&quot;top&quot;:70.39999999999998,&quot;width&quot;:854.6649606299212}"/>
</p:tagLst>
</file>

<file path=ppt/tags/tag114.xml><?xml version="1.0" encoding="utf-8"?>
<p:tagLst xmlns:p="http://schemas.openxmlformats.org/presentationml/2006/main">
  <p:tag name="KSO_WM_DIAGRAM_VIRTUALLY_FRAME" val="{&quot;height&quot;:433.6,&quot;left&quot;:59.985039370078745,&quot;top&quot;:70.39999999999998,&quot;width&quot;:854.6649606299212}"/>
</p:tagLst>
</file>

<file path=ppt/tags/tag115.xml><?xml version="1.0" encoding="utf-8"?>
<p:tagLst xmlns:p="http://schemas.openxmlformats.org/presentationml/2006/main">
  <p:tag name="KSO_WM_DIAGRAM_VIRTUALLY_FRAME" val="{&quot;height&quot;:433.6,&quot;left&quot;:59.985039370078745,&quot;top&quot;:70.39999999999998,&quot;width&quot;:854.6649606299212}"/>
</p:tagLst>
</file>

<file path=ppt/tags/tag116.xml><?xml version="1.0" encoding="utf-8"?>
<p:tagLst xmlns:p="http://schemas.openxmlformats.org/presentationml/2006/main">
  <p:tag name="KSO_WM_DIAGRAM_VIRTUALLY_FRAME" val="{&quot;height&quot;:433.6,&quot;left&quot;:59.985039370078745,&quot;top&quot;:70.39999999999998,&quot;width&quot;:854.6649606299212}"/>
</p:tagLst>
</file>

<file path=ppt/tags/tag117.xml><?xml version="1.0" encoding="utf-8"?>
<p:tagLst xmlns:p="http://schemas.openxmlformats.org/presentationml/2006/main">
  <p:tag name="KSO_WM_DIAGRAM_VIRTUALLY_FRAME" val="{&quot;height&quot;:433.6,&quot;left&quot;:59.985039370078745,&quot;top&quot;:70.39999999999998,&quot;width&quot;:854.6649606299212}"/>
</p:tagLst>
</file>

<file path=ppt/tags/tag118.xml><?xml version="1.0" encoding="utf-8"?>
<p:tagLst xmlns:p="http://schemas.openxmlformats.org/presentationml/2006/main">
  <p:tag name="KSO_WM_DIAGRAM_VIRTUALLY_FRAME" val="{&quot;height&quot;:433.6,&quot;left&quot;:59.985039370078745,&quot;top&quot;:70.39999999999998,&quot;width&quot;:854.6649606299212}"/>
</p:tagLst>
</file>

<file path=ppt/tags/tag119.xml><?xml version="1.0" encoding="utf-8"?>
<p:tagLst xmlns:p="http://schemas.openxmlformats.org/presentationml/2006/main">
  <p:tag name="KSO_WM_DIAGRAM_VIRTUALLY_FRAME" val="{&quot;height&quot;:433.6,&quot;left&quot;:59.985039370078745,&quot;top&quot;:70.39999999999998,&quot;width&quot;:854.6649606299212}"/>
</p:tagLst>
</file>

<file path=ppt/tags/tag120.xml><?xml version="1.0" encoding="utf-8"?>
<p:tagLst xmlns:p="http://schemas.openxmlformats.org/presentationml/2006/main">
  <p:tag name="KSO_WM_DIAGRAM_VIRTUALLY_FRAME" val="{&quot;height&quot;:433.6,&quot;left&quot;:59.985039370078745,&quot;top&quot;:70.39999999999998,&quot;width&quot;:854.6649606299212}"/>
</p:tagLst>
</file>

<file path=ppt/tags/tag121.xml><?xml version="1.0" encoding="utf-8"?>
<p:tagLst xmlns:p="http://schemas.openxmlformats.org/presentationml/2006/main">
  <p:tag name="KSO_WM_DIAGRAM_VIRTUALLY_FRAME" val="{&quot;height&quot;:433.6,&quot;left&quot;:59.985039370078745,&quot;top&quot;:70.39999999999998,&quot;width&quot;:854.6649606299212}"/>
</p:tagLst>
</file>

<file path=ppt/tags/tag122.xml><?xml version="1.0" encoding="utf-8"?>
<p:tagLst xmlns:p="http://schemas.openxmlformats.org/presentationml/2006/main">
  <p:tag name="KSO_WM_DIAGRAM_VIRTUALLY_FRAME" val="{&quot;height&quot;:433.6,&quot;left&quot;:59.985039370078745,&quot;top&quot;:70.39999999999998,&quot;width&quot;:854.6649606299212}"/>
</p:tagLst>
</file>

<file path=ppt/tags/tag123.xml><?xml version="1.0" encoding="utf-8"?>
<p:tagLst xmlns:p="http://schemas.openxmlformats.org/presentationml/2006/main">
  <p:tag name="KSO_WM_DIAGRAM_VIRTUALLY_FRAME" val="{&quot;height&quot;:433.6,&quot;left&quot;:59.985039370078745,&quot;top&quot;:70.39999999999998,&quot;width&quot;:854.6649606299212}"/>
</p:tagLst>
</file>

<file path=ppt/tags/tag124.xml><?xml version="1.0" encoding="utf-8"?>
<p:tagLst xmlns:p="http://schemas.openxmlformats.org/presentationml/2006/main">
  <p:tag name="KSO_WM_DIAGRAM_VIRTUALLY_FRAME" val="{&quot;height&quot;:433.6,&quot;left&quot;:59.985039370078745,&quot;top&quot;:70.39999999999998,&quot;width&quot;:854.6649606299212}"/>
</p:tagLst>
</file>

<file path=ppt/tags/tag125.xml><?xml version="1.0" encoding="utf-8"?>
<p:tagLst xmlns:p="http://schemas.openxmlformats.org/presentationml/2006/main">
  <p:tag name="KSO_WM_DIAGRAM_VIRTUALLY_FRAME" val="{&quot;height&quot;:433.6,&quot;left&quot;:59.985039370078745,&quot;top&quot;:70.39999999999998,&quot;width&quot;:854.6649606299212}"/>
</p:tagLst>
</file>

<file path=ppt/tags/tag126.xml><?xml version="1.0" encoding="utf-8"?>
<p:tagLst xmlns:p="http://schemas.openxmlformats.org/presentationml/2006/main">
  <p:tag name="KSO_WM_DIAGRAM_VIRTUALLY_FRAME" val="{&quot;height&quot;:433.6,&quot;left&quot;:59.985039370078745,&quot;top&quot;:70.39999999999998,&quot;width&quot;:854.6649606299212}"/>
</p:tagLst>
</file>

<file path=ppt/tags/tag127.xml><?xml version="1.0" encoding="utf-8"?>
<p:tagLst xmlns:p="http://schemas.openxmlformats.org/presentationml/2006/main">
  <p:tag name="KSO_WM_DIAGRAM_VIRTUALLY_FRAME" val="{&quot;height&quot;:433.6,&quot;left&quot;:59.985039370078745,&quot;top&quot;:70.39999999999998,&quot;width&quot;:854.6649606299212}"/>
</p:tagLst>
</file>

<file path=ppt/tags/tag128.xml><?xml version="1.0" encoding="utf-8"?>
<p:tagLst xmlns:p="http://schemas.openxmlformats.org/presentationml/2006/main">
  <p:tag name="KSO_WM_DIAGRAM_VIRTUALLY_FRAME" val="{&quot;height&quot;:433.6,&quot;left&quot;:59.985039370078745,&quot;top&quot;:70.39999999999998,&quot;width&quot;:854.6649606299212}"/>
</p:tagLst>
</file>

<file path=ppt/tags/tag129.xml><?xml version="1.0" encoding="utf-8"?>
<p:tagLst xmlns:p="http://schemas.openxmlformats.org/presentationml/2006/main">
  <p:tag name="KSO_WM_DIAGRAM_VIRTUALLY_FRAME" val="{&quot;height&quot;:433.6,&quot;left&quot;:59.985039370078745,&quot;top&quot;:70.39999999999998,&quot;width&quot;:854.6649606299212}"/>
</p:tagLst>
</file>

<file path=ppt/tags/tag130.xml><?xml version="1.0" encoding="utf-8"?>
<p:tagLst xmlns:p="http://schemas.openxmlformats.org/presentationml/2006/main">
  <p:tag name="KSO_WM_DIAGRAM_VIRTUALLY_FRAME" val="{&quot;height&quot;:433.6,&quot;left&quot;:59.985039370078745,&quot;top&quot;:70.39999999999998,&quot;width&quot;:854.6649606299212}"/>
</p:tagLst>
</file>

<file path=ppt/tags/tag131.xml><?xml version="1.0" encoding="utf-8"?>
<p:tagLst xmlns:p="http://schemas.openxmlformats.org/presentationml/2006/main">
  <p:tag name="KSO_WM_DIAGRAM_VIRTUALLY_FRAME" val="{&quot;height&quot;:449.9,&quot;left&quot;:49.2,&quot;top&quot;:75.4,&quot;width&quot;:875.9}"/>
</p:tagLst>
</file>

<file path=ppt/tags/tag132.xml><?xml version="1.0" encoding="utf-8"?>
<p:tagLst xmlns:p="http://schemas.openxmlformats.org/presentationml/2006/main">
  <p:tag name="KSO_WM_DIAGRAM_VIRTUALLY_FRAME" val="{&quot;height&quot;:449.9,&quot;left&quot;:49.2,&quot;top&quot;:75.4,&quot;width&quot;:875.9}"/>
</p:tagLst>
</file>

<file path=ppt/tags/tag133.xml><?xml version="1.0" encoding="utf-8"?>
<p:tagLst xmlns:p="http://schemas.openxmlformats.org/presentationml/2006/main">
  <p:tag name="KSO_WM_DIAGRAM_VIRTUALLY_FRAME" val="{&quot;height&quot;:449.9,&quot;left&quot;:49.2,&quot;top&quot;:75.4,&quot;width&quot;:875.9}"/>
</p:tagLst>
</file>

<file path=ppt/tags/tag134.xml><?xml version="1.0" encoding="utf-8"?>
<p:tagLst xmlns:p="http://schemas.openxmlformats.org/presentationml/2006/main">
  <p:tag name="KSO_WM_DIAGRAM_VIRTUALLY_FRAME" val="{&quot;height&quot;:449.9,&quot;left&quot;:49.2,&quot;top&quot;:75.4,&quot;width&quot;:875.9}"/>
</p:tagLst>
</file>

<file path=ppt/tags/tag135.xml><?xml version="1.0" encoding="utf-8"?>
<p:tagLst xmlns:p="http://schemas.openxmlformats.org/presentationml/2006/main">
  <p:tag name="KSO_WM_DIAGRAM_VIRTUALLY_FRAME" val="{&quot;height&quot;:449.9,&quot;left&quot;:49.2,&quot;top&quot;:75.4,&quot;width&quot;:875.9}"/>
</p:tagLst>
</file>

<file path=ppt/tags/tag136.xml><?xml version="1.0" encoding="utf-8"?>
<p:tagLst xmlns:p="http://schemas.openxmlformats.org/presentationml/2006/main">
  <p:tag name="KSO_WM_DIAGRAM_VIRTUALLY_FRAME" val="{&quot;height&quot;:449.9,&quot;left&quot;:49.2,&quot;top&quot;:75.4,&quot;width&quot;:875.9}"/>
</p:tagLst>
</file>

<file path=ppt/tags/tag137.xml><?xml version="1.0" encoding="utf-8"?>
<p:tagLst xmlns:p="http://schemas.openxmlformats.org/presentationml/2006/main">
  <p:tag name="KSO_WM_DIAGRAM_VIRTUALLY_FRAME" val="{&quot;height&quot;:449.9,&quot;left&quot;:49.2,&quot;top&quot;:75.4,&quot;width&quot;:875.9}"/>
</p:tagLst>
</file>

<file path=ppt/tags/tag138.xml><?xml version="1.0" encoding="utf-8"?>
<p:tagLst xmlns:p="http://schemas.openxmlformats.org/presentationml/2006/main">
  <p:tag name="KSO_WM_DIAGRAM_VIRTUALLY_FRAME" val="{&quot;height&quot;:449.9,&quot;left&quot;:49.2,&quot;top&quot;:75.4,&quot;width&quot;:875.9}"/>
</p:tagLst>
</file>

<file path=ppt/tags/tag139.xml><?xml version="1.0" encoding="utf-8"?>
<p:tagLst xmlns:p="http://schemas.openxmlformats.org/presentationml/2006/main">
  <p:tag name="KSO_WM_DIAGRAM_VIRTUALLY_FRAME" val="{&quot;height&quot;:449.9,&quot;left&quot;:49.2,&quot;top&quot;:75.4,&quot;width&quot;:875.9}"/>
</p:tagLst>
</file>

<file path=ppt/tags/tag140.xml><?xml version="1.0" encoding="utf-8"?>
<p:tagLst xmlns:p="http://schemas.openxmlformats.org/presentationml/2006/main">
  <p:tag name="KSO_WM_DIAGRAM_VIRTUALLY_FRAME" val="{&quot;height&quot;:449.9,&quot;left&quot;:49.2,&quot;top&quot;:75.4,&quot;width&quot;:875.9}"/>
</p:tagLst>
</file>

<file path=ppt/tags/tag141.xml><?xml version="1.0" encoding="utf-8"?>
<p:tagLst xmlns:p="http://schemas.openxmlformats.org/presentationml/2006/main">
  <p:tag name="KSO_WM_DIAGRAM_VIRTUALLY_FRAME" val="{&quot;height&quot;:449.9,&quot;left&quot;:49.2,&quot;top&quot;:75.4,&quot;width&quot;:875.9}"/>
</p:tagLst>
</file>

<file path=ppt/tags/tag142.xml><?xml version="1.0" encoding="utf-8"?>
<p:tagLst xmlns:p="http://schemas.openxmlformats.org/presentationml/2006/main">
  <p:tag name="KSO_WM_DIAGRAM_VIRTUALLY_FRAME" val="{&quot;height&quot;:449.9,&quot;left&quot;:49.2,&quot;top&quot;:75.4,&quot;width&quot;:875.9}"/>
</p:tagLst>
</file>

<file path=ppt/tags/tag143.xml><?xml version="1.0" encoding="utf-8"?>
<p:tagLst xmlns:p="http://schemas.openxmlformats.org/presentationml/2006/main">
  <p:tag name="KSO_WM_DIAGRAM_VIRTUALLY_FRAME" val="{&quot;height&quot;:449.9,&quot;left&quot;:49.2,&quot;top&quot;:75.4,&quot;width&quot;:875.9}"/>
</p:tagLst>
</file>

<file path=ppt/tags/tag144.xml><?xml version="1.0" encoding="utf-8"?>
<p:tagLst xmlns:p="http://schemas.openxmlformats.org/presentationml/2006/main">
  <p:tag name="KSO_WM_DIAGRAM_VIRTUALLY_FRAME" val="{&quot;height&quot;:449.9,&quot;left&quot;:49.2,&quot;top&quot;:75.4,&quot;width&quot;:875.9}"/>
</p:tagLst>
</file>

<file path=ppt/tags/tag145.xml><?xml version="1.0" encoding="utf-8"?>
<p:tagLst xmlns:p="http://schemas.openxmlformats.org/presentationml/2006/main">
  <p:tag name="KSO_WM_DIAGRAM_VIRTUALLY_FRAME" val="{&quot;height&quot;:449.9,&quot;left&quot;:49.2,&quot;top&quot;:75.4,&quot;width&quot;:875.9}"/>
</p:tagLst>
</file>

<file path=ppt/tags/tag146.xml><?xml version="1.0" encoding="utf-8"?>
<p:tagLst xmlns:p="http://schemas.openxmlformats.org/presentationml/2006/main">
  <p:tag name="KSO_WM_DIAGRAM_VIRTUALLY_FRAME" val="{&quot;height&quot;:449.9,&quot;left&quot;:49.2,&quot;top&quot;:75.4,&quot;width&quot;:875.9}"/>
</p:tagLst>
</file>

<file path=ppt/tags/tag147.xml><?xml version="1.0" encoding="utf-8"?>
<p:tagLst xmlns:p="http://schemas.openxmlformats.org/presentationml/2006/main">
  <p:tag name="KSO_WM_DIAGRAM_VIRTUALLY_FRAME" val="{&quot;height&quot;:449.9,&quot;left&quot;:49.2,&quot;top&quot;:75.4,&quot;width&quot;:875.9}"/>
</p:tagLst>
</file>

<file path=ppt/tags/tag148.xml><?xml version="1.0" encoding="utf-8"?>
<p:tagLst xmlns:p="http://schemas.openxmlformats.org/presentationml/2006/main">
  <p:tag name="KSO_WM_DIAGRAM_VIRTUALLY_FRAME" val="{&quot;height&quot;:449.9,&quot;left&quot;:49.2,&quot;top&quot;:75.4,&quot;width&quot;:875.9}"/>
</p:tagLst>
</file>

<file path=ppt/tags/tag149.xml><?xml version="1.0" encoding="utf-8"?>
<p:tagLst xmlns:p="http://schemas.openxmlformats.org/presentationml/2006/main">
  <p:tag name="KSO_WM_DIAGRAM_VIRTUALLY_FRAME" val="{&quot;height&quot;:449.9,&quot;left&quot;:49.2,&quot;top&quot;:75.4,&quot;width&quot;:875.9}"/>
</p:tagLst>
</file>

<file path=ppt/tags/tag150.xml><?xml version="1.0" encoding="utf-8"?>
<p:tagLst xmlns:p="http://schemas.openxmlformats.org/presentationml/2006/main">
  <p:tag name="KSO_WM_DIAGRAM_VIRTUALLY_FRAME" val="{&quot;height&quot;:449.9,&quot;left&quot;:49.2,&quot;top&quot;:75.4,&quot;width&quot;:875.9}"/>
</p:tagLst>
</file>

<file path=ppt/tags/tag151.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152.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153.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154.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155.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156.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157.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158.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159.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160.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161.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162.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163.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164.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165.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166.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167.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168.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169.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170.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171.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172.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173.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174.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175.xml><?xml version="1.0" encoding="utf-8"?>
<p:tagLst xmlns:p="http://schemas.openxmlformats.org/presentationml/2006/main">
  <p:tag name="KSO_WM_DIAGRAM_VIRTUALLY_FRAME" val="{&quot;height&quot;:398.5494488188976,&quot;left&quot;:47.93771653543307,&quot;top&quot;:91.60409448818898,&quot;width&quot;:886.9215748031496}"/>
</p:tagLst>
</file>

<file path=ppt/tags/tag176.xml><?xml version="1.0" encoding="utf-8"?>
<p:tagLst xmlns:p="http://schemas.openxmlformats.org/presentationml/2006/main">
  <p:tag name="resource_record_key" val="{&quot;29&quot;:[50000049]}"/>
</p:tagLst>
</file>

<file path=ppt/theme/theme1.xml><?xml version="1.0" encoding="utf-8"?>
<a:theme xmlns:a="http://schemas.openxmlformats.org/drawingml/2006/main" name="Blank">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自定义 1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spPr>
      <a:bodyPr vert="horz" wrap="square" lIns="91440" tIns="45720" rIns="91440" bIns="45720" numCol="1" rtlCol="0" anchor="t" anchorCtr="0" compatLnSpc="1"/>
      <a:lstStyle>
        <a:def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defRPr kumimoji="0"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内容Copytext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2">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ank you">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CW PP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9799</Words>
  <Application>WPS 演示</Application>
  <PresentationFormat>自定义</PresentationFormat>
  <Paragraphs>783</Paragraphs>
  <Slides>24</Slides>
  <Notes>4</Notes>
  <HiddenSlides>0</HiddenSlides>
  <MMClips>0</MMClips>
  <ScaleCrop>false</ScaleCrop>
  <HeadingPairs>
    <vt:vector size="8" baseType="variant">
      <vt:variant>
        <vt:lpstr>已用的字体</vt:lpstr>
      </vt:variant>
      <vt:variant>
        <vt:i4>42</vt:i4>
      </vt:variant>
      <vt:variant>
        <vt:lpstr>主题</vt:lpstr>
      </vt:variant>
      <vt:variant>
        <vt:i4>3</vt:i4>
      </vt:variant>
      <vt:variant>
        <vt:lpstr>嵌入 OLE 服务器</vt:lpstr>
      </vt:variant>
      <vt:variant>
        <vt:i4>3</vt:i4>
      </vt:variant>
      <vt:variant>
        <vt:lpstr>幻灯片标题</vt:lpstr>
      </vt:variant>
      <vt:variant>
        <vt:i4>24</vt:i4>
      </vt:variant>
    </vt:vector>
  </HeadingPairs>
  <TitlesOfParts>
    <vt:vector size="72" baseType="lpstr">
      <vt:lpstr>Arial</vt:lpstr>
      <vt:lpstr>宋体</vt:lpstr>
      <vt:lpstr>Wingdings</vt:lpstr>
      <vt:lpstr>MS PGothic</vt:lpstr>
      <vt:lpstr>Arial Unicode MS</vt:lpstr>
      <vt:lpstr>黑体</vt:lpstr>
      <vt:lpstr>FrutigerNext LT Medium</vt:lpstr>
      <vt:lpstr>华文细黑</vt:lpstr>
      <vt:lpstr>FrutigerNext LT Light</vt:lpstr>
      <vt:lpstr>微软雅黑</vt:lpstr>
      <vt:lpstr>Arial</vt:lpstr>
      <vt:lpstr>Noto Sans SC</vt:lpstr>
      <vt:lpstr>Wingdings</vt:lpstr>
      <vt:lpstr>Calibri</vt:lpstr>
      <vt:lpstr>Source Han Serif CN</vt:lpstr>
      <vt:lpstr>Arial Unicode MS</vt:lpstr>
      <vt:lpstr>FZYaYiHei GB18030L2 R</vt:lpstr>
      <vt:lpstr>Source Han Sans</vt:lpstr>
      <vt:lpstr>Noto Serif SC</vt:lpstr>
      <vt:lpstr>Kaiti SC</vt:lpstr>
      <vt:lpstr>Segoe Print</vt:lpstr>
      <vt:lpstr>Poppins</vt:lpstr>
      <vt:lpstr>Wingdings</vt:lpstr>
      <vt:lpstr>Alibaba PuHuiTi 3.0 55 Regular</vt:lpstr>
      <vt:lpstr>Inter</vt:lpstr>
      <vt:lpstr>NumberOnly</vt:lpstr>
      <vt:lpstr>Alibaba PuHuiTi 3.0 55 Regular</vt:lpstr>
      <vt:lpstr>Calibri</vt:lpstr>
      <vt:lpstr>FZYaYiHei GB18030L2 R</vt:lpstr>
      <vt:lpstr>Inter</vt:lpstr>
      <vt:lpstr>Kaiti SC</vt:lpstr>
      <vt:lpstr>Poppins</vt:lpstr>
      <vt:lpstr>Source Han Sans</vt:lpstr>
      <vt:lpstr>Source Han Serif CN</vt:lpstr>
      <vt:lpstr>KSOF8E3FA593</vt:lpstr>
      <vt:lpstr>Mona Medium</vt:lpstr>
      <vt:lpstr>AvenirNext LT Pro Regular</vt:lpstr>
      <vt:lpstr>Prima Serif Std Roman</vt:lpstr>
      <vt:lpstr>方正雅意黑 GB18030L2 R</vt:lpstr>
      <vt:lpstr>Comic Sans Pro</vt:lpstr>
      <vt:lpstr>A new day begins</vt:lpstr>
      <vt:lpstr>Oxford Regular</vt:lpstr>
      <vt:lpstr>Blank</vt:lpstr>
      <vt:lpstr>1_内容Copytext </vt:lpstr>
      <vt:lpstr>Thank you</vt:lpstr>
      <vt:lpstr>Package</vt:lpstr>
      <vt:lpstr>Package</vt:lpstr>
      <vt:lpstr>Package</vt:lpstr>
      <vt:lpstr>本体驱动的智能业务流程架构</vt:lpstr>
      <vt:lpstr>PowerPoint 演示文稿</vt:lpstr>
      <vt:lpstr>PowerPoint 演示文稿</vt:lpstr>
      <vt:lpstr>PowerPoint 演示文稿</vt:lpstr>
      <vt:lpstr>PowerPoint 演示文稿</vt:lpstr>
      <vt:lpstr>PowerPoint 演示文稿</vt:lpstr>
      <vt:lpstr>PowerPoint 演示文稿</vt:lpstr>
      <vt:lpstr>解决LLM核心问题的两条路径</vt:lpstr>
      <vt:lpstr>7+1语义体系：构建智能业务本体的技术基石</vt:lpstr>
      <vt:lpstr>7+1语义体系：构建智能业务本体的技术基石</vt:lpstr>
      <vt:lpstr>智能体+本体双引擎协同架构（Agent-Ontology Dual-Engine Synergistic Architecture）</vt:lpstr>
      <vt:lpstr>技术路线与核心价值</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本体工程打造过程</vt:lpstr>
      <vt:lpstr>本体-数据库交互机制(Ontology-Database Interaction Mechanism)</vt:lpstr>
      <vt:lpstr>本体落地五大核心挑战</vt:lpstr>
      <vt:lpstr>四层技术架构总览(Four-Layer Technical Architecture Overview)</vt:lpstr>
      <vt:lpstr>三种使用场景与精度梯度（Precision Gradient &amp; Application Scenarios）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lidegang1@huawei.com</dc:creator>
  <cp:lastModifiedBy>鹤琳</cp:lastModifiedBy>
  <cp:revision>1208</cp:revision>
  <dcterms:created xsi:type="dcterms:W3CDTF">2020-10-26T08:52:00Z</dcterms:created>
  <dcterms:modified xsi:type="dcterms:W3CDTF">2026-09-22T07:38:47Z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_ms_pID_72543">
    <vt:lpwstr>(3)LnZC7oz8To7Y22xH3O/e8/X6gkcAfRUeHpPKe9auJUq9yzXFzrGV+j1DVZzgI0EDzC0+5uAn
JRM3s2IrrRCN1xLLc5QCYMfFYASWKQEv6iy1EnUE8rYaLKTG6HQjCqbkdbEQ9AilA4wlcUGp
M+k9aV/YBB7bikGlSXRZgKrcuKUoPTRW/pwdIjDDNwoeATG48Nbp4PibsYPQdwtvyHcMCRzq
oFE7OBQURzIUP5l6z3</vt:lpwstr>
  </property>
  <property fmtid="{D5CDD505-2E9C-101B-9397-08002B2CF9AE}" pid="3" name="_new_ms_pID_725431">
    <vt:lpwstr>HT427Rj6lAztVHZEJkxSciTysHWHm3pp5pN5bdc8jI+R61LnM43/Id
OJR/5SFPGpxMNY+Ik687ggiaLVMQscvYPOkYpYvR1VHcjWO8LpQ8Jk53dz+OU+dlYUxEyVKl
nYzFJYTuHXU49As1XFzB/2i2wAX+Yjn1QhbYw+qyfxCE4z7K7zPku/WWV3NPVhG2wti/wSUD
AM0CoU+WY5x1lW5yWyWZ3mYynTqhsmvMoz2Q</vt:lpwstr>
  </property>
  <property fmtid="{D5CDD505-2E9C-101B-9397-08002B2CF9AE}" pid="4" name="_new_ms_pID_725432">
    <vt:lpwstr>of/ts7Wz4tkV5CWwOAx2QBtKm6tC/Xu4PptY
e8yjtgJI/F4gvLnqMJLIFc4L3zL3adNOX5ClTsL7BprpsyLPcNPaVLnaJJkx23gviqr0Df3e
</vt:lpwstr>
  </property>
  <property fmtid="{D5CDD505-2E9C-101B-9397-08002B2CF9AE}" pid="5" name="_2015_ms_pID_725343">
    <vt:lpwstr>(3)Uj4THT6SZ10V6rDV5l8Y0zcimIzpTikqgJ1doqNWfyXgy8A67N8PS4L9iq5j7RLYyWslMFuR
iYo17vA+K2j8LDxjxL9pJ2AqZCYIZAk/waLpz86fXYswp6oykAJb0LxNEbmQ9YRyv/UjzsG3
jOTZRjilIKGogocuvcwBHx3qs57iP7a9Xo6Ns0/6kzIGLsnSPwcvluIoqxFpvOmHn5BbnBnV
vEyBg0amWaIHUqtqCy</vt:lpwstr>
  </property>
  <property fmtid="{D5CDD505-2E9C-101B-9397-08002B2CF9AE}" pid="6" name="_2015_ms_pID_7253431">
    <vt:lpwstr>5hPRYPBipjmxW3z1T+H5DgWqvRCY6c6e9eKGX0JlVOT336coafsEwG
C8qPcynuS+hccJiF8sy0gtCqpKDS3ZPZynx3owuDv7S25sUHTEE4mA9qlev98c6HOiSY4408
AqxWd4L095nQ54lmh6MqO5SNv+8rlXg3WFDx8ubfmp6KOF93HG3gNJwK/mmGjtm5UDTqZYRk
/iPzQB6Mc/XqQGd0nAMJfeefhbXchoqWhRvN</vt:lpwstr>
  </property>
  <property fmtid="{D5CDD505-2E9C-101B-9397-08002B2CF9AE}" pid="7" name="_2015_ms_pID_7253432">
    <vt:lpwstr>U7NM0BQpI5XU9nFyIts6JLQd4Lem3EG8geW6
0IubTiieegoqWmSdnQ5JIafgyFvKWQBED+y7VWlf7NpDZSqIvYo=</vt:lpwstr>
  </property>
  <property fmtid="{D5CDD505-2E9C-101B-9397-08002B2CF9AE}" pid="8" name="ContentTypeId">
    <vt:lpwstr>0x010100198F2F4BE5E3C642AAC5942B84DD9DF7</vt:lpwstr>
  </property>
  <property fmtid="{D5CDD505-2E9C-101B-9397-08002B2CF9AE}" pid="9" name="_readonly">
    <vt:lpwstr/>
  </property>
  <property fmtid="{D5CDD505-2E9C-101B-9397-08002B2CF9AE}" pid="10" name="_change">
    <vt:lpwstr/>
  </property>
  <property fmtid="{D5CDD505-2E9C-101B-9397-08002B2CF9AE}" pid="11" name="_full-control">
    <vt:lpwstr/>
  </property>
  <property fmtid="{D5CDD505-2E9C-101B-9397-08002B2CF9AE}" pid="12" name="sflag">
    <vt:lpwstr>1531796962</vt:lpwstr>
  </property>
  <property fmtid="{D5CDD505-2E9C-101B-9397-08002B2CF9AE}" pid="13" name="KSOProductBuildVer">
    <vt:lpwstr>2052-12.1.0.28505</vt:lpwstr>
  </property>
  <property fmtid="{D5CDD505-2E9C-101B-9397-08002B2CF9AE}" pid="14" name="ICV">
    <vt:lpwstr>7B9DDEC283A24992BF6B48BDA3D0C866_12</vt:lpwstr>
  </property>
</Properties>
</file>