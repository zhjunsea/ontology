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将深入探讨一个极具实践价值的话题：如何通过构建本体，来理清“战役攻关项目”中的复杂关系，并基于人力资源地图进行效率优化。本次分享将结合领先企业的管理实践，为大家提供一套从战略到执行的系统性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那么，战役攻关项目从何而来？它来源于“解决方案”。解决方案是我们的战略蓝图，而“解决方案作战地图”则是将蓝图转化为具体作战计划的工具。它清晰地标示出我们要打哪些关键战役，走哪条路，投入多少资源，以及如何衡量胜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三者构成了一个从战略到执行的完整闭环。解决方案回答“做什么”，作战地图规划“怎么做”，而战役攻关项目则明确了“谁来做”和“何时完成”。这张图直观地展示了这种从上至下的分解和支撑关系，确保我们的每一个行动都与最终战略目标保持一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二部分：构建人力资源地图。简单来说，人力资源地图就是把我们所有的人才信息，比如技能、位置、项目经验等，可视化地呈现在一张图上。它的价值巨大，能帮助我们快速找到合适的人，识别关键人才，支撑战略决策，并优化整个团队的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要构建这张地图，我们需要关注五个关键实体：员工、技能、代表处、项目，以及绩效与潜力。我们需要收集这些维度的数据，并进行标准化和量化，比如对技能进行评分。只有这样，我们才能构建一个准确、有用的人力资源地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构建人力资源地图可以遵循五个步骤。首先要明确目标和范围，这决定了我们需要哪些数据。然后是数据收集与整合，这是基础。接着选择合适的工具进行可视化绘制。之后就是关键的分析与应用环节，从中发现问题、找到机会。最后，别忘了定期更新，因为人才和项目都是动态变化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最核心的第三部分：如何分析员工、项目和代表处之间的关系，并提升效率。我们的核心思路是从定性走向定量。具体来说，就是把每个员工的能力量化成一个“能力向量”，把每个项目的需求也量化成一个“需求向量”，然后通过算法计算两者的匹配度。这样，我们就能科学地评估一个员工是否适合某个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有了量化数据后，我们可以通过可视化看板来直观分析。比如，通过“员工-项目分布矩阵”，我们可以一眼看出谁太忙、谁太闲，以及是否存在能力错配。通过“代表处-项目资源地图”，我们可以看到资源在地理上的分布是否合理。而“技能-项目需求热力图”则能帮助我们快速识别出技能缺口和冗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基于以上分析，我们可以提出具体的效率提升策略。首先是实施动态资源调度，打破项目和区域壁垒，让资源流动起来。其次是优化核心人才的使用策略，我们建议采用“1+N”模式，让顶尖人才聚焦于最重要的任务，同时建立资源池进行统一管理，避免人才浪费和内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我们要构建人才梯队和成长机制。通过设立梯度任务池和“传帮带”机制，我们不仅能完成工作，更能培养未来的人才。最后，这些分析结果还能驱动组织层面的优化，比如调整招聘和培训策略，甚至优化代表处的职能定位，形成专业化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通过今天介绍的这套方法，我们可以实现人岗的精准匹配，提升资源利用效率，加速人才成长，并最终确保人力资源能有力支撑战略落地。这本质上是将人力资源从一个静态的成本中心，转变为一个动态的、能够持续创造价值的中心，从而全面提升我们打赢关键战役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我的分享到此结束。希望今天的内容能为大家在项目管理和人力资源优化方面带来一些新的思路。现在是问答环节，欢迎大家提问交流。谢谢！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notesSlides/notesSlide2.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svg" Type="http://schemas.openxmlformats.org/officeDocument/2006/relationships/image"/><Relationship Id="rId11" Target="../notesSlides/notesSlide5.xml" Type="http://schemas.openxmlformats.org/officeDocument/2006/relationships/notesSlide"/><Relationship Id="rId2" Target="../media/image1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notesSlides/notesSlide6.xml" Type="http://schemas.openxmlformats.org/officeDocument/2006/relationships/notesSlide"/><Relationship Id="rId2" Target="../media/image9.png" Type="http://schemas.openxmlformats.org/officeDocument/2006/relationships/image"/><Relationship Id="rId3" Target="../media/image1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notesSlides/notesSlide7.xml" Type="http://schemas.openxmlformats.org/officeDocument/2006/relationships/notesSlid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0.xml" Type="http://schemas.openxmlformats.org/officeDocument/2006/relationships/notesSlide"/><Relationship Id="rId2" Target="../media/image11.png" Type="http://schemas.openxmlformats.org/officeDocument/2006/relationships/image"/><Relationship Id="rId3" Target="../media/image1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1.png" Type="http://schemas.openxmlformats.org/officeDocument/2006/relationships/image"/><Relationship Id="rId11" Target="../media/image52.svg" Type="http://schemas.openxmlformats.org/officeDocument/2006/relationships/image"/><Relationship Id="rId12" Target="../notesSlides/notesSlide11.xml" Type="http://schemas.openxmlformats.org/officeDocument/2006/relationships/notesSlide"/><Relationship Id="rId2" Target="../media/image45.png" Type="http://schemas.openxmlformats.org/officeDocument/2006/relationships/image"/><Relationship Id="rId3" Target="../media/image4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2" Target="../media/image17.png" Type="http://schemas.openxmlformats.org/officeDocument/2006/relationships/image"/><Relationship Id="rId3" Target="../media/image18.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 Id="rId3" Target="../media/image57.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0A264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0" y="-2540000"/>
            <a:ext cx="7620000" cy="7620000"/>
          </a:xfrm>
          <a:prstGeom prst="ellipse">
            <a:avLst/>
          </a:prstGeom>
          <a:solidFill>
            <a:srgbClr val="FFC10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905000" y="3810000"/>
            <a:ext cx="6350000" cy="635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381000" y="2794000"/>
            <a:ext cx="11430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C107"/>
                </a:solidFill>
                <a:latin typeface="Noto Sans SC"/>
                <a:ea typeface="Noto Sans SC"/>
                <a:cs typeface="Noto Sans SC"/>
                <a:sym typeface="Noto Sans SC"/>
              </a:rPr>
              <a:t>战役攻关项目本体构建与分析</a:t>
            </a:r>
            <a:endParaRPr lang="en-US" sz="1100"/>
          </a:p>
        </p:txBody>
      </p:sp>
      <p:cxnSp>
        <p:nvCxnSpPr>
          <p:cNvPr name="Connector 5" id="5"/>
          <p:cNvCxnSpPr/>
          <p:nvPr/>
        </p:nvCxnSpPr>
        <p:spPr>
          <a:xfrm rot="-8594" flipH="false" flipV="false">
            <a:off x="3556008" y="4184650"/>
            <a:ext cx="5080000" cy="12700"/>
          </a:xfrm>
          <a:prstGeom prst="straightConnector1">
            <a:avLst/>
          </a:prstGeom>
          <a:solidFill>
            <a:srgbClr val="DEE0E3">
              <a:alpha val="100000"/>
            </a:srgbClr>
          </a:solidFill>
          <a:ln w="12700" cmpd="sng" cap="flat">
            <a:solidFill>
              <a:srgbClr val="FFC107">
                <a:alpha val="50000"/>
              </a:srgbClr>
            </a:solidFill>
            <a:prstDash val="solid"/>
            <a:round/>
            <a:headEnd type="none" w="med" len="med"/>
            <a:tailEnd type="none" w="med" len="med"/>
          </a:ln>
        </p:spPr>
      </p:cxnSp>
      <p:sp>
        <p:nvSpPr>
          <p:cNvPr name="AutoShape 6" id="6"/>
          <p:cNvSpPr/>
          <p:nvPr/>
        </p:nvSpPr>
        <p:spPr>
          <a:xfrm rot="0" flipH="false" flipV="false">
            <a:off x="381000" y="4572000"/>
            <a:ext cx="1143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2000">
                <a:solidFill>
                  <a:srgbClr val="FFFFFF">
                    <a:alpha val="85098"/>
                  </a:srgbClr>
                </a:solidFill>
                <a:latin typeface="Noto Sans SC"/>
                <a:ea typeface="Noto Sans SC"/>
                <a:cs typeface="Noto Sans SC"/>
                <a:sym typeface="Noto Sans SC"/>
              </a:rPr>
              <a:t>基于人力资源地图的效率优化策略</a:t>
            </a:r>
            <a:endParaRPr lang="en-US" sz="1100"/>
          </a:p>
        </p:txBody>
      </p:sp>
      <p:sp>
        <p:nvSpPr>
          <p:cNvPr name="AutoShape 7" id="7"/>
          <p:cNvSpPr/>
          <p:nvPr/>
        </p:nvSpPr>
        <p:spPr>
          <a:xfrm rot="0" flipH="false" flipV="false">
            <a:off x="381000" y="5715000"/>
            <a:ext cx="1143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战略梳理 · 本体建模 · 资源适配 · 效能跃升 | 企业级复杂项目管理实践方案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「战役攻关项目」的定义与特征</a:t>
            </a:r>
            <a:endParaRPr lang="en-US" sz="1100"/>
          </a:p>
        </p:txBody>
      </p:sp>
      <p:sp>
        <p:nvSpPr>
          <p:cNvPr name="AutoShape 3" id="3"/>
          <p:cNvSpPr/>
          <p:nvPr/>
        </p:nvSpPr>
        <p:spPr>
          <a:xfrm rot="0" flipH="false" flipV="false">
            <a:off x="762000" y="1397000"/>
            <a:ext cx="10668000" cy="1397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397000"/>
            <a:ext cx="76200" cy="1397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5240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A2647"/>
                </a:solidFill>
                <a:latin typeface="Noto Sans SC"/>
                <a:ea typeface="Noto Sans SC"/>
                <a:cs typeface="Noto Sans SC"/>
                <a:sym typeface="Noto Sans SC"/>
              </a:rPr>
              <a:t>定义：</a:t>
            </a:r>
            <a:r>
              <a:rPr lang="en-US" b="false" i="false" strike="noStrike" u="none" sz="1400">
                <a:solidFill>
                  <a:srgbClr val="374151"/>
                </a:solidFill>
                <a:latin typeface="Noto Sans SC"/>
                <a:ea typeface="Noto Sans SC"/>
                <a:cs typeface="Noto Sans SC"/>
                <a:sym typeface="Noto Sans SC"/>
              </a:rPr>
              <a:t>「战役攻关项目」是聚焦解决企业发展关键瓶颈、核心技术难题或重大市场机会的战略性项目。通过集中优势资源、跨部门协同作战，在限定时间内取得突破性成果，从而强力支撑公司核心战略目标的落地与实现，是连接战略规划与执行结果的关键桥梁。</a:t>
            </a:r>
            <a:endParaRPr lang="en-US" sz="1100"/>
          </a:p>
        </p:txBody>
      </p:sp>
      <p:sp>
        <p:nvSpPr>
          <p:cNvPr name="AutoShape 6" id="6"/>
          <p:cNvSpPr/>
          <p:nvPr/>
        </p:nvSpPr>
        <p:spPr>
          <a:xfrm rot="0" flipH="false" flipV="false">
            <a:off x="762000" y="3302000"/>
            <a:ext cx="3429000" cy="14605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302000"/>
            <a:ext cx="34290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492500"/>
            <a:ext cx="304800" cy="304800"/>
          </a:xfrm>
          <a:prstGeom prst="rect">
            <a:avLst/>
          </a:prstGeom>
        </p:spPr>
      </p:pic>
      <p:sp>
        <p:nvSpPr>
          <p:cNvPr name="AutoShape 9" id="9"/>
          <p:cNvSpPr/>
          <p:nvPr/>
        </p:nvSpPr>
        <p:spPr>
          <a:xfrm rot="0" flipH="false" flipV="false">
            <a:off x="1397000" y="3454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目标导向与战略对齐</a:t>
            </a:r>
            <a:endParaRPr lang="en-US" sz="1100"/>
          </a:p>
        </p:txBody>
      </p:sp>
      <p:cxnSp>
        <p:nvCxnSpPr>
          <p:cNvPr name="Connector 10" id="10"/>
          <p:cNvCxnSpPr/>
          <p:nvPr/>
        </p:nvCxnSpPr>
        <p:spPr>
          <a:xfrm rot="-14323" flipH="false" flipV="false">
            <a:off x="952513" y="3930650"/>
            <a:ext cx="3048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11" id="11"/>
          <p:cNvSpPr/>
          <p:nvPr/>
        </p:nvSpPr>
        <p:spPr>
          <a:xfrm rot="0" flipH="false" flipV="false">
            <a:off x="952500" y="4064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项目直接来源于公司级战略，精准弥补业务的“绩效差距”或牢牢抓住关键的“机会差距”，确保行动始终与战略方向同频。</a:t>
            </a:r>
            <a:endParaRPr lang="en-US" sz="1100"/>
          </a:p>
        </p:txBody>
      </p:sp>
      <p:sp>
        <p:nvSpPr>
          <p:cNvPr name="AutoShape 12" id="12"/>
          <p:cNvSpPr/>
          <p:nvPr/>
        </p:nvSpPr>
        <p:spPr>
          <a:xfrm rot="0" flipH="false" flipV="false">
            <a:off x="4381500" y="3302000"/>
            <a:ext cx="3429000" cy="14605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381500" y="3302000"/>
            <a:ext cx="34290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3492500"/>
            <a:ext cx="304800" cy="304800"/>
          </a:xfrm>
          <a:prstGeom prst="rect">
            <a:avLst/>
          </a:prstGeom>
        </p:spPr>
      </p:pic>
      <p:sp>
        <p:nvSpPr>
          <p:cNvPr name="AutoShape 15" id="15"/>
          <p:cNvSpPr/>
          <p:nvPr/>
        </p:nvSpPr>
        <p:spPr>
          <a:xfrm rot="0" flipH="false" flipV="false">
            <a:off x="5016500" y="3454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结果驱动与商业价值</a:t>
            </a:r>
            <a:endParaRPr lang="en-US" sz="1100"/>
          </a:p>
        </p:txBody>
      </p:sp>
      <p:cxnSp>
        <p:nvCxnSpPr>
          <p:cNvPr name="Connector 16" id="16"/>
          <p:cNvCxnSpPr/>
          <p:nvPr/>
        </p:nvCxnSpPr>
        <p:spPr>
          <a:xfrm rot="-14323" flipH="false" flipV="false">
            <a:off x="4572013" y="3930650"/>
            <a:ext cx="3048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17" id="17"/>
          <p:cNvSpPr/>
          <p:nvPr/>
        </p:nvSpPr>
        <p:spPr>
          <a:xfrm rot="0" flipH="false" flipV="false">
            <a:off x="4572000" y="4064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强调可量化的商业回报，设定严格财务指标（如NPV≥1.5倍投资），以实质性的业务收益作为项目成败的核心衡量标准。</a:t>
            </a:r>
            <a:endParaRPr lang="en-US" sz="1100"/>
          </a:p>
        </p:txBody>
      </p:sp>
      <p:sp>
        <p:nvSpPr>
          <p:cNvPr name="AutoShape 18" id="18"/>
          <p:cNvSpPr/>
          <p:nvPr/>
        </p:nvSpPr>
        <p:spPr>
          <a:xfrm rot="0" flipH="false" flipV="false">
            <a:off x="8001000" y="3302000"/>
            <a:ext cx="3429000" cy="14605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001000" y="3302000"/>
            <a:ext cx="34290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3492500"/>
            <a:ext cx="304800" cy="304800"/>
          </a:xfrm>
          <a:prstGeom prst="rect">
            <a:avLst/>
          </a:prstGeom>
        </p:spPr>
      </p:pic>
      <p:sp>
        <p:nvSpPr>
          <p:cNvPr name="AutoShape 21" id="21"/>
          <p:cNvSpPr/>
          <p:nvPr/>
        </p:nvSpPr>
        <p:spPr>
          <a:xfrm rot="0" flipH="false" flipV="false">
            <a:off x="8636000" y="3454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资源聚焦与跨部门协同</a:t>
            </a:r>
            <a:endParaRPr lang="en-US" sz="1100"/>
          </a:p>
        </p:txBody>
      </p:sp>
      <p:cxnSp>
        <p:nvCxnSpPr>
          <p:cNvPr name="Connector 22" id="22"/>
          <p:cNvCxnSpPr/>
          <p:nvPr/>
        </p:nvCxnSpPr>
        <p:spPr>
          <a:xfrm rot="-14323" flipH="false" flipV="false">
            <a:off x="8191513" y="3930650"/>
            <a:ext cx="3048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23" id="23"/>
          <p:cNvSpPr/>
          <p:nvPr/>
        </p:nvSpPr>
        <p:spPr>
          <a:xfrm rot="0" flipH="false" flipV="false">
            <a:off x="8191500" y="4064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遵循“压强原则”集中优势资源，组建跨职能“铁三角”团队打破部门壁垒，实现研发、市场、交付等环节的高效融合。</a:t>
            </a:r>
            <a:endParaRPr lang="en-US" sz="1100"/>
          </a:p>
        </p:txBody>
      </p:sp>
      <p:sp>
        <p:nvSpPr>
          <p:cNvPr name="AutoShape 24" id="24"/>
          <p:cNvSpPr/>
          <p:nvPr/>
        </p:nvSpPr>
        <p:spPr>
          <a:xfrm rot="0" flipH="false" flipV="false">
            <a:off x="762000" y="5080000"/>
            <a:ext cx="5270500" cy="13970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5080000"/>
            <a:ext cx="5270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2500" y="5270500"/>
            <a:ext cx="304800" cy="304800"/>
          </a:xfrm>
          <a:prstGeom prst="rect">
            <a:avLst/>
          </a:prstGeom>
        </p:spPr>
      </p:pic>
      <p:sp>
        <p:nvSpPr>
          <p:cNvPr name="AutoShape 27" id="27"/>
          <p:cNvSpPr/>
          <p:nvPr/>
        </p:nvSpPr>
        <p:spPr>
          <a:xfrm rot="0" flipH="false" flipV="false">
            <a:off x="1397000" y="52324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机制创新与强力激励</a:t>
            </a:r>
            <a:endParaRPr lang="en-US" sz="1100"/>
          </a:p>
        </p:txBody>
      </p:sp>
      <p:cxnSp>
        <p:nvCxnSpPr>
          <p:cNvPr name="Connector 28" id="28"/>
          <p:cNvCxnSpPr/>
          <p:nvPr/>
        </p:nvCxnSpPr>
        <p:spPr>
          <a:xfrm rot="-8929" flipH="false" flipV="false">
            <a:off x="952508" y="5708650"/>
            <a:ext cx="48895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29" id="29"/>
          <p:cNvSpPr/>
          <p:nvPr/>
        </p:nvSpPr>
        <p:spPr>
          <a:xfrm rot="0" flipH="false" flipV="false">
            <a:off x="952500" y="58166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采用“揭榜挂帅”打破身份限制，通过“五定”模型明确权责利，配套专项激励政策，充分激发团队主动性与创造力，保障项目高效推进。</a:t>
            </a:r>
            <a:endParaRPr lang="en-US" sz="1100"/>
          </a:p>
        </p:txBody>
      </p:sp>
      <p:sp>
        <p:nvSpPr>
          <p:cNvPr name="AutoShape 30" id="30"/>
          <p:cNvSpPr/>
          <p:nvPr/>
        </p:nvSpPr>
        <p:spPr>
          <a:xfrm rot="0" flipH="false" flipV="false">
            <a:off x="6286500" y="5080000"/>
            <a:ext cx="5270500" cy="13970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286500" y="5080000"/>
            <a:ext cx="5270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77000" y="5270500"/>
            <a:ext cx="304800" cy="304800"/>
          </a:xfrm>
          <a:prstGeom prst="rect">
            <a:avLst/>
          </a:prstGeom>
        </p:spPr>
      </p:pic>
      <p:sp>
        <p:nvSpPr>
          <p:cNvPr name="AutoShape 33" id="33"/>
          <p:cNvSpPr/>
          <p:nvPr/>
        </p:nvSpPr>
        <p:spPr>
          <a:xfrm rot="0" flipH="false" flipV="false">
            <a:off x="6921500" y="52324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高层授权与全程管控</a:t>
            </a:r>
            <a:endParaRPr lang="en-US" sz="1100"/>
          </a:p>
        </p:txBody>
      </p:sp>
      <p:cxnSp>
        <p:nvCxnSpPr>
          <p:cNvPr name="Connector 34" id="34"/>
          <p:cNvCxnSpPr/>
          <p:nvPr/>
        </p:nvCxnSpPr>
        <p:spPr>
          <a:xfrm rot="-8929" flipH="false" flipV="false">
            <a:off x="6477008" y="5708650"/>
            <a:ext cx="48895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35" id="35"/>
          <p:cNvSpPr/>
          <p:nvPr/>
        </p:nvSpPr>
        <p:spPr>
          <a:xfrm rot="0" flipH="false" flipV="false">
            <a:off x="6477000" y="58166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由企业高层发起并直接授权，通过关键决策点（CDCP/PDCP）实施全生命周期严格管控，及时协调资源、解决障碍，确保项目战略方向不偏航。</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解决方案与解决方案作战地图</a:t>
            </a:r>
            <a:endParaRPr lang="en-US" sz="1100"/>
          </a:p>
        </p:txBody>
      </p:sp>
      <p:cxnSp>
        <p:nvCxnSpPr>
          <p:cNvPr name="Connector 3" id="3"/>
          <p:cNvCxnSpPr/>
          <p:nvPr/>
        </p:nvCxnSpPr>
        <p:spPr>
          <a:xfrm rot="-4092" flipH="false" flipV="false">
            <a:off x="762004" y="1390650"/>
            <a:ext cx="10668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4" id="4"/>
          <p:cNvSpPr/>
          <p:nvPr/>
        </p:nvSpPr>
        <p:spPr>
          <a:xfrm rot="0" flipH="false" flipV="false">
            <a:off x="762000" y="1905000"/>
            <a:ext cx="5207000" cy="3683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3683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79500" y="20955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01. 解决方案：战略蓝图的核心定义</a:t>
            </a:r>
            <a:endParaRPr lang="en-US" sz="1100"/>
          </a:p>
        </p:txBody>
      </p:sp>
      <p:cxnSp>
        <p:nvCxnSpPr>
          <p:cNvPr name="Connector 7" id="7"/>
          <p:cNvCxnSpPr/>
          <p:nvPr/>
        </p:nvCxnSpPr>
        <p:spPr>
          <a:xfrm rot="-9418" flipH="false" flipV="false">
            <a:off x="1079509" y="2724150"/>
            <a:ext cx="46355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8" id="8"/>
          <p:cNvSpPr/>
          <p:nvPr/>
        </p:nvSpPr>
        <p:spPr>
          <a:xfrm rot="0" flipH="false" flipV="false">
            <a:off x="1079500" y="2984500"/>
            <a:ext cx="4635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解决方案并非单一产品，而是整合了核心产品、前沿技术、配套服务、业务流程与商业模式的综合体系，是面向客户需求的一套完整价值主张。</a:t>
            </a:r>
            <a:endParaRPr lang="en-US" sz="1100"/>
          </a:p>
        </p:txBody>
      </p:sp>
      <p:sp>
        <p:nvSpPr>
          <p:cNvPr name="AutoShape 9" id="9"/>
          <p:cNvSpPr/>
          <p:nvPr/>
        </p:nvSpPr>
        <p:spPr>
          <a:xfrm rot="0" flipH="false" flipV="false">
            <a:off x="1079500" y="4127500"/>
            <a:ext cx="10795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79500" y="41910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核心产品</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与技术</a:t>
            </a:r>
            <a:endParaRPr lang="en-US" sz="1100"/>
          </a:p>
        </p:txBody>
      </p:sp>
      <p:sp>
        <p:nvSpPr>
          <p:cNvPr name="AutoShape 11" id="11"/>
          <p:cNvSpPr/>
          <p:nvPr/>
        </p:nvSpPr>
        <p:spPr>
          <a:xfrm rot="0" flipH="false" flipV="false">
            <a:off x="2286000" y="4127500"/>
            <a:ext cx="10795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2286000" y="41910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全周期</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配套服务</a:t>
            </a:r>
            <a:endParaRPr lang="en-US" sz="1100"/>
          </a:p>
        </p:txBody>
      </p:sp>
      <p:sp>
        <p:nvSpPr>
          <p:cNvPr name="AutoShape 13" id="13"/>
          <p:cNvSpPr/>
          <p:nvPr/>
        </p:nvSpPr>
        <p:spPr>
          <a:xfrm rot="0" flipH="false" flipV="false">
            <a:off x="3492500" y="4127500"/>
            <a:ext cx="10795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492500" y="41910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闭环</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业务流程</a:t>
            </a:r>
            <a:endParaRPr lang="en-US" sz="1100"/>
          </a:p>
        </p:txBody>
      </p:sp>
      <p:sp>
        <p:nvSpPr>
          <p:cNvPr name="AutoShape 15" id="15"/>
          <p:cNvSpPr/>
          <p:nvPr/>
        </p:nvSpPr>
        <p:spPr>
          <a:xfrm rot="0" flipH="false" flipV="false">
            <a:off x="4572000" y="4127500"/>
            <a:ext cx="10795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72000" y="41910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可持续</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商业模式</a:t>
            </a:r>
            <a:endParaRPr lang="en-US" sz="1100"/>
          </a:p>
        </p:txBody>
      </p:sp>
      <p:sp>
        <p:nvSpPr>
          <p:cNvPr name="AutoShape 17" id="17"/>
          <p:cNvSpPr/>
          <p:nvPr/>
        </p:nvSpPr>
        <p:spPr>
          <a:xfrm rot="0" flipH="false" flipV="false">
            <a:off x="1079500" y="5143500"/>
            <a:ext cx="463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alpha val="80000"/>
                  </a:srgbClr>
                </a:solidFill>
                <a:latin typeface="Noto Sans SC"/>
                <a:ea typeface="Noto Sans SC"/>
                <a:cs typeface="Noto Sans SC"/>
                <a:sym typeface="Noto Sans SC"/>
              </a:rPr>
              <a:t>定位：它是企业的顶层战略蓝图，而“战役攻关项目”正是将这一蓝图落地的关键作战单元，是战略走向实践的第一步。</a:t>
            </a:r>
            <a:endParaRPr lang="en-US" sz="1100"/>
          </a:p>
        </p:txBody>
      </p:sp>
      <p:sp>
        <p:nvSpPr>
          <p:cNvPr name="AutoShape 18" id="18"/>
          <p:cNvSpPr/>
          <p:nvPr/>
        </p:nvSpPr>
        <p:spPr>
          <a:xfrm rot="0" flipH="false" flipV="false">
            <a:off x="6223000" y="1905000"/>
            <a:ext cx="5207000" cy="3683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223000" y="1905000"/>
            <a:ext cx="76200" cy="3683000"/>
          </a:xfrm>
          <a:prstGeom prst="roundRect">
            <a:avLst>
              <a:gd name="adj" fmla="val 0"/>
            </a:avLst>
          </a:prstGeom>
          <a:solidFill>
            <a:srgbClr val="0A2647">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540500" y="20955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02. 解决方案作战地图：战略落地的执行工具</a:t>
            </a:r>
            <a:endParaRPr lang="en-US" sz="1100"/>
          </a:p>
        </p:txBody>
      </p:sp>
      <p:cxnSp>
        <p:nvCxnSpPr>
          <p:cNvPr name="Connector 21" id="21"/>
          <p:cNvCxnSpPr/>
          <p:nvPr/>
        </p:nvCxnSpPr>
        <p:spPr>
          <a:xfrm rot="-9418" flipH="false" flipV="false">
            <a:off x="6540509" y="2724150"/>
            <a:ext cx="46355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22" id="22"/>
          <p:cNvSpPr/>
          <p:nvPr/>
        </p:nvSpPr>
        <p:spPr>
          <a:xfrm rot="0" flipH="false" flipV="false">
            <a:off x="6540500" y="2984500"/>
            <a:ext cx="4635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作战地图是将抽象的“解决方案”战略，转化为具体、可执行、可视化的规划工具。它把宏大的战略目标拆解为清晰的行动指引，明确方向与路径。</a:t>
            </a:r>
            <a:endParaRPr lang="en-US" sz="1100"/>
          </a:p>
        </p:txBody>
      </p:sp>
      <p:sp>
        <p:nvSpPr>
          <p:cNvPr name="AutoShape 23" id="23"/>
          <p:cNvSpPr/>
          <p:nvPr/>
        </p:nvSpPr>
        <p:spPr>
          <a:xfrm rot="0" flipH="false" flipV="false">
            <a:off x="6540500" y="4127500"/>
            <a:ext cx="8890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540500" y="4191000"/>
            <a:ext cx="889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战略</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目标</a:t>
            </a:r>
            <a:endParaRPr lang="en-US" sz="1100"/>
          </a:p>
        </p:txBody>
      </p:sp>
      <p:sp>
        <p:nvSpPr>
          <p:cNvPr name="AutoShape 25" id="25"/>
          <p:cNvSpPr/>
          <p:nvPr/>
        </p:nvSpPr>
        <p:spPr>
          <a:xfrm rot="0" flipH="false" flipV="false">
            <a:off x="7556500" y="4127500"/>
            <a:ext cx="8890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556500" y="4191000"/>
            <a:ext cx="889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关键</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战役</a:t>
            </a:r>
            <a:endParaRPr lang="en-US" sz="1100"/>
          </a:p>
        </p:txBody>
      </p:sp>
      <p:sp>
        <p:nvSpPr>
          <p:cNvPr name="AutoShape 27" id="27"/>
          <p:cNvSpPr/>
          <p:nvPr/>
        </p:nvSpPr>
        <p:spPr>
          <a:xfrm rot="0" flipH="false" flipV="false">
            <a:off x="8509000" y="4127500"/>
            <a:ext cx="8890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8509000" y="4191000"/>
            <a:ext cx="889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作战</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路径</a:t>
            </a:r>
            <a:endParaRPr lang="en-US" sz="1100"/>
          </a:p>
        </p:txBody>
      </p:sp>
      <p:sp>
        <p:nvSpPr>
          <p:cNvPr name="AutoShape 29" id="29"/>
          <p:cNvSpPr/>
          <p:nvPr/>
        </p:nvSpPr>
        <p:spPr>
          <a:xfrm rot="0" flipH="false" flipV="false">
            <a:off x="9461500" y="4127500"/>
            <a:ext cx="8890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9461500" y="4191000"/>
            <a:ext cx="889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资源</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部署</a:t>
            </a:r>
            <a:endParaRPr lang="en-US" sz="1100"/>
          </a:p>
        </p:txBody>
      </p:sp>
      <p:sp>
        <p:nvSpPr>
          <p:cNvPr name="AutoShape 31" id="31"/>
          <p:cNvSpPr/>
          <p:nvPr/>
        </p:nvSpPr>
        <p:spPr>
          <a:xfrm rot="0" flipH="false" flipV="false">
            <a:off x="10414000" y="4127500"/>
            <a:ext cx="889000" cy="635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10414000" y="4191000"/>
            <a:ext cx="889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A2647"/>
                </a:solidFill>
                <a:latin typeface="Noto Sans SC"/>
                <a:ea typeface="Noto Sans SC"/>
                <a:cs typeface="Noto Sans SC"/>
                <a:sym typeface="Noto Sans SC"/>
              </a:rPr>
              <a:t>衡量</a:t>
            </a:r>
            <a:r>
              <a:rPr lang="en-US" b="true" i="false" strike="noStrike" u="none" sz="1300">
                <a:solidFill>
                  <a:srgbClr val="0A2647"/>
                </a:solidFill>
                <a:latin typeface="Noto Sans SC"/>
                <a:ea typeface="Noto Sans SC"/>
                <a:cs typeface="Noto Sans SC"/>
                <a:sym typeface="Noto Sans SC"/>
              </a:rPr>
              <a:t/>
            </a:r>
            <a:br>
              <a:rPr lang="en-US" b="true" i="false" strike="noStrike" u="none" sz="1300">
                <a:solidFill>
                  <a:srgbClr val="0A2647"/>
                </a:solidFill>
                <a:latin typeface="Noto Sans SC"/>
                <a:ea typeface="Noto Sans SC"/>
                <a:cs typeface="Noto Sans SC"/>
                <a:sym typeface="Noto Sans SC"/>
              </a:rPr>
            </a:br>
            <a:r>
              <a:rPr lang="en-US" b="true" i="false" strike="noStrike" u="none" sz="1300">
                <a:solidFill>
                  <a:srgbClr val="0A2647"/>
                </a:solidFill>
                <a:latin typeface="Noto Sans SC"/>
                <a:ea typeface="Noto Sans SC"/>
                <a:cs typeface="Noto Sans SC"/>
                <a:sym typeface="Noto Sans SC"/>
              </a:rPr>
              <a:t>指标</a:t>
            </a:r>
            <a:endParaRPr lang="en-US" sz="1100"/>
          </a:p>
        </p:txBody>
      </p:sp>
      <p:sp>
        <p:nvSpPr>
          <p:cNvPr name="AutoShape 33" id="33"/>
          <p:cNvSpPr/>
          <p:nvPr/>
        </p:nvSpPr>
        <p:spPr>
          <a:xfrm rot="0" flipH="false" flipV="false">
            <a:off x="6540500" y="5143500"/>
            <a:ext cx="463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alpha val="80000"/>
                  </a:srgbClr>
                </a:solidFill>
                <a:latin typeface="Noto Sans SC"/>
                <a:ea typeface="Noto Sans SC"/>
                <a:cs typeface="Noto Sans SC"/>
                <a:sym typeface="Noto Sans SC"/>
              </a:rPr>
              <a:t>价值：它是连接战略规划与落地执行的核心桥梁，确保每一项战略意图都能转化为可量化、可追踪、可落地的具体作战动作。</a:t>
            </a:r>
            <a:endParaRPr lang="en-US" sz="1100"/>
          </a:p>
        </p:txBody>
      </p:sp>
      <p:sp>
        <p:nvSpPr>
          <p:cNvPr name="AutoShape 34" id="34"/>
          <p:cNvSpPr/>
          <p:nvPr/>
        </p:nvSpPr>
        <p:spPr>
          <a:xfrm rot="0" flipH="false" flipV="false">
            <a:off x="762000" y="5905500"/>
            <a:ext cx="10668000" cy="698500"/>
          </a:xfrm>
          <a:prstGeom prst="roundRect">
            <a:avLst>
              <a:gd name="adj" fmla="val 0"/>
            </a:avLst>
          </a:prstGeom>
          <a:solidFill>
            <a:srgbClr val="0A2647">
              <a:alpha val="6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5" id="3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6032500"/>
            <a:ext cx="406400" cy="406400"/>
          </a:xfrm>
          <a:prstGeom prst="rect">
            <a:avLst/>
          </a:prstGeom>
        </p:spPr>
      </p:pic>
      <p:sp>
        <p:nvSpPr>
          <p:cNvPr name="AutoShape 36" id="36"/>
          <p:cNvSpPr/>
          <p:nvPr/>
        </p:nvSpPr>
        <p:spPr>
          <a:xfrm rot="0" flipH="false" flipV="false">
            <a:off x="1524000" y="5969000"/>
            <a:ext cx="965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0A2647"/>
                </a:solidFill>
                <a:latin typeface="Noto Sans SC"/>
                <a:ea typeface="Noto Sans SC"/>
                <a:cs typeface="Noto Sans SC"/>
                <a:sym typeface="Noto Sans SC"/>
              </a:rPr>
              <a:t>核心逻辑：“解决方案”锚定方向，“作战地图”规划路径，二者结合将抽象战略转化为可执行的战役，是企业从战略构想到市场成果的关键闭环。</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三者的映射关系：从战略到执行</a:t>
            </a:r>
            <a:endParaRPr lang="en-US" sz="1100"/>
          </a:p>
        </p:txBody>
      </p:sp>
      <p:cxnSp>
        <p:nvCxnSpPr>
          <p:cNvPr name="Connector 3" id="3"/>
          <p:cNvCxnSpPr/>
          <p:nvPr/>
        </p:nvCxnSpPr>
        <p:spPr>
          <a:xfrm rot="-4092" flipH="false" flipV="false">
            <a:off x="762004" y="1263650"/>
            <a:ext cx="10668000" cy="12700"/>
          </a:xfrm>
          <a:prstGeom prst="straightConnector1">
            <a:avLst/>
          </a:prstGeom>
          <a:solidFill>
            <a:srgbClr val="DEE0E3">
              <a:alpha val="100000"/>
            </a:srgbClr>
          </a:solidFill>
          <a:ln w="12700" cmpd="sng" cap="flat">
            <a:solidFill>
              <a:srgbClr val="0A2647">
                <a:alpha val="20000"/>
              </a:srgbClr>
            </a:solidFill>
            <a:prstDash val="solid"/>
            <a:round/>
            <a:headEnd type="none" w="med" len="med"/>
            <a:tailEnd type="none" w="med" len="med"/>
          </a:ln>
        </p:spPr>
      </p:cxnSp>
      <p:pic>
        <p:nvPicPr>
          <p:cNvPr name="Picture 4" id="4"/>
          <p:cNvPicPr>
            <a:picLocks noChangeAspect="true"/>
          </p:cNvPicPr>
          <p:nvPr/>
        </p:nvPicPr>
        <p:blipFill>
          <a:blip r:embed="rId2"/>
          <a:srcRect l="11025" r="11025" t="0" b="0"/>
          <a:stretch>
            <a:fillRect/>
          </a:stretch>
        </p:blipFill>
        <p:spPr>
          <a:xfrm rot="0" flipH="false" flipV="false">
            <a:off x="762000" y="1651000"/>
            <a:ext cx="4572000" cy="3302000"/>
          </a:xfrm>
          <a:prstGeom prst="rect">
            <a:avLst/>
          </a:prstGeom>
          <a:noFill/>
          <a:ln w="25400" cmpd="sng" cap="flat">
            <a:noFill/>
            <a:prstDash val="solid"/>
            <a:round/>
          </a:ln>
        </p:spPr>
      </p:pic>
      <p:sp>
        <p:nvSpPr>
          <p:cNvPr name="AutoShape 5" id="5"/>
          <p:cNvSpPr/>
          <p:nvPr/>
        </p:nvSpPr>
        <p:spPr>
          <a:xfrm rot="0" flipH="false" flipV="false">
            <a:off x="762000" y="5207000"/>
            <a:ext cx="457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图示展示了战略目标自上而下的完整分解链路。通过可视化的作战地图，将抽象的战略意图转化为可落地的规划，再进一步拆解为明确的执行战役，确保组织上下目标对齐、行动一致，形成从顶层设计到落地执行的高效闭环。</a:t>
            </a:r>
            <a:endParaRPr lang="en-US" sz="1100"/>
          </a:p>
        </p:txBody>
      </p:sp>
      <p:cxnSp>
        <p:nvCxnSpPr>
          <p:cNvPr name="Connector 6" id="6"/>
          <p:cNvCxnSpPr/>
          <p:nvPr/>
        </p:nvCxnSpPr>
        <p:spPr>
          <a:xfrm rot="5390581" flipH="false" flipV="false">
            <a:off x="3333750" y="3962409"/>
            <a:ext cx="4635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sp>
        <p:nvSpPr>
          <p:cNvPr name="AutoShape 7" id="7"/>
          <p:cNvSpPr/>
          <p:nvPr/>
        </p:nvSpPr>
        <p:spPr>
          <a:xfrm rot="0" flipH="false" flipV="false">
            <a:off x="5842000" y="1651000"/>
            <a:ext cx="2857500" cy="2095500"/>
          </a:xfrm>
          <a:prstGeom prst="roundRect">
            <a:avLst>
              <a:gd name="adj" fmla="val 0"/>
            </a:avLst>
          </a:prstGeom>
          <a:solidFill>
            <a:srgbClr val="0A2647">
              <a:alpha val="4000"/>
            </a:srgbClr>
          </a:solidFill>
          <a:ln cmpd="sng" cap="flat">
            <a:solidFill>
              <a:srgbClr val="02162E">
                <a:alpha val="4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842000" y="1651000"/>
            <a:ext cx="2857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969000" y="18415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01 战略层：定义方向</a:t>
            </a:r>
            <a:endParaRPr lang="en-US" sz="1100"/>
          </a:p>
        </p:txBody>
      </p:sp>
      <p:cxnSp>
        <p:nvCxnSpPr>
          <p:cNvPr name="Connector 10" id="10"/>
          <p:cNvCxnSpPr/>
          <p:nvPr/>
        </p:nvCxnSpPr>
        <p:spPr>
          <a:xfrm rot="-16769" flipH="false" flipV="false">
            <a:off x="5969015" y="2343150"/>
            <a:ext cx="2603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11" id="11"/>
          <p:cNvSpPr/>
          <p:nvPr/>
        </p:nvSpPr>
        <p:spPr>
          <a:xfrm rot="0" flipH="false" flipV="false">
            <a:off x="5969000" y="2540000"/>
            <a:ext cx="260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聚焦“做什么”，核心是确立企业的价值主张与长远战略方向。例如面向智能制造领域，明确推出“AI质检解决方案”作为核心战略产品，锚定业务发展的根本目标。</a:t>
            </a:r>
            <a:endParaRPr lang="en-US" sz="1100"/>
          </a:p>
        </p:txBody>
      </p:sp>
      <p:sp>
        <p:nvSpPr>
          <p:cNvPr name="AutoShape 12" id="12"/>
          <p:cNvSpPr/>
          <p:nvPr/>
        </p:nvSpPr>
        <p:spPr>
          <a:xfrm rot="0" flipH="false" flipV="false">
            <a:off x="8890000" y="1651000"/>
            <a:ext cx="2857500" cy="2095500"/>
          </a:xfrm>
          <a:prstGeom prst="roundRect">
            <a:avLst>
              <a:gd name="adj" fmla="val 0"/>
            </a:avLst>
          </a:prstGeom>
          <a:solidFill>
            <a:srgbClr val="0A2647">
              <a:alpha val="4000"/>
            </a:srgbClr>
          </a:solidFill>
          <a:ln cmpd="sng" cap="flat">
            <a:solidFill>
              <a:srgbClr val="02162E">
                <a:alpha val="4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890000" y="1651000"/>
            <a:ext cx="2857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017000" y="18415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02 规划层：拆解战役</a:t>
            </a:r>
            <a:endParaRPr lang="en-US" sz="1100"/>
          </a:p>
        </p:txBody>
      </p:sp>
      <p:cxnSp>
        <p:nvCxnSpPr>
          <p:cNvPr name="Connector 15" id="15"/>
          <p:cNvCxnSpPr/>
          <p:nvPr/>
        </p:nvCxnSpPr>
        <p:spPr>
          <a:xfrm rot="-16769" flipH="false" flipV="false">
            <a:off x="9017015" y="2343150"/>
            <a:ext cx="2603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16" id="16"/>
          <p:cNvSpPr/>
          <p:nvPr/>
        </p:nvSpPr>
        <p:spPr>
          <a:xfrm rot="0" flipH="false" flipV="false">
            <a:off x="9017000" y="2540000"/>
            <a:ext cx="260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聚焦“怎么做”，将解决方案细化为可执行的关键战役。如同步推进AI视觉算法攻关、边缘计算硬件研发、以及行业标杆客户试点三大核心战役，搭建落地的作战地图。</a:t>
            </a:r>
            <a:endParaRPr lang="en-US" sz="1100"/>
          </a:p>
        </p:txBody>
      </p:sp>
      <p:sp>
        <p:nvSpPr>
          <p:cNvPr name="AutoShape 17" id="17"/>
          <p:cNvSpPr/>
          <p:nvPr/>
        </p:nvSpPr>
        <p:spPr>
          <a:xfrm rot="0" flipH="false" flipV="false">
            <a:off x="5842000" y="4064000"/>
            <a:ext cx="5905500" cy="2095500"/>
          </a:xfrm>
          <a:prstGeom prst="roundRect">
            <a:avLst>
              <a:gd name="adj" fmla="val 0"/>
            </a:avLst>
          </a:prstGeom>
          <a:solidFill>
            <a:srgbClr val="0A2647">
              <a:alpha val="4000"/>
            </a:srgbClr>
          </a:solidFill>
          <a:ln cmpd="sng" cap="flat">
            <a:solidFill>
              <a:srgbClr val="02162E">
                <a:alpha val="4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842000" y="4064000"/>
            <a:ext cx="5905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969000" y="4254500"/>
            <a:ext cx="565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03 执行层：落地攻坚 —— 明确“谁来做”与“何时完成”</a:t>
            </a:r>
            <a:endParaRPr lang="en-US" sz="1100"/>
          </a:p>
        </p:txBody>
      </p:sp>
      <p:cxnSp>
        <p:nvCxnSpPr>
          <p:cNvPr name="Connector 20" id="20"/>
          <p:cNvCxnSpPr/>
          <p:nvPr/>
        </p:nvCxnSpPr>
        <p:spPr>
          <a:xfrm rot="-7725" flipH="false" flipV="false">
            <a:off x="5969007" y="4756150"/>
            <a:ext cx="5651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21" id="21"/>
          <p:cNvSpPr/>
          <p:nvPr/>
        </p:nvSpPr>
        <p:spPr>
          <a:xfrm rot="0" flipH="false" flipV="false">
            <a:off x="5969000" y="4953000"/>
            <a:ext cx="5651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将规划的战役转化为具体的攻坚项目，落实责任主体与时间节点。例如算法攻关项目由专家团队领衔，设定6个月研发周期；硬件研发同步启动供应链选型；标杆试点明确行业头部客户为首批合作对象，确保每个环节责任到人、进度可控，实现战略规划的精准落地。</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第二部分：构建「人力资源地图」</a:t>
            </a:r>
            <a:endParaRPr lang="en-US" sz="1100"/>
          </a:p>
        </p:txBody>
      </p:sp>
      <p:sp>
        <p:nvSpPr>
          <p:cNvPr name="AutoShape 3" id="3"/>
          <p:cNvSpPr/>
          <p:nvPr/>
        </p:nvSpPr>
        <p:spPr>
          <a:xfrm rot="0" flipH="false" flipV="false">
            <a:off x="762000" y="1206500"/>
            <a:ext cx="10668000" cy="25400"/>
          </a:xfrm>
          <a:prstGeom prst="roundRect">
            <a:avLst>
              <a:gd name="adj" fmla="val 0"/>
            </a:avLst>
          </a:prstGeom>
          <a:solidFill>
            <a:srgbClr val="0A2647">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2173" r="2173" t="0" b="0"/>
          <a:stretch>
            <a:fillRect/>
          </a:stretch>
        </p:blipFill>
        <p:spPr>
          <a:xfrm rot="0" flipH="false" flipV="false">
            <a:off x="762000" y="1778000"/>
            <a:ext cx="5080000" cy="2921000"/>
          </a:xfrm>
          <a:prstGeom prst="rect">
            <a:avLst/>
          </a:prstGeom>
          <a:noFill/>
          <a:ln w="25400" cmpd="sng" cap="flat">
            <a:noFill/>
            <a:prstDash val="solid"/>
            <a:round/>
          </a:ln>
        </p:spPr>
      </p:pic>
      <p:sp>
        <p:nvSpPr>
          <p:cNvPr name="AutoShape 5" id="5"/>
          <p:cNvSpPr/>
          <p:nvPr/>
        </p:nvSpPr>
        <p:spPr>
          <a:xfrm rot="0" flipH="false" flipV="false">
            <a:off x="762000" y="5080000"/>
            <a:ext cx="508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05A64"/>
                </a:solidFill>
                <a:latin typeface="Noto Sans SC"/>
                <a:ea typeface="Noto Sans SC"/>
                <a:cs typeface="Noto Sans SC"/>
                <a:sym typeface="Noto Sans SC"/>
              </a:rPr>
              <a:t>通过可视化的地图形式，将员工的技能、层级、岗位及分布数据整合呈现，打破信息孤岛，让人才资产像地理信息一样直观可查，为管理决策提供可视化依据。</a:t>
            </a:r>
            <a:endParaRPr lang="en-US" sz="1100"/>
          </a:p>
        </p:txBody>
      </p:sp>
      <p:cxnSp>
        <p:nvCxnSpPr>
          <p:cNvPr name="Connector 6" id="6"/>
          <p:cNvCxnSpPr/>
          <p:nvPr/>
        </p:nvCxnSpPr>
        <p:spPr>
          <a:xfrm rot="5390450" flipH="false" flipV="false">
            <a:off x="3937000" y="4057659"/>
            <a:ext cx="45720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7" id="7"/>
          <p:cNvSpPr/>
          <p:nvPr/>
        </p:nvSpPr>
        <p:spPr>
          <a:xfrm rot="0" flipH="false" flipV="false">
            <a:off x="6477000" y="1778000"/>
            <a:ext cx="4953000" cy="13970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77000" y="1778000"/>
            <a:ext cx="50800" cy="1397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667500" y="1905000"/>
            <a:ext cx="463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0A2647"/>
                </a:solidFill>
                <a:latin typeface="Noto Sans SC"/>
                <a:ea typeface="Noto Sans SC"/>
                <a:cs typeface="Noto Sans SC"/>
                <a:sym typeface="Noto Sans SC"/>
              </a:rPr>
              <a:t>什么是人力资源地图？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3C4655"/>
                </a:solidFill>
                <a:latin typeface="Noto Sans SC"/>
                <a:ea typeface="Noto Sans SC"/>
                <a:cs typeface="Noto Sans SC"/>
                <a:sym typeface="Noto Sans SC"/>
              </a:rPr>
              <a:t>它是一种系统性的人才可视化工具，整合分散的员工数据，清晰展示组织内人力资源的分布、构成、能力和状态，帮助管理者直观洞察人才现状，从而更科学地进行资源调配与决策。</a:t>
            </a:r>
          </a:p>
        </p:txBody>
      </p:sp>
      <p:sp>
        <p:nvSpPr>
          <p:cNvPr name="AutoShape 10" id="10"/>
          <p:cNvSpPr/>
          <p:nvPr/>
        </p:nvSpPr>
        <p:spPr>
          <a:xfrm rot="0" flipH="false" flipV="false">
            <a:off x="6477000" y="3556000"/>
            <a:ext cx="2413000" cy="12065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3708400"/>
            <a:ext cx="304800" cy="304800"/>
          </a:xfrm>
          <a:prstGeom prst="rect">
            <a:avLst/>
          </a:prstGeom>
        </p:spPr>
      </p:pic>
      <p:sp>
        <p:nvSpPr>
          <p:cNvPr name="AutoShape 12" id="12"/>
          <p:cNvSpPr/>
          <p:nvPr/>
        </p:nvSpPr>
        <p:spPr>
          <a:xfrm rot="0" flipH="false" flipV="false">
            <a:off x="7048500" y="3657600"/>
            <a:ext cx="177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A2647"/>
                </a:solidFill>
                <a:latin typeface="Noto Sans SC"/>
                <a:ea typeface="Noto Sans SC"/>
                <a:cs typeface="Noto Sans SC"/>
                <a:sym typeface="Noto Sans SC"/>
              </a:rPr>
              <a:t>提升配置效率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05A64"/>
                </a:solidFill>
                <a:latin typeface="Noto Sans SC"/>
                <a:ea typeface="Noto Sans SC"/>
                <a:cs typeface="Noto Sans SC"/>
                <a:sym typeface="Noto Sans SC"/>
              </a:rPr>
              <a:t>快速检索定位具备特定技能、经验的员工，减少人才搜寻成本，加速人岗匹配进程。</a:t>
            </a:r>
          </a:p>
        </p:txBody>
      </p:sp>
      <p:sp>
        <p:nvSpPr>
          <p:cNvPr name="AutoShape 13" id="13"/>
          <p:cNvSpPr/>
          <p:nvPr/>
        </p:nvSpPr>
        <p:spPr>
          <a:xfrm rot="0" flipH="false" flipV="false">
            <a:off x="9017000" y="3556000"/>
            <a:ext cx="2413000" cy="12065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144000" y="3708400"/>
            <a:ext cx="304800" cy="304800"/>
          </a:xfrm>
          <a:prstGeom prst="rect">
            <a:avLst/>
          </a:prstGeom>
        </p:spPr>
      </p:pic>
      <p:sp>
        <p:nvSpPr>
          <p:cNvPr name="AutoShape 15" id="15"/>
          <p:cNvSpPr/>
          <p:nvPr/>
        </p:nvSpPr>
        <p:spPr>
          <a:xfrm rot="0" flipH="false" flipV="false">
            <a:off x="9588500" y="3657600"/>
            <a:ext cx="177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A2647"/>
                </a:solidFill>
                <a:latin typeface="Noto Sans SC"/>
                <a:ea typeface="Noto Sans SC"/>
                <a:cs typeface="Noto Sans SC"/>
                <a:sym typeface="Noto Sans SC"/>
              </a:rPr>
              <a:t>识别关键人才与风险</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05A64"/>
                </a:solidFill>
                <a:latin typeface="Noto Sans SC"/>
                <a:ea typeface="Noto Sans SC"/>
                <a:cs typeface="Noto Sans SC"/>
                <a:sym typeface="Noto Sans SC"/>
              </a:rPr>
              <a:t>精准锁定高潜人才，同时预警核心岗位断层、关键人才流失等风险，建立人才安全防线。</a:t>
            </a:r>
          </a:p>
        </p:txBody>
      </p:sp>
      <p:sp>
        <p:nvSpPr>
          <p:cNvPr name="AutoShape 16" id="16"/>
          <p:cNvSpPr/>
          <p:nvPr/>
        </p:nvSpPr>
        <p:spPr>
          <a:xfrm rot="0" flipH="false" flipV="false">
            <a:off x="6477000" y="5080000"/>
            <a:ext cx="2413000" cy="12065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5232400"/>
            <a:ext cx="304800" cy="304800"/>
          </a:xfrm>
          <a:prstGeom prst="rect">
            <a:avLst/>
          </a:prstGeom>
        </p:spPr>
      </p:pic>
      <p:sp>
        <p:nvSpPr>
          <p:cNvPr name="AutoShape 18" id="18"/>
          <p:cNvSpPr/>
          <p:nvPr/>
        </p:nvSpPr>
        <p:spPr>
          <a:xfrm rot="0" flipH="false" flipV="false">
            <a:off x="7048500" y="5181600"/>
            <a:ext cx="177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A2647"/>
                </a:solidFill>
                <a:latin typeface="Noto Sans SC"/>
                <a:ea typeface="Noto Sans SC"/>
                <a:cs typeface="Noto Sans SC"/>
                <a:sym typeface="Noto Sans SC"/>
              </a:rPr>
              <a:t>支撑战略规划落地</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05A64"/>
                </a:solidFill>
                <a:latin typeface="Noto Sans SC"/>
                <a:ea typeface="Noto Sans SC"/>
                <a:cs typeface="Noto Sans SC"/>
                <a:sym typeface="Noto Sans SC"/>
              </a:rPr>
              <a:t>基于现有人才储备数据，评估是否满足未来业务扩张需求，为战略制定提供人才数据支撑。</a:t>
            </a:r>
          </a:p>
        </p:txBody>
      </p:sp>
      <p:sp>
        <p:nvSpPr>
          <p:cNvPr name="AutoShape 19" id="19"/>
          <p:cNvSpPr/>
          <p:nvPr/>
        </p:nvSpPr>
        <p:spPr>
          <a:xfrm rot="0" flipH="false" flipV="false">
            <a:off x="9017000" y="5080000"/>
            <a:ext cx="2413000" cy="12065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44000" y="5232400"/>
            <a:ext cx="304800" cy="304800"/>
          </a:xfrm>
          <a:prstGeom prst="rect">
            <a:avLst/>
          </a:prstGeom>
        </p:spPr>
      </p:pic>
      <p:sp>
        <p:nvSpPr>
          <p:cNvPr name="AutoShape 21" id="21"/>
          <p:cNvSpPr/>
          <p:nvPr/>
        </p:nvSpPr>
        <p:spPr>
          <a:xfrm rot="0" flipH="false" flipV="false">
            <a:off x="9588500" y="5181600"/>
            <a:ext cx="177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A2647"/>
                </a:solidFill>
                <a:latin typeface="Noto Sans SC"/>
                <a:ea typeface="Noto Sans SC"/>
                <a:cs typeface="Noto Sans SC"/>
                <a:sym typeface="Noto Sans SC"/>
              </a:rPr>
              <a:t>优化团队结构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05A64"/>
                </a:solidFill>
                <a:latin typeface="Noto Sans SC"/>
                <a:ea typeface="Noto Sans SC"/>
                <a:cs typeface="Noto Sans SC"/>
                <a:sym typeface="Noto Sans SC"/>
              </a:rPr>
              <a:t>多维度分析各部门、区域的人员结构与能力分布，针对性调整配比，打造更高效的团队形态。</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构建「人力资源地图」的关键实体</a:t>
            </a:r>
            <a:endParaRPr lang="en-US" sz="1100"/>
          </a:p>
        </p:txBody>
      </p:sp>
      <p:sp>
        <p:nvSpPr>
          <p:cNvPr name="AutoShape 3" id="3"/>
          <p:cNvSpPr/>
          <p:nvPr/>
        </p:nvSpPr>
        <p:spPr>
          <a:xfrm rot="0" flipH="false" flipV="false">
            <a:off x="762000" y="1270000"/>
            <a:ext cx="10668000" cy="25400"/>
          </a:xfrm>
          <a:prstGeom prst="roundRect">
            <a:avLst>
              <a:gd name="adj" fmla="val 0"/>
            </a:avLst>
          </a:prstGeom>
          <a:solidFill>
            <a:srgbClr val="0A2647">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429000" cy="20955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2095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68500"/>
            <a:ext cx="406400" cy="406400"/>
          </a:xfrm>
          <a:prstGeom prst="rect">
            <a:avLst/>
          </a:prstGeom>
        </p:spPr>
      </p:pic>
      <p:sp>
        <p:nvSpPr>
          <p:cNvPr name="AutoShape 7" id="7"/>
          <p:cNvSpPr/>
          <p:nvPr/>
        </p:nvSpPr>
        <p:spPr>
          <a:xfrm rot="0" flipH="false" flipV="false">
            <a:off x="1549400" y="1930400"/>
            <a:ext cx="25146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01 员工 (Employee)</a:t>
            </a:r>
            <a:endParaRPr lang="en-US" sz="1100"/>
          </a:p>
        </p:txBody>
      </p:sp>
      <p:cxnSp>
        <p:nvCxnSpPr>
          <p:cNvPr name="Connector 8" id="8"/>
          <p:cNvCxnSpPr/>
          <p:nvPr/>
        </p:nvCxnSpPr>
        <p:spPr>
          <a:xfrm rot="-14946" flipH="false" flipV="false">
            <a:off x="1016014" y="2533650"/>
            <a:ext cx="29210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9" id="9"/>
          <p:cNvSpPr/>
          <p:nvPr/>
        </p:nvSpPr>
        <p:spPr>
          <a:xfrm rot="0" flipH="false" flipV="false">
            <a:off x="1016000" y="27305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作为核心实体，需系统整合员工的基本信息、组织架构隶属关系及关键岗位信息，形成人员信息的基础数据库。</a:t>
            </a:r>
            <a:endParaRPr lang="en-US" sz="1100"/>
          </a:p>
        </p:txBody>
      </p:sp>
      <p:sp>
        <p:nvSpPr>
          <p:cNvPr name="AutoShape 10" id="10"/>
          <p:cNvSpPr/>
          <p:nvPr/>
        </p:nvSpPr>
        <p:spPr>
          <a:xfrm rot="0" flipH="false" flipV="false">
            <a:off x="4381500" y="1778000"/>
            <a:ext cx="3429000" cy="20955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81500" y="1778000"/>
            <a:ext cx="76200" cy="2095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1968500"/>
            <a:ext cx="406400" cy="406400"/>
          </a:xfrm>
          <a:prstGeom prst="rect">
            <a:avLst/>
          </a:prstGeom>
        </p:spPr>
      </p:pic>
      <p:sp>
        <p:nvSpPr>
          <p:cNvPr name="AutoShape 13" id="13"/>
          <p:cNvSpPr/>
          <p:nvPr/>
        </p:nvSpPr>
        <p:spPr>
          <a:xfrm rot="0" flipH="false" flipV="false">
            <a:off x="5168900" y="1930400"/>
            <a:ext cx="25146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02 技能 (Skill)</a:t>
            </a:r>
            <a:endParaRPr lang="en-US" sz="1100"/>
          </a:p>
        </p:txBody>
      </p:sp>
      <p:cxnSp>
        <p:nvCxnSpPr>
          <p:cNvPr name="Connector 14" id="14"/>
          <p:cNvCxnSpPr/>
          <p:nvPr/>
        </p:nvCxnSpPr>
        <p:spPr>
          <a:xfrm rot="-14946" flipH="false" flipV="false">
            <a:off x="4635514" y="2533650"/>
            <a:ext cx="29210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15" id="15"/>
          <p:cNvSpPr/>
          <p:nvPr/>
        </p:nvSpPr>
        <p:spPr>
          <a:xfrm rot="0" flipH="false" flipV="false">
            <a:off x="4635500" y="27305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涵盖硬技能（编程语言、专业工具）与软技能（沟通协作、项目管理），建议建立量化评分体系，精准评估人才能力储备。</a:t>
            </a:r>
            <a:endParaRPr lang="en-US" sz="1100"/>
          </a:p>
        </p:txBody>
      </p:sp>
      <p:sp>
        <p:nvSpPr>
          <p:cNvPr name="AutoShape 16" id="16"/>
          <p:cNvSpPr/>
          <p:nvPr/>
        </p:nvSpPr>
        <p:spPr>
          <a:xfrm rot="0" flipH="false" flipV="false">
            <a:off x="8001000" y="1778000"/>
            <a:ext cx="3429000" cy="20955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01000" y="1778000"/>
            <a:ext cx="76200" cy="2095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1968500"/>
            <a:ext cx="406400" cy="406400"/>
          </a:xfrm>
          <a:prstGeom prst="rect">
            <a:avLst/>
          </a:prstGeom>
        </p:spPr>
      </p:pic>
      <p:sp>
        <p:nvSpPr>
          <p:cNvPr name="AutoShape 19" id="19"/>
          <p:cNvSpPr/>
          <p:nvPr/>
        </p:nvSpPr>
        <p:spPr>
          <a:xfrm rot="0" flipH="false" flipV="false">
            <a:off x="8788400" y="1930400"/>
            <a:ext cx="25146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03 分支机构 (Branch)</a:t>
            </a:r>
            <a:endParaRPr lang="en-US" sz="1100"/>
          </a:p>
        </p:txBody>
      </p:sp>
      <p:cxnSp>
        <p:nvCxnSpPr>
          <p:cNvPr name="Connector 20" id="20"/>
          <p:cNvCxnSpPr/>
          <p:nvPr/>
        </p:nvCxnSpPr>
        <p:spPr>
          <a:xfrm rot="-14946" flipH="false" flipV="false">
            <a:off x="8255014" y="2533650"/>
            <a:ext cx="29210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21" id="21"/>
          <p:cNvSpPr/>
          <p:nvPr/>
        </p:nvSpPr>
        <p:spPr>
          <a:xfrm rot="0" flipH="false" flipV="false">
            <a:off x="8255000" y="27305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梳理各代表处的地理分布、核心业务范围及组织规模数据，明确不同区域的人才布局特点与业务支撑需求。</a:t>
            </a:r>
            <a:endParaRPr lang="en-US" sz="1100"/>
          </a:p>
        </p:txBody>
      </p:sp>
      <p:sp>
        <p:nvSpPr>
          <p:cNvPr name="AutoShape 22" id="22"/>
          <p:cNvSpPr/>
          <p:nvPr/>
        </p:nvSpPr>
        <p:spPr>
          <a:xfrm rot="0" flipH="false" flipV="false">
            <a:off x="762000" y="4318000"/>
            <a:ext cx="5270500" cy="19050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4318000"/>
            <a:ext cx="76200" cy="1905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508500"/>
            <a:ext cx="406400" cy="406400"/>
          </a:xfrm>
          <a:prstGeom prst="rect">
            <a:avLst/>
          </a:prstGeom>
        </p:spPr>
      </p:pic>
      <p:sp>
        <p:nvSpPr>
          <p:cNvPr name="AutoShape 25" id="25"/>
          <p:cNvSpPr/>
          <p:nvPr/>
        </p:nvSpPr>
        <p:spPr>
          <a:xfrm rot="0" flipH="false" flipV="false">
            <a:off x="1549400" y="4470400"/>
            <a:ext cx="42291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04 项目 (Project)</a:t>
            </a:r>
            <a:endParaRPr lang="en-US" sz="1100"/>
          </a:p>
        </p:txBody>
      </p:sp>
      <p:cxnSp>
        <p:nvCxnSpPr>
          <p:cNvPr name="Connector 26" id="26"/>
          <p:cNvCxnSpPr/>
          <p:nvPr/>
        </p:nvCxnSpPr>
        <p:spPr>
          <a:xfrm rot="-9167" flipH="false" flipV="false">
            <a:off x="1016008" y="5073650"/>
            <a:ext cx="4762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27" id="27"/>
          <p:cNvSpPr/>
          <p:nvPr/>
        </p:nvSpPr>
        <p:spPr>
          <a:xfrm rot="0" flipH="false" flipV="false">
            <a:off x="1016000" y="5207000"/>
            <a:ext cx="4762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关联项目名称、所属战略战役、优先级等级及人员参与度，清晰呈现人才在关键业务项目中的配置与贡献情况，为资源调配提供依据。</a:t>
            </a:r>
            <a:endParaRPr lang="en-US" sz="1100"/>
          </a:p>
        </p:txBody>
      </p:sp>
      <p:sp>
        <p:nvSpPr>
          <p:cNvPr name="AutoShape 28" id="28"/>
          <p:cNvSpPr/>
          <p:nvPr/>
        </p:nvSpPr>
        <p:spPr>
          <a:xfrm rot="0" flipH="false" flipV="false">
            <a:off x="6286500" y="4318000"/>
            <a:ext cx="5270500" cy="19050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86500" y="4318000"/>
            <a:ext cx="76200" cy="1905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40500" y="4508500"/>
            <a:ext cx="406400" cy="406400"/>
          </a:xfrm>
          <a:prstGeom prst="rect">
            <a:avLst/>
          </a:prstGeom>
        </p:spPr>
      </p:pic>
      <p:sp>
        <p:nvSpPr>
          <p:cNvPr name="AutoShape 31" id="31"/>
          <p:cNvSpPr/>
          <p:nvPr/>
        </p:nvSpPr>
        <p:spPr>
          <a:xfrm rot="0" flipH="false" flipV="false">
            <a:off x="7073900" y="4470400"/>
            <a:ext cx="42291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05 绩效与潜力 (Performance &amp; Potential)</a:t>
            </a:r>
            <a:endParaRPr lang="en-US" sz="1100"/>
          </a:p>
        </p:txBody>
      </p:sp>
      <p:cxnSp>
        <p:nvCxnSpPr>
          <p:cNvPr name="Connector 32" id="32"/>
          <p:cNvCxnSpPr/>
          <p:nvPr/>
        </p:nvCxnSpPr>
        <p:spPr>
          <a:xfrm rot="-9167" flipH="false" flipV="false">
            <a:off x="6540508" y="5073650"/>
            <a:ext cx="4762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33" id="33"/>
          <p:cNvSpPr/>
          <p:nvPr/>
        </p:nvSpPr>
        <p:spPr>
          <a:xfrm rot="0" flipH="false" flipV="false">
            <a:off x="6540500" y="5207000"/>
            <a:ext cx="4762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整合历史绩效评级结果与人才发展潜力评估数据，建立人才盘点的核心维度，为晋升、培养与激励机制提供科学支撑。</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「人力资源地图」的构建步骤</a:t>
            </a:r>
            <a:endParaRPr lang="en-US" sz="1100"/>
          </a:p>
        </p:txBody>
      </p:sp>
      <p:sp>
        <p:nvSpPr>
          <p:cNvPr name="AutoShape 3" id="3"/>
          <p:cNvSpPr/>
          <p:nvPr/>
        </p:nvSpPr>
        <p:spPr>
          <a:xfrm rot="0" flipH="false" flipV="false">
            <a:off x="762000" y="1651000"/>
            <a:ext cx="3429000" cy="2095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76200" cy="2095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04800" cy="304800"/>
          </a:xfrm>
          <a:prstGeom prst="rect">
            <a:avLst/>
          </a:prstGeom>
        </p:spPr>
      </p:pic>
      <p:sp>
        <p:nvSpPr>
          <p:cNvPr name="AutoShape 6" id="6"/>
          <p:cNvSpPr/>
          <p:nvPr/>
        </p:nvSpPr>
        <p:spPr>
          <a:xfrm rot="0" flipH="false" flipV="false">
            <a:off x="1460500" y="1803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01 明确目标与范围</a:t>
            </a:r>
            <a:endParaRPr lang="en-US" sz="1100"/>
          </a:p>
        </p:txBody>
      </p:sp>
      <p:cxnSp>
        <p:nvCxnSpPr>
          <p:cNvPr name="Connector 7" id="7"/>
          <p:cNvCxnSpPr/>
          <p:nvPr/>
        </p:nvCxnSpPr>
        <p:spPr>
          <a:xfrm rot="-14946" flipH="false" flipV="false">
            <a:off x="1016014" y="2343150"/>
            <a:ext cx="2921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8" id="8"/>
          <p:cNvSpPr/>
          <p:nvPr/>
        </p:nvSpPr>
        <p:spPr>
          <a:xfrm rot="0" flipH="false" flipV="false">
            <a:off x="1016000" y="2540000"/>
            <a:ext cx="298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先界定核心目标，如支持项目调配或人才盘点；再明确覆盖范围，是全公司、特定事业部还是重点项目群，为后续工作锚定方向。</a:t>
            </a:r>
            <a:endParaRPr lang="en-US" sz="1100"/>
          </a:p>
        </p:txBody>
      </p:sp>
      <p:sp>
        <p:nvSpPr>
          <p:cNvPr name="AutoShape 9" id="9"/>
          <p:cNvSpPr/>
          <p:nvPr/>
        </p:nvSpPr>
        <p:spPr>
          <a:xfrm rot="0" flipH="false" flipV="false">
            <a:off x="4381500" y="1651000"/>
            <a:ext cx="3429000" cy="2095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381500" y="1651000"/>
            <a:ext cx="76200" cy="2095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1841500"/>
            <a:ext cx="304800" cy="304800"/>
          </a:xfrm>
          <a:prstGeom prst="rect">
            <a:avLst/>
          </a:prstGeom>
        </p:spPr>
      </p:pic>
      <p:sp>
        <p:nvSpPr>
          <p:cNvPr name="AutoShape 12" id="12"/>
          <p:cNvSpPr/>
          <p:nvPr/>
        </p:nvSpPr>
        <p:spPr>
          <a:xfrm rot="0" flipH="false" flipV="false">
            <a:off x="5080000" y="1803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02 数据收集与整合</a:t>
            </a:r>
            <a:endParaRPr lang="en-US" sz="1100"/>
          </a:p>
        </p:txBody>
      </p:sp>
      <p:cxnSp>
        <p:nvCxnSpPr>
          <p:cNvPr name="Connector 13" id="13"/>
          <p:cNvCxnSpPr/>
          <p:nvPr/>
        </p:nvCxnSpPr>
        <p:spPr>
          <a:xfrm rot="-14946" flipH="false" flipV="false">
            <a:off x="4635514" y="2343150"/>
            <a:ext cx="2921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14" id="14"/>
          <p:cNvSpPr/>
          <p:nvPr/>
        </p:nvSpPr>
        <p:spPr>
          <a:xfrm rot="0" flipH="false" flipV="false">
            <a:off x="4635500" y="2540000"/>
            <a:ext cx="298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从HR系统、项目管理及绩效考核平台提取信息；建立统一标准，对人员技能、职级等关键维度进行规范化梳理，夯实数据基础。</a:t>
            </a:r>
            <a:endParaRPr lang="en-US" sz="1100"/>
          </a:p>
        </p:txBody>
      </p:sp>
      <p:sp>
        <p:nvSpPr>
          <p:cNvPr name="AutoShape 15" id="15"/>
          <p:cNvSpPr/>
          <p:nvPr/>
        </p:nvSpPr>
        <p:spPr>
          <a:xfrm rot="0" flipH="false" flipV="false">
            <a:off x="8001000" y="1651000"/>
            <a:ext cx="3429000" cy="2095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001000" y="1651000"/>
            <a:ext cx="76200" cy="2095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1841500"/>
            <a:ext cx="304800" cy="304800"/>
          </a:xfrm>
          <a:prstGeom prst="rect">
            <a:avLst/>
          </a:prstGeom>
        </p:spPr>
      </p:pic>
      <p:sp>
        <p:nvSpPr>
          <p:cNvPr name="AutoShape 18" id="18"/>
          <p:cNvSpPr/>
          <p:nvPr/>
        </p:nvSpPr>
        <p:spPr>
          <a:xfrm rot="0" flipH="false" flipV="false">
            <a:off x="8699500" y="1803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03 工具选择与可视化绘制</a:t>
            </a:r>
            <a:endParaRPr lang="en-US" sz="1100"/>
          </a:p>
        </p:txBody>
      </p:sp>
      <p:cxnSp>
        <p:nvCxnSpPr>
          <p:cNvPr name="Connector 19" id="19"/>
          <p:cNvCxnSpPr/>
          <p:nvPr/>
        </p:nvCxnSpPr>
        <p:spPr>
          <a:xfrm rot="-14946" flipH="false" flipV="false">
            <a:off x="8255014" y="2343150"/>
            <a:ext cx="2921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20" id="20"/>
          <p:cNvSpPr/>
          <p:nvPr/>
        </p:nvSpPr>
        <p:spPr>
          <a:xfrm rot="0" flipH="false" flipV="false">
            <a:off x="8255000" y="2540000"/>
            <a:ext cx="298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基础场景用Excel透视表；专业分析选用Tableau、Power BI、Visio；涉及地理分布时，可结合ArcGIS等GIS工具，直观呈现资源格局。</a:t>
            </a:r>
            <a:endParaRPr lang="en-US" sz="1100"/>
          </a:p>
        </p:txBody>
      </p:sp>
      <p:sp>
        <p:nvSpPr>
          <p:cNvPr name="AutoShape 21" id="21"/>
          <p:cNvSpPr/>
          <p:nvPr/>
        </p:nvSpPr>
        <p:spPr>
          <a:xfrm rot="0" flipH="false" flipV="false">
            <a:off x="762000" y="4191000"/>
            <a:ext cx="5232400" cy="1905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62000" y="4191000"/>
            <a:ext cx="76200" cy="1905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381500"/>
            <a:ext cx="304800" cy="304800"/>
          </a:xfrm>
          <a:prstGeom prst="rect">
            <a:avLst/>
          </a:prstGeom>
        </p:spPr>
      </p:pic>
      <p:sp>
        <p:nvSpPr>
          <p:cNvPr name="AutoShape 24" id="24"/>
          <p:cNvSpPr/>
          <p:nvPr/>
        </p:nvSpPr>
        <p:spPr>
          <a:xfrm rot="0" flipH="false" flipV="false">
            <a:off x="1460500" y="4343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04 分析与应用：挖掘数据价值</a:t>
            </a:r>
            <a:endParaRPr lang="en-US" sz="1100"/>
          </a:p>
        </p:txBody>
      </p:sp>
      <p:cxnSp>
        <p:nvCxnSpPr>
          <p:cNvPr name="Connector 25" id="25"/>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26" id="26"/>
          <p:cNvSpPr/>
          <p:nvPr/>
        </p:nvSpPr>
        <p:spPr>
          <a:xfrm rot="0" flipH="false" flipV="false">
            <a:off x="1016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基于可视化成果开展技能盘点、人才分布与项目资源适配分析，识别核心人才缺口、冗余岗位及资源瓶颈，为人员配置、培养计划和项目决策提供科学支撑。</a:t>
            </a:r>
            <a:endParaRPr lang="en-US" sz="1100"/>
          </a:p>
        </p:txBody>
      </p:sp>
      <p:sp>
        <p:nvSpPr>
          <p:cNvPr name="AutoShape 27" id="27"/>
          <p:cNvSpPr/>
          <p:nvPr/>
        </p:nvSpPr>
        <p:spPr>
          <a:xfrm rot="0" flipH="false" flipV="false">
            <a:off x="6197600" y="4191000"/>
            <a:ext cx="5232400" cy="1905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197600" y="4191000"/>
            <a:ext cx="76200" cy="1905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51600" y="4381500"/>
            <a:ext cx="304800" cy="304800"/>
          </a:xfrm>
          <a:prstGeom prst="rect">
            <a:avLst/>
          </a:prstGeom>
        </p:spPr>
      </p:pic>
      <p:sp>
        <p:nvSpPr>
          <p:cNvPr name="AutoShape 30" id="30"/>
          <p:cNvSpPr/>
          <p:nvPr/>
        </p:nvSpPr>
        <p:spPr>
          <a:xfrm rot="0" flipH="false" flipV="false">
            <a:off x="6896100" y="4343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05 定期更新与维护：保障时效性</a:t>
            </a:r>
            <a:endParaRPr lang="en-US" sz="1100"/>
          </a:p>
        </p:txBody>
      </p:sp>
      <p:cxnSp>
        <p:nvCxnSpPr>
          <p:cNvPr name="Connector 31" id="31"/>
          <p:cNvCxnSpPr/>
          <p:nvPr/>
        </p:nvCxnSpPr>
        <p:spPr>
          <a:xfrm rot="-9291" flipH="false" flipV="false">
            <a:off x="6451609" y="4883150"/>
            <a:ext cx="4699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32" id="32"/>
          <p:cNvSpPr/>
          <p:nvPr/>
        </p:nvSpPr>
        <p:spPr>
          <a:xfrm rot="0" flipH="false" flipV="false">
            <a:off x="64516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人才与项目处于动态变化中，需按季度或年度对人力资源地图进行迭代更新，及时修正人员信息、技能标签与项目状态，确保数据能持续反映真实情况。</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第三部分：分析「员工-项目-代表处」关系与效率提升</a:t>
            </a:r>
            <a:endParaRPr lang="en-US" sz="1100"/>
          </a:p>
        </p:txBody>
      </p:sp>
      <p:sp>
        <p:nvSpPr>
          <p:cNvPr name="AutoShape 3" id="3"/>
          <p:cNvSpPr/>
          <p:nvPr/>
        </p:nvSpPr>
        <p:spPr>
          <a:xfrm rot="0" flipH="false" flipV="false">
            <a:off x="762000" y="1397000"/>
            <a:ext cx="10668000" cy="1079500"/>
          </a:xfrm>
          <a:prstGeom prst="roundRect">
            <a:avLst>
              <a:gd name="adj" fmla="val 0"/>
            </a:avLst>
          </a:prstGeom>
          <a:solidFill>
            <a:srgbClr val="0A2647">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397000"/>
            <a:ext cx="76200" cy="1079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524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0A2647"/>
                </a:solidFill>
                <a:latin typeface="Noto Sans SC"/>
                <a:ea typeface="Noto Sans SC"/>
                <a:cs typeface="Noto Sans SC"/>
                <a:sym typeface="Noto Sans SC"/>
              </a:rPr>
              <a:t>核心思路：</a:t>
            </a:r>
            <a:r>
              <a:rPr lang="en-US" b="false" i="false" strike="noStrike" u="none" sz="1500">
                <a:solidFill>
                  <a:srgbClr val="374151"/>
                </a:solidFill>
                <a:latin typeface="Noto Sans SC"/>
                <a:ea typeface="Noto Sans SC"/>
                <a:cs typeface="Noto Sans SC"/>
                <a:sym typeface="Noto Sans SC"/>
              </a:rPr>
              <a:t>摒弃传统的定性管理模式，转向数据驱动的定量分析体系。核心是建立标准化的</a:t>
            </a:r>
            <a:r>
              <a:rPr lang="en-US" b="true" i="false" strike="noStrike" u="none" sz="1500">
                <a:solidFill>
                  <a:srgbClr val="374151"/>
                </a:solidFill>
                <a:latin typeface="Noto Sans SC"/>
                <a:ea typeface="Noto Sans SC"/>
                <a:cs typeface="Noto Sans SC"/>
                <a:sym typeface="Noto Sans SC"/>
              </a:rPr>
              <a:t>员工能力画像</a:t>
            </a:r>
            <a:r>
              <a:rPr lang="en-US" b="false" i="false" strike="noStrike" u="none" sz="1500">
                <a:solidFill>
                  <a:srgbClr val="374151"/>
                </a:solidFill>
                <a:latin typeface="Noto Sans SC"/>
                <a:ea typeface="Noto Sans SC"/>
                <a:cs typeface="Noto Sans SC"/>
                <a:sym typeface="Noto Sans SC"/>
              </a:rPr>
              <a:t>与</a:t>
            </a:r>
            <a:r>
              <a:rPr lang="en-US" b="true" i="false" strike="noStrike" u="none" sz="1500">
                <a:solidFill>
                  <a:srgbClr val="374151"/>
                </a:solidFill>
                <a:latin typeface="Noto Sans SC"/>
                <a:ea typeface="Noto Sans SC"/>
                <a:cs typeface="Noto Sans SC"/>
                <a:sym typeface="Noto Sans SC"/>
              </a:rPr>
              <a:t>项目需求模型</a:t>
            </a:r>
            <a:r>
              <a:rPr lang="en-US" b="false" i="false" strike="noStrike" u="none" sz="1500">
                <a:solidFill>
                  <a:srgbClr val="374151"/>
                </a:solidFill>
                <a:latin typeface="Noto Sans SC"/>
                <a:ea typeface="Noto Sans SC"/>
                <a:cs typeface="Noto Sans SC"/>
                <a:sym typeface="Noto Sans SC"/>
              </a:rPr>
              <a:t>，通过数学算法计算两者的匹配度，实现人岗精准匹配与资源优化配置。</a:t>
            </a:r>
            <a:endParaRPr lang="en-US" sz="1100"/>
          </a:p>
        </p:txBody>
      </p:sp>
      <p:sp>
        <p:nvSpPr>
          <p:cNvPr name="AutoShape 6" id="6"/>
          <p:cNvSpPr/>
          <p:nvPr/>
        </p:nvSpPr>
        <p:spPr>
          <a:xfrm rot="0" flipH="false" flipV="false">
            <a:off x="762000" y="2921000"/>
            <a:ext cx="3429000" cy="26670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921000"/>
            <a:ext cx="34290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175000"/>
            <a:ext cx="355600" cy="355600"/>
          </a:xfrm>
          <a:prstGeom prst="rect">
            <a:avLst/>
          </a:prstGeom>
        </p:spPr>
      </p:pic>
      <p:sp>
        <p:nvSpPr>
          <p:cNvPr name="AutoShape 9" id="9"/>
          <p:cNvSpPr/>
          <p:nvPr/>
        </p:nvSpPr>
        <p:spPr>
          <a:xfrm rot="0" flipH="false" flipV="false">
            <a:off x="1397000" y="31496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01 员工能力画像量化</a:t>
            </a:r>
            <a:endParaRPr lang="en-US" sz="1100"/>
          </a:p>
        </p:txBody>
      </p:sp>
      <p:cxnSp>
        <p:nvCxnSpPr>
          <p:cNvPr name="Connector 10" id="10"/>
          <p:cNvCxnSpPr/>
          <p:nvPr/>
        </p:nvCxnSpPr>
        <p:spPr>
          <a:xfrm rot="-14323" flipH="false" flipV="false">
            <a:off x="952513" y="3740150"/>
            <a:ext cx="3048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11" id="11"/>
          <p:cNvSpPr/>
          <p:nvPr/>
        </p:nvSpPr>
        <p:spPr>
          <a:xfrm rot="0" flipH="false" flipV="false">
            <a:off x="9525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将员工能力从模糊的定性描述转化为可计算的定量向量，覆盖技术硬技能、项目经验、软技能、认证绩效及成长潜力五大核心维度，构建标准化的能力标尺。</a:t>
            </a:r>
            <a:endParaRPr lang="en-US" sz="1100"/>
          </a:p>
        </p:txBody>
      </p:sp>
      <p:sp>
        <p:nvSpPr>
          <p:cNvPr name="AutoShape 12" id="12"/>
          <p:cNvSpPr/>
          <p:nvPr/>
        </p:nvSpPr>
        <p:spPr>
          <a:xfrm rot="0" flipH="false" flipV="false">
            <a:off x="952500" y="5334000"/>
            <a:ext cx="3048000" cy="3556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5384800"/>
            <a:ext cx="2921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A2647"/>
                </a:solidFill>
                <a:latin typeface="Noto Sans SC"/>
                <a:ea typeface="Noto Sans SC"/>
                <a:cs typeface="Noto Sans SC"/>
                <a:sym typeface="Noto Sans SC"/>
              </a:rPr>
              <a:t>能力向量公式：E = (e₁, e₂, e₃, e₄, e₅)</a:t>
            </a:r>
            <a:endParaRPr lang="en-US" sz="1100"/>
          </a:p>
        </p:txBody>
      </p:sp>
      <p:sp>
        <p:nvSpPr>
          <p:cNvPr name="AutoShape 14" id="14"/>
          <p:cNvSpPr/>
          <p:nvPr/>
        </p:nvSpPr>
        <p:spPr>
          <a:xfrm rot="0" flipH="false" flipV="false">
            <a:off x="4381500" y="2921000"/>
            <a:ext cx="3429000" cy="26670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381500" y="2921000"/>
            <a:ext cx="34290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3175000"/>
            <a:ext cx="355600" cy="355600"/>
          </a:xfrm>
          <a:prstGeom prst="rect">
            <a:avLst/>
          </a:prstGeom>
        </p:spPr>
      </p:pic>
      <p:sp>
        <p:nvSpPr>
          <p:cNvPr name="AutoShape 17" id="17"/>
          <p:cNvSpPr/>
          <p:nvPr/>
        </p:nvSpPr>
        <p:spPr>
          <a:xfrm rot="0" flipH="false" flipV="false">
            <a:off x="5016500" y="31496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02 项目需求建模量化</a:t>
            </a:r>
            <a:endParaRPr lang="en-US" sz="1100"/>
          </a:p>
        </p:txBody>
      </p:sp>
      <p:cxnSp>
        <p:nvCxnSpPr>
          <p:cNvPr name="Connector 18" id="18"/>
          <p:cNvCxnSpPr/>
          <p:nvPr/>
        </p:nvCxnSpPr>
        <p:spPr>
          <a:xfrm rot="-14323" flipH="false" flipV="false">
            <a:off x="4572013" y="3740150"/>
            <a:ext cx="3048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19" id="19"/>
          <p:cNvSpPr/>
          <p:nvPr/>
        </p:nvSpPr>
        <p:spPr>
          <a:xfrm rot="0" flipH="false" flipV="false">
            <a:off x="4572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对齐员工能力维度，按项目优先级赋予权重：战略核心(1.0)、紧急保障(0.9)、常规执行(0.7)、储备成长(0.5)，形成结构化的项目需求标准。</a:t>
            </a:r>
            <a:endParaRPr lang="en-US" sz="1100"/>
          </a:p>
        </p:txBody>
      </p:sp>
      <p:sp>
        <p:nvSpPr>
          <p:cNvPr name="AutoShape 20" id="20"/>
          <p:cNvSpPr/>
          <p:nvPr/>
        </p:nvSpPr>
        <p:spPr>
          <a:xfrm rot="0" flipH="false" flipV="false">
            <a:off x="4572000" y="5334000"/>
            <a:ext cx="3048000" cy="3556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635500" y="5384800"/>
            <a:ext cx="2921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A2647"/>
                </a:solidFill>
                <a:latin typeface="Noto Sans SC"/>
                <a:ea typeface="Noto Sans SC"/>
                <a:cs typeface="Noto Sans SC"/>
                <a:sym typeface="Noto Sans SC"/>
              </a:rPr>
              <a:t>需求向量公式：P = (p₁, p₂, p₃, p₄, p₅)</a:t>
            </a:r>
            <a:endParaRPr lang="en-US" sz="1100"/>
          </a:p>
        </p:txBody>
      </p:sp>
      <p:sp>
        <p:nvSpPr>
          <p:cNvPr name="AutoShape 22" id="22"/>
          <p:cNvSpPr/>
          <p:nvPr/>
        </p:nvSpPr>
        <p:spPr>
          <a:xfrm rot="0" flipH="false" flipV="false">
            <a:off x="8001000" y="2921000"/>
            <a:ext cx="3429000" cy="2667000"/>
          </a:xfrm>
          <a:prstGeom prst="roundRect">
            <a:avLst>
              <a:gd name="adj" fmla="val 0"/>
            </a:avLst>
          </a:prstGeom>
          <a:solidFill>
            <a:srgbClr val="FFFFFF">
              <a:alpha val="100000"/>
            </a:srgbClr>
          </a:solidFill>
          <a:ln w="12700" cmpd="sng" cap="flat">
            <a:solidFill>
              <a:srgbClr val="0A2647">
                <a:alpha val="15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001000" y="2921000"/>
            <a:ext cx="34290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3175000"/>
            <a:ext cx="355600" cy="355600"/>
          </a:xfrm>
          <a:prstGeom prst="rect">
            <a:avLst/>
          </a:prstGeom>
        </p:spPr>
      </p:pic>
      <p:sp>
        <p:nvSpPr>
          <p:cNvPr name="AutoShape 25" id="25"/>
          <p:cNvSpPr/>
          <p:nvPr/>
        </p:nvSpPr>
        <p:spPr>
          <a:xfrm rot="0" flipH="false" flipV="false">
            <a:off x="8636000" y="31496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03 计算员工-项目匹配度</a:t>
            </a:r>
            <a:endParaRPr lang="en-US" sz="1100"/>
          </a:p>
        </p:txBody>
      </p:sp>
      <p:cxnSp>
        <p:nvCxnSpPr>
          <p:cNvPr name="Connector 26" id="26"/>
          <p:cNvCxnSpPr/>
          <p:nvPr/>
        </p:nvCxnSpPr>
        <p:spPr>
          <a:xfrm rot="-14323" flipH="false" flipV="false">
            <a:off x="8191513" y="3740150"/>
            <a:ext cx="3048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27" id="27"/>
          <p:cNvSpPr/>
          <p:nvPr/>
        </p:nvSpPr>
        <p:spPr>
          <a:xfrm rot="0" flipH="false" flipV="false">
            <a:off x="81915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引入加权余弦相似度算法，结合项目优先级权重与员工能力向量，科学计算匹配度得分，为人员选派、任务分配提供客观的数据支撑与决策依据。</a:t>
            </a:r>
            <a:endParaRPr lang="en-US" sz="1100"/>
          </a:p>
        </p:txBody>
      </p:sp>
      <p:sp>
        <p:nvSpPr>
          <p:cNvPr name="AutoShape 28" id="28"/>
          <p:cNvSpPr/>
          <p:nvPr/>
        </p:nvSpPr>
        <p:spPr>
          <a:xfrm rot="0" flipH="false" flipV="false">
            <a:off x="8191500" y="5334000"/>
            <a:ext cx="3048000" cy="355600"/>
          </a:xfrm>
          <a:prstGeom prst="roundRect">
            <a:avLst>
              <a:gd name="adj" fmla="val 0"/>
            </a:avLst>
          </a:prstGeom>
          <a:solidFill>
            <a:srgbClr val="0A2647">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255000" y="5384800"/>
            <a:ext cx="2921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A2647"/>
                </a:solidFill>
                <a:latin typeface="Noto Sans SC"/>
                <a:ea typeface="Noto Sans SC"/>
                <a:cs typeface="Noto Sans SC"/>
                <a:sym typeface="Noto Sans SC"/>
              </a:rPr>
              <a:t>匹配度公式：Score(E, P) = cos(E, P) · W</a:t>
            </a:r>
            <a:endParaRPr lang="en-US" sz="1100"/>
          </a:p>
        </p:txBody>
      </p:sp>
      <p:cxnSp>
        <p:nvCxnSpPr>
          <p:cNvPr name="Connector 30" id="30"/>
          <p:cNvCxnSpPr/>
          <p:nvPr/>
        </p:nvCxnSpPr>
        <p:spPr>
          <a:xfrm rot="-4092" flipH="false" flipV="false">
            <a:off x="762004" y="6089650"/>
            <a:ext cx="10668000" cy="12700"/>
          </a:xfrm>
          <a:prstGeom prst="straightConnector1">
            <a:avLst/>
          </a:prstGeom>
          <a:solidFill>
            <a:srgbClr val="DEE0E3">
              <a:alpha val="100000"/>
            </a:srgbClr>
          </a:solidFill>
          <a:ln w="12700" cmpd="sng" cap="flat">
            <a:solidFill>
              <a:srgbClr val="0A2647">
                <a:alpha val="20000"/>
              </a:srgbClr>
            </a:solidFill>
            <a:prstDash val="solid"/>
            <a:round/>
            <a:headEnd type="none" w="med" len="med"/>
            <a:tailEnd type="none" w="med" len="med"/>
          </a:ln>
        </p:spPr>
      </p:cxnSp>
      <p:sp>
        <p:nvSpPr>
          <p:cNvPr name="AutoShape 31" id="31"/>
          <p:cNvSpPr/>
          <p:nvPr/>
        </p:nvSpPr>
        <p:spPr>
          <a:xfrm rot="0" flipH="false" flipV="false">
            <a:off x="762000" y="61976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0A2647"/>
                </a:solidFill>
                <a:latin typeface="Noto Sans SC"/>
                <a:ea typeface="Noto Sans SC"/>
                <a:cs typeface="Noto Sans SC"/>
                <a:sym typeface="Noto Sans SC"/>
              </a:rPr>
              <a:t>价值产出：通过量化匹配，实现代表处人力资源的精细化调度，最大化员工效能，保障项目高质量交付。</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三者关系分析与可视化看板</a:t>
            </a:r>
            <a:endParaRPr lang="en-US" sz="1100"/>
          </a:p>
        </p:txBody>
      </p:sp>
      <p:sp>
        <p:nvSpPr>
          <p:cNvPr name="AutoShape 3" id="3"/>
          <p:cNvSpPr/>
          <p:nvPr/>
        </p:nvSpPr>
        <p:spPr>
          <a:xfrm rot="0" flipH="false" flipV="false">
            <a:off x="762000" y="1333500"/>
            <a:ext cx="10668000" cy="25400"/>
          </a:xfrm>
          <a:prstGeom prst="roundRect">
            <a:avLst>
              <a:gd name="adj" fmla="val 0"/>
            </a:avLst>
          </a:prstGeom>
          <a:solidFill>
            <a:srgbClr val="0A2647">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3378200" cy="3429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3782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406400" cy="406400"/>
          </a:xfrm>
          <a:prstGeom prst="rect">
            <a:avLst/>
          </a:prstGeom>
        </p:spPr>
      </p:pic>
      <p:sp>
        <p:nvSpPr>
          <p:cNvPr name="AutoShape 7" id="7"/>
          <p:cNvSpPr/>
          <p:nvPr/>
        </p:nvSpPr>
        <p:spPr>
          <a:xfrm rot="0" flipH="false" flipV="false">
            <a:off x="1549400" y="2184400"/>
            <a:ext cx="2336800" cy="482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员工-项目分布矩阵</a:t>
            </a:r>
            <a:endParaRPr lang="en-US" sz="1100"/>
          </a:p>
        </p:txBody>
      </p:sp>
      <p:cxnSp>
        <p:nvCxnSpPr>
          <p:cNvPr name="Connector 8" id="8"/>
          <p:cNvCxnSpPr/>
          <p:nvPr/>
        </p:nvCxnSpPr>
        <p:spPr>
          <a:xfrm rot="-15211" flipH="false" flipV="false">
            <a:off x="1016014" y="2914650"/>
            <a:ext cx="28702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9" id="9"/>
          <p:cNvSpPr/>
          <p:nvPr/>
        </p:nvSpPr>
        <p:spPr>
          <a:xfrm rot="0" flipH="false" flipV="false">
            <a:off x="1016000" y="3175000"/>
            <a:ext cx="287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01. 负载均衡分析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25C69"/>
                </a:solidFill>
                <a:latin typeface="Noto Sans SC"/>
                <a:ea typeface="Noto Sans SC"/>
                <a:cs typeface="Noto Sans SC"/>
                <a:sym typeface="Noto Sans SC"/>
              </a:rPr>
              <a:t>直观识别人员饱和度，快速定位超负荷工作的员工与闲置人力资源，避免团队忙闲不均。</a:t>
            </a:r>
          </a:p>
        </p:txBody>
      </p:sp>
      <p:cxnSp>
        <p:nvCxnSpPr>
          <p:cNvPr name="Connector 10" id="10"/>
          <p:cNvCxnSpPr/>
          <p:nvPr/>
        </p:nvCxnSpPr>
        <p:spPr>
          <a:xfrm rot="-15211" flipH="false" flipV="false">
            <a:off x="1016014" y="4438650"/>
            <a:ext cx="2870200" cy="12700"/>
          </a:xfrm>
          <a:prstGeom prst="straightConnector1">
            <a:avLst/>
          </a:prstGeom>
          <a:solidFill>
            <a:srgbClr val="DEE0E3">
              <a:alpha val="100000"/>
            </a:srgbClr>
          </a:solidFill>
          <a:ln w="12700" cmpd="sng" cap="flat">
            <a:solidFill>
              <a:srgbClr val="0A2647">
                <a:alpha val="8000"/>
              </a:srgbClr>
            </a:solidFill>
            <a:prstDash val="solid"/>
            <a:round/>
            <a:headEnd type="none" w="med" len="med"/>
            <a:tailEnd type="none" w="med" len="med"/>
          </a:ln>
        </p:spPr>
      </p:cxnSp>
      <p:sp>
        <p:nvSpPr>
          <p:cNvPr name="AutoShape 11" id="11"/>
          <p:cNvSpPr/>
          <p:nvPr/>
        </p:nvSpPr>
        <p:spPr>
          <a:xfrm rot="0" flipH="false" flipV="false">
            <a:off x="1016000" y="4572000"/>
            <a:ext cx="28702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02. 能力匹配诊断</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25C69"/>
                </a:solidFill>
                <a:latin typeface="Noto Sans SC"/>
                <a:ea typeface="Noto Sans SC"/>
                <a:cs typeface="Noto Sans SC"/>
                <a:sym typeface="Noto Sans SC"/>
              </a:rPr>
              <a:t>排查高能力员工是否被分配至低价值项目，确保人才技能层级与项目难度、重要性相匹配。</a:t>
            </a:r>
          </a:p>
        </p:txBody>
      </p:sp>
      <p:sp>
        <p:nvSpPr>
          <p:cNvPr name="AutoShape 12" id="12"/>
          <p:cNvSpPr/>
          <p:nvPr/>
        </p:nvSpPr>
        <p:spPr>
          <a:xfrm rot="0" flipH="false" flipV="false">
            <a:off x="4406900" y="1905000"/>
            <a:ext cx="3378200" cy="3429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06900" y="1905000"/>
            <a:ext cx="33782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60900" y="2222500"/>
            <a:ext cx="406400" cy="406400"/>
          </a:xfrm>
          <a:prstGeom prst="rect">
            <a:avLst/>
          </a:prstGeom>
        </p:spPr>
      </p:pic>
      <p:sp>
        <p:nvSpPr>
          <p:cNvPr name="AutoShape 15" id="15"/>
          <p:cNvSpPr/>
          <p:nvPr/>
        </p:nvSpPr>
        <p:spPr>
          <a:xfrm rot="0" flipH="false" flipV="false">
            <a:off x="5194300" y="2184400"/>
            <a:ext cx="2336800" cy="482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代表处-项目资源地图</a:t>
            </a:r>
            <a:endParaRPr lang="en-US" sz="1100"/>
          </a:p>
        </p:txBody>
      </p:sp>
      <p:cxnSp>
        <p:nvCxnSpPr>
          <p:cNvPr name="Connector 16" id="16"/>
          <p:cNvCxnSpPr/>
          <p:nvPr/>
        </p:nvCxnSpPr>
        <p:spPr>
          <a:xfrm rot="-15211" flipH="false" flipV="false">
            <a:off x="4660914" y="2914650"/>
            <a:ext cx="28702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17" id="17"/>
          <p:cNvSpPr/>
          <p:nvPr/>
        </p:nvSpPr>
        <p:spPr>
          <a:xfrm rot="0" flipH="false" flipV="false">
            <a:off x="4660900" y="3175000"/>
            <a:ext cx="287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01. 区域资源集中度</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25C69"/>
                </a:solidFill>
                <a:latin typeface="Noto Sans SC"/>
                <a:ea typeface="Noto Sans SC"/>
                <a:cs typeface="Noto Sans SC"/>
                <a:sym typeface="Noto Sans SC"/>
              </a:rPr>
              <a:t>分析资源在不同代表处的分布密度，避免核心资源过度集中造成浪费，或部分区域资源供给不足。</a:t>
            </a:r>
          </a:p>
        </p:txBody>
      </p:sp>
      <p:cxnSp>
        <p:nvCxnSpPr>
          <p:cNvPr name="Connector 18" id="18"/>
          <p:cNvCxnSpPr/>
          <p:nvPr/>
        </p:nvCxnSpPr>
        <p:spPr>
          <a:xfrm rot="-15211" flipH="false" flipV="false">
            <a:off x="4660914" y="4438650"/>
            <a:ext cx="2870200" cy="12700"/>
          </a:xfrm>
          <a:prstGeom prst="straightConnector1">
            <a:avLst/>
          </a:prstGeom>
          <a:solidFill>
            <a:srgbClr val="DEE0E3">
              <a:alpha val="100000"/>
            </a:srgbClr>
          </a:solidFill>
          <a:ln w="12700" cmpd="sng" cap="flat">
            <a:solidFill>
              <a:srgbClr val="0A2647">
                <a:alpha val="8000"/>
              </a:srgbClr>
            </a:solidFill>
            <a:prstDash val="solid"/>
            <a:round/>
            <a:headEnd type="none" w="med" len="med"/>
            <a:tailEnd type="none" w="med" len="med"/>
          </a:ln>
        </p:spPr>
      </p:cxnSp>
      <p:sp>
        <p:nvSpPr>
          <p:cNvPr name="AutoShape 19" id="19"/>
          <p:cNvSpPr/>
          <p:nvPr/>
        </p:nvSpPr>
        <p:spPr>
          <a:xfrm rot="0" flipH="false" flipV="false">
            <a:off x="4660900" y="4572000"/>
            <a:ext cx="28702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02. 项目属地化适配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25C69"/>
                </a:solidFill>
                <a:latin typeface="Noto Sans SC"/>
                <a:ea typeface="Noto Sans SC"/>
                <a:cs typeface="Noto Sans SC"/>
                <a:sym typeface="Noto Sans SC"/>
              </a:rPr>
              <a:t>验证项目资源配置是否与所在地的市场环境、业务需求相契合，提升本地化服务响应效率。</a:t>
            </a:r>
          </a:p>
        </p:txBody>
      </p:sp>
      <p:sp>
        <p:nvSpPr>
          <p:cNvPr name="AutoShape 20" id="20"/>
          <p:cNvSpPr/>
          <p:nvPr/>
        </p:nvSpPr>
        <p:spPr>
          <a:xfrm rot="0" flipH="false" flipV="false">
            <a:off x="8051800" y="1905000"/>
            <a:ext cx="3378200" cy="34290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051800" y="1905000"/>
            <a:ext cx="33782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05800" y="2222500"/>
            <a:ext cx="406400" cy="406400"/>
          </a:xfrm>
          <a:prstGeom prst="rect">
            <a:avLst/>
          </a:prstGeom>
        </p:spPr>
      </p:pic>
      <p:sp>
        <p:nvSpPr>
          <p:cNvPr name="AutoShape 23" id="23"/>
          <p:cNvSpPr/>
          <p:nvPr/>
        </p:nvSpPr>
        <p:spPr>
          <a:xfrm rot="0" flipH="false" flipV="false">
            <a:off x="8839200" y="2184400"/>
            <a:ext cx="2336800" cy="482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技能-项目需求热力图</a:t>
            </a:r>
            <a:endParaRPr lang="en-US" sz="1100"/>
          </a:p>
        </p:txBody>
      </p:sp>
      <p:cxnSp>
        <p:nvCxnSpPr>
          <p:cNvPr name="Connector 24" id="24"/>
          <p:cNvCxnSpPr/>
          <p:nvPr/>
        </p:nvCxnSpPr>
        <p:spPr>
          <a:xfrm rot="-15211" flipH="false" flipV="false">
            <a:off x="8305814" y="2914650"/>
            <a:ext cx="28702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25" id="25"/>
          <p:cNvSpPr/>
          <p:nvPr/>
        </p:nvSpPr>
        <p:spPr>
          <a:xfrm rot="0" flipH="false" flipV="false">
            <a:off x="8305800" y="3175000"/>
            <a:ext cx="287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01. 关键技能缺口预警</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25C69"/>
                </a:solidFill>
                <a:latin typeface="Noto Sans SC"/>
                <a:ea typeface="Noto Sans SC"/>
                <a:cs typeface="Noto Sans SC"/>
                <a:sym typeface="Noto Sans SC"/>
              </a:rPr>
              <a:t>精准定位项目急需但团队储备不足的核心技能，为招聘计划、培训方向提供数据支撑。</a:t>
            </a:r>
          </a:p>
        </p:txBody>
      </p:sp>
      <p:cxnSp>
        <p:nvCxnSpPr>
          <p:cNvPr name="Connector 26" id="26"/>
          <p:cNvCxnSpPr/>
          <p:nvPr/>
        </p:nvCxnSpPr>
        <p:spPr>
          <a:xfrm rot="-15211" flipH="false" flipV="false">
            <a:off x="8305814" y="4438650"/>
            <a:ext cx="2870200" cy="12700"/>
          </a:xfrm>
          <a:prstGeom prst="straightConnector1">
            <a:avLst/>
          </a:prstGeom>
          <a:solidFill>
            <a:srgbClr val="DEE0E3">
              <a:alpha val="100000"/>
            </a:srgbClr>
          </a:solidFill>
          <a:ln w="12700" cmpd="sng" cap="flat">
            <a:solidFill>
              <a:srgbClr val="0A2647">
                <a:alpha val="8000"/>
              </a:srgbClr>
            </a:solidFill>
            <a:prstDash val="solid"/>
            <a:round/>
            <a:headEnd type="none" w="med" len="med"/>
            <a:tailEnd type="none" w="med" len="med"/>
          </a:ln>
        </p:spPr>
      </p:cxnSp>
      <p:sp>
        <p:nvSpPr>
          <p:cNvPr name="AutoShape 27" id="27"/>
          <p:cNvSpPr/>
          <p:nvPr/>
        </p:nvSpPr>
        <p:spPr>
          <a:xfrm rot="0" flipH="false" flipV="false">
            <a:off x="8305800" y="4572000"/>
            <a:ext cx="28702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02. 技能冗余资源盘活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25C69"/>
                </a:solidFill>
                <a:latin typeface="Noto Sans SC"/>
                <a:ea typeface="Noto Sans SC"/>
                <a:cs typeface="Noto Sans SC"/>
                <a:sym typeface="Noto Sans SC"/>
              </a:rPr>
              <a:t>识别储备丰富但需求较少的技能，通过内部调配、转岗培养等方式，最大化利用现有人才资产。</a:t>
            </a:r>
          </a:p>
        </p:txBody>
      </p:sp>
      <p:sp>
        <p:nvSpPr>
          <p:cNvPr name="AutoShape 28" id="28"/>
          <p:cNvSpPr/>
          <p:nvPr/>
        </p:nvSpPr>
        <p:spPr>
          <a:xfrm rot="0" flipH="false" flipV="false">
            <a:off x="762000" y="5715000"/>
            <a:ext cx="10668000" cy="762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762000" y="5715000"/>
            <a:ext cx="76200" cy="762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1016000" y="58166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0A2647"/>
                </a:solidFill>
                <a:latin typeface="Noto Sans SC"/>
                <a:ea typeface="Noto Sans SC"/>
                <a:cs typeface="Noto Sans SC"/>
                <a:sym typeface="Noto Sans SC"/>
              </a:rPr>
              <a:t>可视化看板将复杂的人员、项目、技能数据转化为直观图表，帮助管理层快速洞察资源配置中的失衡点，实现决策从“经验判断”向“数据驱动”的科学转变。</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效率提升调整建议 (1/2)</a:t>
            </a:r>
            <a:endParaRPr lang="en-US" sz="1100"/>
          </a:p>
        </p:txBody>
      </p:sp>
      <p:cxnSp>
        <p:nvCxnSpPr>
          <p:cNvPr name="Connector 3" id="3"/>
          <p:cNvCxnSpPr/>
          <p:nvPr/>
        </p:nvCxnSpPr>
        <p:spPr>
          <a:xfrm rot="-4092" flipH="false" flipV="false">
            <a:off x="762004" y="1263650"/>
            <a:ext cx="10668000" cy="12700"/>
          </a:xfrm>
          <a:prstGeom prst="straightConnector1">
            <a:avLst/>
          </a:prstGeom>
          <a:solidFill>
            <a:srgbClr val="DEE0E3">
              <a:alpha val="100000"/>
            </a:srgbClr>
          </a:solidFill>
          <a:ln w="12700" cmpd="sng" cap="flat">
            <a:solidFill>
              <a:srgbClr val="0A2647">
                <a:alpha val="15000"/>
              </a:srgbClr>
            </a:solidFill>
            <a:prstDash val="solid"/>
            <a:round/>
            <a:headEnd type="none" w="med" len="med"/>
            <a:tailEnd type="none" w="med" len="med"/>
          </a:ln>
        </p:spPr>
      </p:cxnSp>
      <p:sp>
        <p:nvSpPr>
          <p:cNvPr name="AutoShape 4" id="4"/>
          <p:cNvSpPr/>
          <p:nvPr/>
        </p:nvSpPr>
        <p:spPr>
          <a:xfrm rot="0" flipH="false" flipV="false">
            <a:off x="762000" y="1778000"/>
            <a:ext cx="5270500" cy="508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508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1778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01 实施动态资源调度，打破资源流动壁垒</a:t>
            </a:r>
            <a:endParaRPr lang="en-US" sz="1100"/>
          </a:p>
        </p:txBody>
      </p:sp>
      <p:sp>
        <p:nvSpPr>
          <p:cNvPr name="AutoShape 7" id="7"/>
          <p:cNvSpPr/>
          <p:nvPr/>
        </p:nvSpPr>
        <p:spPr>
          <a:xfrm rot="0" flipH="false" flipV="false">
            <a:off x="762000" y="2794000"/>
            <a:ext cx="5270500" cy="1460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984500"/>
            <a:ext cx="406400" cy="406400"/>
          </a:xfrm>
          <a:prstGeom prst="rect">
            <a:avLst/>
          </a:prstGeom>
        </p:spPr>
      </p:pic>
      <p:sp>
        <p:nvSpPr>
          <p:cNvPr name="AutoShape 9" id="9"/>
          <p:cNvSpPr/>
          <p:nvPr/>
        </p:nvSpPr>
        <p:spPr>
          <a:xfrm rot="0" flipH="false" flipV="false">
            <a:off x="1524000" y="2946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跨项目调度：激活内部闲置资源</a:t>
            </a:r>
            <a:endParaRPr lang="en-US" sz="1100"/>
          </a:p>
        </p:txBody>
      </p:sp>
      <p:cxnSp>
        <p:nvCxnSpPr>
          <p:cNvPr name="Connector 10" id="10"/>
          <p:cNvCxnSpPr/>
          <p:nvPr/>
        </p:nvCxnSpPr>
        <p:spPr>
          <a:xfrm rot="-8929" flipH="false" flipV="false">
            <a:off x="952508" y="3486150"/>
            <a:ext cx="4889500" cy="12700"/>
          </a:xfrm>
          <a:prstGeom prst="straightConnector1">
            <a:avLst/>
          </a:prstGeom>
          <a:solidFill>
            <a:srgbClr val="DEE0E3">
              <a:alpha val="100000"/>
            </a:srgbClr>
          </a:solidFill>
          <a:ln w="12700" cmpd="sng" cap="flat">
            <a:solidFill>
              <a:srgbClr val="0A2647">
                <a:alpha val="8000"/>
              </a:srgbClr>
            </a:solidFill>
            <a:prstDash val="dash"/>
            <a:round/>
            <a:headEnd type="none" w="med" len="med"/>
            <a:tailEnd type="none" w="med" len="med"/>
          </a:ln>
        </p:spPr>
      </p:cxnSp>
      <p:sp>
        <p:nvSpPr>
          <p:cNvPr name="AutoShape 11" id="11"/>
          <p:cNvSpPr/>
          <p:nvPr/>
        </p:nvSpPr>
        <p:spPr>
          <a:xfrm rot="0" flipH="false" flipV="false">
            <a:off x="952500" y="36195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建立常态化“资源协调会”机制，定期盘点项目资源饱和度，将低优项目中闲置的高匹配度员工，精准调度至高优项目关键岗位，减少资源空耗。</a:t>
            </a:r>
            <a:endParaRPr lang="en-US" sz="1100"/>
          </a:p>
        </p:txBody>
      </p:sp>
      <p:sp>
        <p:nvSpPr>
          <p:cNvPr name="AutoShape 12" id="12"/>
          <p:cNvSpPr/>
          <p:nvPr/>
        </p:nvSpPr>
        <p:spPr>
          <a:xfrm rot="0" flipH="false" flipV="false">
            <a:off x="762000" y="4572000"/>
            <a:ext cx="5270500" cy="1460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4762500"/>
            <a:ext cx="406400" cy="406400"/>
          </a:xfrm>
          <a:prstGeom prst="rect">
            <a:avLst/>
          </a:prstGeom>
        </p:spPr>
      </p:pic>
      <p:sp>
        <p:nvSpPr>
          <p:cNvPr name="AutoShape 14" id="14"/>
          <p:cNvSpPr/>
          <p:nvPr/>
        </p:nvSpPr>
        <p:spPr>
          <a:xfrm rot="0" flipH="false" flipV="false">
            <a:off x="1524000" y="4724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跨代表处调度：实现区域资源共享</a:t>
            </a:r>
            <a:endParaRPr lang="en-US" sz="1100"/>
          </a:p>
        </p:txBody>
      </p:sp>
      <p:cxnSp>
        <p:nvCxnSpPr>
          <p:cNvPr name="Connector 15" id="15"/>
          <p:cNvCxnSpPr/>
          <p:nvPr/>
        </p:nvCxnSpPr>
        <p:spPr>
          <a:xfrm rot="-8929" flipH="false" flipV="false">
            <a:off x="952508" y="5264150"/>
            <a:ext cx="4889500" cy="12700"/>
          </a:xfrm>
          <a:prstGeom prst="straightConnector1">
            <a:avLst/>
          </a:prstGeom>
          <a:solidFill>
            <a:srgbClr val="DEE0E3">
              <a:alpha val="100000"/>
            </a:srgbClr>
          </a:solidFill>
          <a:ln w="12700" cmpd="sng" cap="flat">
            <a:solidFill>
              <a:srgbClr val="0A2647">
                <a:alpha val="8000"/>
              </a:srgbClr>
            </a:solidFill>
            <a:prstDash val="dash"/>
            <a:round/>
            <a:headEnd type="none" w="med" len="med"/>
            <a:tailEnd type="none" w="med" len="med"/>
          </a:ln>
        </p:spPr>
      </p:cxnSp>
      <p:sp>
        <p:nvSpPr>
          <p:cNvPr name="AutoShape 16" id="16"/>
          <p:cNvSpPr/>
          <p:nvPr/>
        </p:nvSpPr>
        <p:spPr>
          <a:xfrm rot="0" flipH="false" flipV="false">
            <a:off x="952500" y="53975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通过远程协作、短期派驻等灵活方式，打通各代表处人才流通渠道，快速填补区域间的专业技能缺口，最大化发挥现有人才的辐射价值。</a:t>
            </a:r>
            <a:endParaRPr lang="en-US" sz="1100"/>
          </a:p>
        </p:txBody>
      </p:sp>
      <p:cxnSp>
        <p:nvCxnSpPr>
          <p:cNvPr name="Connector 17" id="17"/>
          <p:cNvCxnSpPr/>
          <p:nvPr/>
        </p:nvCxnSpPr>
        <p:spPr>
          <a:xfrm rot="5390177" flipH="false" flipV="false">
            <a:off x="4025900" y="3994159"/>
            <a:ext cx="4445000" cy="12700"/>
          </a:xfrm>
          <a:prstGeom prst="straightConnector1">
            <a:avLst/>
          </a:prstGeom>
          <a:solidFill>
            <a:srgbClr val="DEE0E3">
              <a:alpha val="100000"/>
            </a:srgbClr>
          </a:solidFill>
          <a:ln w="12700" cmpd="sng" cap="flat">
            <a:solidFill>
              <a:srgbClr val="0A2647">
                <a:alpha val="10000"/>
              </a:srgbClr>
            </a:solidFill>
            <a:prstDash val="dash"/>
            <a:round/>
            <a:headEnd type="none" w="med" len="med"/>
            <a:tailEnd type="none" w="med" len="med"/>
          </a:ln>
        </p:spPr>
      </p:cxnSp>
      <p:sp>
        <p:nvSpPr>
          <p:cNvPr name="AutoShape 18" id="18"/>
          <p:cNvSpPr/>
          <p:nvPr/>
        </p:nvSpPr>
        <p:spPr>
          <a:xfrm rot="0" flipH="false" flipV="false">
            <a:off x="6413500" y="1778000"/>
            <a:ext cx="5270500" cy="508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13500" y="1778000"/>
            <a:ext cx="76200" cy="508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616700" y="1778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02 优化核心人才策略，聚焦关键价值产出</a:t>
            </a:r>
            <a:endParaRPr lang="en-US" sz="1100"/>
          </a:p>
        </p:txBody>
      </p:sp>
      <p:sp>
        <p:nvSpPr>
          <p:cNvPr name="AutoShape 21" id="21"/>
          <p:cNvSpPr/>
          <p:nvPr/>
        </p:nvSpPr>
        <p:spPr>
          <a:xfrm rot="0" flipH="false" flipV="false">
            <a:off x="6413500" y="2794000"/>
            <a:ext cx="5270500" cy="1460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2984500"/>
            <a:ext cx="406400" cy="406400"/>
          </a:xfrm>
          <a:prstGeom prst="rect">
            <a:avLst/>
          </a:prstGeom>
        </p:spPr>
      </p:pic>
      <p:sp>
        <p:nvSpPr>
          <p:cNvPr name="AutoShape 23" id="23"/>
          <p:cNvSpPr/>
          <p:nvPr/>
        </p:nvSpPr>
        <p:spPr>
          <a:xfrm rot="0" flipH="false" flipV="false">
            <a:off x="7175500" y="2946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“1+N”聚焦模式：保障攻坚质量</a:t>
            </a:r>
            <a:endParaRPr lang="en-US" sz="1100"/>
          </a:p>
        </p:txBody>
      </p:sp>
      <p:cxnSp>
        <p:nvCxnSpPr>
          <p:cNvPr name="Connector 24" id="24"/>
          <p:cNvCxnSpPr/>
          <p:nvPr/>
        </p:nvCxnSpPr>
        <p:spPr>
          <a:xfrm rot="-8929" flipH="false" flipV="false">
            <a:off x="6604008" y="3486150"/>
            <a:ext cx="4889500" cy="12700"/>
          </a:xfrm>
          <a:prstGeom prst="straightConnector1">
            <a:avLst/>
          </a:prstGeom>
          <a:solidFill>
            <a:srgbClr val="DEE0E3">
              <a:alpha val="100000"/>
            </a:srgbClr>
          </a:solidFill>
          <a:ln w="12700" cmpd="sng" cap="flat">
            <a:solidFill>
              <a:srgbClr val="0A2647">
                <a:alpha val="8000"/>
              </a:srgbClr>
            </a:solidFill>
            <a:prstDash val="dash"/>
            <a:round/>
            <a:headEnd type="none" w="med" len="med"/>
            <a:tailEnd type="none" w="med" len="med"/>
          </a:ln>
        </p:spPr>
      </p:cxnSp>
      <p:sp>
        <p:nvSpPr>
          <p:cNvPr name="AutoShape 25" id="25"/>
          <p:cNvSpPr/>
          <p:nvPr/>
        </p:nvSpPr>
        <p:spPr>
          <a:xfrm rot="0" flipH="false" flipV="false">
            <a:off x="6604000" y="36195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明确高能力员工的工作重心，确保其70%-80%的工时投入到单一“核心项目”中，减少多头分散带来的精力损耗，集中优势力量攻克关键难题。</a:t>
            </a:r>
            <a:endParaRPr lang="en-US" sz="1100"/>
          </a:p>
        </p:txBody>
      </p:sp>
      <p:sp>
        <p:nvSpPr>
          <p:cNvPr name="AutoShape 26" id="26"/>
          <p:cNvSpPr/>
          <p:nvPr/>
        </p:nvSpPr>
        <p:spPr>
          <a:xfrm rot="0" flipH="false" flipV="false">
            <a:off x="6413500" y="4572000"/>
            <a:ext cx="5270500" cy="1460500"/>
          </a:xfrm>
          <a:prstGeom prst="roundRect">
            <a:avLst>
              <a:gd name="adj" fmla="val 0"/>
            </a:avLst>
          </a:prstGeom>
          <a:solidFill>
            <a:srgbClr val="FFFFFF">
              <a:alpha val="100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762500"/>
            <a:ext cx="406400" cy="406400"/>
          </a:xfrm>
          <a:prstGeom prst="rect">
            <a:avLst/>
          </a:prstGeom>
        </p:spPr>
      </p:pic>
      <p:sp>
        <p:nvSpPr>
          <p:cNvPr name="AutoShape 28" id="28"/>
          <p:cNvSpPr/>
          <p:nvPr/>
        </p:nvSpPr>
        <p:spPr>
          <a:xfrm rot="0" flipH="false" flipV="false">
            <a:off x="7175500" y="4724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建立核心人才资源池：统一统筹管理</a:t>
            </a:r>
            <a:endParaRPr lang="en-US" sz="1100"/>
          </a:p>
        </p:txBody>
      </p:sp>
      <p:cxnSp>
        <p:nvCxnSpPr>
          <p:cNvPr name="Connector 29" id="29"/>
          <p:cNvCxnSpPr/>
          <p:nvPr/>
        </p:nvCxnSpPr>
        <p:spPr>
          <a:xfrm rot="-8929" flipH="false" flipV="false">
            <a:off x="6604008" y="5264150"/>
            <a:ext cx="4889500" cy="12700"/>
          </a:xfrm>
          <a:prstGeom prst="straightConnector1">
            <a:avLst/>
          </a:prstGeom>
          <a:solidFill>
            <a:srgbClr val="DEE0E3">
              <a:alpha val="100000"/>
            </a:srgbClr>
          </a:solidFill>
          <a:ln w="12700" cmpd="sng" cap="flat">
            <a:solidFill>
              <a:srgbClr val="0A2647">
                <a:alpha val="8000"/>
              </a:srgbClr>
            </a:solidFill>
            <a:prstDash val="dash"/>
            <a:round/>
            <a:headEnd type="none" w="med" len="med"/>
            <a:tailEnd type="none" w="med" len="med"/>
          </a:ln>
        </p:spPr>
      </p:cxnSp>
      <p:sp>
        <p:nvSpPr>
          <p:cNvPr name="AutoShape 30" id="30"/>
          <p:cNvSpPr/>
          <p:nvPr/>
        </p:nvSpPr>
        <p:spPr>
          <a:xfrm rot="0" flipH="false" flipV="false">
            <a:off x="6604000" y="53975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由PMO或HR牵头建立高能力员工专属资源池，依据项目优先级、专业适配度进行统一审批与分配，规范人才调用流程，避免各项目组无序争抢。</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效率提升调整建议 (2/2)</a:t>
            </a:r>
            <a:endParaRPr lang="en-US" sz="1100"/>
          </a:p>
        </p:txBody>
      </p:sp>
      <p:cxnSp>
        <p:nvCxnSpPr>
          <p:cNvPr name="Connector 3" id="3"/>
          <p:cNvCxnSpPr/>
          <p:nvPr/>
        </p:nvCxnSpPr>
        <p:spPr>
          <a:xfrm rot="-4092" flipH="false" flipV="false">
            <a:off x="762004" y="1263650"/>
            <a:ext cx="10668000" cy="12700"/>
          </a:xfrm>
          <a:prstGeom prst="straightConnector1">
            <a:avLst/>
          </a:prstGeom>
          <a:solidFill>
            <a:srgbClr val="DEE0E3">
              <a:alpha val="100000"/>
            </a:srgbClr>
          </a:solidFill>
          <a:ln w="12700" cmpd="sng" cap="flat">
            <a:solidFill>
              <a:srgbClr val="0A2647">
                <a:alpha val="20000"/>
              </a:srgbClr>
            </a:solidFill>
            <a:prstDash val="solid"/>
            <a:round/>
            <a:headEnd type="none" w="med" len="med"/>
            <a:tailEnd type="none" w="med" len="med"/>
          </a:ln>
        </p:spPr>
      </p:cxnSp>
      <p:sp>
        <p:nvSpPr>
          <p:cNvPr name="AutoShape 4" id="4"/>
          <p:cNvSpPr/>
          <p:nvPr/>
        </p:nvSpPr>
        <p:spPr>
          <a:xfrm rot="0" flipH="false" flipV="false">
            <a:off x="762000" y="1778000"/>
            <a:ext cx="5270500" cy="4191000"/>
          </a:xfrm>
          <a:prstGeom prst="roundRect">
            <a:avLst>
              <a:gd name="adj" fmla="val 0"/>
            </a:avLst>
          </a:prstGeom>
          <a:solidFill>
            <a:srgbClr val="0A2647">
              <a:alpha val="4000"/>
            </a:srgbClr>
          </a:solidFill>
          <a:ln cmpd="sng" cap="flat">
            <a:solidFill>
              <a:srgbClr val="02162E">
                <a:alpha val="4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4191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79500" y="2032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03 构建人才梯队与成长机制</a:t>
            </a:r>
            <a:endParaRPr lang="en-US" sz="1100"/>
          </a:p>
        </p:txBody>
      </p:sp>
      <p:cxnSp>
        <p:nvCxnSpPr>
          <p:cNvPr name="Connector 7" id="7"/>
          <p:cNvCxnSpPr/>
          <p:nvPr/>
        </p:nvCxnSpPr>
        <p:spPr>
          <a:xfrm rot="-9418" flipH="false" flipV="false">
            <a:off x="1079509" y="2724150"/>
            <a:ext cx="4635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3048000"/>
            <a:ext cx="355600" cy="355600"/>
          </a:xfrm>
          <a:prstGeom prst="rect">
            <a:avLst/>
          </a:prstGeom>
        </p:spPr>
      </p:pic>
      <p:sp>
        <p:nvSpPr>
          <p:cNvPr name="AutoShape 9" id="9"/>
          <p:cNvSpPr/>
          <p:nvPr/>
        </p:nvSpPr>
        <p:spPr>
          <a:xfrm rot="0" flipH="false" flipV="false">
            <a:off x="1587500" y="3022600"/>
            <a:ext cx="4191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梯度任务池建设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0A2647">
                    <a:alpha val="80000"/>
                  </a:srgbClr>
                </a:solidFill>
                <a:latin typeface="Noto Sans SC"/>
                <a:ea typeface="Noto Sans SC"/>
                <a:cs typeface="Noto Sans SC"/>
                <a:sym typeface="Noto Sans SC"/>
              </a:rPr>
              <a:t>为中低能力员工搭建L1-L3级基础任务池，让员工从胜任的任务起步，循序渐进积累经验，避免能力与任务不匹配导致的效率损耗与挫败感。</a:t>
            </a:r>
          </a:p>
        </p:txBody>
      </p:sp>
      <p:cxnSp>
        <p:nvCxnSpPr>
          <p:cNvPr name="Connector 10" id="10"/>
          <p:cNvCxnSpPr/>
          <p:nvPr/>
        </p:nvCxnSpPr>
        <p:spPr>
          <a:xfrm rot="-9418" flipH="false" flipV="false">
            <a:off x="1079509" y="4438650"/>
            <a:ext cx="4635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79500" y="4699000"/>
            <a:ext cx="355600" cy="355600"/>
          </a:xfrm>
          <a:prstGeom prst="rect">
            <a:avLst/>
          </a:prstGeom>
        </p:spPr>
      </p:pic>
      <p:sp>
        <p:nvSpPr>
          <p:cNvPr name="AutoShape 12" id="12"/>
          <p:cNvSpPr/>
          <p:nvPr/>
        </p:nvSpPr>
        <p:spPr>
          <a:xfrm rot="0" flipH="false" flipV="false">
            <a:off x="1587500" y="4673600"/>
            <a:ext cx="4191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“师徒制”实战带教</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0A2647">
                    <a:alpha val="80000"/>
                  </a:srgbClr>
                </a:solidFill>
                <a:latin typeface="Noto Sans SC"/>
                <a:ea typeface="Noto Sans SC"/>
                <a:cs typeface="Noto Sans SC"/>
                <a:sym typeface="Noto Sans SC"/>
              </a:rPr>
              <a:t>组建高-低能力员工结对的实战带教小组，在项目执行中完成知识与经验传承。数据显示，该机制可使低能力员工的成长周期有效缩短33%，加速团队能力融合。</a:t>
            </a:r>
          </a:p>
        </p:txBody>
      </p:sp>
      <p:sp>
        <p:nvSpPr>
          <p:cNvPr name="AutoShape 13" id="13"/>
          <p:cNvSpPr/>
          <p:nvPr/>
        </p:nvSpPr>
        <p:spPr>
          <a:xfrm rot="0" flipH="false" flipV="false">
            <a:off x="6286500" y="1778000"/>
            <a:ext cx="5270500" cy="4191000"/>
          </a:xfrm>
          <a:prstGeom prst="roundRect">
            <a:avLst>
              <a:gd name="adj" fmla="val 0"/>
            </a:avLst>
          </a:prstGeom>
          <a:solidFill>
            <a:srgbClr val="0A2647">
              <a:alpha val="4000"/>
            </a:srgbClr>
          </a:solidFill>
          <a:ln cmpd="sng" cap="flat">
            <a:solidFill>
              <a:srgbClr val="02162E">
                <a:alpha val="4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86500" y="1778000"/>
            <a:ext cx="76200" cy="41910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604000" y="2032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A2647"/>
                </a:solidFill>
                <a:latin typeface="Noto Sans SC"/>
                <a:ea typeface="Noto Sans SC"/>
                <a:cs typeface="Noto Sans SC"/>
                <a:sym typeface="Noto Sans SC"/>
              </a:rPr>
              <a:t>04 驱动组织优化与能力升级</a:t>
            </a:r>
            <a:endParaRPr lang="en-US" sz="1100"/>
          </a:p>
        </p:txBody>
      </p:sp>
      <p:cxnSp>
        <p:nvCxnSpPr>
          <p:cNvPr name="Connector 16" id="16"/>
          <p:cNvCxnSpPr/>
          <p:nvPr/>
        </p:nvCxnSpPr>
        <p:spPr>
          <a:xfrm rot="-9418" flipH="false" flipV="false">
            <a:off x="6604009" y="2724150"/>
            <a:ext cx="4635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3048000"/>
            <a:ext cx="355600" cy="355600"/>
          </a:xfrm>
          <a:prstGeom prst="rect">
            <a:avLst/>
          </a:prstGeom>
        </p:spPr>
      </p:pic>
      <p:sp>
        <p:nvSpPr>
          <p:cNvPr name="AutoShape 18" id="18"/>
          <p:cNvSpPr/>
          <p:nvPr/>
        </p:nvSpPr>
        <p:spPr>
          <a:xfrm rot="0" flipH="false" flipV="false">
            <a:off x="7112000" y="3022600"/>
            <a:ext cx="4191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2647"/>
                </a:solidFill>
                <a:latin typeface="Noto Sans SC"/>
                <a:ea typeface="Noto Sans SC"/>
                <a:cs typeface="Noto Sans SC"/>
                <a:sym typeface="Noto Sans SC"/>
              </a:rPr>
              <a:t>精准化招聘策略调整</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0A2647">
                    <a:alpha val="80000"/>
                  </a:srgbClr>
                </a:solidFill>
                <a:latin typeface="Noto Sans SC"/>
                <a:ea typeface="Noto Sans SC"/>
                <a:cs typeface="Noto Sans SC"/>
                <a:sym typeface="Noto Sans SC"/>
              </a:rPr>
              <a:t>基于技能缺口的定量分析，靶向招聘具备关键能力的人才，填补团队短板，从源头优化人员结构，减少后期培养的资源投入与时间成本。</a:t>
            </a:r>
          </a:p>
        </p:txBody>
      </p:sp>
      <p:cxnSp>
        <p:nvCxnSpPr>
          <p:cNvPr name="Connector 19" id="19"/>
          <p:cNvCxnSpPr/>
          <p:nvPr/>
        </p:nvCxnSpPr>
        <p:spPr>
          <a:xfrm rot="-9418" flipH="false" flipV="false">
            <a:off x="6604009" y="4184650"/>
            <a:ext cx="4635500" cy="12700"/>
          </a:xfrm>
          <a:prstGeom prst="straightConnector1">
            <a:avLst/>
          </a:prstGeom>
          <a:solidFill>
            <a:srgbClr val="DEE0E3">
              <a:alpha val="100000"/>
            </a:srgbClr>
          </a:solidFill>
          <a:ln w="12700" cmpd="sng" cap="flat">
            <a:solidFill>
              <a:srgbClr val="0A2647">
                <a:alpha val="10000"/>
              </a:srgbClr>
            </a:solidFill>
            <a:prstDash val="solid"/>
            <a:round/>
            <a:headEnd type="none" w="med" len="med"/>
            <a:tailEnd type="none" w="med" len="med"/>
          </a:ln>
        </p:spPr>
      </p:cxnSp>
      <p:sp>
        <p:nvSpPr>
          <p:cNvPr name="AutoShape 20" id="20"/>
          <p:cNvSpPr/>
          <p:nvPr/>
        </p:nvSpPr>
        <p:spPr>
          <a:xfrm rot="0" flipH="false" flipV="false">
            <a:off x="6604000" y="4445000"/>
            <a:ext cx="2222500" cy="1397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572000"/>
            <a:ext cx="279400" cy="279400"/>
          </a:xfrm>
          <a:prstGeom prst="rect">
            <a:avLst/>
          </a:prstGeom>
        </p:spPr>
      </p:pic>
      <p:sp>
        <p:nvSpPr>
          <p:cNvPr name="AutoShape 22" id="22"/>
          <p:cNvSpPr/>
          <p:nvPr/>
        </p:nvSpPr>
        <p:spPr>
          <a:xfrm rot="0" flipH="false" flipV="false">
            <a:off x="7112000" y="4546600"/>
            <a:ext cx="1651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A2647"/>
                </a:solidFill>
                <a:latin typeface="Noto Sans SC"/>
                <a:ea typeface="Noto Sans SC"/>
                <a:cs typeface="Noto Sans SC"/>
                <a:sym typeface="Noto Sans SC"/>
              </a:rPr>
              <a:t>定制化培训体系</a:t>
            </a:r>
            <a:endParaRPr lang="en-US" sz="1100"/>
          </a:p>
        </p:txBody>
      </p:sp>
      <p:sp>
        <p:nvSpPr>
          <p:cNvPr name="AutoShape 23" id="23"/>
          <p:cNvSpPr/>
          <p:nvPr/>
        </p:nvSpPr>
        <p:spPr>
          <a:xfrm rot="0" flipH="false" flipV="false">
            <a:off x="6731000" y="5080000"/>
            <a:ext cx="196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0A2647">
                    <a:alpha val="70196"/>
                  </a:srgbClr>
                </a:solidFill>
                <a:latin typeface="Noto Sans SC"/>
                <a:ea typeface="Noto Sans SC"/>
                <a:cs typeface="Noto Sans SC"/>
                <a:sym typeface="Noto Sans SC"/>
              </a:rPr>
              <a:t>针对普遍能力短板设计专项课程，聚焦实战应用，提升培训内容的针对性与转化率。</a:t>
            </a:r>
            <a:endParaRPr lang="en-US" sz="1100"/>
          </a:p>
        </p:txBody>
      </p:sp>
      <p:sp>
        <p:nvSpPr>
          <p:cNvPr name="AutoShape 24" id="24"/>
          <p:cNvSpPr/>
          <p:nvPr/>
        </p:nvSpPr>
        <p:spPr>
          <a:xfrm rot="0" flipH="false" flipV="false">
            <a:off x="9017000" y="4445000"/>
            <a:ext cx="2222500" cy="1397000"/>
          </a:xfrm>
          <a:prstGeom prst="roundRect">
            <a:avLst>
              <a:gd name="adj" fmla="val 0"/>
            </a:avLst>
          </a:prstGeom>
          <a:solidFill>
            <a:srgbClr val="0A2647">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144000" y="4572000"/>
            <a:ext cx="279400" cy="279400"/>
          </a:xfrm>
          <a:prstGeom prst="rect">
            <a:avLst/>
          </a:prstGeom>
        </p:spPr>
      </p:pic>
      <p:sp>
        <p:nvSpPr>
          <p:cNvPr name="AutoShape 26" id="26"/>
          <p:cNvSpPr/>
          <p:nvPr/>
        </p:nvSpPr>
        <p:spPr>
          <a:xfrm rot="0" flipH="false" flipV="false">
            <a:off x="9525000" y="4546600"/>
            <a:ext cx="1651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A2647"/>
                </a:solidFill>
                <a:latin typeface="Noto Sans SC"/>
                <a:ea typeface="Noto Sans SC"/>
                <a:cs typeface="Noto Sans SC"/>
                <a:sym typeface="Noto Sans SC"/>
              </a:rPr>
              <a:t>专业化能力中心</a:t>
            </a:r>
            <a:endParaRPr lang="en-US" sz="1100"/>
          </a:p>
        </p:txBody>
      </p:sp>
      <p:sp>
        <p:nvSpPr>
          <p:cNvPr name="AutoShape 27" id="27"/>
          <p:cNvSpPr/>
          <p:nvPr/>
        </p:nvSpPr>
        <p:spPr>
          <a:xfrm rot="0" flipH="false" flipV="false">
            <a:off x="9144000" y="5080000"/>
            <a:ext cx="196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0A2647">
                    <a:alpha val="70196"/>
                  </a:srgbClr>
                </a:solidFill>
                <a:latin typeface="Noto Sans SC"/>
                <a:ea typeface="Noto Sans SC"/>
                <a:cs typeface="Noto Sans SC"/>
                <a:sym typeface="Noto Sans SC"/>
              </a:rPr>
              <a:t>将深耕特定领域的代表处转型为专业能力中心，集中资源形成技术与服务的规模化优势。</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A2647"/>
                </a:solidFill>
                <a:latin typeface="Noto Sans SC"/>
                <a:ea typeface="Noto Sans SC"/>
                <a:cs typeface="Noto Sans SC"/>
                <a:sym typeface="Noto Sans SC"/>
              </a:rPr>
              <a:t>从成本中心到价值创造中心</a:t>
            </a:r>
            <a:endParaRPr lang="en-US" sz="1100"/>
          </a:p>
        </p:txBody>
      </p:sp>
      <p:cxnSp>
        <p:nvCxnSpPr>
          <p:cNvPr name="Connector 3" id="3"/>
          <p:cNvCxnSpPr/>
          <p:nvPr/>
        </p:nvCxnSpPr>
        <p:spPr>
          <a:xfrm rot="-4092" flipH="false" flipV="false">
            <a:off x="762004" y="1390650"/>
            <a:ext cx="10668000" cy="12700"/>
          </a:xfrm>
          <a:prstGeom prst="straightConnector1">
            <a:avLst/>
          </a:prstGeom>
          <a:solidFill>
            <a:srgbClr val="DEE0E3">
              <a:alpha val="100000"/>
            </a:srgbClr>
          </a:solidFill>
          <a:ln w="12700" cmpd="sng" cap="flat">
            <a:solidFill>
              <a:srgbClr val="0A2647">
                <a:alpha val="20000"/>
              </a:srgbClr>
            </a:solidFill>
            <a:prstDash val="solid"/>
            <a:round/>
            <a:headEnd type="none" w="med" len="med"/>
            <a:tailEnd type="none" w="med" len="med"/>
          </a:ln>
        </p:spPr>
      </p:cxnSp>
      <p:sp>
        <p:nvSpPr>
          <p:cNvPr name="AutoShape 4" id="4"/>
          <p:cNvSpPr/>
          <p:nvPr/>
        </p:nvSpPr>
        <p:spPr>
          <a:xfrm rot="0" flipH="false" flipV="false">
            <a:off x="762000" y="2032000"/>
            <a:ext cx="2476500" cy="27940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2476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57200" cy="457200"/>
          </a:xfrm>
          <a:prstGeom prst="rect">
            <a:avLst/>
          </a:prstGeom>
        </p:spPr>
      </p:pic>
      <p:sp>
        <p:nvSpPr>
          <p:cNvPr name="AutoShape 7" id="7"/>
          <p:cNvSpPr/>
          <p:nvPr/>
        </p:nvSpPr>
        <p:spPr>
          <a:xfrm rot="0" flipH="false" flipV="false">
            <a:off x="1016000" y="30480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人岗精准匹配</a:t>
            </a:r>
            <a:endParaRPr lang="en-US" sz="1100"/>
          </a:p>
        </p:txBody>
      </p:sp>
      <p:cxnSp>
        <p:nvCxnSpPr>
          <p:cNvPr name="Connector 8" id="8"/>
          <p:cNvCxnSpPr/>
          <p:nvPr/>
        </p:nvCxnSpPr>
        <p:spPr>
          <a:xfrm rot="-22178" flipH="false" flipV="false">
            <a:off x="1016020" y="3613150"/>
            <a:ext cx="1968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sp>
        <p:nvSpPr>
          <p:cNvPr name="AutoShape 9" id="9"/>
          <p:cNvSpPr/>
          <p:nvPr/>
        </p:nvSpPr>
        <p:spPr>
          <a:xfrm rot="0" flipH="false" flipV="false">
            <a:off x="1016000" y="3810000"/>
            <a:ext cx="196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C4650"/>
                </a:solidFill>
                <a:latin typeface="Noto Sans SC"/>
                <a:ea typeface="Noto Sans SC"/>
                <a:cs typeface="Noto Sans SC"/>
                <a:sym typeface="Noto Sans SC"/>
              </a:rPr>
              <a:t>基于能力模型与项目需求，将最合适的人才配置到最匹配的岗位与项目节点上，减少错配损耗。</a:t>
            </a:r>
            <a:endParaRPr lang="en-US" sz="1100"/>
          </a:p>
        </p:txBody>
      </p:sp>
      <p:sp>
        <p:nvSpPr>
          <p:cNvPr name="AutoShape 10" id="10"/>
          <p:cNvSpPr/>
          <p:nvPr/>
        </p:nvSpPr>
        <p:spPr>
          <a:xfrm rot="0" flipH="false" flipV="false">
            <a:off x="3492500" y="2032000"/>
            <a:ext cx="2476500" cy="27940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492500" y="2032000"/>
            <a:ext cx="2476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46500" y="2286000"/>
            <a:ext cx="457200" cy="457200"/>
          </a:xfrm>
          <a:prstGeom prst="rect">
            <a:avLst/>
          </a:prstGeom>
        </p:spPr>
      </p:pic>
      <p:sp>
        <p:nvSpPr>
          <p:cNvPr name="AutoShape 13" id="13"/>
          <p:cNvSpPr/>
          <p:nvPr/>
        </p:nvSpPr>
        <p:spPr>
          <a:xfrm rot="0" flipH="false" flipV="false">
            <a:off x="3746500" y="30480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资源利用最大化</a:t>
            </a:r>
            <a:endParaRPr lang="en-US" sz="1100"/>
          </a:p>
        </p:txBody>
      </p:sp>
      <p:cxnSp>
        <p:nvCxnSpPr>
          <p:cNvPr name="Connector 14" id="14"/>
          <p:cNvCxnSpPr/>
          <p:nvPr/>
        </p:nvCxnSpPr>
        <p:spPr>
          <a:xfrm rot="-22178" flipH="false" flipV="false">
            <a:off x="3746520" y="3613150"/>
            <a:ext cx="1968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sp>
        <p:nvSpPr>
          <p:cNvPr name="AutoShape 15" id="15"/>
          <p:cNvSpPr/>
          <p:nvPr/>
        </p:nvSpPr>
        <p:spPr>
          <a:xfrm rot="0" flipH="false" flipV="false">
            <a:off x="3746500" y="3810000"/>
            <a:ext cx="196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C4650"/>
                </a:solidFill>
                <a:latin typeface="Noto Sans SC"/>
                <a:ea typeface="Noto Sans SC"/>
                <a:cs typeface="Noto Sans SC"/>
                <a:sym typeface="Noto Sans SC"/>
              </a:rPr>
              <a:t>通过量化分析消除资源瓶颈与冗余配置，盘活存量人才资产，让核心人才价值得到充分释放。</a:t>
            </a:r>
            <a:endParaRPr lang="en-US" sz="1100"/>
          </a:p>
        </p:txBody>
      </p:sp>
      <p:sp>
        <p:nvSpPr>
          <p:cNvPr name="AutoShape 16" id="16"/>
          <p:cNvSpPr/>
          <p:nvPr/>
        </p:nvSpPr>
        <p:spPr>
          <a:xfrm rot="0" flipH="false" flipV="false">
            <a:off x="6223000" y="2032000"/>
            <a:ext cx="2476500" cy="27940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2032000"/>
            <a:ext cx="2476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2286000"/>
            <a:ext cx="457200" cy="457200"/>
          </a:xfrm>
          <a:prstGeom prst="rect">
            <a:avLst/>
          </a:prstGeom>
        </p:spPr>
      </p:pic>
      <p:sp>
        <p:nvSpPr>
          <p:cNvPr name="AutoShape 19" id="19"/>
          <p:cNvSpPr/>
          <p:nvPr/>
        </p:nvSpPr>
        <p:spPr>
          <a:xfrm rot="0" flipH="false" flipV="false">
            <a:off x="6477000" y="30480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构建人才梯队</a:t>
            </a:r>
            <a:endParaRPr lang="en-US" sz="1100"/>
          </a:p>
        </p:txBody>
      </p:sp>
      <p:cxnSp>
        <p:nvCxnSpPr>
          <p:cNvPr name="Connector 20" id="20"/>
          <p:cNvCxnSpPr/>
          <p:nvPr/>
        </p:nvCxnSpPr>
        <p:spPr>
          <a:xfrm rot="-22178" flipH="false" flipV="false">
            <a:off x="6477020" y="3613150"/>
            <a:ext cx="1968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sp>
        <p:nvSpPr>
          <p:cNvPr name="AutoShape 21" id="21"/>
          <p:cNvSpPr/>
          <p:nvPr/>
        </p:nvSpPr>
        <p:spPr>
          <a:xfrm rot="0" flipH="false" flipV="false">
            <a:off x="6477000" y="3810000"/>
            <a:ext cx="196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C4650"/>
                </a:solidFill>
                <a:latin typeface="Noto Sans SC"/>
                <a:ea typeface="Noto Sans SC"/>
                <a:cs typeface="Noto Sans SC"/>
                <a:sym typeface="Noto Sans SC"/>
              </a:rPr>
              <a:t>以实战项目为培养载体，通过“干中学”与导师带教机制，快速沉淀经验，形成可持续的人才造血能力。</a:t>
            </a:r>
            <a:endParaRPr lang="en-US" sz="1100"/>
          </a:p>
        </p:txBody>
      </p:sp>
      <p:sp>
        <p:nvSpPr>
          <p:cNvPr name="AutoShape 22" id="22"/>
          <p:cNvSpPr/>
          <p:nvPr/>
        </p:nvSpPr>
        <p:spPr>
          <a:xfrm rot="0" flipH="false" flipV="false">
            <a:off x="8953500" y="2032000"/>
            <a:ext cx="2476500" cy="2794000"/>
          </a:xfrm>
          <a:prstGeom prst="roundRect">
            <a:avLst>
              <a:gd name="adj" fmla="val 0"/>
            </a:avLst>
          </a:prstGeom>
          <a:solidFill>
            <a:srgbClr val="0A2647">
              <a:alpha val="3000"/>
            </a:srgbClr>
          </a:solidFill>
          <a:ln w="12700" cmpd="sng" cap="flat">
            <a:solidFill>
              <a:srgbClr val="0A2647">
                <a:alpha val="1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953500" y="2032000"/>
            <a:ext cx="2476500" cy="508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07500" y="2286000"/>
            <a:ext cx="457200" cy="457200"/>
          </a:xfrm>
          <a:prstGeom prst="rect">
            <a:avLst/>
          </a:prstGeom>
        </p:spPr>
      </p:pic>
      <p:sp>
        <p:nvSpPr>
          <p:cNvPr name="AutoShape 25" id="25"/>
          <p:cNvSpPr/>
          <p:nvPr/>
        </p:nvSpPr>
        <p:spPr>
          <a:xfrm rot="0" flipH="false" flipV="false">
            <a:off x="9207500" y="30480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A2647"/>
                </a:solidFill>
                <a:latin typeface="Noto Sans SC"/>
                <a:ea typeface="Noto Sans SC"/>
                <a:cs typeface="Noto Sans SC"/>
                <a:sym typeface="Noto Sans SC"/>
              </a:rPr>
              <a:t>锚定战略目标</a:t>
            </a:r>
            <a:endParaRPr lang="en-US" sz="1100"/>
          </a:p>
        </p:txBody>
      </p:sp>
      <p:cxnSp>
        <p:nvCxnSpPr>
          <p:cNvPr name="Connector 26" id="26"/>
          <p:cNvCxnSpPr/>
          <p:nvPr/>
        </p:nvCxnSpPr>
        <p:spPr>
          <a:xfrm rot="-22178" flipH="false" flipV="false">
            <a:off x="9207520" y="3613150"/>
            <a:ext cx="1968500" cy="12700"/>
          </a:xfrm>
          <a:prstGeom prst="straightConnector1">
            <a:avLst/>
          </a:prstGeom>
          <a:solidFill>
            <a:srgbClr val="DEE0E3">
              <a:alpha val="100000"/>
            </a:srgbClr>
          </a:solidFill>
          <a:ln w="12700" cmpd="sng" cap="flat">
            <a:solidFill>
              <a:srgbClr val="0A2647">
                <a:alpha val="15000"/>
              </a:srgbClr>
            </a:solidFill>
            <a:prstDash val="dash"/>
            <a:round/>
            <a:headEnd type="none" w="med" len="med"/>
            <a:tailEnd type="none" w="med" len="med"/>
          </a:ln>
        </p:spPr>
      </p:cxnSp>
      <p:sp>
        <p:nvSpPr>
          <p:cNvPr name="AutoShape 27" id="27"/>
          <p:cNvSpPr/>
          <p:nvPr/>
        </p:nvSpPr>
        <p:spPr>
          <a:xfrm rot="0" flipH="false" flipV="false">
            <a:off x="9207500" y="3810000"/>
            <a:ext cx="196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C4650"/>
                </a:solidFill>
                <a:latin typeface="Noto Sans SC"/>
                <a:ea typeface="Noto Sans SC"/>
                <a:cs typeface="Noto Sans SC"/>
                <a:sym typeface="Noto Sans SC"/>
              </a:rPr>
              <a:t>确保人力资源配置动态响应公司战略节奏，让人力布局始终服务于关键战役攻关与长期发展规划。</a:t>
            </a:r>
            <a:endParaRPr lang="en-US" sz="1100"/>
          </a:p>
        </p:txBody>
      </p:sp>
      <p:sp>
        <p:nvSpPr>
          <p:cNvPr name="AutoShape 28" id="28"/>
          <p:cNvSpPr/>
          <p:nvPr/>
        </p:nvSpPr>
        <p:spPr>
          <a:xfrm rot="0" flipH="false" flipV="false">
            <a:off x="762000" y="5334000"/>
            <a:ext cx="10668000" cy="1079500"/>
          </a:xfrm>
          <a:prstGeom prst="roundRect">
            <a:avLst>
              <a:gd name="adj" fmla="val 0"/>
            </a:avLst>
          </a:prstGeom>
          <a:solidFill>
            <a:srgbClr val="0A264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016000" y="54864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从静态的“成本中心”转向动态的“价值创造中心”，不仅是管理模式的升级，更是组织效能的质变。这一转变将显著提升战役攻关项目的成功率，为企业构建可持续的核心竞争力提供坚实的人才保障。</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264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0" y="2540000"/>
            <a:ext cx="6350000" cy="6350000"/>
          </a:xfrm>
          <a:prstGeom prst="ellipse">
            <a:avLst/>
          </a:prstGeom>
          <a:solidFill>
            <a:srgbClr val="FFC10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1270000"/>
            <a:ext cx="3810000" cy="3810000"/>
          </a:xfrm>
          <a:prstGeom prst="ellipse">
            <a:avLst/>
          </a:prstGeom>
          <a:solidFill>
            <a:srgbClr val="FFC107">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667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C107"/>
                </a:solidFill>
                <a:latin typeface="Noto Sans SC"/>
                <a:ea typeface="Noto Sans SC"/>
                <a:cs typeface="Noto Sans SC"/>
                <a:sym typeface="Noto Sans SC"/>
              </a:rPr>
              <a:t>Q&amp;A</a:t>
            </a:r>
            <a:endParaRPr lang="en-US" sz="1100"/>
          </a:p>
        </p:txBody>
      </p:sp>
      <p:cxnSp>
        <p:nvCxnSpPr>
          <p:cNvPr name="Connector 5" id="5"/>
          <p:cNvCxnSpPr/>
          <p:nvPr/>
        </p:nvCxnSpPr>
        <p:spPr>
          <a:xfrm rot="-34376" flipH="false" flipV="false">
            <a:off x="5461032" y="4184650"/>
            <a:ext cx="1270000" cy="12700"/>
          </a:xfrm>
          <a:prstGeom prst="straightConnector1">
            <a:avLst/>
          </a:prstGeom>
          <a:solidFill>
            <a:srgbClr val="DEE0E3">
              <a:alpha val="100000"/>
            </a:srgbClr>
          </a:solidFill>
          <a:ln w="25400" cmpd="sng" cap="flat">
            <a:solidFill>
              <a:srgbClr val="FFC107">
                <a:alpha val="60000"/>
              </a:srgbClr>
            </a:solidFill>
            <a:prstDash val="solid"/>
            <a:round/>
            <a:headEnd type="none" w="lg" len="lg"/>
            <a:tailEnd type="none" w="lg" len="lg"/>
          </a:ln>
        </p:spPr>
      </p:cxnSp>
      <p:sp>
        <p:nvSpPr>
          <p:cNvPr name="AutoShape 6" id="6"/>
          <p:cNvSpPr/>
          <p:nvPr/>
        </p:nvSpPr>
        <p:spPr>
          <a:xfrm rot="0" flipH="false" flipV="false">
            <a:off x="0" y="4699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200">
                <a:solidFill>
                  <a:srgbClr val="FFFFFF">
                    <a:alpha val="90196"/>
                  </a:srgbClr>
                </a:solidFill>
                <a:latin typeface="Noto Sans SC"/>
                <a:ea typeface="Noto Sans SC"/>
                <a:cs typeface="Noto Sans SC"/>
                <a:sym typeface="Noto Sans SC"/>
              </a:rPr>
              <a:t>感谢聆听 · 欢迎提问交流</a:t>
            </a:r>
            <a:endParaRPr lang="en-US" sz="1100"/>
          </a:p>
        </p:txBody>
      </p:sp>
      <p:sp>
        <p:nvSpPr>
          <p:cNvPr name="AutoShape 7" id="7"/>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40000"/>
                  </a:srgbClr>
                </a:solidFill>
                <a:latin typeface="Noto Sans SC"/>
                <a:ea typeface="Noto Sans SC"/>
                <a:cs typeface="Noto Sans SC"/>
                <a:sym typeface="Noto Sans SC"/>
              </a:rPr>
              <a:t>探索项目管理与人力资源优化的新边界，携手共创高效组织价值</a:t>
            </a:r>
            <a:endParaRPr lang="en-US" sz="1100"/>
          </a:p>
        </p:txBody>
      </p:sp>
      <p:pic>
        <p:nvPicPr>
          <p:cNvPr name="Picture 8" id="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{"Label":"1","ContentProducer":"001191110102MACQD9K64010000","ProduceID":"7652406807689071568","ReservedCode1":"","ContentPropagator":"","PropagateID":"","ReservedCode2":""}</vt:lpwstr>
  </property>
</Properties>
</file>