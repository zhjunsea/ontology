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notesSlides/notesSlide1.xml" Type="http://schemas.openxmlformats.org/officeDocument/2006/relationships/notesSlide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37" Target="notesSlides/notesSlide13.xml" Type="http://schemas.openxmlformats.org/officeDocument/2006/relationships/notesSlide"/><Relationship Id="rId38" Target="notesSlides/notesSlide14.xml" Type="http://schemas.openxmlformats.org/officeDocument/2006/relationships/notesSlide"/><Relationship Id="rId39" Target="notesSlides/notesSlide15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6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参加本次分享。在信息爆炸的时代，我们如何从海量的数据中理出头绪？如何确保不同系统间的沟通没有歧义？今天，我们将探讨一个强大的工具——本体论。它将帮助我们构建一个清晰、有序的知识地图，让数据和知识真正为我们所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常常遇到这样的问题：销售系统里的“客户”和客服系统里的“客户”不是一回事。这种语义上的混乱导致了数据孤岛和系统集成的困难。而本体论，正是解决这一问题的钥匙。它就像一张精确的知识地图，为我们提供了一套标准的沟通语言，让机器和人都能准确理解信息，从而构建出真正智能的应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图直观地展示了有无本体的区别。左边是有本体约束的知识图谱，它结构清晰、语义明确，能够支持推理和扩展。而右边没有本体约束的图谱，就像一团乱麻，数据重复、语义混乱，价值难以发挥。这正是本体论的核心价值所在——它为知识赋予了结构和意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那么，到底什么是本体论？Tom Gruber给出了一个经典定义：“本体是概念化的显式规范说明”。听起来可能有点抽象，但我们可以把它理解为为某个领域编写一本精确的百科全书。它明确了这个领域里有哪些东西，它们之间如何关联，以及必须遵守哪些规则。这个定义的核心在于“显式”和“规范”，它确保了知识的清晰和无歧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一个完整的本体模型包含五个核心概念，就像建造一栋房子的五个要素。“类”是房子的骨架，定义了有哪些类型的房间。“属性”是每个房间的内部装饰，描述其特征。“关系”是连接各个房间的走廊和门。“公理”是建筑规范，确保房子结构安全。而“实例”则是住进房子里的具体的人。接下来我们将逐一介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“类”，它是本体的基础。你可以把它想象成我们对世界万物进行分类的方式。在图书管理这个领域，我们可以识别出“图书”、“作者”、“出版社”等核心类别。这些类就构成了我们知识体系的骨架，后续所有的知识都将围绕这些骨架展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是“属性”，它用来描述类的特征。属性分为两种，一种是“数据属性”，用来描述具体的数据，比如一本书的书名、ISBN号。另一种是“对象属性”，它用来描述不同类之间的关系，我们下一页会详细讲。简单来说，属性就是给我们定义的“类”添加上具体的细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“关系”是本体论中最核心也最有趣的部分。它定义了不同类之间是如何互动的。比如，我们定义一个“撰写”关系，它的起点是“作者”，终点是“图书”，这就清晰地表达了“作者撰写图书”这个事实。每一个关系都有明确的方向，由定义域和值域来规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两个概念是“公理”和“实例”。“公理”是我们设定的规则，比如“每本书只能有一个ISBN”，这能保证我们知识的一致性。而“实例”就是真实的数据，比如具体的《三体》这本书，和具体的作者刘慈欣。通过定义好的关系，我们把这些实例连接起来，就构成了一个活生生的知识网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了解了核心概念后，我们如何动手构建一个本体呢？这里介绍一个简单的三步法。第一步，找出领域中的核心“名词”，也就是类。第二步，定义连接这些名词的“动词”，也就是关系。第三步，为每个名词添上描述性的“形容词”，也就是属性。通过这三步，我们就能搭建起一个清晰的知识模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让我们以供应链领域为例，看看三步法是如何应用的。首先，我们定义了“产品”、“组织”、“地理位置”等核心类，并构建了它们的层次结构。接着，我们定义了“供应给”、“生产”、“存储于”等关系。最后，我们为“产品”和“供应商”类定义了具体的属性，如名称、单价、信用评级等。这样，一个供应链领域的知识框架就初步形成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再来看一个更贴近生活的例子——在线图书商城。我们定义了用户、图书、作者等核心实体。然后通过“下订单”、“撰写”、“出版”等关系将它们连接起来。这样，我们就能清晰地描述一个完整的购物流程：用户张三下了一个订单，订单里包含了《百年孤独》这本书，而这本书是由加西亚·马尔克斯撰写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体论在专业领域同样大有可为。比如在医疗诊断中，我们可以定义疾病、症状、药物等实体。通过“导致”、“治疗”等关系，我们可以构建一个辅助诊断系统。例如，系统知道患者李四表现出头痛和发烧，而这些症状是由流感导致的，阿司匹林可以治疗流感。这样，当医生做出诊断时，系统就能辅助开出正确的药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对于更复杂的项目，我们需要一个更系统的方法。斯坦福七步法就是一个非常经典的框架。它从确定范围开始，到重用现有资源，再到定义类、属性、约束，最后创建实例，一步步引导我们构建一个完整的本体。记住，这个过程不是线性的，而是需要不断迭代和完善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今天的AI时代，本体论的价值更加凸显。它可以作为大语言模型（LLM）的“知识底座”。LLM擅长理解自然语言，但有时会产生幻觉。而本体论提供了严谨的知识结构和逻辑规则。将两者结合，用本体来校准和约束LLM的输出，再通过推理引擎进行验证，我们就能打造出既聪明又可靠的AI应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我的分享到此结束。通过今天的介绍，希望大家对本体论有了一个基本的认识。它是一个强大的工具，能够帮助我们从混乱的数据中构建有序的知识体系。现在是问答环节，欢迎大家提问。谢谢！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6.svg" Type="http://schemas.openxmlformats.org/officeDocument/2006/relationships/image"/><Relationship Id="rId11" Target="../notesSlides/notesSlide2.xml" Type="http://schemas.openxmlformats.org/officeDocument/2006/relationships/notesSlide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Relationship Id="rId8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7.svg" Type="http://schemas.openxmlformats.org/officeDocument/2006/relationships/image"/><Relationship Id="rId11" Target="../notesSlides/notesSlide4.xml" Type="http://schemas.openxmlformats.org/officeDocument/2006/relationships/notesSlide"/><Relationship Id="rId2" Target="../media/image8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5.xml" Type="http://schemas.openxmlformats.org/officeDocument/2006/relationships/notesSlide"/><Relationship Id="rId2" Target="../media/image8.jpeg" Type="http://schemas.openxmlformats.org/officeDocument/2006/relationships/image"/><Relationship Id="rId3" Target="../media/image28.jpeg" Type="http://schemas.openxmlformats.org/officeDocument/2006/relationships/image"/><Relationship Id="rId4" Target="../media/image29.jpeg" Type="http://schemas.openxmlformats.org/officeDocument/2006/relationships/image"/><Relationship Id="rId5" Target="../media/image30.jpe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svg" Type="http://schemas.openxmlformats.org/officeDocument/2006/relationships/image"/><Relationship Id="rId12" Target="../media/image41.png" Type="http://schemas.openxmlformats.org/officeDocument/2006/relationships/image"/><Relationship Id="rId13" Target="../media/image42.svg" Type="http://schemas.openxmlformats.org/officeDocument/2006/relationships/image"/><Relationship Id="rId14" Target="../notesSlides/notesSlide6.xml" Type="http://schemas.openxmlformats.org/officeDocument/2006/relationships/notesSlide"/><Relationship Id="rId2" Target="../media/image8.jpeg" Type="http://schemas.openxmlformats.org/officeDocument/2006/relationships/image"/><Relationship Id="rId3" Target="../media/image28.jpe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.jpeg" Type="http://schemas.openxmlformats.org/officeDocument/2006/relationships/image"/><Relationship Id="rId3" Target="../media/image29.jpeg" Type="http://schemas.openxmlformats.org/officeDocument/2006/relationships/image"/><Relationship Id="rId4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.jpeg" Type="http://schemas.openxmlformats.org/officeDocument/2006/relationships/image"/><Relationship Id="rId3" Target="../media/image30.jpeg" Type="http://schemas.openxmlformats.org/officeDocument/2006/relationships/image"/><Relationship Id="rId4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6.svg" Type="http://schemas.openxmlformats.org/officeDocument/2006/relationships/image"/><Relationship Id="rId11" Target="../notesSlides/notesSlide9.xml" Type="http://schemas.openxmlformats.org/officeDocument/2006/relationships/notesSlide"/><Relationship Id="rId2" Target="../media/image8.jpeg" Type="http://schemas.openxmlformats.org/officeDocument/2006/relationships/image"/><Relationship Id="rId3" Target="../media/image43.png" Type="http://schemas.openxmlformats.org/officeDocument/2006/relationships/image"/><Relationship Id="rId4" Target="../media/image44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35.png" Type="http://schemas.openxmlformats.org/officeDocument/2006/relationships/image"/><Relationship Id="rId8" Target="../media/image36.sv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.jpeg" Type="http://schemas.openxmlformats.org/officeDocument/2006/relationships/image"/><Relationship Id="rId3" Target="../media/image47.png" Type="http://schemas.openxmlformats.org/officeDocument/2006/relationships/image"/><Relationship Id="rId4" Target="../media/image48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9.png" Type="http://schemas.openxmlformats.org/officeDocument/2006/relationships/image"/><Relationship Id="rId8" Target="../media/image50.svg" Type="http://schemas.openxmlformats.org/officeDocument/2006/relationships/image"/><Relationship Id="rId9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.jpeg" Type="http://schemas.openxmlformats.org/officeDocument/2006/relationships/image"/><Relationship Id="rId3" Target="../media/image51.jpeg" Type="http://schemas.openxmlformats.org/officeDocument/2006/relationships/image"/><Relationship Id="rId4" Target="../media/image52.jpeg" Type="http://schemas.openxmlformats.org/officeDocument/2006/relationships/image"/><Relationship Id="rId5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.jpeg" Type="http://schemas.openxmlformats.org/officeDocument/2006/relationships/image"/><Relationship Id="rId3" Target="../media/image53.jpeg" Type="http://schemas.openxmlformats.org/officeDocument/2006/relationships/image"/><Relationship Id="rId4" Target="../media/image54.jpeg" Type="http://schemas.openxmlformats.org/officeDocument/2006/relationships/image"/><Relationship Id="rId5" Target="../media/image55.jpeg" Type="http://schemas.openxmlformats.org/officeDocument/2006/relationships/image"/><Relationship Id="rId6" Target="../media/image56.jpeg" Type="http://schemas.openxmlformats.org/officeDocument/2006/relationships/image"/><Relationship Id="rId7" Target="../media/image57.jpeg" Type="http://schemas.openxmlformats.org/officeDocument/2006/relationships/image"/><Relationship Id="rId8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.jpeg" Type="http://schemas.openxmlformats.org/officeDocument/2006/relationships/image"/><Relationship Id="rId3" Target="../media/image58.jpeg" Type="http://schemas.openxmlformats.org/officeDocument/2006/relationships/image"/><Relationship Id="rId4" Target="../media/image59.jpeg" Type="http://schemas.openxmlformats.org/officeDocument/2006/relationships/image"/><Relationship Id="rId5" Target="../media/image60.jpeg" Type="http://schemas.openxmlformats.org/officeDocument/2006/relationships/image"/><Relationship Id="rId6" Target="../media/image61.jpeg" Type="http://schemas.openxmlformats.org/officeDocument/2006/relationships/image"/><Relationship Id="rId7" Target="../media/image62.png" Type="http://schemas.openxmlformats.org/officeDocument/2006/relationships/image"/><Relationship Id="rId8" Target="../media/image63.svg" Type="http://schemas.openxmlformats.org/officeDocument/2006/relationships/image"/><Relationship Id="rId9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.jpeg" Type="http://schemas.openxmlformats.org/officeDocument/2006/relationships/image"/><Relationship Id="rId3" Target="../media/image64.jpeg" Type="http://schemas.openxmlformats.org/officeDocument/2006/relationships/image"/><Relationship Id="rId4" Target="../media/image65.jpe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66.png" Type="http://schemas.openxmlformats.org/officeDocument/2006/relationships/image"/><Relationship Id="rId8" Target="../media/image67.svg" Type="http://schemas.openxmlformats.org/officeDocument/2006/relationships/image"/><Relationship Id="rId9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5.xml" Type="http://schemas.openxmlformats.org/officeDocument/2006/relationships/notesSlide"/><Relationship Id="rId2" Target="../media/image8.jpeg" Type="http://schemas.openxmlformats.org/officeDocument/2006/relationships/image"/><Relationship Id="rId3" Target="../media/image68.pn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Relationship Id="rId8" Target="../media/image43.png" Type="http://schemas.openxmlformats.org/officeDocument/2006/relationships/image"/><Relationship Id="rId9" Target="../media/image4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9.jpeg" Type="http://schemas.openxmlformats.org/officeDocument/2006/relationships/image"/><Relationship Id="rId3" Target="../notesSlides/notesSlide16.xml" Type="http://schemas.openxmlformats.org/officeDocument/2006/relationships/notesSlide"/><Relationship Id="rId4" Target="../media/image7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540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使用本体论理清对象关系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810000"/>
            <a:ext cx="1016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4191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构建结构化、可理解、可扩展的知识体系，让海量信息从混乱走向有序，消除跨系统的语义歧义，实现知识的高效互联与复用。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5461000"/>
            <a:ext cx="3175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206500" y="5689600"/>
            <a:ext cx="508000" cy="508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905000" y="5588000"/>
            <a:ext cx="215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结构化整合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梳理复杂数据，建立清晰的对象层级与关联网络。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508500" y="5461000"/>
            <a:ext cx="3175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5689600"/>
            <a:ext cx="508000" cy="508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397500" y="5588000"/>
            <a:ext cx="215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无歧义沟通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统一概念定义，确保人机协作与系统间的准确交互。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001000" y="5461000"/>
            <a:ext cx="3175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191500" y="5689600"/>
            <a:ext cx="508000" cy="508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890000" y="5588000"/>
            <a:ext cx="215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动态可扩展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灵活适配业务变化，支持知识体系的持续迭代与进化。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为何需要本体论？——从混乱到秩序的“知识地图”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在信息爆炸的时代，数据与知识呈现出前所未有的复杂性。不同系统、部门甚至个人，对同一事物往往有着截然不同的理解和表述，这种认知的分歧正是阻碍信息高效流转的核心症结。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92" flipH="false" flipV="false">
            <a:off x="762004" y="266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62000" y="3048000"/>
            <a:ext cx="5207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048000"/>
            <a:ext cx="76200" cy="3048000"/>
          </a:xfrm>
          <a:prstGeom prst="roundRect">
            <a:avLst>
              <a:gd name="adj" fmla="val 0"/>
            </a:avLst>
          </a:prstGeom>
          <a:solidFill>
            <a:srgbClr val="EF444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79500" y="32385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01 / 问题根源：语义混乱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9549" flipH="false" flipV="false">
            <a:off x="1079509" y="3803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F444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0" id="10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79500" y="4064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524000" y="4038600"/>
            <a:ext cx="419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数据孤岛：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不同业务系统间数据格式不统一、标准不一致，形成无法互通的信息壁垒，导致数据价值无法被充分挖掘。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79500" y="51435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524000" y="5118100"/>
            <a:ext cx="419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认知冲突与集成难：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同一概念在不同场景含义迥异，且技术与业务语言不通，不仅增加沟通成本，更让系统集成与协同开发举步维艰。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23000" y="3048000"/>
            <a:ext cx="5207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3048000"/>
            <a:ext cx="76200" cy="3048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540500" y="32385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/ 解决方案：本体论 (Ontology)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9549" flipH="false" flipV="false">
            <a:off x="6540509" y="3803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540500" y="40640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6985000" y="4038600"/>
            <a:ext cx="419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绘制“知识地图”：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通过形式化建模，精确定义领域内的核心概念、属性及相互关系，让隐性的知识结构显性化、可视化。</a:t>
            </a:r>
            <a:endParaRPr lang="en-US" sz="1100"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540500" y="51435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6985000" y="5118100"/>
            <a:ext cx="419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构建标准化的“智能底座”：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提供无歧义的统一术语体系，消除人机与人际沟通障碍，同时为AI应用的理解、推理与决策提供坚实的底层知识支撑。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有本体 vs 无本体的知识图谱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270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本体是知识图谱的灵魂。没有本体约束的知识图谱，只是一堆无意义的节点和边，难以理解和复用；而具备本体约束的图谱，则能实现知识的结构化、标准化与可推理。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413000"/>
            <a:ext cx="5270500" cy="2540000"/>
          </a:xfrm>
          <a:prstGeom prst="roundRect">
            <a:avLst>
              <a:gd name="adj" fmla="val 0"/>
            </a:avLst>
          </a:prstGeom>
          <a:solidFill>
            <a:srgbClr val="FEF2F2">
              <a:alpha val="80000"/>
            </a:srgbClr>
          </a:solidFill>
          <a:ln w="12700" cmpd="sng" cap="flat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6035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460500" y="25654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无本体约束：混乱与低效的孤岛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167" flipH="false" flipV="false">
            <a:off x="1016008" y="3168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F444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3302000"/>
            <a:ext cx="47625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50A0A"/>
                </a:solidFill>
                <a:latin typeface="Noto Sans SC"/>
                <a:ea typeface="Noto Sans SC"/>
                <a:cs typeface="Noto Sans SC"/>
                <a:sym typeface="Noto Sans SC"/>
              </a:rPr>
              <a:t>缺乏统一语义框架，导致同一关系多种命名、语义冲突；实体重复冗余无法去重，新增数据接入成本极高。查询结果不可靠，维护困难，知识价值难以沉淀与复用。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86500" y="2413000"/>
            <a:ext cx="5270500" cy="2540000"/>
          </a:xfrm>
          <a:prstGeom prst="roundRect">
            <a:avLst>
              <a:gd name="adj" fmla="val 0"/>
            </a:avLst>
          </a:prstGeom>
          <a:solidFill>
            <a:srgbClr val="F0FDF4">
              <a:alpha val="8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540500" y="26035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6985000" y="25654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有本体约束：结构化与智能的基石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9167" flipH="false" flipV="false">
            <a:off x="6540508" y="3168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6540500" y="3302000"/>
            <a:ext cx="47625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064E3B"/>
                </a:solidFill>
                <a:latin typeface="Noto Sans SC"/>
                <a:ea typeface="Noto Sans SC"/>
                <a:cs typeface="Noto Sans SC"/>
                <a:sym typeface="Noto Sans SC"/>
              </a:rPr>
              <a:t>构建统一的概念层次与语义规范，支持自动推理和一致性校验；实现实体消歧与快速对齐，大幅降低接入成本。跨系统互操作性强，让知识具备可理解、可扩展的生命力。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/>
          <a:srcRect l="0" r="0" t="8041" b="8041"/>
          <a:stretch>
            <a:fillRect/>
          </a:stretch>
        </p:blipFill>
        <p:spPr>
          <a:xfrm rot="0" flipH="false" flipV="false">
            <a:off x="762000" y="5207000"/>
            <a:ext cx="2794000" cy="1270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6" id="16"/>
          <p:cNvSpPr/>
          <p:nvPr/>
        </p:nvSpPr>
        <p:spPr>
          <a:xfrm rot="0" flipH="false" flipV="false">
            <a:off x="3810000" y="5207000"/>
            <a:ext cx="7620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064000" y="5334000"/>
            <a:ext cx="711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核心洞察：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本体不仅定义了知识的规则，更赋予了数据被机器理解和推理的能力。从“无本体的信息堆砌”到“有本体的知识网络”，是实现数据资产化和智能化应用的关键跨越。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什么是本体论？——概念化的显式规范说明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mpd="sng" cap="flat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762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752600"/>
            <a:ext cx="10160000" cy="939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Tom Gruber（1993）给出了本体论最经典的定义：</a:t>
            </a:r>
            <a:r>
              <a:rPr lang="en-US" b="true" i="false" strike="noStrike" u="none" sz="1800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“本体是概念化的显式规范说明。”</a:t>
            </a: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(An ontology is an explicit specification of a conceptualization.)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302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34925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460500" y="3454400"/>
            <a:ext cx="2540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概念化 Conceptualization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14566" flipH="false" flipV="false">
            <a:off x="952513" y="4057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952500" y="4191000"/>
            <a:ext cx="29972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对现实世界某个领域的抽象模型，识别出其中的关键概念、实体以及它们之间存在的内在关系。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406900" y="3302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597400" y="34925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5105400" y="3454400"/>
            <a:ext cx="2540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显式 Explicit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14566" flipH="false" flipV="false">
            <a:off x="4597413" y="4057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4597400" y="4191000"/>
            <a:ext cx="29972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所有的概念、关系和约束都被明确定义和表达，不依赖于隐式的、模糊的常识，确保含义清晰无歧义。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51800" y="3302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242300" y="34925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8750300" y="3454400"/>
            <a:ext cx="2540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 规范说明 Specification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4566" flipH="false" flipV="false">
            <a:off x="8242313" y="4057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8242300" y="4191000"/>
            <a:ext cx="29972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使用OWL、RDF等形式化的语言精确描述概念和关系，使其结构化、标准化，能够被计算机理解和自动处理。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588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ECFDF5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52500" y="5778500"/>
            <a:ext cx="355600" cy="3556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1524000" y="5689600"/>
            <a:ext cx="9652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通俗理解：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本体论就是为某个领域创建一本精确的“百科全书”，它严谨地定义了该领域的核心词汇表、语法规则和逻辑公理，是机器智能理解领域知识的基础。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本体论的五大核心概念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270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一个完整的本体模型由五个核心要素构成，它们相互关联，共同构建了描述领域知识的基本框架，是知识图谱与人工智能推理的基石。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159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952500" y="2349500"/>
            <a:ext cx="889000" cy="889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2032000" y="23495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01. 类 (Classes)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4323" flipH="false" flipV="false">
            <a:off x="952513" y="3422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952500" y="3556000"/>
            <a:ext cx="304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领域中具有共同特征的一组对象的抽象，是本体模型的“骨架”，定义了对象的类型范畴。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81500" y="2159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4572000" y="2349500"/>
            <a:ext cx="889000" cy="889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2" id="12"/>
          <p:cNvSpPr/>
          <p:nvPr/>
        </p:nvSpPr>
        <p:spPr>
          <a:xfrm rot="0" flipH="false" flipV="false">
            <a:off x="5651500" y="23495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02. 属性 (Properties)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14323" flipH="false" flipV="false">
            <a:off x="4572013" y="3422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4572000" y="3556000"/>
            <a:ext cx="304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用于描述类或实例的内在特征、状态或数据，赋予概念具体的细节和可度量的信息。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01000" y="2159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8191500" y="2349500"/>
            <a:ext cx="889000" cy="889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7" id="17"/>
          <p:cNvSpPr/>
          <p:nvPr/>
        </p:nvSpPr>
        <p:spPr>
          <a:xfrm rot="0" flipH="false" flipV="false">
            <a:off x="9271000" y="23495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03. 关系 (Relations)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14323" flipH="false" flipV="false">
            <a:off x="8191513" y="3422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8191500" y="3556000"/>
            <a:ext cx="304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连接两个不同类或实例的纽带，描述它们之间的关联方式，构建起概念间的网络结构。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4572000"/>
            <a:ext cx="5270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52500" y="4762500"/>
            <a:ext cx="711200" cy="7112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1905000" y="4762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04. 公理 (Axioms)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8929" flipH="false" flipV="false">
            <a:off x="952508" y="56451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952500" y="5715000"/>
            <a:ext cx="4889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领域中被普遍接受为真的逻辑规则和约束，用于确保本体知识的一致性、完整性和正确性。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159500" y="4572000"/>
            <a:ext cx="5270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350000" y="4762500"/>
            <a:ext cx="711200" cy="7112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7302500" y="4762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05. 实例 (Individuals)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-8929" flipH="false" flipV="false">
            <a:off x="6350008" y="56451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9" id="29"/>
          <p:cNvSpPr/>
          <p:nvPr/>
        </p:nvSpPr>
        <p:spPr>
          <a:xfrm rot="0" flipH="false" flipV="false">
            <a:off x="6350000" y="5715000"/>
            <a:ext cx="4889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类的具体具体化，是填充到本体骨架中的真实数据，代表领域中实际存在的特定对象。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 1：类 (Classes / Concepts)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62000" y="2032000"/>
            <a:ext cx="3048000" cy="304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54610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类是构建知识本体的基石，为信息赋予结构化的分类框架。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5389582" flipH="false" flipV="false">
            <a:off x="2349500" y="3994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4826000" y="1905000"/>
            <a:ext cx="6604000" cy="1651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826000" y="1905000"/>
            <a:ext cx="76200" cy="1651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080000" y="2032000"/>
            <a:ext cx="6096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什么是“类”？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类是对领域中具有共同特征的一组对象的抽象，相当于面向对象编程中的“类”或数据库中的“表”。它们是本体的基本骨架，为复杂的知识体系提供了结构化的分类基础。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826000" y="3937000"/>
            <a:ext cx="660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示例：图书管理领域的核心类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826000" y="4572000"/>
            <a:ext cx="12446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219700" y="4762500"/>
            <a:ext cx="457200" cy="4572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826000" y="5461000"/>
            <a:ext cx="12446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图书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Book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197600" y="4572000"/>
            <a:ext cx="12446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591300" y="4762500"/>
            <a:ext cx="457200" cy="4572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197600" y="5461000"/>
            <a:ext cx="12446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作者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Author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569200" y="4572000"/>
            <a:ext cx="12446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7962900" y="4762500"/>
            <a:ext cx="457200" cy="4572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7569200" y="5461000"/>
            <a:ext cx="12446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出版社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Publisher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940800" y="4572000"/>
            <a:ext cx="12446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9334500" y="4762500"/>
            <a:ext cx="457200" cy="4572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8940800" y="5461000"/>
            <a:ext cx="12446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读者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Reader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0236200" y="4572000"/>
            <a:ext cx="12446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10629900" y="4762500"/>
            <a:ext cx="457200" cy="4572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10236200" y="5461000"/>
            <a:ext cx="12446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借阅记录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LoanRecord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 2：属性 (Properties)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651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属性是对类或实例内在特征与数据的抽象描述，它赋予了概念具体的“细节”，是构建领域模型时定义实体特征的核心要素。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048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048000"/>
            <a:ext cx="76200" cy="1778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175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01. 数据属性 (Data Properties)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9291" flipH="false" flipV="false">
            <a:off x="1016009" y="367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1016000" y="3810000"/>
            <a:ext cx="469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直接描述实例的具体数据值，对应系统中存储的基础数据类型，如字符串、数字、日期等，是实体自身的静态特征。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3048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3048000"/>
            <a:ext cx="76200" cy="1778000"/>
          </a:xfrm>
          <a:prstGeom prst="roundRect">
            <a:avLst>
              <a:gd name="adj" fmla="val 0"/>
            </a:avLst>
          </a:prstGeom>
          <a:solidFill>
            <a:srgbClr val="22C55E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77000" y="3175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02. 对象属性 (Object Properties)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0541000" y="3111500"/>
            <a:ext cx="635000" cy="635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cxnSp>
        <p:nvCxnSpPr>
          <p:cNvPr name="Connector 15" id="15"/>
          <p:cNvCxnSpPr/>
          <p:nvPr/>
        </p:nvCxnSpPr>
        <p:spPr>
          <a:xfrm rot="-9291" flipH="false" flipV="false">
            <a:off x="6477009" y="367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6477000" y="3810000"/>
            <a:ext cx="469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用于描述不同类的实例之间的关联关系，而非单一实体的属性，它构建了领域模型中实体间的动态联系（详见“关系”章节）。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5207000"/>
            <a:ext cx="5207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89000" y="5334000"/>
            <a:ext cx="495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📚 示例：图书类数据属性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8814" flipH="false" flipV="false">
            <a:off x="889008" y="5708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889000" y="5778500"/>
            <a:ext cx="4953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包含 `书名 (string)`、`ISBN (string)`、`出版日期 (date)` 等，描述了图书的具体身份与出版信息。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223000" y="5207000"/>
            <a:ext cx="5207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350000" y="5334000"/>
            <a:ext cx="495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✍️ 示例：作者类数据属性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8814" flipH="false" flipV="false">
            <a:off x="6350008" y="5708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6350000" y="5778500"/>
            <a:ext cx="4953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包含 `姓名 (string)`、`出生日期 (date)` 等，刻画了作者的基本身份信息，是区别不同作者的关键特征。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 3：关系 (Relations)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62000" y="1778000"/>
            <a:ext cx="1778000" cy="177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2921000" y="1778000"/>
            <a:ext cx="4064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在本体论中，关系主要通过</a:t>
            </a: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对象属性 (Object Properties)</a:t>
            </a: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来定义，它连接了两个不同的类，描述了它们的实例之间是如何关联的。关系具有明确的方向性，这决定了数据的流动路径和语义指向。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7015" flipH="false" flipV="false">
            <a:off x="762006" y="3867150"/>
            <a:ext cx="622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762000" y="4191000"/>
            <a:ext cx="30480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4318000"/>
            <a:ext cx="26670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定义域 (Domain)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关系的起始类，即关系箭头出发的源头。它严格定义了该关系能够从哪个类的实例开始建立连接，是关系的逻辑起点。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064000" y="4191000"/>
            <a:ext cx="30480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254500" y="4318000"/>
            <a:ext cx="26670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值域 (Range)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关系的目标类，即关系箭头指向的终点。它限定了该关系能够到达的类的实例范围，明确了关系的逻辑终点和指向对象。</a:t>
            </a:r>
          </a:p>
        </p:txBody>
      </p:sp>
      <p:cxnSp>
        <p:nvCxnSpPr>
          <p:cNvPr name="Connector 11" id="11"/>
          <p:cNvCxnSpPr/>
          <p:nvPr/>
        </p:nvCxnSpPr>
        <p:spPr>
          <a:xfrm rot="5389889" flipH="false" flipV="false">
            <a:off x="5143500" y="3930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7556500" y="1778000"/>
            <a:ext cx="4000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图书管理领域的典型应用示例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556500" y="2540000"/>
            <a:ext cx="4000500" cy="11176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556500" y="2540000"/>
            <a:ext cx="76200" cy="11176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810500" y="2641600"/>
            <a:ext cx="36195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撰写 (writes)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以“作者”为定义域，“图书”为值域，精准刻画了创作者与作品之间的核心归属关联。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556500" y="3810000"/>
            <a:ext cx="4000500" cy="11176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556500" y="3810000"/>
            <a:ext cx="76200" cy="11176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810500" y="3911600"/>
            <a:ext cx="36195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出版 (publishes)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以“出版社”为定义域，“图书”为值域，明确了传播机构与出版物之间的生产与发行逻辑。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556500" y="5080000"/>
            <a:ext cx="4000500" cy="11176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556500" y="5080000"/>
            <a:ext cx="76200" cy="11176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810500" y="5181600"/>
            <a:ext cx="36195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借阅 (borrows)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以“读者”为定义域，“图书”为值域，直观反映了用户与馆藏资源之间的动态交互行为。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 4 &amp; 5：公理与实例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705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5270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1905000"/>
            <a:ext cx="4889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公理 (Axioms)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8929" flipH="false" flipV="false">
            <a:off x="952508" y="25336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952500" y="2730500"/>
            <a:ext cx="4889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领域中被普遍接受为真的逻辑规则和约束，用于增强本体的表达能力，确保知识的一致性与推理的有效性。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2500" y="3873500"/>
            <a:ext cx="4889500" cy="698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79500" y="4064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524000" y="3937000"/>
            <a:ext cx="4191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基数约束：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每本图书必须有且仅有一个ISBN，规范数据完整性。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52500" y="4826000"/>
            <a:ext cx="4889500" cy="698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79500" y="50165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524000" y="4889500"/>
            <a:ext cx="4191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逻辑关系：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确立互逆（如“撰写/被撰写”）与不相交关系（如“小说≠传记”）。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86500" y="1651000"/>
            <a:ext cx="52705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86500" y="1651000"/>
            <a:ext cx="5270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77000" y="1905000"/>
            <a:ext cx="4889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实例 (Individuals / Instances)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8929" flipH="false" flipV="false">
            <a:off x="6477008" y="25336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6477000" y="2730500"/>
            <a:ext cx="4889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类的具体具体化，是填充到本体骨架中的真实数据，赋予抽象概念实际的载体与意义。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77000" y="3873500"/>
            <a:ext cx="4889500" cy="698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604000" y="40640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7048500" y="3937000"/>
            <a:ext cx="4191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实体实例化：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类“图书”的实例是《三体》，类“作者”的实例是刘慈欣。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77000" y="4826000"/>
            <a:ext cx="4889500" cy="698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604000" y="5016500"/>
            <a:ext cx="304800" cy="3048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7048500" y="4889500"/>
            <a:ext cx="4191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关系连接：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通过“撰写”关系将“刘慈欣”与“《三体》”关联，构建真实的知识网络。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62000" y="6032500"/>
            <a:ext cx="10795000" cy="508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89000" y="6096000"/>
            <a:ext cx="1054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总结：公理为本体提供“规则骨架”，实例为本体注入“真实血肉”，二者结合构成完整的知识体系。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如何构建本体？——三步法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构建本体的核心，是清晰地定义实体（类）以及它们之间的复杂关系。我们将这个过程拆解为识别核心类、定义关系、明确属性三个关键步骤，帮助快速搭建知识模型。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921000"/>
            <a:ext cx="33782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921000"/>
            <a:ext cx="33782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32385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549400" y="3200400"/>
            <a:ext cx="23368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01. 识别核心类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15211" flipH="false" flipV="false">
            <a:off x="1016014" y="3930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1016000" y="4191000"/>
            <a:ext cx="28702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提取领域中的高频“名词”，作为本体的基础骨架。遵循“is-a”测试构建类的层次结构，确立概念间的继承与包含关系。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94200" y="2921000"/>
            <a:ext cx="33782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94200" y="2921000"/>
            <a:ext cx="33782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48200" y="32385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5181600" y="3200400"/>
            <a:ext cx="23368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02. 定义类间关系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15211" flipH="false" flipV="false">
            <a:off x="4648214" y="3930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4648200" y="4191000"/>
            <a:ext cx="28702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寻找连接不同类的“动词”，明确关系的方向与语义。同时界定关系的定义域（起始类）和值域（目标类），确保关联清晰无歧义。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26400" y="2921000"/>
            <a:ext cx="33782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026400" y="2921000"/>
            <a:ext cx="33782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280400" y="32385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8813800" y="3200400"/>
            <a:ext cx="23368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03. 明确内在属性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15211" flipH="false" flipV="false">
            <a:off x="8280414" y="3930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8280400" y="4191000"/>
            <a:ext cx="28702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为类添加描述性的“形容词”作为数据属性。规范属性的名称，并严格定义其数据类型（如字符串、数值、日期等），完善类的具体特征。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5969000"/>
            <a:ext cx="10668000" cy="5588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52500" y="6045200"/>
            <a:ext cx="10287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总结：通过“名词-动词-形容词”的类比，将抽象的本体构建过程具象化，让知识建模逻辑更清晰、落地更高效。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案例：供应链领域的本体构建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33500"/>
            <a:ext cx="10668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3429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905000"/>
            <a:ext cx="3429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1590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01. 定义核心类 (名词)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4323" flipH="false" flipV="false">
            <a:off x="952513" y="2787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952500" y="2984500"/>
            <a:ext cx="30480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▌ 物品 (Thing)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细分为原材料、半成品、成品，构成供应链的实体基础。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▌ 组织 (Organization)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涵盖供应商、制造商、分销商，是供应链的行为主体。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▌ 地理位置 (Location)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包含仓库、工厂、港口等，明确实体的物理空间属性。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1905000"/>
            <a:ext cx="3429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45000" y="1905000"/>
            <a:ext cx="3429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35500" y="21590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02. 定义核心关系 (动词)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14323" flipH="false" flipV="false">
            <a:off x="4635513" y="2787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4" id="14"/>
          <p:cNvPicPr>
            <a:picLocks noChangeAspect="true"/>
          </p:cNvPicPr>
          <p:nvPr/>
        </p:nvPicPr>
        <p:blipFill>
          <a:blip r:embed="rId3"/>
          <a:srcRect l="12471" r="12471" t="0" b="0"/>
          <a:stretch>
            <a:fillRect/>
          </a:stretch>
        </p:blipFill>
        <p:spPr>
          <a:xfrm rot="0" flipH="false" flipV="false">
            <a:off x="4635500" y="3048000"/>
            <a:ext cx="1143000" cy="1143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5" id="15"/>
          <p:cNvSpPr/>
          <p:nvPr/>
        </p:nvSpPr>
        <p:spPr>
          <a:xfrm rot="0" flipH="false" flipV="false">
            <a:off x="5905500" y="3048000"/>
            <a:ext cx="1841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生产与供应链路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从供应商供应原材料，到制造商生产产品，形成核心流转逻辑。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4323" flipH="false" flipV="false">
            <a:off x="4635513" y="4438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4635500" y="4635500"/>
            <a:ext cx="304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suppliesTo / produces / storedIn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通过这三个核心动词，精准描述了实体间“谁-做了什么-给谁/到哪”的动态联系。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128000" y="1905000"/>
            <a:ext cx="3429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128000" y="1905000"/>
            <a:ext cx="3429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318500" y="21590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03. 定义关键属性 (形容词)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14323" flipH="false" flipV="false">
            <a:off x="8318513" y="2787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22" id="22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8318500" y="3048000"/>
            <a:ext cx="1143000" cy="1143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3" id="23"/>
          <p:cNvSpPr/>
          <p:nvPr/>
        </p:nvSpPr>
        <p:spPr>
          <a:xfrm rot="0" flipH="false" flipV="false">
            <a:off x="9588500" y="3048000"/>
            <a:ext cx="1841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实体特征具象化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为产品和供应商赋予关键参数，使抽象概念具备可量化、可查询的具体特征。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-14323" flipH="false" flipV="false">
            <a:off x="8318513" y="4438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8318500" y="4635500"/>
            <a:ext cx="304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Product 属性 &amp; Supplier 属性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包含SKU、单价、信用评级、交货周期等，构建完整的实体数据画像。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案例一：在线图书商城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22C55E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3429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1968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/ 核心实体模型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4323" flipH="false" flipV="false">
            <a:off x="952513" y="2470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952500" y="2730500"/>
            <a:ext cx="635000" cy="635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1778000" y="2730500"/>
            <a:ext cx="215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用户 (User)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系统的使用者，发起购买行为的主体。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952500" y="3810000"/>
            <a:ext cx="635000" cy="635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0" flipH="false" flipV="false">
            <a:off x="1778000" y="3810000"/>
            <a:ext cx="215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图书与订单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交易的核心商品与履约凭证，记录购买详情。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952500" y="4953000"/>
            <a:ext cx="635000" cy="635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3" id="13"/>
          <p:cNvSpPr/>
          <p:nvPr/>
        </p:nvSpPr>
        <p:spPr>
          <a:xfrm rot="0" flipH="false" flipV="false">
            <a:off x="1778000" y="4953000"/>
            <a:ext cx="215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创作者与出品方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作者撰写内容，出版社负责出版发行，共同构成图书的核心信息。</a:t>
            </a:r>
          </a:p>
        </p:txBody>
      </p:sp>
      <p:cxnSp>
        <p:nvCxnSpPr>
          <p:cNvPr name="Connector 14" id="14"/>
          <p:cNvCxnSpPr/>
          <p:nvPr/>
        </p:nvCxnSpPr>
        <p:spPr>
          <a:xfrm rot="5389582" flipH="false" flipV="false">
            <a:off x="2413000" y="3994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4699000" y="1778000"/>
            <a:ext cx="3429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889500" y="1968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/ 关键业务关系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4323" flipH="false" flipV="false">
            <a:off x="4889513" y="2470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4889500" y="2730500"/>
            <a:ext cx="3048000" cy="825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016500" y="2794000"/>
            <a:ext cx="2794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交易链路：用户 → 订单 → 图书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用户下单生成订单，订单包含明细项关联具体图书，形成完整的购买闭环。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889500" y="3810000"/>
            <a:ext cx="3048000" cy="825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016500" y="3873500"/>
            <a:ext cx="2794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内容生产：作者 → 图书 ← 出版社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作者是图书内容的创作者，出版社是图书的出版发行方，二者共同定义图书信息。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889500" y="4953000"/>
            <a:ext cx="3048000" cy="1016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016500" y="5016500"/>
            <a:ext cx="279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数据关联：多对多的映射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一个订单可包含多本图书，一本图书可被多个用户购买；一位作者可撰写多部作品，一部作品也可由多位作者合作完成。</a:t>
            </a:r>
          </a:p>
        </p:txBody>
      </p:sp>
      <p:cxnSp>
        <p:nvCxnSpPr>
          <p:cNvPr name="Connector 24" id="24"/>
          <p:cNvCxnSpPr/>
          <p:nvPr/>
        </p:nvCxnSpPr>
        <p:spPr>
          <a:xfrm rot="5389582" flipH="false" flipV="false">
            <a:off x="6286500" y="3994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8509000" y="1778000"/>
            <a:ext cx="3429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699500" y="1968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 / 真实场景示例</a:t>
            </a:r>
            <a:endParaRPr lang="en-US" sz="1100"/>
          </a:p>
        </p:txBody>
      </p:sp>
      <p:cxnSp>
        <p:nvCxnSpPr>
          <p:cNvPr name="Connector 27" id="27"/>
          <p:cNvCxnSpPr/>
          <p:nvPr/>
        </p:nvCxnSpPr>
        <p:spPr>
          <a:xfrm rot="-14323" flipH="false" flipV="false">
            <a:off x="8699513" y="2470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28" id="28"/>
          <p:cNvPicPr>
            <a:picLocks noChangeAspect="true"/>
          </p:cNvPicPr>
          <p:nvPr/>
        </p:nvPicPr>
        <p:blipFill>
          <a:blip r:embed="rId6"/>
          <a:srcRect l="0" r="0" t="0" b="0"/>
          <a:stretch>
            <a:fillRect/>
          </a:stretch>
        </p:blipFill>
        <p:spPr>
          <a:xfrm rot="0" flipH="false" flipV="false">
            <a:off x="8699500" y="2730500"/>
            <a:ext cx="635000" cy="635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9" id="29"/>
          <p:cNvSpPr/>
          <p:nvPr/>
        </p:nvSpPr>
        <p:spPr>
          <a:xfrm rot="0" flipH="false" flipV="false">
            <a:off x="9525000" y="2730500"/>
            <a:ext cx="2222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用户下单：生成订单编号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用户“张三”提交购买请求，系统生成唯一订单号“ORD20260617001”。</a:t>
            </a:r>
          </a:p>
        </p:txBody>
      </p:sp>
      <p:cxnSp>
        <p:nvCxnSpPr>
          <p:cNvPr name="Connector 30" id="30"/>
          <p:cNvCxnSpPr/>
          <p:nvPr/>
        </p:nvCxnSpPr>
        <p:spPr>
          <a:xfrm rot="-14323" flipH="false" flipV="false">
            <a:off x="8699513" y="3803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B7280">
                <a:alpha val="20000"/>
              </a:srgbClr>
            </a:solidFill>
            <a:prstDash val="dot"/>
            <a:round/>
            <a:headEnd type="none" w="med" len="med"/>
            <a:tailEnd type="none" w="med" len="med"/>
          </a:ln>
        </p:spPr>
      </p:cxnSp>
      <p:pic>
        <p:nvPicPr>
          <p:cNvPr name="Picture 31" id="31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8699500" y="4064000"/>
            <a:ext cx="635000" cy="635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2" id="32"/>
          <p:cNvSpPr/>
          <p:nvPr/>
        </p:nvSpPr>
        <p:spPr>
          <a:xfrm rot="0" flipH="false" flipV="false">
            <a:off x="9525000" y="4064000"/>
            <a:ext cx="2222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订单履约：关联具体商品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订单明细“Item-1”关联图书《百年孤独》，明确交易的具体标的物。</a:t>
            </a:r>
          </a:p>
        </p:txBody>
      </p:sp>
      <p:cxnSp>
        <p:nvCxnSpPr>
          <p:cNvPr name="Connector 33" id="33"/>
          <p:cNvCxnSpPr/>
          <p:nvPr/>
        </p:nvCxnSpPr>
        <p:spPr>
          <a:xfrm rot="-14323" flipH="false" flipV="false">
            <a:off x="8699513" y="5073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B7280">
                <a:alpha val="20000"/>
              </a:srgbClr>
            </a:solidFill>
            <a:prstDash val="dot"/>
            <a:round/>
            <a:headEnd type="none" w="med" len="med"/>
            <a:tailEnd type="none" w="med" len="med"/>
          </a:ln>
        </p:spPr>
      </p:cxnSp>
      <p:pic>
        <p:nvPicPr>
          <p:cNvPr name="Picture 34" id="34"/>
          <p:cNvPicPr>
            <a:picLocks noChangeAspect="true"/>
          </p:cNvPicPr>
          <p:nvPr/>
        </p:nvPicPr>
        <p:blipFill>
          <a:blip r:embed="rId7"/>
          <a:srcRect l="0" r="0" t="0" b="0"/>
          <a:stretch>
            <a:fillRect/>
          </a:stretch>
        </p:blipFill>
        <p:spPr>
          <a:xfrm rot="0" flipH="false" flipV="false">
            <a:off x="8699500" y="5270500"/>
            <a:ext cx="635000" cy="635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5" id="35"/>
          <p:cNvSpPr/>
          <p:nvPr/>
        </p:nvSpPr>
        <p:spPr>
          <a:xfrm rot="0" flipH="false" flipV="false">
            <a:off x="9525000" y="5270500"/>
            <a:ext cx="2222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溯源信息：完整知识图谱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通过图书可追溯到作者“加西亚·马尔克斯”及对应的出版社信息。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案例二：医疗诊断辅助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2540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34849" r="34849" t="0" b="0"/>
          <a:stretch>
            <a:fillRect/>
          </a:stretch>
        </p:blipFill>
        <p:spPr>
          <a:xfrm rot="0" flipH="false" flipV="false">
            <a:off x="952500" y="1841500"/>
            <a:ext cx="762000" cy="76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1905000" y="1841500"/>
            <a:ext cx="127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疾病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Disease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2794000"/>
            <a:ext cx="228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诊断系统的核心分析对象，定义病症的本质特征与病理基础。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467100" y="1651000"/>
            <a:ext cx="2540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3657600" y="1841500"/>
            <a:ext cx="762000" cy="76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/>
          <p:nvPr/>
        </p:nvSpPr>
        <p:spPr>
          <a:xfrm rot="0" flipH="false" flipV="false">
            <a:off x="4610100" y="1841500"/>
            <a:ext cx="127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症状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Symptom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594100" y="2794000"/>
            <a:ext cx="228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疾病在患者身上的外在表现，是连接患者与疾病的关键线索。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172200" y="1651000"/>
            <a:ext cx="2540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6362700" y="1841500"/>
            <a:ext cx="762000" cy="76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4" id="14"/>
          <p:cNvSpPr/>
          <p:nvPr/>
        </p:nvSpPr>
        <p:spPr>
          <a:xfrm rot="0" flipH="false" flipV="false">
            <a:off x="7315200" y="1841500"/>
            <a:ext cx="127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药物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Drug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99200" y="2794000"/>
            <a:ext cx="228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用于预防、治疗疾病的物质，是诊断结果的执行解决方案。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877300" y="1651000"/>
            <a:ext cx="2540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6"/>
          <a:srcRect l="0" r="0" t="0" b="0"/>
          <a:stretch>
            <a:fillRect/>
          </a:stretch>
        </p:blipFill>
        <p:spPr>
          <a:xfrm rot="0" flipH="false" flipV="false">
            <a:off x="9067800" y="1841500"/>
            <a:ext cx="762000" cy="76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8" id="18"/>
          <p:cNvSpPr/>
          <p:nvPr/>
        </p:nvSpPr>
        <p:spPr>
          <a:xfrm rot="0" flipH="false" flipV="false">
            <a:off x="10020300" y="1841500"/>
            <a:ext cx="127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患者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Patient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004300" y="2794000"/>
            <a:ext cx="228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接受医疗服务的对象，是所有诊断与治疗行为的中心主体。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4092" flipH="false" flipV="false">
            <a:off x="762004" y="405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762000" y="4318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4318000"/>
            <a:ext cx="508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52500" y="4381500"/>
            <a:ext cx="4889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逻辑推导：从现象到本质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系统通过“患者表现出症状”锁定观察对象，结合知识库中“疾病导致症状”的关联，逆向推导可能的病因，建立初步的诊断假设。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286500" y="4318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286500" y="4318000"/>
            <a:ext cx="508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477000" y="4381500"/>
            <a:ext cx="4889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诊疗闭环：从方案到执行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基于确诊结果，系统匹配“药物治疗疾病”的方案，辅助医生完成诊断结论，并自动关联推荐对症药物，形成完整的诊疗建议链路。</a:t>
            </a:r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62000" y="5588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22C55E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2500" y="5778500"/>
            <a:ext cx="304800" cy="3048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1397000" y="5689600"/>
            <a:ext cx="9779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场景示例：李四辅助诊疗流程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李四表现头痛、发烧 → 系统匹配“流感”特征 → 诊断D20260617确立 → 自动推荐“阿司匹林”进行治疗。本体论将碎片化信息串联，实现精准、高效的辅助决策。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构建本体的系统方法：斯坦福七步法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270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构建本体是一个迭代和渐进的过程。斯坦福大学提出的“七步法”是知识工程领域被广泛接受的经典框架，它将复杂的本体构建过程拆解为七个核心步骤，为系统化开发提供了清晰指引。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540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952500" y="2730500"/>
            <a:ext cx="762000" cy="76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1905000" y="2730500"/>
            <a:ext cx="2095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01-02 规划与复用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4323" flipH="false" flipV="false">
            <a:off x="952513" y="3676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952500" y="3810000"/>
            <a:ext cx="304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明确领域边界与核心问题，避免重复造轮子，优先调研并重用现有的成熟本体资源，奠定项目基石。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2540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rcRect l="4833" r="4833" t="0" b="0"/>
          <a:stretch>
            <a:fillRect/>
          </a:stretch>
        </p:blipFill>
        <p:spPr>
          <a:xfrm rot="0" flipH="false" flipV="false">
            <a:off x="4635500" y="2730500"/>
            <a:ext cx="762000" cy="76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2" id="12"/>
          <p:cNvSpPr/>
          <p:nvPr/>
        </p:nvSpPr>
        <p:spPr>
          <a:xfrm rot="0" flipH="false" flipV="false">
            <a:off x="5588000" y="2730500"/>
            <a:ext cx="2095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03-05 定义与结构化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14323" flipH="false" flipV="false">
            <a:off x="4635513" y="3676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4635500" y="3810000"/>
            <a:ext cx="304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收集领域关键术语，将其组织为类层次结构；定义类的内部属性及类间关联，构建完整的本体概念骨架。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28000" y="2540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8318500" y="2730500"/>
            <a:ext cx="762000" cy="762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9271000" y="2730500"/>
            <a:ext cx="2095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06-07 约束与实例化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14323" flipH="false" flipV="false">
            <a:off x="8318513" y="3676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8318500" y="3810000"/>
            <a:ext cx="304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为属性添加定义域、值域等约束以增强精确性；最后在本体框架中填充具体的实例数据，完成知识的落地。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5334000"/>
            <a:ext cx="10795000" cy="1016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5562600"/>
            <a:ext cx="558800" cy="558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1905000" y="5461000"/>
            <a:ext cx="939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核心洞察：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本体构建并非严格的线性流程，而是一个不断迭代、反复修改和完善的过程。在实际操作中，这七个步骤往往是循环往复、交叉进行的，需根据反馈持续优化。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本体、LLM与推理引擎的融合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2453" r="2453" t="0" b="0"/>
          <a:stretch>
            <a:fillRect/>
          </a:stretch>
        </p:blipFill>
        <p:spPr>
          <a:xfrm rot="0" flipH="false" flipV="false">
            <a:off x="762000" y="1651000"/>
            <a:ext cx="5080000" cy="304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5080000"/>
            <a:ext cx="50800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cmpd="sng" cap="flat">
            <a:solidFill>
              <a:srgbClr val="0CAC47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5080000"/>
            <a:ext cx="762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5207000"/>
            <a:ext cx="457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通过本体论、大语言模型与推理引擎的深度融合，构建既有生成式AI创造力，又具备领域知识严谨性与逻辑可靠性的新一代智能系统，有效规避幻觉，提升决策质量。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5390450" flipH="false" flipV="false">
            <a:off x="4064000" y="3930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7415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6604000" y="1651000"/>
            <a:ext cx="4826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794500" y="1841500"/>
            <a:ext cx="355600" cy="355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7302500" y="1803400"/>
            <a:ext cx="393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大模型层 (LLM Layer)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9822" flipH="false" flipV="false">
            <a:off x="6794509" y="23050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6794500" y="2413000"/>
            <a:ext cx="457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以自然语言理解和内容生成为核心能力，处理非结构化数据输入，形成对文本的初步语义理解，是系统的“感知与生成”入口。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604000" y="3302000"/>
            <a:ext cx="4826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794500" y="3492500"/>
            <a:ext cx="355600" cy="355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7302500" y="3454400"/>
            <a:ext cx="393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本体层 (Ontology Layer)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9822" flipH="false" flipV="false">
            <a:off x="6794509" y="39560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6794500" y="4064000"/>
            <a:ext cx="457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提供领域知识、业务规则与逻辑约束，将LLM的输出纳入结构化知识框架，完成语义校准、歧义消解与知识的系统化丰富。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604000" y="4953000"/>
            <a:ext cx="4826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794500" y="5143500"/>
            <a:ext cx="355600" cy="3556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7302500" y="5105400"/>
            <a:ext cx="393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推理引擎层 (Reasoning Engine Layer)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9822" flipH="false" flipV="false">
            <a:off x="6794509" y="56070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6794500" y="5715000"/>
            <a:ext cx="457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基于校准后的知识执行逻辑推理与一致性检查，确保输出结果的正确性、合规性与可靠性，是系统的“逻辑把关人”。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3048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4445000"/>
            <a:ext cx="1016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4953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感谢聆听，欢迎提出您的问题与见解。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从混乱数据到有序知识体系，本体论为我们提供了强大的构建工具，让我们在交流中探索更多可能。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{"Label":"1","ContentProducer":"001191110102MACQD9K64010000","ProduceID":"7652402500737600448","ReservedCode1":"","ContentPropagator":"","PropagateID":"","ReservedCode2":""}</vt:lpwstr>
  </property>
</Properties>
</file>