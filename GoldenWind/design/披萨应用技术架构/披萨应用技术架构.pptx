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2" Type="http://schemas.openxmlformats.org/officeDocument/2006/relationships/notesMaster" Target="notesMasters/notesMaster1.xml" /><Relationship Id="rId3" Type="http://schemas.openxmlformats.org/officeDocument/2006/relationships/presProps" Target="presProps.xml" /><Relationship Id="rId4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&#10;    style={{&#10;        width: 1280,&#10;        height: 720,&#10;        background: '#FFFFFF',&#10;        padding: '20px 60px 20px 60px',&#10;        flexDirection: 'column',&#10;        fontFamily: &quot;'Source Han Sans SC','Noto Sans SC','Microsoft YaHei',sans-serif&quot;,&#10;        color: '#0F172A',&#10;    }}&#10;&gt;&#10;    {/* A · 标题块 */}&#10;    &lt;Box style={{ height: 96, flexDirection: 'column', justifyContent: 'center' }}&gt;&#10;        &lt;Box style={{ flexDirection: 'row', alignItems: 'center', justifyContent: 'space-between' }}&gt;&#10;            &lt;Text style={{ fontSize: 34, fontWeight: 'bold', color: '#0F172A', lineHeight: 1.2 }}&gt;&#10;                披萨本体应用（Pizza）技术架构&#10;            &lt;/Text&gt;&#10;            &lt;Box style={{ background: '#0F172A', borderRadius: 6, padding: '6px 12px' }}&gt;&#10;                &lt;Text style={{ fontSize: 12, color: '#FFFFFF', fontFamily: &quot;'JetBrains Mono','Consolas',monospace&quot; }}&gt;&#10;                    com.ocean:OntologyFrameworkExample · 0.0.1-SNAPSHOT&#10;                &lt;/Text&gt;&#10;            &lt;/Box&gt;&#10;        &lt;/Box&gt;&#10;        &lt;Text style={{ fontSize: 14, color: '#475569', marginTop: 6 }}&gt;&#10;            本体驱动 + BPMN 编排 + Ontop 虚拟数据访问　｜　与 TMSD 并列独立，共享 OpenlletResolver / OntopOBDAHandler&#10;        &lt;/Text&gt;&#10;        &lt;Box style={{ height: 3, width: '100%', marginTop: 8, borderRadius: 2, background: 'linear-gradient(135deg, #0F172A 0%, #1D4ED8 100%)' }} /&gt;&#10;    &lt;/Box&gt;&#10;&#10;    {/* B · Row1：五层架构 + 解耦机制 */}&#10;    &lt;Box style={{ height: 352, marginTop: 12, flexDirection: 'row', gap: 14 }}&gt;&#10;        {/* 左：五层运行时架构 */}&#10;        &lt;Box style={{ width: 648, background: '#FFFFFF', border: '1px solid #E2E8F0', borderRadius: 10, padding: '14px 16px', flexDirection: 'column' }}&gt;&#10;            &lt;Box style={{ flexDirection: 'row', alignItems: 'center', gap: 8, marginBottom: 8 }}&gt;&#10;                &lt;Box style={{ width: 4, height: 15, background: '#1D4ED8', borderRadius: 2 }} /&gt;&#10;                &lt;Text style={{ fontSize: 17, fontWeight: 'bold', color: '#0F172A' }}&gt;五层运行时架构&lt;/Text&gt;&#10;                &lt;Text style={{ fontSize: 12, color: '#94A3B8' }}&gt;松耦合：jobType / 本体 IRI / OBDA 映射&lt;/Text&gt;&#10;            &lt;/Box&gt;&#10;&#10;            &lt;Box style={{ height: 68, background: '#0F172A', borderRadius: 8, padding: '10px 14px', flexDirection: 'column', justifyContent: 'center', gap: 4 }}&gt;&#10;                &lt;Box style={{ flexDirection: 'row', alignItems: 'center', gap: 8 }}&gt;&#10;                    &lt;Text style={{ fontSize: 16, fontWeight: 'bold', color: '#FFFFFF' }}&gt;编排层&lt;/Text&gt;&#10;                    &lt;Text style={{ fontSize: 12, color: '#94A3B8' }}&gt;BPMN → Camunda 8 / Zeebe，按拓扑派发作业&lt;/Text&gt;&#10;                &lt;/Box&gt;&#10;                &lt;Text style={{ fontSize: 12, color: '#CBD5E1', fontFamily: &quot;'JetBrains Mono','Consolas',monospace&quot; }}&gt;&#10;                    myPizzaBakingProcess　·　myPizzaTypeDesignProcess&#10;                &lt;/Text&gt;&#10;            &lt;/Box&gt;&#10;&#10;            &lt;Box style={{ height: 22, marginTop: 4, flexDirection: 'row', alignItems: 'center', justifyContent: 'center', background: 'rgba(14,165,233,0.12)', borderRadius: 6 }}&gt;&#10;                &lt;Text style={{ fontSize: 12, color: '#0369A1' }}&gt;⇅　jobType 字面量绑定　BPMN type ⇄ @JobWorker(type)，两侧无代码级引用&lt;/Text&gt;&#10;            &lt;/Box&gt;&#10;&#10;            &lt;Box style={{ height: 68, marginTop: 4, background: '#1D4ED8', borderRadius: 8, padding: '10px 14px', flexDirection: 'column', justifyContent: 'center', gap: 4 }}&gt;&#10;                &lt;Box style={{ flexDirection: 'row', alignItems: 'center', gap: 8 }}&gt;&#10;                    &lt;Text style={{ fontSize: 16, fontWeight: 'bold', color: '#FFFFFF' }}&gt;应用层&lt;/Text&gt;&#10;                    &lt;Text style={{ fontSize: 12, color: '#BFDBFE' }}&gt;Spring Boot = JobWorker，只描述「每步怎么算」&lt;/Text&gt;&#10;                &lt;/Box&gt;&#10;                &lt;Text style={{ fontSize: 12, color: '#DBEAFE', fontFamily: &quot;'JetBrains Mono','Consolas',monospace&quot; }}&gt;&#10;                    PizzaOntologyJobWorker（9 个 @JobWorker）· PizzaApplication · Utilities · RabbitMqHandler&#10;                &lt;/Text&gt;&#10;            &lt;/Box&gt;&#10;&#10;            &lt;Box style={{ height: 22, marginTop: 4, flexDirection: 'row', alignItems: 'center', justifyContent: 'center', background: 'rgba(14,165,233,0.12)', borderRadius: 6 }}&gt;&#10;                &lt;Text style={{ fontSize: 12, color: '#0369A1' }}&gt;⇅　本体 IRI ／ Ontop OBDA 映射&lt;/Text&gt;&#10;            &lt;/Box&gt;&#10;&#10;            &lt;Box style={{ flexDirection: 'row', gap: 8, marginTop: 4 }}&gt;&#10;                &lt;Box style={{ width: 199, height: 88, background: '#F8FAFC', border: '1px solid #E2E8F0', borderRadius: 8, padding: '8px 10px', flexDirection: 'column' }}&gt;&#10;                    &lt;Text style={{ fontSize: 13, fontWeight: 'bold', color: '#0F172A' }}&gt;领域 / 本体层&lt;/Text&gt;&#10;                    &lt;Text style={{ fontSize: 11, color: '#475569', lineHeight: 1.4, marginTop: 6 }}&gt;&#10;                        OWL TBox+ABox · Openllet 推理 · SKOS 术语&#10;                    &lt;/Text&gt;&#10;                &lt;/Box&gt;&#10;                &lt;Box style={{ width: 199, height: 88, background: '#F8FAFC', border: '1px solid #E2E8F0', borderRadius: 8, padding: '8px 10px', flexDirection: 'column' }}&gt;&#10;                    &lt;Text style={{ fontSize: 13, fontWeight: 'bold', color: '#0F172A' }}&gt;数据访问层&lt;/Text&gt;&#10;                    &lt;Text style={{ fontSize: 11, color: '#475569', lineHeight: 1.4, marginTop: 6 }}&gt;&#10;                        Ontop OBDA → MySQL（3 条映射），SPARQL 按需重写为 SQL&#10;                    &lt;/Text&gt;&#10;                &lt;/Box&gt;&#10;                &lt;Box style={{ width: 199, height: 88, background: 'rgba(245,158,11,0.10)', border: '1px solid #F59E0B', borderRadius: 8, padding: '8px 10px', flexDirection: 'column' }}&gt;&#10;                    &lt;Text style={{ fontSize: 13, fontWeight: 'bold', color: '#B45309' }}&gt;消息层&lt;/Text&gt;&#10;                    &lt;Text style={{ fontSize: 11, color: '#475569', lineHeight: 1.4, marginTop: 6 }}&gt;&#10;                        RabbitMQ 异步外发低库存告警，不参与主流程编排&#10;                    &lt;/Text&gt;&#10;                &lt;/Box&gt;&#10;            &lt;/Box&gt;&#10;        &lt;/Box&gt;&#10;&#10;        {/* 右：解耦机制 + 技术栈 + 部署 */}&#10;        &lt;Box style={{ width: 498, background: '#F8FAFC', border: '1px solid #E2E8F0', borderRadius: 10, padding: '12px 16px', flexDirection: 'column' }}&gt;&#10;            &lt;Box style={{ flexDirection: 'row', alignItems: 'center', gap: 8 }}&gt;&#10;                &lt;Box style={{ width: 4, height: 15, background: '#1D4ED8', borderRadius: 2 }} /&gt;&#10;                &lt;Text style={{ fontSize: 17, fontWeight: 'bold', color: '#0F172A' }}&gt;核心解耦机制&lt;/Text&gt;&#10;            &lt;/Box&gt;&#10;&#10;            &lt;Box style={{ flexDirection: 'row', gap: 8, marginTop: 6 }}&gt;&#10;                &lt;Box style={{ width: 18, height: 18, borderRadius: 4, background: '#1D4ED8', justifyContent: 'center', alignItems: 'center' }}&gt;&#10;                    &lt;Text style={{ fontSize: 11, fontWeight: 'bold', color: '#FFFFFF' }}&gt;1&lt;/Text&gt;&#10;                &lt;/Box&gt;&#10;                &lt;Box style={{ flexDirection: 'column' }}&gt;&#10;                    &lt;Text style={{ fontSize: 13, fontWeight: 'bold', color: '#0F172A' }}&gt;BPMN ↔ JobWorker&lt;/Text&gt;&#10;                    &lt;Text style={{ fontSize: 12, color: '#475569', lineHeight: 1.4 }}&gt;靠 jobType 字面量绑定，改 BPMN 拓扑不需改 Java 引用&lt;/Text&gt;&#10;                &lt;/Box&gt;&#10;            &lt;/Box&gt;&#10;&#10;            &lt;Box style={{ flexDirection: 'row', gap: 8, marginTop: 6 }}&gt;&#10;                &lt;Box style={{ width: 18, height: 18, borderRadius: 4, background: '#1D4ED8', justifyContent: 'center', alignItems: 'center' }}&gt;&#10;                    &lt;Text style={{ fontSize: 11, fontWeight: 'bold', color: '#FFFFFF' }}&gt;2&lt;/Text&gt;&#10;                &lt;/Box&gt;&#10;                &lt;Box style={{ flexDirection: 'column' }}&gt;&#10;                    &lt;Text style={{ fontSize: 13, fontWeight: 'bold', color: '#0F172A' }}&gt;Worker ↔ 本体&lt;/Text&gt;&#10;                    &lt;Text style={{ fontSize: 12, color: '#475569', lineHeight: 1.4 }}&gt;经 ReasonerService / OntologyService 做 BFS 父类链 + 子类展开&lt;/Text&gt;&#10;                &lt;/Box&gt;&#10;            &lt;/Box&gt;&#10;&#10;            &lt;Box style={{ flexDirection: 'row', gap: 8, marginTop: 6 }}&gt;&#10;                &lt;Box style={{ width: 18, height: 18, borderRadius: 4, background: '#1D4ED8', justifyContent: 'center', alignItems: 'center' }}&gt;&#10;                    &lt;Text style={{ fontSize: 11, fontWeight: 'bold', color: '#FFFFFF' }}&gt;3&lt;/Text&gt;&#10;                &lt;/Box&gt;&#10;                &lt;Box style={{ flexDirection: 'column' }}&gt;&#10;                    &lt;Text style={{ fontSize: 13, fontWeight: 'bold', color: '#0F172A' }}&gt;Worker ↔ 数据&lt;/Text&gt;&#10;                    &lt;Text style={{ fontSize: 12, color: '#475569', lineHeight: 1.4 }}&gt;SPARQL 经 Ontop 重写为 SQL；写侧按表自动拆分并保证事务&lt;/Text&gt;&#10;                &lt;/Box&gt;&#10;            &lt;/Box&gt;&#10;&#10;            &lt;Box style={{ height: 1, background: '#E2E8F0', marginTop: 8 }} /&gt;&#10;&#10;            &lt;Box style={{ flexDirection: 'row', alignItems: 'center', gap: 8, marginTop: 8 }}&gt;&#10;                &lt;Box style={{ width: 4, height: 13, background: '#0EA5E9', borderRadius: 2 }} /&gt;&#10;                &lt;Text style={{ fontSize: 15, fontWeight: 'bold', color: '#0F172A' }}&gt;技术栈&lt;/Text&gt;&#10;            &lt;/Box&gt;&#10;            &lt;Text style={{ fontSize: 12, color: '#475569', lineHeight: 1.5, marginTop: 4 }}&gt;&#10;                Spring Boot 4.1.0　·　Camunda SDK 8.9.6　·　OpenlletResolver 0.0.1　·　OntopOBDAHandler 0.0.1&#10;                &lt;br /&gt;RabbitMQ（AMQP）　·　Apache Jena 6.1.0　·　OWLAPI 5.5.1&#10;            &lt;/Text&gt;&#10;&#10;            &lt;Box style={{ flexDirection: 'row', alignItems: 'center', gap: 8, marginTop: 8 }}&gt;&#10;                &lt;Box style={{ width: 4, height: 13, background: '#0EA5E9', borderRadius: 2 }} /&gt;&#10;                &lt;Text style={{ fontSize: 15, fontWeight: 'bold', color: '#0F172A' }}&gt;部署与配置&lt;/Text&gt;&#10;            &lt;/Box&gt;&#10;            &lt;Text style={{ fontSize: 12, color: '#475569', lineHeight: 1.5, marginTop: 4 }}&gt;&#10;                应用 :9081　·　Camunda :26500 / :9080　·　Ontop :8080　·　本体 ontology/pizza-all.owl&#10;            &lt;/Text&gt;&#10;        &lt;/Box&gt;&#10;    &lt;/Box&gt;&#10;&#10;    {/* B · Row2：端到端数据流 */}&#10;    &lt;Box style={{ height: 176, marginTop: 12, background: '#F8FAFC', border: '1px solid #E2E8F0', borderRadius: 10, padding: '12px 16px', flexDirection: 'column' }}&gt;&#10;        &lt;Box style={{ flexDirection: 'row', alignItems: 'center', gap: 8 }}&gt;&#10;            &lt;Box style={{ width: 4, height: 15, background: '#1D4ED8', borderRadius: 2 }} /&gt;&#10;            &lt;Text style={{ fontSize: 17, fontWeight: 'bold', color: '#0F172A' }}&gt;端到端数据流&lt;/Text&gt;&#10;            &lt;Text style={{ fontSize: 12, color: '#94A3B8' }}&gt;发起 → 推理 → 取数 → 写库 → 分支 → 外发&lt;/Text&gt;&#10;        &lt;/Box&gt;&#10;        &lt;Box style={{ flexDirection: 'row', alignItems: 'stretch', gap: 6, marginTop: 10, flex: 1 }}&gt;&#10;            &lt;Box style={{ width: 162, background: '#FFFFFF', border: '1px solid #E2E8F0', borderRadius: 8, padding: '8px 10px', flexDirection: 'column', justifyContent: 'center' }}&gt;&#10;                &lt;Text style={{ fontSize: 11, color: '#0EA5E9', fontFamily: &quot;'JetBrains Mono','Consolas',monospace&quot; }}&gt;01&lt;/Text&gt;&#10;                &lt;Text style={{ fontSize: 13, fontWeight: 'bold', color: '#0F172A', marginTop: 4 }}&gt;发起&lt;/Text&gt;&#10;                &lt;Text style={{ fontSize: 11, color: '#475569', lineHeight: 1.4, marginTop: 4 }}&gt;variables={'{'}pizzaType{'}'} 创建流程实例&lt;/Text&gt;&#10;            &lt;/Box&gt;&#10;            &lt;Box style={{ width: 18, justifyContent: 'center', alignItems: 'center' }}&gt;&#10;                &lt;Text style={{ fontSize: 14, color: '#0EA5E9' }}&gt;→&lt;/Text&gt;&#10;            &lt;/Box&gt;&#10;            &lt;Box style={{ width: 162, background: '#FFFFFF', border: '1px solid #E2E8F0', borderRadius: 8, padding: '8px 10px', flexDirection: 'column', justifyContent: 'center' }}&gt;&#10;                &lt;Text style={{ fontSize: 11, color: '#0EA5E9', fontFamily: &quot;'JetBrains Mono','Consolas',monospace&quot; }}&gt;02&lt;/Text&gt;&#10;                &lt;Text style={{ fontSize: 13, fontWeight: 'bold', color: '#0F172A', marginTop: 4 }}&gt;本体推理&lt;/Text&gt;&#10;                &lt;Text style={{ fontSize: 11, color: '#475569', lineHeight: 1.4, marginTop: 4 }}&gt;TBox + Openllet 解析类型约束与可选项&lt;/Text&gt;&#10;            &lt;/Box&gt;&#10;            &lt;Box style={{ width: 18, justifyContent: 'center', alignItems: 'center' }}&gt;&#10;                &lt;Text style={{ fontSize: 14, color: '#0EA5E9' }}&gt;→&lt;/Text&gt;&#10;            &lt;/Box&gt;&#10;            &lt;Box style={{ width: 162, background: '#FFFFFF', border: '1px solid #E2E8F0', borderRadius: 8, padding: '8px 10px', flexDirection: 'column', justifyContent: 'center' }}&gt;&#10;                &lt;Text style={{ fontSize: 11, color: '#0EA5E9', fontFamily: &quot;'JetBrains Mono','Consolas',monospace&quot; }}&gt;03&lt;/Text&gt;&#10;                &lt;Text style={{ fontSize: 13, fontWeight: 'bold', color: '#0F172A', marginTop: 4 }}&gt;Ontop 取数&lt;/Text&gt;&#10;                &lt;Text style={{ fontSize: 11, color: '#475569', lineHeight: 1.4, marginTop: 4 }}&gt;SPARQL→SQL→MySQL 取组件实例与价格&lt;/Text&gt;&#10;            &lt;/Box&gt;&#10;            &lt;Box style={{ width: 18, justifyContent: 'center', alignItems: 'center' }}&gt;&#10;                &lt;Text style={{ fontSize: 14, color: '#0EA5E9' }}&gt;→&lt;/Text&gt;&#10;            &lt;/Box&gt;&#10;            &lt;Box style={{ width: 162, background: '#FFFFFF', border: '1px solid #E2E8F0', borderRadius: 8, padding: '8px 10px', flexDirection: 'column', justifyContent: 'center' }}&gt;&#10;                &lt;Text style={{ fontSize: 11, color: '#0EA5E9', fontFamily: &quot;'JetBrains Mono','Consolas',monospace&quot; }}&gt;04&lt;/Text&gt;&#10;                &lt;Text style={{ fontSize: 13, fontWeight: 'bold', color: '#0F172A', marginTop: 4 }}&gt;计算 · 写库&lt;/Text&gt;&#10;                &lt;Text style={{ fontSize: 11, color: '#475569', lineHeight: 1.4, marginTop: 4 }}&gt;组件增删改与摘要生成，回写流程变量&lt;/Text&gt;&#10;            &lt;/Box&gt;&#10;            &lt;Box style={{ width: 18, justifyContent: 'center', alignItems: 'center' }}&gt;&#10;                &lt;Text style={{ fontSize: 14, color: '#0EA5E9' }}&gt;→&lt;/Text&gt;&#10;            &lt;/Box&gt;&#10;            &lt;Box style={{ width: 162, background: '#FFFFFF', border: '1px solid #E2E8F0', borderRadius: 8, padding: '8px 10px', flexDirection: 'column', justifyContent: 'center' }}&gt;&#10;                &lt;Text style={{ fontSize: 11, color: '#0EA5E9', fontFamily: &quot;'JetBrains Mono','Consolas',monospace&quot; }}&gt;05&lt;/Text&gt;&#10;                &lt;Text style={{ fontSize: 13, fontWeight: 'bold', color: '#0F172A', marginTop: 4 }}&gt;分支&lt;/Text&gt;&#10;                &lt;Text style={{ fontSize: 11, color: '#475569', lineHeight: 1.4, marginTop: 4 }}&gt;按 matchedWord / needXxx 决定走线与 userTask&lt;/Text&gt;&#10;            &lt;/Box&gt;&#10;            &lt;Box style={{ width: 18, justifyContent: 'center', alignItems: 'center' }}&gt;&#10;                &lt;Text style={{ fontSize: 14, color: '#0EA5E9' }}&gt;→&lt;/Text&gt;&#10;            &lt;/Box&gt;&#10;            &lt;Box style={{ width: 162, background: 'rgba(245,158,11,0.10)', border: '1px solid #F59E0B', borderRadius: 8, padding: '8px 10px', flexDirection: 'column', justifyContent: 'center' }}&gt;&#10;                &lt;Text style={{ fontSize: 11, color: '#B45309', fontFamily: &quot;'JetBrains Mono','Consolas',monospace&quot; }}&gt;06&lt;/Text&gt;&#10;                &lt;Text style={{ fontSize: 13, fontWeight: 'bold', color: '#B45309', marginTop: 4 }}&gt;消息外发&lt;/Text&gt;&#10;                &lt;Text style={{ fontSize: 11, color: '#475569', lineHeight: 1.4, marginTop: 4 }}&gt;低库存经 RabbitMQ 路由到 pizzaQueue&lt;/Text&gt;&#10;            &lt;/Box&gt;&#10;        &lt;/Box&gt;&#10;    &lt;/Box&gt;&#10;&#10;    {/* C · 页脚条 */}&#10;    &lt;Box style={{ height: 22, marginTop: 8, flexDirection: 'row', alignItems: 'center', justifyContent: 'space-between' }}&gt;&#10;        &lt;Text style={{ fontSize: 13, color: '#94A3B8' }}&gt;OntologyFrameworkExample · Pizza（披萨本体驱动应用）· 顶层设计&lt;/Text&gt;&#10;        &lt;Text style={{ fontSize: 14, fontWeight: 'bold', color: '#1D4ED8' }}&gt;01 / 0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71500" y="257175"/>
            <a:ext cx="46101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披萨本体应用（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>Pizza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）技术架构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8181975" y="361950"/>
            <a:ext cx="3438525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296275" y="419100"/>
            <a:ext cx="3209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JetBrains Mono"/>
                <a:ea typeface="JetBrains Mono"/>
              </a:rPr>
              <a:t>com.ocean:OntologyFrameworkExample · 0.0.1-SNAPSHOT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78105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本体驱动</a:t>
            </a: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+ BPMN </a:t>
            </a: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编排</a:t>
            </a: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+ Ontop </a:t>
            </a: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虚拟数据访问　｜　与</a:t>
            </a: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TMSD </a:t>
            </a:r>
            <a:r>
              <a:rPr lang="zh-CN" sz="1050">
                <a:solidFill>
                  <a:srgbClr val="475569"/>
                </a:solidFill>
                <a:latin typeface="Source Han Sans SC"/>
                <a:ea typeface="Source Han Sans SC"/>
              </a:rPr>
              <a:t>并列独立，共享</a:t>
            </a:r>
            <a:r>
              <a:rPr lang="en-US" sz="105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OpenlletResolver / OntopOBDAHandler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571500" y="1019175"/>
            <a:ext cx="11049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0F172A"/>
              </a:gs>
              <a:gs pos="100000">
                <a:srgbClr val="1D4ED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571500" y="1219200"/>
            <a:ext cx="6172200" cy="3352800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723900" y="1381125"/>
            <a:ext cx="38100" cy="142875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13525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五层运行时架构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047875" y="1381125"/>
            <a:ext cx="1981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松耦合：</a:t>
            </a:r>
            <a:r>
              <a:rPr lang="en-US" sz="900">
                <a:solidFill>
                  <a:srgbClr val="94A3B8"/>
                </a:solidFill>
                <a:latin typeface="Source Han Sans SC"/>
                <a:ea typeface="Source Han Sans SC"/>
              </a:rPr>
              <a:t xml:space="preserve">jobType / </a:t>
            </a: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本体</a:t>
            </a:r>
            <a:r>
              <a:rPr lang="en-US" sz="900">
                <a:solidFill>
                  <a:srgbClr val="94A3B8"/>
                </a:solidFill>
                <a:latin typeface="Source Han Sans SC"/>
                <a:ea typeface="Source Han Sans SC"/>
              </a:rPr>
              <a:t xml:space="preserve"> IRI / OBDA </a:t>
            </a: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映射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23900" y="1628775"/>
            <a:ext cx="5867400" cy="64770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57250" y="17716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Source Han Sans SC"/>
                <a:ea typeface="Source Han Sans SC"/>
              </a:rPr>
              <a:t>编排层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390650" y="1800225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ource Han Sans SC"/>
                <a:ea typeface="Source Han Sans SC"/>
              </a:rPr>
              <a:t>BPMN → Camunda 8 / Zeebe</a:t>
            </a: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，按拓扑派发作业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7250" y="2000250"/>
            <a:ext cx="560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CBD5E1"/>
                </a:solidFill>
                <a:latin typeface="JetBrains Mono"/>
                <a:ea typeface="JetBrains Mono"/>
              </a:rPr>
              <a:t>myPizzaBakingProcess</a:t>
            </a:r>
            <a:r>
              <a:rPr lang="zh-CN" sz="900">
                <a:solidFill>
                  <a:srgbClr val="CBD5E1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CBD5E1"/>
                </a:solidFill>
                <a:latin typeface="JetBrains Mono"/>
                <a:ea typeface="JetBrains Mono"/>
              </a:rPr>
              <a:t>myPizzaTypeDesignProcess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723900" y="2314575"/>
            <a:ext cx="5867400" cy="209550"/>
          </a:xfrm>
          <a:prstGeom prst="roundRect">
            <a:avLst>
              <a:gd name="adj" fmla="val 27273"/>
            </a:avLst>
          </a:prstGeom>
          <a:solidFill>
            <a:srgbClr val="0EA5E9">
              <a:alpha val="12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647825" y="2352675"/>
            <a:ext cx="402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369A1"/>
                </a:solidFill>
                <a:latin typeface="Source Han Sans SC"/>
                <a:ea typeface="Source Han Sans SC"/>
              </a:rPr>
              <a:t>⇅　</a:t>
            </a:r>
            <a:r>
              <a:rPr lang="en-US" sz="900">
                <a:solidFill>
                  <a:srgbClr val="0369A1"/>
                </a:solidFill>
                <a:latin typeface="Source Han Sans SC"/>
                <a:ea typeface="Source Han Sans SC"/>
              </a:rPr>
              <a:t xml:space="preserve">jobType </a:t>
            </a:r>
            <a:r>
              <a:rPr lang="zh-CN" sz="900">
                <a:solidFill>
                  <a:srgbClr val="0369A1"/>
                </a:solidFill>
                <a:latin typeface="Source Han Sans SC"/>
                <a:ea typeface="Source Han Sans SC"/>
              </a:rPr>
              <a:t>字面量绑定　</a:t>
            </a:r>
            <a:r>
              <a:rPr lang="en-US" sz="900">
                <a:solidFill>
                  <a:srgbClr val="0369A1"/>
                </a:solidFill>
                <a:latin typeface="Source Han Sans SC"/>
                <a:ea typeface="Source Han Sans SC"/>
              </a:rPr>
              <a:t>BPMN type ⇄ @JobWorker(type)</a:t>
            </a:r>
            <a:r>
              <a:rPr lang="zh-CN" sz="900">
                <a:solidFill>
                  <a:srgbClr val="0369A1"/>
                </a:solidFill>
                <a:latin typeface="Source Han Sans SC"/>
                <a:ea typeface="Source Han Sans SC"/>
              </a:rPr>
              <a:t>，两侧无代码级引用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23900" y="2562225"/>
            <a:ext cx="5867400" cy="647700"/>
          </a:xfrm>
          <a:prstGeom prst="roundRect">
            <a:avLst>
              <a:gd name="adj" fmla="val 11765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57250" y="27051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Source Han Sans SC"/>
                <a:ea typeface="Source Han Sans SC"/>
              </a:rPr>
              <a:t>应用层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390650" y="2733675"/>
            <a:ext cx="2514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BFDBFE"/>
                </a:solidFill>
                <a:latin typeface="Source Han Sans SC"/>
                <a:ea typeface="Source Han Sans SC"/>
              </a:rPr>
              <a:t>Spring Boot = JobWorker</a:t>
            </a:r>
            <a:r>
              <a:rPr lang="zh-CN" sz="900">
                <a:solidFill>
                  <a:srgbClr val="BFDBFE"/>
                </a:solidFill>
                <a:latin typeface="Source Han Sans SC"/>
                <a:ea typeface="Source Han Sans SC"/>
              </a:rPr>
              <a:t>，只描述「每步怎么算」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57250" y="2933700"/>
            <a:ext cx="5600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BEAFE"/>
                </a:solidFill>
                <a:latin typeface="JetBrains Mono"/>
                <a:ea typeface="JetBrains Mono"/>
              </a:rPr>
              <a:t>PizzaOntologyJobWorker</a:t>
            </a:r>
            <a:r>
              <a:rPr lang="zh-CN" sz="900">
                <a:solidFill>
                  <a:srgbClr val="DBEAFE"/>
                </a:solidFill>
                <a:latin typeface="JetBrains Mono"/>
                <a:ea typeface="JetBrains Mono"/>
              </a:rPr>
              <a:t>（</a:t>
            </a:r>
            <a:r>
              <a:rPr lang="en-US" sz="900">
                <a:solidFill>
                  <a:srgbClr val="DBEAFE"/>
                </a:solidFill>
                <a:latin typeface="JetBrains Mono"/>
                <a:ea typeface="JetBrains Mono"/>
              </a:rPr>
              <a:t xml:space="preserve">9 </a:t>
            </a:r>
            <a:r>
              <a:rPr lang="zh-CN" sz="900">
                <a:solidFill>
                  <a:srgbClr val="DBEAFE"/>
                </a:solidFill>
                <a:latin typeface="JetBrains Mono"/>
                <a:ea typeface="JetBrains Mono"/>
              </a:rPr>
              <a:t>个</a:t>
            </a:r>
            <a:r>
              <a:rPr lang="en-US" sz="900">
                <a:solidFill>
                  <a:srgbClr val="DBEAFE"/>
                </a:solidFill>
                <a:latin typeface="JetBrains Mono"/>
                <a:ea typeface="JetBrains Mono"/>
              </a:rPr>
              <a:t xml:space="preserve"> @JobWorker</a:t>
            </a:r>
            <a:r>
              <a:rPr lang="zh-CN" sz="900">
                <a:solidFill>
                  <a:srgbClr val="DBEAFE"/>
                </a:solidFill>
                <a:latin typeface="JetBrains Mono"/>
                <a:ea typeface="JetBrains Mono"/>
              </a:rPr>
              <a:t>）·</a:t>
            </a:r>
            <a:r>
              <a:rPr lang="en-US" sz="900">
                <a:solidFill>
                  <a:srgbClr val="DBEAFE"/>
                </a:solidFill>
                <a:latin typeface="JetBrains Mono"/>
                <a:ea typeface="JetBrains Mono"/>
              </a:rPr>
              <a:t xml:space="preserve"> PizzaApplication · Utilities · RabbitMqHandler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723900" y="3248025"/>
            <a:ext cx="5867400" cy="209550"/>
          </a:xfrm>
          <a:prstGeom prst="roundRect">
            <a:avLst>
              <a:gd name="adj" fmla="val 27273"/>
            </a:avLst>
          </a:prstGeom>
          <a:solidFill>
            <a:srgbClr val="0EA5E9">
              <a:alpha val="12000"/>
            </a:srgbClr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2828925" y="3286125"/>
            <a:ext cx="1666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369A1"/>
                </a:solidFill>
                <a:latin typeface="Source Han Sans SC"/>
                <a:ea typeface="Source Han Sans SC"/>
              </a:rPr>
              <a:t>⇅　本体</a:t>
            </a:r>
            <a:r>
              <a:rPr lang="en-US" sz="900">
                <a:solidFill>
                  <a:srgbClr val="0369A1"/>
                </a:solidFill>
                <a:latin typeface="Source Han Sans SC"/>
                <a:ea typeface="Source Han Sans SC"/>
              </a:rPr>
              <a:t xml:space="preserve"> IRI </a:t>
            </a:r>
            <a:r>
              <a:rPr lang="zh-CN" sz="900">
                <a:solidFill>
                  <a:srgbClr val="0369A1"/>
                </a:solidFill>
                <a:latin typeface="Source Han Sans SC"/>
                <a:ea typeface="Source Han Sans SC"/>
              </a:rPr>
              <a:t>／</a:t>
            </a:r>
            <a:r>
              <a:rPr lang="en-US" sz="900">
                <a:solidFill>
                  <a:srgbClr val="0369A1"/>
                </a:solidFill>
                <a:latin typeface="Source Han Sans SC"/>
                <a:ea typeface="Source Han Sans SC"/>
              </a:rPr>
              <a:t xml:space="preserve"> Ontop OBDA </a:t>
            </a:r>
            <a:r>
              <a:rPr lang="zh-CN" sz="900">
                <a:solidFill>
                  <a:srgbClr val="0369A1"/>
                </a:solidFill>
                <a:latin typeface="Source Han Sans SC"/>
                <a:ea typeface="Source Han Sans SC"/>
              </a:rPr>
              <a:t>映射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723900" y="3495675"/>
            <a:ext cx="1895475" cy="8382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19150" y="3571875"/>
            <a:ext cx="1704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领域</a:t>
            </a:r>
            <a:r>
              <a:rPr lang="en-US" sz="9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本体层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19150" y="3781425"/>
            <a:ext cx="17049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OWL TBox+ABox · Openllet 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推理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· SKOS 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术语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2695575" y="3495675"/>
            <a:ext cx="1895475" cy="8382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2790825" y="3571875"/>
            <a:ext cx="1704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数据访问层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790825" y="3781425"/>
            <a:ext cx="17049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>Ontop OBDA → MySQL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（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3 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条映射），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SPARQL 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按需重写为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SQL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667250" y="3495675"/>
            <a:ext cx="1895475" cy="838200"/>
          </a:xfrm>
          <a:prstGeom prst="roundRect">
            <a:avLst>
              <a:gd name="adj" fmla="val 9091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762500" y="3571875"/>
            <a:ext cx="1704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B45309"/>
                </a:solidFill>
                <a:latin typeface="Source Han Sans SC"/>
                <a:ea typeface="Source Han Sans SC"/>
              </a:rPr>
              <a:t>消息层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762500" y="3781425"/>
            <a:ext cx="17049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RabbitMQ 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异步外发低库存告警，不参与主流程编排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77050" y="1219200"/>
            <a:ext cx="4743450" cy="3352800"/>
          </a:xfrm>
          <a:prstGeom prst="roundRect">
            <a:avLst>
              <a:gd name="adj" fmla="val 28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7029450" y="1362075"/>
            <a:ext cx="38100" cy="142875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143750" y="13335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核心解耦机制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7029450" y="1590675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086600" y="1609725"/>
            <a:ext cx="57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277100" y="1590675"/>
            <a:ext cx="2809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Source Han Sans SC"/>
                <a:ea typeface="Source Han Sans SC"/>
              </a:rPr>
              <a:t>BPMN ↔ JobWorker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277100" y="1743075"/>
            <a:ext cx="2809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靠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jobType 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字面量绑定，改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BPMN 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拓扑不需改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Java 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引用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7029450" y="200025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086600" y="2019300"/>
            <a:ext cx="57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277100" y="200025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Worker ↔ </a:t>
            </a: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本体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277100" y="215265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经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ReasonerService / OntologyService 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做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BFS 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父类链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子类展开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029450" y="2409825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086600" y="2428875"/>
            <a:ext cx="57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277100" y="2409825"/>
            <a:ext cx="308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Worker ↔ </a:t>
            </a: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数据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277100" y="2562225"/>
            <a:ext cx="30861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SPARQL 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经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Ontop 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重写为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SQL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；写侧按表自动拆分并保证事务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029450" y="2838450"/>
            <a:ext cx="443865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7029450" y="2952750"/>
            <a:ext cx="38100" cy="123825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143750" y="29241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技术栈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029450" y="3133725"/>
            <a:ext cx="44386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>Spring Boot 4.1.0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　·　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>Camunda SDK 8.9.6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　·　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>OpenlletResolver 0.0.1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　·　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>OntopOBDAHandler 0.0.1</a:t>
            </a:r>
            <a:endParaRPr/>
          </a:p>
          <a:p>
            <a:pPr>
              <a:lnSpc>
                <a:spcPct val="150000"/>
              </a:lnSpc>
            </a:pP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>RabbitMQ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（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>AMQP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）　·　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>Apache Jena 6.1.0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　·　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>OWLAPI 5.5.1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7029450" y="3857625"/>
            <a:ext cx="38100" cy="123825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143750" y="38290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部署与配置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029450" y="4038600"/>
            <a:ext cx="44386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应用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:9081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　·　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>Camunda :26500 / :9080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　·　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>Ontop :8080</a:t>
            </a:r>
            <a:r>
              <a:rPr lang="zh-CN" sz="900">
                <a:solidFill>
                  <a:srgbClr val="475569"/>
                </a:solidFill>
                <a:latin typeface="Source Han Sans SC"/>
                <a:ea typeface="Source Han Sans SC"/>
              </a:rPr>
              <a:t>　·　本体</a:t>
            </a:r>
            <a:r>
              <a:rPr lang="en-US" sz="900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ontology/pizza-all.owl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71500" y="4686300"/>
            <a:ext cx="11049000" cy="1676400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723900" y="4829175"/>
            <a:ext cx="38100" cy="142875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38200" y="48006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端到端数据流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885950" y="4829175"/>
            <a:ext cx="2200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发起</a:t>
            </a:r>
            <a:r>
              <a:rPr lang="en-US" sz="900">
                <a:solidFill>
                  <a:srgbClr val="94A3B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推理</a:t>
            </a:r>
            <a:r>
              <a:rPr lang="en-US" sz="900">
                <a:solidFill>
                  <a:srgbClr val="94A3B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取数</a:t>
            </a:r>
            <a:r>
              <a:rPr lang="en-US" sz="900">
                <a:solidFill>
                  <a:srgbClr val="94A3B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写库</a:t>
            </a:r>
            <a:r>
              <a:rPr lang="en-US" sz="900">
                <a:solidFill>
                  <a:srgbClr val="94A3B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分支</a:t>
            </a:r>
            <a:r>
              <a:rPr lang="en-US" sz="900">
                <a:solidFill>
                  <a:srgbClr val="94A3B8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00">
                <a:solidFill>
                  <a:srgbClr val="94A3B8"/>
                </a:solidFill>
                <a:latin typeface="Source Han Sans SC"/>
                <a:ea typeface="Source Han Sans SC"/>
              </a:rPr>
              <a:t>外发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23900" y="5095875"/>
            <a:ext cx="1543050" cy="1152525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19150" y="5314950"/>
            <a:ext cx="1352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A5E9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19150" y="5486400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发起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19150" y="5676900"/>
            <a:ext cx="13525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>variables=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>{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>pizzaType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>}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创建流程实例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2343150" y="55911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0EA5E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2552700" y="5095875"/>
            <a:ext cx="1543050" cy="1152525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2647950" y="5314950"/>
            <a:ext cx="1352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A5E9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2647950" y="5486400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本体推理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647950" y="5676900"/>
            <a:ext cx="13525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TBox + Openllet 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解析类型约束与可选项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171950" y="55911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0EA5E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4381500" y="5095875"/>
            <a:ext cx="1543050" cy="1152525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476750" y="5314950"/>
            <a:ext cx="1352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A5E9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476750" y="5486400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Ontop </a:t>
            </a: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取数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476750" y="5676900"/>
            <a:ext cx="13525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SPARQL→SQL→MySQL 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取组件实例与价格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00750" y="55911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0EA5E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210300" y="5095875"/>
            <a:ext cx="1543050" cy="1152525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305550" y="5314950"/>
            <a:ext cx="1352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A5E9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305550" y="5486400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计算</a:t>
            </a:r>
            <a:r>
              <a:rPr lang="en-US" sz="9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写库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305550" y="5676900"/>
            <a:ext cx="13525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组件增删改与摘要生成，回写流程变量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829550" y="55911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0EA5E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8039100" y="5095875"/>
            <a:ext cx="1543050" cy="1152525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134350" y="5314950"/>
            <a:ext cx="1352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0EA5E9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134350" y="5486400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72A"/>
                </a:solidFill>
                <a:latin typeface="Source Han Sans SC"/>
                <a:ea typeface="Source Han Sans SC"/>
              </a:rPr>
              <a:t>分支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134350" y="5676900"/>
            <a:ext cx="13525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按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matchedWord / needXxx 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决定走线与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userTask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658350" y="55911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0EA5E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9867900" y="5095875"/>
            <a:ext cx="1543050" cy="1152525"/>
          </a:xfrm>
          <a:prstGeom prst="roundRect">
            <a:avLst>
              <a:gd name="adj" fmla="val 661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963150" y="5314950"/>
            <a:ext cx="1352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B45309"/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963150" y="5486400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B45309"/>
                </a:solidFill>
                <a:latin typeface="Source Han Sans SC"/>
                <a:ea typeface="Source Han Sans SC"/>
              </a:rPr>
              <a:t>消息外发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963150" y="5676900"/>
            <a:ext cx="13525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低库存经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RabbitMQ </a:t>
            </a:r>
            <a:r>
              <a:rPr lang="zh-CN" sz="825">
                <a:solidFill>
                  <a:srgbClr val="475569"/>
                </a:solidFill>
                <a:latin typeface="Source Han Sans SC"/>
                <a:ea typeface="Source Han Sans SC"/>
              </a:rPr>
              <a:t>路由到</a:t>
            </a:r>
            <a:r>
              <a:rPr lang="en-US" sz="825">
                <a:solidFill>
                  <a:srgbClr val="475569"/>
                </a:solidFill>
                <a:latin typeface="Source Han Sans SC"/>
                <a:ea typeface="Source Han Sans SC"/>
              </a:rPr>
              <a:t xml:space="preserve"> pizzaQueue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71500" y="6467475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>OntologyFrameworkExample · Pizza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（披萨本体驱动应用）·</a:t>
            </a:r>
            <a:r>
              <a:rPr lang="en-US" sz="975">
                <a:solidFill>
                  <a:srgbClr val="94A3B8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75">
                <a:solidFill>
                  <a:srgbClr val="94A3B8"/>
                </a:solidFill>
                <a:latin typeface="Source Han Sans SC"/>
                <a:ea typeface="Source Han Sans SC"/>
              </a:rPr>
              <a:t>顶层设计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229975" y="646747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D4ED8"/>
                </a:solidFill>
                <a:latin typeface="Source Han Sans SC"/>
                <a:ea typeface="Source Han Sans SC"/>
              </a:rPr>
              <a:t>01 / 01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2026-09-30T10:13:28Z</dcterms:created>
  <dcterms:modified xsi:type="dcterms:W3CDTF">2026-09-30T10:13:28Z</dcterms:modified>
</cp:coreProperties>
</file>