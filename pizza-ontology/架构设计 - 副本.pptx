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70" r:id="rId4"/>
  </p:sldMasterIdLst>
  <p:notesMasterIdLst>
    <p:notesMasterId r:id="rId6"/>
  </p:notesMasterIdLst>
  <p:handoutMasterIdLst>
    <p:handoutMasterId r:id="rId11"/>
  </p:handoutMasterIdLst>
  <p:sldIdLst>
    <p:sldId id="278" r:id="rId5"/>
    <p:sldId id="613" r:id="rId7"/>
    <p:sldId id="615" r:id="rId8"/>
    <p:sldId id="616" r:id="rId9"/>
    <p:sldId id="617" r:id="rId10"/>
  </p:sldIdLst>
  <p:sldSz cx="12195175" cy="6859270"/>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94D3D6-CC5F-471B-8DDC-08E252BCCD14}">
          <p14:sldIdLst>
            <p14:sldId id="278"/>
          </p14:sldIdLst>
        </p14:section>
        <p14:section name="趋势及挑战" id="{E0BD05D7-D997-4A18-B4D1-A59AB93E2BB7}">
          <p14:sldIdLst>
            <p14:sldId id="613"/>
            <p14:sldId id="615"/>
            <p14:sldId id="616"/>
            <p14:sldId id="617"/>
          </p14:sldIdLst>
        </p14:section>
      </p14:sectionLst>
    </p:ext>
    <p:ext uri="{EFAFB233-063F-42B5-8137-9DF3F51BA10A}">
      <p15:sldGuideLst xmlns:p15="http://schemas.microsoft.com/office/powerpoint/2012/main">
        <p15:guide id="1" orient="horz" pos="802" userDrawn="1">
          <p15:clr>
            <a:srgbClr val="A4A3A4"/>
          </p15:clr>
        </p15:guide>
        <p15:guide id="2" orient="horz" pos="104" userDrawn="1">
          <p15:clr>
            <a:srgbClr val="A4A3A4"/>
          </p15:clr>
        </p15:guide>
        <p15:guide id="3" orient="horz" pos="3976" userDrawn="1">
          <p15:clr>
            <a:srgbClr val="A4A3A4"/>
          </p15:clr>
        </p15:guide>
        <p15:guide id="4" orient="horz" pos="893" userDrawn="1">
          <p15:clr>
            <a:srgbClr val="A4A3A4"/>
          </p15:clr>
        </p15:guide>
        <p15:guide id="5" pos="383" userDrawn="1">
          <p15:clr>
            <a:srgbClr val="A4A3A4"/>
          </p15:clr>
        </p15:guide>
        <p15:guide id="6" pos="73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FFFF99"/>
    <a:srgbClr val="9ACAF1"/>
    <a:srgbClr val="990000"/>
    <a:srgbClr val="92D050"/>
    <a:srgbClr val="FFC000"/>
    <a:srgbClr val="7F7F7F"/>
    <a:srgbClr val="E9EDF4"/>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71914" autoAdjust="0"/>
  </p:normalViewPr>
  <p:slideViewPr>
    <p:cSldViewPr snapToObjects="1" showGuides="1">
      <p:cViewPr varScale="1">
        <p:scale>
          <a:sx n="102" d="100"/>
          <a:sy n="102" d="100"/>
        </p:scale>
        <p:origin x="3008" y="184"/>
      </p:cViewPr>
      <p:guideLst>
        <p:guide orient="horz" pos="802"/>
        <p:guide orient="horz" pos="104"/>
        <p:guide orient="horz" pos="3976"/>
        <p:guide orient="horz" pos="893"/>
        <p:guide pos="383"/>
        <p:guide pos="7374"/>
      </p:guideLst>
    </p:cSldViewPr>
  </p:slideViewPr>
  <p:outlineViewPr>
    <p:cViewPr>
      <p:scale>
        <a:sx n="33" d="100"/>
        <a:sy n="33" d="100"/>
      </p:scale>
      <p:origin x="0" y="-5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23AE0-7C5E-4220-98A9-0B1C42272D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8A852-0174-4862-BFD2-BA07348D4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整体思路</a:t>
            </a:r>
            <a:r>
              <a:rPr lang="en-US" altLang="zh-CN" dirty="0" smtClean="0"/>
              <a:t>---</a:t>
            </a:r>
            <a:endParaRPr lang="en-US" altLang="zh-CN" dirty="0" smtClean="0"/>
          </a:p>
          <a:p>
            <a:r>
              <a:rPr lang="en-US" altLang="zh-CN" dirty="0" smtClean="0"/>
              <a:t>1-7</a:t>
            </a:r>
            <a:r>
              <a:rPr lang="zh-CN" altLang="en-US" dirty="0" smtClean="0"/>
              <a:t>页</a:t>
            </a:r>
            <a:r>
              <a:rPr lang="zh-CN" altLang="en-US" baseline="0" dirty="0" smtClean="0"/>
              <a:t> 介绍企业业务上云机遇和挑战</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8-12</a:t>
            </a:r>
            <a:r>
              <a:rPr lang="zh-CN" altLang="en-US" dirty="0" smtClean="0"/>
              <a:t>页</a:t>
            </a:r>
            <a:r>
              <a:rPr lang="zh-CN" altLang="en-US" baseline="0" dirty="0" smtClean="0"/>
              <a:t> 介绍</a:t>
            </a:r>
            <a:r>
              <a:rPr lang="en-US" altLang="zh-CN" baseline="0" dirty="0" smtClean="0"/>
              <a:t>DeC</a:t>
            </a:r>
            <a:r>
              <a:rPr lang="zh-CN" altLang="en-US" baseline="0" dirty="0" smtClean="0"/>
              <a:t>解决方案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13-21</a:t>
            </a:r>
            <a:r>
              <a:rPr lang="zh-CN" altLang="en-US" baseline="0" dirty="0" smtClean="0"/>
              <a:t>页 竞争力介绍</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22-</a:t>
            </a:r>
            <a:r>
              <a:rPr lang="zh-CN" altLang="en-US" baseline="0" dirty="0" smtClean="0"/>
              <a:t>方案和场景</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幻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Tree>
  </p:cSld>
  <p:clrMapOvr>
    <a:masterClrMapping/>
  </p:clrMapOvr>
  <p:transition advClick="0" advTm="8000">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chemeClr val="tx1"/>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smtClean="0"/>
              <a:t>Headline in Arial Regular 36 point</a:t>
            </a:r>
            <a:endParaRPr lang="en-US" altLang="zh-CN" dirty="0" smtClean="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smtClean="0"/>
              <a:t>Copy text in Arial Regular 20 - 32 point </a:t>
            </a:r>
            <a:endParaRPr lang="en-US" altLang="zh-CN"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rgbClr val="C00000"/>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081" y="361182"/>
            <a:ext cx="10330229" cy="395818"/>
          </a:xfrm>
          <a:prstGeom prst="rect">
            <a:avLst/>
          </a:prstGeom>
          <a:noFill/>
          <a:ln>
            <a:noFill/>
          </a:ln>
          <a:effectLst/>
        </p:spPr>
        <p:txBody>
          <a:bodyPr lIns="35993" tIns="35993" rIns="35993" bIns="35993" anchor="t">
            <a:spAutoFit/>
          </a:bodyPr>
          <a:lstStyle>
            <a:lvl1pPr>
              <a:defRPr lang="zh-CN" altLang="en-US" sz="2100" b="0" kern="1200">
                <a:latin typeface="FrutigerNext LT Medium" pitchFamily="34" charset="0"/>
              </a:defRPr>
            </a:lvl1pPr>
          </a:lstStyle>
          <a:p>
            <a:pPr lvl="0"/>
            <a:r>
              <a:rPr lang="zh-CN" altLang="en-US" dirty="0" smtClean="0"/>
              <a:t>单击此处编辑母版标题样式</a:t>
            </a:r>
            <a:endParaRPr lang="zh-CN" altLang="en-US" dirty="0"/>
          </a:p>
        </p:txBody>
      </p:sp>
      <p:sp>
        <p:nvSpPr>
          <p:cNvPr id="3" name="Rectangle 10"/>
          <p:cNvSpPr>
            <a:spLocks noGrp="1" noChangeArrowheads="1"/>
          </p:cNvSpPr>
          <p:nvPr>
            <p:ph type="dt" sz="half" idx="10"/>
          </p:nvPr>
        </p:nvSpPr>
        <p:spPr>
          <a:xfrm>
            <a:off x="8483602" y="6491205"/>
            <a:ext cx="2797175" cy="455718"/>
          </a:xfrm>
          <a:prstGeom prst="rect">
            <a:avLst/>
          </a:prstGeom>
        </p:spPr>
        <p:txBody>
          <a:bodyPr/>
          <a:lstStyle>
            <a:lvl1pPr fontAlgn="auto">
              <a:spcBef>
                <a:spcPts val="0"/>
              </a:spcBef>
              <a:spcAft>
                <a:spcPts val="0"/>
              </a:spcAft>
              <a:defRPr>
                <a:latin typeface="+mn-lt"/>
                <a:ea typeface="+mn-ea"/>
              </a:defRPr>
            </a:lvl1pPr>
          </a:lstStyle>
          <a:p>
            <a:pPr defTabSz="914400">
              <a:defRPr/>
            </a:pPr>
            <a:r>
              <a:rPr lang="de-DE" altLang="zh-CN" sz="1800" smtClean="0">
                <a:solidFill>
                  <a:prstClr val="black"/>
                </a:solidFill>
              </a:rPr>
              <a:t>Page </a:t>
            </a:r>
            <a:fld id="{4D68E431-D50B-4967-A898-D249B3BA2823}" type="slidenum">
              <a:rPr lang="de-DE" altLang="zh-CN" sz="1800" smtClean="0">
                <a:solidFill>
                  <a:prstClr val="black"/>
                </a:solidFill>
              </a:rPr>
            </a:fld>
            <a:endParaRPr lang="en-GB" altLang="zh-CN" sz="1800">
              <a:solidFill>
                <a:prstClr val="black"/>
              </a:solidFill>
            </a:endParaRPr>
          </a:p>
        </p:txBody>
      </p:sp>
    </p:spTree>
  </p:cSld>
  <p:clrMapOvr>
    <a:masterClrMapping/>
  </p:clrMapOvr>
  <p:transition advClick="0"/>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2117" y="2120"/>
          <a:ext cx="2117" cy="2116"/>
        </p:xfrm>
        <a:graphic>
          <a:graphicData uri="http://schemas.openxmlformats.org/presentationml/2006/ole">
            <mc:AlternateContent xmlns:mc="http://schemas.openxmlformats.org/markup-compatibility/2006">
              <mc:Choice xmlns:v="urn:schemas-microsoft-com:vml" Requires="v">
                <p:oleObj spid="_x0000_s1391" name="think-cell Slide" r:id="rId3" imgW="12700" imgH="12700" progId="">
                  <p:embed/>
                </p:oleObj>
              </mc:Choice>
              <mc:Fallback>
                <p:oleObj name="think-cell Slide" r:id="rId3" imgW="12700" imgH="127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 y="2120"/>
                        <a:ext cx="2117"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p:cNvPicPr>
            <a:picLocks noChangeAspect="1"/>
          </p:cNvPicPr>
          <p:nvPr userDrawn="1"/>
        </p:nvPicPr>
        <p:blipFill rotWithShape="1">
          <a:blip r:embed="rId5" cstate="email">
            <a:extLst>
              <a:ext uri="{28A0092B-C50C-407E-A947-70E740481C1C}">
                <a14:useLocalDpi xmlns:a14="http://schemas.microsoft.com/office/drawing/2010/main" val="0"/>
              </a:ext>
            </a:extLst>
          </a:blip>
          <a:srcRect/>
          <a:stretch>
            <a:fillRect/>
          </a:stretch>
        </p:blipFill>
        <p:spPr>
          <a:xfrm>
            <a:off x="11172350" y="6509886"/>
            <a:ext cx="398835" cy="316275"/>
          </a:xfrm>
          <a:prstGeom prst="rect">
            <a:avLst/>
          </a:prstGeom>
        </p:spPr>
      </p:pic>
      <p:cxnSp>
        <p:nvCxnSpPr>
          <p:cNvPr id="8" name="直接连接符 7"/>
          <p:cNvCxnSpPr/>
          <p:nvPr userDrawn="1"/>
        </p:nvCxnSpPr>
        <p:spPr>
          <a:xfrm>
            <a:off x="0" y="6491408"/>
            <a:ext cx="12195175" cy="0"/>
          </a:xfrm>
          <a:prstGeom prst="line">
            <a:avLst/>
          </a:prstGeom>
          <a:ln w="9525">
            <a:solidFill>
              <a:srgbClr val="DEDEDE"/>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rotWithShape="1">
          <a:blip r:embed="rId6" cstate="email">
            <a:extLst>
              <a:ext uri="{28A0092B-C50C-407E-A947-70E740481C1C}">
                <a14:useLocalDpi xmlns:a14="http://schemas.microsoft.com/office/drawing/2010/main" val="0"/>
              </a:ext>
            </a:extLst>
          </a:blip>
          <a:srcRect l="2832" t="12923" r="3105" b="23642"/>
          <a:stretch>
            <a:fillRect/>
          </a:stretch>
        </p:blipFill>
        <p:spPr bwMode="auto">
          <a:xfrm>
            <a:off x="4557866" y="6517932"/>
            <a:ext cx="2537486" cy="317574"/>
          </a:xfrm>
          <a:prstGeom prst="rect">
            <a:avLst/>
          </a:prstGeom>
          <a:noFill/>
          <a:ln>
            <a:noFill/>
          </a:ln>
          <a:effectLst/>
        </p:spPr>
      </p:pic>
      <p:sp>
        <p:nvSpPr>
          <p:cNvPr id="6" name="标题 1"/>
          <p:cNvSpPr txBox="1"/>
          <p:nvPr userDrawn="1"/>
        </p:nvSpPr>
        <p:spPr>
          <a:xfrm>
            <a:off x="621482" y="194221"/>
            <a:ext cx="10246904" cy="726442"/>
          </a:xfrm>
          <a:prstGeom prst="rect">
            <a:avLst/>
          </a:prstGeom>
        </p:spPr>
        <p:txBody>
          <a:bodyPr lIns="121934" tIns="60966" rIns="121934" bIns="60966" anchor="ctr">
            <a:noAutofit/>
          </a:bodyPr>
          <a:lstStyle>
            <a:lvl1pPr marL="0" marR="0" indent="0" algn="l" defTabSz="950595" rtl="0" eaLnBrk="1" fontAlgn="auto" latinLnBrk="0" hangingPunct="1">
              <a:lnSpc>
                <a:spcPct val="100000"/>
              </a:lnSpc>
              <a:spcBef>
                <a:spcPct val="0"/>
              </a:spcBef>
              <a:spcAft>
                <a:spcPts val="0"/>
              </a:spcAft>
              <a:buClrTx/>
              <a:buSzTx/>
              <a:buFontTx/>
              <a:buNone/>
              <a:defRPr sz="3700" b="1" kern="1200">
                <a:solidFill>
                  <a:schemeClr val="bg1"/>
                </a:solidFill>
                <a:latin typeface="+mj-lt"/>
                <a:ea typeface="微软雅黑" panose="020B0503020204020204" pitchFamily="34" charset="-122"/>
                <a:cs typeface="+mj-cs"/>
              </a:defRPr>
            </a:lvl1pPr>
          </a:lstStyle>
          <a:p>
            <a:endParaRPr lang="en-US" altLang="zh-CN" sz="3200" dirty="0" smtClean="0">
              <a:solidFill>
                <a:srgbClr val="D4000A"/>
              </a:solidFill>
              <a:latin typeface="微软雅黑"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387"/>
            <a:ext cx="10179584" cy="871739"/>
          </a:xfrm>
          <a:prstGeom prst="rect">
            <a:avLst/>
          </a:prstGeom>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1019050" y="1628761"/>
            <a:ext cx="10157076" cy="4585806"/>
          </a:xfrm>
          <a:prstGeom prst="rect">
            <a:avLst/>
          </a:prstGeom>
        </p:spPr>
        <p:txBody>
          <a:bodyPr/>
          <a:lstStyle>
            <a:lvl1pPr>
              <a:defRPr sz="3200"/>
            </a:lvl1pPr>
            <a:lvl2pPr>
              <a:defRPr sz="2665"/>
            </a:lvl2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ransition advClick="0" advTm="8000">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36915" y="86420"/>
            <a:ext cx="11311745" cy="873802"/>
          </a:xfrm>
          <a:prstGeom prst="rect">
            <a:avLst/>
          </a:prstGeom>
        </p:spPr>
        <p:txBody>
          <a:bodyPr lIns="91434" tIns="45717" rIns="91434" bIns="45717"/>
          <a:lstStyle>
            <a:lvl1pPr>
              <a:defRPr b="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9" name="标题 1"/>
          <p:cNvSpPr>
            <a:spLocks noGrp="1"/>
          </p:cNvSpPr>
          <p:nvPr>
            <p:ph type="title"/>
          </p:nvPr>
        </p:nvSpPr>
        <p:spPr>
          <a:xfrm>
            <a:off x="335453" y="71461"/>
            <a:ext cx="11524279" cy="636898"/>
          </a:xfrm>
          <a:prstGeom prst="rect">
            <a:avLst/>
          </a:prstGeom>
        </p:spPr>
        <p:txBody>
          <a:bodyPr lIns="68557" tIns="34279" rIns="68557" bIns="34279" anchor="ctr"/>
          <a:lstStyle>
            <a:lvl1pPr>
              <a:defRPr sz="3200" b="1">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10" name="内容占位符 2"/>
          <p:cNvSpPr>
            <a:spLocks noGrp="1"/>
          </p:cNvSpPr>
          <p:nvPr>
            <p:ph idx="1"/>
          </p:nvPr>
        </p:nvSpPr>
        <p:spPr>
          <a:xfrm>
            <a:off x="335450" y="836907"/>
            <a:ext cx="11524280" cy="5569908"/>
          </a:xfrm>
          <a:prstGeom prst="rect">
            <a:avLst/>
          </a:prstGeom>
        </p:spPr>
        <p:txBody>
          <a:bodyPr lIns="68557" tIns="34279" rIns="68557" bIns="34279"/>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164676"/>
            <a:ext cx="10179584" cy="871739"/>
          </a:xfrm>
          <a:prstGeom prst="rect">
            <a:avLst/>
          </a:prstGeom>
        </p:spPr>
        <p:txBody>
          <a:bodyPr lIns="91391" tIns="45697" rIns="91391" bIns="45697"/>
          <a:lstStyle>
            <a:lvl1pPr>
              <a:defRPr sz="320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p:fade thruBlk="1"/>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19915"/>
            <a:ext cx="10179584" cy="871739"/>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07796" y="1629160"/>
            <a:ext cx="10179584" cy="4195146"/>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advClick="0" advTm="800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581181" y="240513"/>
            <a:ext cx="10910738" cy="1080250"/>
          </a:xfrm>
          <a:prstGeom prst="rect">
            <a:avLst/>
          </a:prstGeom>
          <a:noFill/>
          <a:ln w="9525" algn="ctr">
            <a:noFill/>
            <a:miter lim="800000"/>
          </a:ln>
          <a:effectLst/>
        </p:spPr>
        <p:txBody>
          <a:bodyPr vert="horz" wrap="square" lIns="68552" tIns="34276" rIns="68552" bIns="34276" numCol="1" anchor="ctr" anchorCtr="0" compatLnSpc="1"/>
          <a:lstStyle>
            <a:lvl1pPr marL="0" indent="0">
              <a:buFont typeface="Arial" panose="020B0604020202020204" pitchFamily="34" charset="0"/>
              <a:buNone/>
              <a:defRPr lang="zh-CN" altLang="en-US" dirty="0">
                <a:latin typeface="+mj-lt"/>
                <a:ea typeface="黑体" panose="02010609060101010101" pitchFamily="49" charset="-122"/>
              </a:defRPr>
            </a:lvl1pPr>
          </a:lstStyle>
          <a:p>
            <a:pPr lvl="0"/>
            <a:r>
              <a:rPr lang="zh-CN" altLang="en-US"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79501" y="332734"/>
            <a:ext cx="10518338" cy="471696"/>
          </a:xfrm>
          <a:prstGeom prst="rect">
            <a:avLst/>
          </a:prstGeom>
        </p:spPr>
        <p:txBody>
          <a:bodyPr/>
          <a:lstStyle>
            <a:lvl1pPr>
              <a:defRPr sz="280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9"/>
            <a:ext cx="12195175" cy="685873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4" y="1154757"/>
            <a:ext cx="9993315" cy="779055"/>
          </a:xfrm>
        </p:spPr>
        <p:txBody>
          <a:bodyPr>
            <a:normAutofit/>
          </a:bodyPr>
          <a:lstStyle>
            <a:lvl1pPr marL="0" marR="0" indent="0" algn="l" defTabSz="1330960" rtl="0" eaLnBrk="1" fontAlgn="auto" latinLnBrk="0" hangingPunct="1">
              <a:lnSpc>
                <a:spcPct val="100000"/>
              </a:lnSpc>
              <a:spcBef>
                <a:spcPct val="0"/>
              </a:spcBef>
              <a:spcAft>
                <a:spcPts val="0"/>
              </a:spcAft>
              <a:buClrTx/>
              <a:buSzTx/>
              <a:buFontTx/>
              <a:buNone/>
              <a:defRPr sz="3900" b="0" baseline="0">
                <a:solidFill>
                  <a:schemeClr val="bg1"/>
                </a:solidFill>
                <a:latin typeface="+mj-lt"/>
              </a:defRPr>
            </a:lvl1pPr>
          </a:lstStyle>
          <a:p>
            <a:r>
              <a:rPr lang="en-US" altLang="zh-CN" dirty="0" smtClean="0"/>
              <a:t>Slide Title</a:t>
            </a:r>
            <a:endParaRPr lang="en-US" altLang="zh-CN" dirty="0" smtClean="0"/>
          </a:p>
        </p:txBody>
      </p:sp>
      <p:sp>
        <p:nvSpPr>
          <p:cNvPr id="5" name="副标题 2"/>
          <p:cNvSpPr>
            <a:spLocks noGrp="1"/>
          </p:cNvSpPr>
          <p:nvPr>
            <p:ph type="subTitle" idx="1" hasCustomPrompt="1"/>
          </p:nvPr>
        </p:nvSpPr>
        <p:spPr>
          <a:xfrm>
            <a:off x="913014" y="2133651"/>
            <a:ext cx="9993315" cy="4097592"/>
          </a:xfrm>
        </p:spPr>
        <p:txBody>
          <a:bodyPr>
            <a:normAutofit/>
          </a:bodyPr>
          <a:lstStyle>
            <a:lvl1pPr marL="0" marR="0" indent="0" algn="l" defTabSz="1330960" rtl="0" eaLnBrk="1" fontAlgn="auto" latinLnBrk="0" hangingPunct="1">
              <a:lnSpc>
                <a:spcPct val="100000"/>
              </a:lnSpc>
              <a:spcBef>
                <a:spcPct val="20000"/>
              </a:spcBef>
              <a:spcAft>
                <a:spcPts val="0"/>
              </a:spcAft>
              <a:buClrTx/>
              <a:buSzTx/>
              <a:buFont typeface="Arial" panose="020B0604020202020204" pitchFamily="34" charset="0"/>
              <a:buNone/>
              <a:defRPr sz="2600" baseline="0">
                <a:solidFill>
                  <a:schemeClr val="bg1"/>
                </a:solidFill>
                <a:latin typeface="+mn-lt"/>
              </a:defRPr>
            </a:lvl1pPr>
            <a:lvl2pPr marL="665480" indent="0" algn="ctr">
              <a:buNone/>
              <a:defRPr>
                <a:solidFill>
                  <a:schemeClr val="tx1">
                    <a:tint val="75000"/>
                  </a:schemeClr>
                </a:solidFill>
              </a:defRPr>
            </a:lvl2pPr>
            <a:lvl3pPr marL="1330960" indent="0" algn="ctr">
              <a:buNone/>
              <a:defRPr>
                <a:solidFill>
                  <a:schemeClr val="tx1">
                    <a:tint val="75000"/>
                  </a:schemeClr>
                </a:solidFill>
              </a:defRPr>
            </a:lvl3pPr>
            <a:lvl4pPr marL="1995805" indent="0" algn="ctr">
              <a:buNone/>
              <a:defRPr>
                <a:solidFill>
                  <a:schemeClr val="tx1">
                    <a:tint val="75000"/>
                  </a:schemeClr>
                </a:solidFill>
              </a:defRPr>
            </a:lvl4pPr>
            <a:lvl5pPr marL="2661285" indent="0" algn="ctr">
              <a:buNone/>
              <a:defRPr>
                <a:solidFill>
                  <a:schemeClr val="tx1">
                    <a:tint val="75000"/>
                  </a:schemeClr>
                </a:solidFill>
              </a:defRPr>
            </a:lvl5pPr>
            <a:lvl6pPr marL="3326765" indent="0" algn="ctr">
              <a:buNone/>
              <a:defRPr>
                <a:solidFill>
                  <a:schemeClr val="tx1">
                    <a:tint val="75000"/>
                  </a:schemeClr>
                </a:solidFill>
              </a:defRPr>
            </a:lvl6pPr>
            <a:lvl7pPr marL="3992245" indent="0" algn="ctr">
              <a:buNone/>
              <a:defRPr>
                <a:solidFill>
                  <a:schemeClr val="tx1">
                    <a:tint val="75000"/>
                  </a:schemeClr>
                </a:solidFill>
              </a:defRPr>
            </a:lvl7pPr>
            <a:lvl8pPr marL="4657725" indent="0" algn="ctr">
              <a:buNone/>
              <a:defRPr>
                <a:solidFill>
                  <a:schemeClr val="tx1">
                    <a:tint val="75000"/>
                  </a:schemeClr>
                </a:solidFill>
              </a:defRPr>
            </a:lvl8pPr>
            <a:lvl9pPr marL="5322570" indent="0" algn="ctr">
              <a:buNone/>
              <a:defRPr>
                <a:solidFill>
                  <a:schemeClr val="tx1">
                    <a:tint val="75000"/>
                  </a:schemeClr>
                </a:solidFill>
              </a:defRPr>
            </a:lvl9pPr>
          </a:lstStyle>
          <a:p>
            <a:r>
              <a:rPr lang="en-US" altLang="zh-CN" dirty="0" smtClean="0"/>
              <a:t>Headline in Arial Regular 24 - 32 point</a:t>
            </a:r>
            <a:endParaRPr lang="en-US" altLang="zh-CN" dirty="0" smtClean="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0" Type="http://schemas.openxmlformats.org/officeDocument/2006/relationships/theme" Target="../theme/theme2.xml"/><Relationship Id="rId2" Type="http://schemas.openxmlformats.org/officeDocument/2006/relationships/slideLayout" Target="../slideLayouts/slideLayout4.xml"/><Relationship Id="rId19" Type="http://schemas.openxmlformats.org/officeDocument/2006/relationships/image" Target="../media/image6.jpeg"/><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jpe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endParaRPr lang="en-US" altLang="zh-CN" sz="900" b="1" dirty="0" smtClean="0">
                <a:solidFill>
                  <a:schemeClr val="tx1">
                    <a:lumMod val="65000"/>
                    <a:lumOff val="35000"/>
                  </a:schemeClr>
                </a:solidFill>
              </a:endParaRP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Tree>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slideLayout" Target="../slideLayouts/slideLayout4.xml"/><Relationship Id="rId26" Type="http://schemas.openxmlformats.org/officeDocument/2006/relationships/image" Target="../media/image13.png"/><Relationship Id="rId25" Type="http://schemas.openxmlformats.org/officeDocument/2006/relationships/image" Target="../media/image12.png"/><Relationship Id="rId24" Type="http://schemas.openxmlformats.org/officeDocument/2006/relationships/image" Target="../media/image11.png"/><Relationship Id="rId23" Type="http://schemas.openxmlformats.org/officeDocument/2006/relationships/image" Target="../media/image10.png"/><Relationship Id="rId22" Type="http://schemas.openxmlformats.org/officeDocument/2006/relationships/image" Target="../media/image9.png"/><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4" Type="http://schemas.openxmlformats.org/officeDocument/2006/relationships/notesSlide" Target="../notesSlides/notesSlide2.xml"/><Relationship Id="rId23" Type="http://schemas.openxmlformats.org/officeDocument/2006/relationships/slideLayout" Target="../slideLayouts/slideLayout4.xml"/><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7" Type="http://schemas.openxmlformats.org/officeDocument/2006/relationships/slideLayout" Target="../slideLayouts/slideLayout4.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995" y="2277666"/>
            <a:ext cx="11161240" cy="646430"/>
          </a:xfrm>
        </p:spPr>
        <p:txBody>
          <a:bodyPr/>
          <a:lstStyle/>
          <a:p>
            <a:r>
              <a:rPr lang="zh-CN" altLang="en-US" sz="3600" b="1" dirty="0" smtClean="0">
                <a:solidFill>
                  <a:srgbClr val="C00000"/>
                </a:solidFill>
                <a:sym typeface="+mn-ea"/>
              </a:rPr>
              <a:t>本体驱动的智能业务流程架构</a:t>
            </a:r>
            <a:endParaRPr lang="zh-CN" altLang="en-US" sz="3600" b="1" dirty="0" smtClean="0">
              <a:solidFill>
                <a:srgbClr val="C00000"/>
              </a:solidFill>
              <a:sym typeface="+mn-ea"/>
            </a:endParaRPr>
          </a:p>
        </p:txBody>
      </p:sp>
      <p:sp>
        <p:nvSpPr>
          <p:cNvPr id="3" name="文本框 2"/>
          <p:cNvSpPr txBox="1"/>
          <p:nvPr/>
        </p:nvSpPr>
        <p:spPr>
          <a:xfrm>
            <a:off x="792392" y="3717826"/>
            <a:ext cx="2758440" cy="460375"/>
          </a:xfrm>
          <a:prstGeom prst="rect">
            <a:avLst/>
          </a:prstGeom>
          <a:noFill/>
        </p:spPr>
        <p:txBody>
          <a:bodyPr wrap="none" rtlCol="0">
            <a:spAutoFit/>
          </a:bodyPr>
          <a:lstStyle/>
          <a:p>
            <a:r>
              <a:rPr kumimoji="1" lang="zh-CN" altLang="en-US" dirty="0" smtClean="0"/>
              <a:t>张俊（</a:t>
            </a:r>
            <a:r>
              <a:rPr kumimoji="1" lang="en-US" altLang="zh-CN" dirty="0" smtClean="0"/>
              <a:t>00896153</a:t>
            </a:r>
            <a:r>
              <a:rPr kumimoji="1" lang="zh-CN" altLang="en-US" dirty="0" smtClean="0"/>
              <a:t>）</a:t>
            </a:r>
            <a:endParaRPr kumimoji="1" lang="zh-CN" altLang="en-US" dirty="0"/>
          </a:p>
        </p:txBody>
      </p:sp>
    </p:spTree>
  </p:cSld>
  <p:clrMapOvr>
    <a:masterClrMapping/>
  </p:clrMapOvr>
  <p:transition advClick="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10"/>
          <p:cNvSpPr/>
          <p:nvPr/>
        </p:nvSpPr>
        <p:spPr>
          <a:xfrm>
            <a:off x="697230" y="1066800"/>
            <a:ext cx="10665460" cy="800735"/>
          </a:xfrm>
          <a:prstGeom prst="rect">
            <a:avLst/>
          </a:prstGeom>
          <a:blipFill rotWithShape="1">
            <a:blip r:embed="rId1">
              <a:alphaModFix amt="100000"/>
              <a:alphaModFix amt="100000"/>
            </a:blip>
            <a:stretch>
              <a:fillRect/>
            </a:stretch>
          </a:blipFill>
          <a:ln>
            <a:headEnd type="none"/>
            <a:tailEnd type="none"/>
          </a:ln>
        </p:spPr>
      </p:sp>
      <p:grpSp>
        <p:nvGrpSpPr>
          <p:cNvPr id="57" name="组合 56"/>
          <p:cNvGrpSpPr/>
          <p:nvPr>
            <p:custDataLst>
              <p:tags r:id="rId2"/>
            </p:custDataLst>
          </p:nvPr>
        </p:nvGrpSpPr>
        <p:grpSpPr>
          <a:xfrm>
            <a:off x="625475" y="5219065"/>
            <a:ext cx="5044440" cy="721360"/>
            <a:chOff x="985" y="3207"/>
            <a:chExt cx="7944" cy="1136"/>
          </a:xfrm>
        </p:grpSpPr>
        <p:sp>
          <p:nvSpPr>
            <p:cNvPr id="36" name="AutoShape 13"/>
            <p:cNvSpPr/>
            <p:nvPr>
              <p:custDataLst>
                <p:tags r:id="rId3"/>
              </p:custDataLst>
            </p:nvPr>
          </p:nvSpPr>
          <p:spPr>
            <a:xfrm>
              <a:off x="985" y="3207"/>
              <a:ext cx="686" cy="725"/>
            </a:xfrm>
            <a:prstGeom prst="ellipse">
              <a:avLst/>
            </a:prstGeom>
            <a:solidFill>
              <a:srgbClr val="C00000"/>
            </a:solidFill>
            <a:ln>
              <a:headEnd type="none"/>
              <a:tailEnd type="none"/>
            </a:ln>
          </p:spPr>
        </p:sp>
        <p:sp>
          <p:nvSpPr>
            <p:cNvPr id="37" name="AutoShape 14"/>
            <p:cNvSpPr/>
            <p:nvPr>
              <p:custDataLst>
                <p:tags r:id="rId4"/>
              </p:custDataLst>
            </p:nvPr>
          </p:nvSpPr>
          <p:spPr>
            <a:xfrm>
              <a:off x="1172" y="3404"/>
              <a:ext cx="312" cy="329"/>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chemeClr val="bg1"/>
            </a:solidFill>
            <a:ln>
              <a:headEnd type="none"/>
              <a:tailEnd type="none"/>
            </a:ln>
          </p:spPr>
          <p:txBody>
            <a:bodyPr/>
            <a:p>
              <a:endParaRPr lang="zh-CN" altLang="en-US"/>
            </a:p>
          </p:txBody>
        </p:sp>
        <p:sp>
          <p:nvSpPr>
            <p:cNvPr id="38" name="TextBox 15"/>
            <p:cNvSpPr txBox="1"/>
            <p:nvPr>
              <p:custDataLst>
                <p:tags r:id="rId5"/>
              </p:custDataLst>
            </p:nvPr>
          </p:nvSpPr>
          <p:spPr>
            <a:xfrm>
              <a:off x="1889" y="3223"/>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01</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数据存储层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16"/>
            <p:cNvSpPr txBox="1"/>
            <p:nvPr>
              <p:custDataLst>
                <p:tags r:id="rId6"/>
              </p:custDataLst>
            </p:nvPr>
          </p:nvSpPr>
          <p:spPr>
            <a:xfrm>
              <a:off x="1889" y="3669"/>
              <a:ext cx="704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MySQL 存储披萨订单、配料价格等业务实体，通过 Ontop 虚拟映射</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为 RDF 图谱，无需 ETL 即可被本体层直接查询。</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8" name="组合 57"/>
          <p:cNvGrpSpPr/>
          <p:nvPr>
            <p:custDataLst>
              <p:tags r:id="rId7"/>
            </p:custDataLst>
          </p:nvPr>
        </p:nvGrpSpPr>
        <p:grpSpPr>
          <a:xfrm>
            <a:off x="625475" y="4149725"/>
            <a:ext cx="5006340" cy="721995"/>
            <a:chOff x="985" y="4707"/>
            <a:chExt cx="7884" cy="1137"/>
          </a:xfrm>
        </p:grpSpPr>
        <p:sp>
          <p:nvSpPr>
            <p:cNvPr id="40" name="AutoShape 17"/>
            <p:cNvSpPr/>
            <p:nvPr>
              <p:custDataLst>
                <p:tags r:id="rId8"/>
              </p:custDataLst>
            </p:nvPr>
          </p:nvSpPr>
          <p:spPr>
            <a:xfrm>
              <a:off x="985" y="4707"/>
              <a:ext cx="686" cy="725"/>
            </a:xfrm>
            <a:prstGeom prst="ellipse">
              <a:avLst/>
            </a:prstGeom>
            <a:solidFill>
              <a:srgbClr val="C00000"/>
            </a:solidFill>
            <a:ln>
              <a:headEnd type="none"/>
              <a:tailEnd type="none"/>
            </a:ln>
          </p:spPr>
        </p:sp>
        <p:sp>
          <p:nvSpPr>
            <p:cNvPr id="41" name="AutoShape 18"/>
            <p:cNvSpPr/>
            <p:nvPr>
              <p:custDataLst>
                <p:tags r:id="rId9"/>
              </p:custDataLst>
            </p:nvPr>
          </p:nvSpPr>
          <p:spPr>
            <a:xfrm>
              <a:off x="1172" y="4905"/>
              <a:ext cx="312" cy="329"/>
            </a:xfrm>
            <a:custGeom>
              <a:avLst/>
              <a:gdLst/>
              <a:ahLst/>
              <a:cxnLst/>
              <a:rect l="l" t="t" r="r" b="b"/>
              <a:pathLst>
                <a:path w="9998" h="10000">
                  <a:moveTo>
                    <a:pt x="0" y="1071"/>
                  </a:moveTo>
                  <a:cubicBezTo>
                    <a:pt x="11" y="773"/>
                    <a:pt x="92" y="520"/>
                    <a:pt x="243" y="312"/>
                  </a:cubicBezTo>
                  <a:cubicBezTo>
                    <a:pt x="405" y="118"/>
                    <a:pt x="601" y="14"/>
                    <a:pt x="833" y="0"/>
                  </a:cubicBezTo>
                  <a:lnTo>
                    <a:pt x="2500" y="0"/>
                  </a:lnTo>
                  <a:cubicBezTo>
                    <a:pt x="2731" y="14"/>
                    <a:pt x="2928" y="118"/>
                    <a:pt x="3090" y="312"/>
                  </a:cubicBezTo>
                  <a:cubicBezTo>
                    <a:pt x="3240" y="520"/>
                    <a:pt x="3321" y="773"/>
                    <a:pt x="3333" y="1071"/>
                  </a:cubicBezTo>
                  <a:lnTo>
                    <a:pt x="3333" y="1429"/>
                  </a:lnTo>
                  <a:lnTo>
                    <a:pt x="6665" y="1429"/>
                  </a:lnTo>
                  <a:lnTo>
                    <a:pt x="6665" y="1071"/>
                  </a:lnTo>
                  <a:cubicBezTo>
                    <a:pt x="6677" y="773"/>
                    <a:pt x="6758" y="520"/>
                    <a:pt x="6908" y="312"/>
                  </a:cubicBezTo>
                  <a:cubicBezTo>
                    <a:pt x="7070" y="118"/>
                    <a:pt x="7267" y="14"/>
                    <a:pt x="7499" y="0"/>
                  </a:cubicBezTo>
                  <a:lnTo>
                    <a:pt x="9165" y="0"/>
                  </a:lnTo>
                  <a:cubicBezTo>
                    <a:pt x="9396" y="14"/>
                    <a:pt x="9593" y="118"/>
                    <a:pt x="9755" y="312"/>
                  </a:cubicBezTo>
                  <a:cubicBezTo>
                    <a:pt x="9905" y="520"/>
                    <a:pt x="9986" y="773"/>
                    <a:pt x="9998" y="1071"/>
                  </a:cubicBezTo>
                  <a:lnTo>
                    <a:pt x="9998" y="3214"/>
                  </a:lnTo>
                  <a:cubicBezTo>
                    <a:pt x="9986" y="3512"/>
                    <a:pt x="9905" y="3765"/>
                    <a:pt x="9755" y="3973"/>
                  </a:cubicBezTo>
                  <a:cubicBezTo>
                    <a:pt x="9593" y="4166"/>
                    <a:pt x="9396" y="4270"/>
                    <a:pt x="9165" y="4286"/>
                  </a:cubicBezTo>
                  <a:lnTo>
                    <a:pt x="7499" y="4286"/>
                  </a:lnTo>
                  <a:cubicBezTo>
                    <a:pt x="7267" y="4270"/>
                    <a:pt x="7070" y="4166"/>
                    <a:pt x="6908" y="3973"/>
                  </a:cubicBezTo>
                  <a:cubicBezTo>
                    <a:pt x="6758" y="3765"/>
                    <a:pt x="6677" y="3512"/>
                    <a:pt x="6665" y="3214"/>
                  </a:cubicBezTo>
                  <a:lnTo>
                    <a:pt x="6665" y="2857"/>
                  </a:lnTo>
                  <a:lnTo>
                    <a:pt x="3333" y="2857"/>
                  </a:lnTo>
                  <a:lnTo>
                    <a:pt x="3333" y="3214"/>
                  </a:lnTo>
                  <a:cubicBezTo>
                    <a:pt x="3333" y="3258"/>
                    <a:pt x="3333" y="3296"/>
                    <a:pt x="3333" y="3326"/>
                  </a:cubicBezTo>
                  <a:lnTo>
                    <a:pt x="4721" y="5714"/>
                  </a:lnTo>
                  <a:lnTo>
                    <a:pt x="6388" y="5714"/>
                  </a:lnTo>
                  <a:cubicBezTo>
                    <a:pt x="6619" y="5729"/>
                    <a:pt x="6816" y="5833"/>
                    <a:pt x="6978" y="6027"/>
                  </a:cubicBezTo>
                  <a:cubicBezTo>
                    <a:pt x="7128" y="6235"/>
                    <a:pt x="7209" y="6488"/>
                    <a:pt x="7221" y="6786"/>
                  </a:cubicBezTo>
                  <a:lnTo>
                    <a:pt x="7221" y="8929"/>
                  </a:lnTo>
                  <a:cubicBezTo>
                    <a:pt x="7209" y="9226"/>
                    <a:pt x="7128" y="9479"/>
                    <a:pt x="6978" y="9688"/>
                  </a:cubicBezTo>
                  <a:cubicBezTo>
                    <a:pt x="6816" y="9881"/>
                    <a:pt x="6619" y="9985"/>
                    <a:pt x="6388" y="10000"/>
                  </a:cubicBezTo>
                  <a:lnTo>
                    <a:pt x="4721" y="10000"/>
                  </a:lnTo>
                  <a:cubicBezTo>
                    <a:pt x="4489" y="9985"/>
                    <a:pt x="4293" y="9881"/>
                    <a:pt x="4131" y="9688"/>
                  </a:cubicBezTo>
                  <a:cubicBezTo>
                    <a:pt x="3980" y="9479"/>
                    <a:pt x="3899" y="9226"/>
                    <a:pt x="3888" y="8929"/>
                  </a:cubicBezTo>
                  <a:lnTo>
                    <a:pt x="3888" y="6786"/>
                  </a:lnTo>
                  <a:cubicBezTo>
                    <a:pt x="3888" y="6741"/>
                    <a:pt x="3888" y="6704"/>
                    <a:pt x="3888" y="6674"/>
                  </a:cubicBezTo>
                  <a:lnTo>
                    <a:pt x="2500" y="4286"/>
                  </a:lnTo>
                  <a:lnTo>
                    <a:pt x="833" y="4286"/>
                  </a:lnTo>
                  <a:cubicBezTo>
                    <a:pt x="601" y="4270"/>
                    <a:pt x="405" y="4166"/>
                    <a:pt x="243" y="3973"/>
                  </a:cubicBezTo>
                  <a:cubicBezTo>
                    <a:pt x="92" y="3765"/>
                    <a:pt x="11" y="3512"/>
                    <a:pt x="0" y="3214"/>
                  </a:cubicBezTo>
                </a:path>
              </a:pathLst>
            </a:custGeom>
            <a:solidFill>
              <a:srgbClr val="FFFFFF"/>
            </a:solidFill>
            <a:ln>
              <a:headEnd type="none"/>
              <a:tailEnd type="none"/>
            </a:ln>
          </p:spPr>
          <p:txBody>
            <a:bodyPr/>
            <a:p>
              <a:endParaRPr lang="zh-CN" altLang="en-US"/>
            </a:p>
          </p:txBody>
        </p:sp>
        <p:sp>
          <p:nvSpPr>
            <p:cNvPr id="42" name="TextBox 19"/>
            <p:cNvSpPr txBox="1"/>
            <p:nvPr>
              <p:custDataLst>
                <p:tags r:id="rId10"/>
              </p:custDataLst>
            </p:nvPr>
          </p:nvSpPr>
          <p:spPr>
            <a:xfrm>
              <a:off x="1889" y="47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02</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语义映射层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TextBox 20"/>
            <p:cNvSpPr txBox="1"/>
            <p:nvPr>
              <p:custDataLst>
                <p:tags r:id="rId11"/>
              </p:custDataLst>
            </p:nvPr>
          </p:nvSpPr>
          <p:spPr>
            <a:xfrm>
              <a:off x="1889" y="5170"/>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Jena 管理本体模型，Ontop 将 SPARQL 查询自动编译为优化</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SQL，实现 ABox 断言与 TBox 推理的统一访问接口。</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9" name="组合 58"/>
          <p:cNvGrpSpPr/>
          <p:nvPr>
            <p:custDataLst>
              <p:tags r:id="rId12"/>
            </p:custDataLst>
          </p:nvPr>
        </p:nvGrpSpPr>
        <p:grpSpPr>
          <a:xfrm>
            <a:off x="625475" y="3138805"/>
            <a:ext cx="5006340" cy="721995"/>
            <a:chOff x="985" y="6208"/>
            <a:chExt cx="7884" cy="1137"/>
          </a:xfrm>
        </p:grpSpPr>
        <p:sp>
          <p:nvSpPr>
            <p:cNvPr id="44" name="AutoShape 21"/>
            <p:cNvSpPr/>
            <p:nvPr>
              <p:custDataLst>
                <p:tags r:id="rId13"/>
              </p:custDataLst>
            </p:nvPr>
          </p:nvSpPr>
          <p:spPr>
            <a:xfrm>
              <a:off x="985" y="6208"/>
              <a:ext cx="686" cy="725"/>
            </a:xfrm>
            <a:prstGeom prst="ellipse">
              <a:avLst/>
            </a:prstGeom>
            <a:solidFill>
              <a:srgbClr val="C00000"/>
            </a:solidFill>
            <a:ln>
              <a:headEnd type="none"/>
              <a:tailEnd type="none"/>
            </a:ln>
          </p:spPr>
        </p:sp>
        <p:sp>
          <p:nvSpPr>
            <p:cNvPr id="45" name="AutoShape 22"/>
            <p:cNvSpPr/>
            <p:nvPr>
              <p:custDataLst>
                <p:tags r:id="rId14"/>
              </p:custDataLst>
            </p:nvPr>
          </p:nvSpPr>
          <p:spPr>
            <a:xfrm>
              <a:off x="1172" y="6406"/>
              <a:ext cx="312" cy="329"/>
            </a:xfrm>
            <a:custGeom>
              <a:avLst/>
              <a:gdLst/>
              <a:ahLst/>
              <a:cxnLst/>
              <a:rect l="l" t="t" r="r" b="b"/>
              <a:pathLst>
                <a:path w="9998" h="10000">
                  <a:moveTo>
                    <a:pt x="3593" y="0"/>
                  </a:moveTo>
                  <a:cubicBezTo>
                    <a:pt x="3905" y="13"/>
                    <a:pt x="4166" y="117"/>
                    <a:pt x="4374" y="313"/>
                  </a:cubicBezTo>
                  <a:cubicBezTo>
                    <a:pt x="4569" y="521"/>
                    <a:pt x="4673" y="781"/>
                    <a:pt x="4687" y="1094"/>
                  </a:cubicBezTo>
                  <a:lnTo>
                    <a:pt x="4687" y="8906"/>
                  </a:lnTo>
                  <a:cubicBezTo>
                    <a:pt x="4673" y="9218"/>
                    <a:pt x="4569" y="9479"/>
                    <a:pt x="4374" y="9688"/>
                  </a:cubicBezTo>
                  <a:cubicBezTo>
                    <a:pt x="4166" y="9882"/>
                    <a:pt x="3905" y="9986"/>
                    <a:pt x="3593" y="10000"/>
                  </a:cubicBezTo>
                  <a:cubicBezTo>
                    <a:pt x="3306" y="10000"/>
                    <a:pt x="3059" y="9909"/>
                    <a:pt x="2851" y="9727"/>
                  </a:cubicBezTo>
                  <a:cubicBezTo>
                    <a:pt x="2655" y="9544"/>
                    <a:pt x="2538" y="9309"/>
                    <a:pt x="2500" y="9023"/>
                  </a:cubicBezTo>
                  <a:cubicBezTo>
                    <a:pt x="2395" y="9049"/>
                    <a:pt x="2291" y="9063"/>
                    <a:pt x="2187" y="9063"/>
                  </a:cubicBezTo>
                  <a:cubicBezTo>
                    <a:pt x="1835" y="9049"/>
                    <a:pt x="1542" y="8925"/>
                    <a:pt x="1308" y="8691"/>
                  </a:cubicBezTo>
                  <a:cubicBezTo>
                    <a:pt x="1074" y="8457"/>
                    <a:pt x="950" y="8164"/>
                    <a:pt x="937" y="7812"/>
                  </a:cubicBezTo>
                  <a:cubicBezTo>
                    <a:pt x="937" y="7669"/>
                    <a:pt x="963" y="7532"/>
                    <a:pt x="1015" y="7402"/>
                  </a:cubicBezTo>
                  <a:cubicBezTo>
                    <a:pt x="715" y="7285"/>
                    <a:pt x="468" y="7096"/>
                    <a:pt x="273" y="6836"/>
                  </a:cubicBezTo>
                  <a:cubicBezTo>
                    <a:pt x="91" y="6575"/>
                    <a:pt x="0" y="6276"/>
                    <a:pt x="0" y="5938"/>
                  </a:cubicBezTo>
                  <a:cubicBezTo>
                    <a:pt x="0" y="5625"/>
                    <a:pt x="84" y="5345"/>
                    <a:pt x="254" y="5098"/>
                  </a:cubicBezTo>
                  <a:cubicBezTo>
                    <a:pt x="410" y="4850"/>
                    <a:pt x="624" y="4661"/>
                    <a:pt x="898" y="4531"/>
                  </a:cubicBezTo>
                  <a:cubicBezTo>
                    <a:pt x="716" y="4309"/>
                    <a:pt x="625" y="4049"/>
                    <a:pt x="625" y="3750"/>
                  </a:cubicBezTo>
                  <a:cubicBezTo>
                    <a:pt x="625" y="3450"/>
                    <a:pt x="716" y="3190"/>
                    <a:pt x="898" y="2969"/>
                  </a:cubicBezTo>
                  <a:cubicBezTo>
                    <a:pt x="1080" y="2747"/>
                    <a:pt x="1315" y="2598"/>
                    <a:pt x="1601" y="2520"/>
                  </a:cubicBezTo>
                  <a:cubicBezTo>
                    <a:pt x="1575" y="2415"/>
                    <a:pt x="1562" y="2304"/>
                    <a:pt x="1562" y="2188"/>
                  </a:cubicBezTo>
                  <a:cubicBezTo>
                    <a:pt x="1562" y="1888"/>
                    <a:pt x="1653" y="1627"/>
                    <a:pt x="1836" y="1406"/>
                  </a:cubicBezTo>
                  <a:cubicBezTo>
                    <a:pt x="2004" y="1198"/>
                    <a:pt x="2226" y="1055"/>
                    <a:pt x="2500" y="977"/>
                  </a:cubicBezTo>
                  <a:cubicBezTo>
                    <a:pt x="2538" y="690"/>
                    <a:pt x="2655" y="455"/>
                    <a:pt x="2851" y="273"/>
                  </a:cubicBezTo>
                  <a:cubicBezTo>
                    <a:pt x="3059" y="91"/>
                    <a:pt x="3306" y="0"/>
                    <a:pt x="3593" y="0"/>
                  </a:cubicBezTo>
                  <a:moveTo>
                    <a:pt x="6405" y="0"/>
                  </a:moveTo>
                  <a:cubicBezTo>
                    <a:pt x="6691" y="0"/>
                    <a:pt x="6939" y="91"/>
                    <a:pt x="7147" y="273"/>
                  </a:cubicBezTo>
                  <a:cubicBezTo>
                    <a:pt x="7342" y="455"/>
                    <a:pt x="7459" y="690"/>
                    <a:pt x="7499" y="977"/>
                  </a:cubicBezTo>
                  <a:cubicBezTo>
                    <a:pt x="7772" y="1055"/>
                    <a:pt x="7993" y="1198"/>
                    <a:pt x="8162" y="1406"/>
                  </a:cubicBezTo>
                  <a:cubicBezTo>
                    <a:pt x="8344" y="1627"/>
                    <a:pt x="8436" y="1888"/>
                    <a:pt x="8436" y="2188"/>
                  </a:cubicBezTo>
                  <a:cubicBezTo>
                    <a:pt x="8436" y="2304"/>
                    <a:pt x="8423" y="2415"/>
                    <a:pt x="8397" y="2520"/>
                  </a:cubicBezTo>
                  <a:cubicBezTo>
                    <a:pt x="8683" y="2598"/>
                    <a:pt x="8917" y="2747"/>
                    <a:pt x="9100" y="2969"/>
                  </a:cubicBezTo>
                  <a:cubicBezTo>
                    <a:pt x="9282" y="3190"/>
                    <a:pt x="9373" y="3450"/>
                    <a:pt x="9373" y="3750"/>
                  </a:cubicBezTo>
                  <a:cubicBezTo>
                    <a:pt x="9373" y="4049"/>
                    <a:pt x="9282" y="4309"/>
                    <a:pt x="9100" y="4531"/>
                  </a:cubicBezTo>
                  <a:cubicBezTo>
                    <a:pt x="9373" y="4661"/>
                    <a:pt x="9588" y="4850"/>
                    <a:pt x="9744" y="5098"/>
                  </a:cubicBezTo>
                  <a:cubicBezTo>
                    <a:pt x="9913" y="5345"/>
                    <a:pt x="9998" y="5625"/>
                    <a:pt x="9998" y="5938"/>
                  </a:cubicBezTo>
                  <a:cubicBezTo>
                    <a:pt x="9998" y="6276"/>
                    <a:pt x="9907" y="6575"/>
                    <a:pt x="9725" y="6836"/>
                  </a:cubicBezTo>
                  <a:cubicBezTo>
                    <a:pt x="9529" y="7096"/>
                    <a:pt x="9282" y="7285"/>
                    <a:pt x="8983" y="7402"/>
                  </a:cubicBezTo>
                  <a:cubicBezTo>
                    <a:pt x="9035" y="7532"/>
                    <a:pt x="9061" y="7669"/>
                    <a:pt x="9061" y="7812"/>
                  </a:cubicBezTo>
                  <a:cubicBezTo>
                    <a:pt x="9047" y="8164"/>
                    <a:pt x="8924" y="8457"/>
                    <a:pt x="8690" y="8691"/>
                  </a:cubicBezTo>
                  <a:cubicBezTo>
                    <a:pt x="8455" y="8925"/>
                    <a:pt x="8162" y="9049"/>
                    <a:pt x="7811" y="9063"/>
                  </a:cubicBezTo>
                  <a:cubicBezTo>
                    <a:pt x="7707" y="9063"/>
                    <a:pt x="7603" y="9049"/>
                    <a:pt x="7499" y="9023"/>
                  </a:cubicBezTo>
                  <a:cubicBezTo>
                    <a:pt x="7459" y="9309"/>
                    <a:pt x="7342" y="9544"/>
                    <a:pt x="7147" y="9727"/>
                  </a:cubicBezTo>
                  <a:cubicBezTo>
                    <a:pt x="6939" y="9909"/>
                    <a:pt x="6691" y="10000"/>
                    <a:pt x="6405" y="10000"/>
                  </a:cubicBezTo>
                  <a:cubicBezTo>
                    <a:pt x="6092" y="9986"/>
                    <a:pt x="5832" y="9882"/>
                    <a:pt x="5624" y="9688"/>
                  </a:cubicBezTo>
                  <a:cubicBezTo>
                    <a:pt x="5428" y="9479"/>
                    <a:pt x="5324" y="9218"/>
                    <a:pt x="5311" y="8906"/>
                  </a:cubicBezTo>
                  <a:lnTo>
                    <a:pt x="5311" y="1094"/>
                  </a:lnTo>
                  <a:cubicBezTo>
                    <a:pt x="5324" y="781"/>
                    <a:pt x="5428" y="521"/>
                    <a:pt x="5624" y="313"/>
                  </a:cubicBezTo>
                  <a:cubicBezTo>
                    <a:pt x="5832" y="117"/>
                    <a:pt x="6092" y="13"/>
                    <a:pt x="6405" y="0"/>
                  </a:cubicBezTo>
                </a:path>
              </a:pathLst>
            </a:custGeom>
            <a:solidFill>
              <a:schemeClr val="bg1"/>
            </a:solidFill>
            <a:ln>
              <a:headEnd type="none"/>
              <a:tailEnd type="none"/>
            </a:ln>
          </p:spPr>
        </p:sp>
        <p:sp>
          <p:nvSpPr>
            <p:cNvPr id="46" name="TextBox 23"/>
            <p:cNvSpPr txBox="1"/>
            <p:nvPr>
              <p:custDataLst>
                <p:tags r:id="rId15"/>
              </p:custDataLst>
            </p:nvPr>
          </p:nvSpPr>
          <p:spPr>
            <a:xfrm>
              <a:off x="1889" y="62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03</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本体推理层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TextBox 24"/>
            <p:cNvSpPr txBox="1"/>
            <p:nvPr>
              <p:custDataLst>
                <p:tags r:id="rId16"/>
              </p:custDataLst>
            </p:nvPr>
          </p:nvSpPr>
          <p:spPr>
            <a:xfrm>
              <a:off x="1889" y="66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Openllet 加载 7+1 语言定义的 Pizza 本体，预计算类层次与属性闭</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包，支持 getBestMatchedType 等语义查询服务。</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60" name="组合 59"/>
          <p:cNvGrpSpPr/>
          <p:nvPr>
            <p:custDataLst>
              <p:tags r:id="rId17"/>
            </p:custDataLst>
          </p:nvPr>
        </p:nvGrpSpPr>
        <p:grpSpPr>
          <a:xfrm>
            <a:off x="625475" y="2042160"/>
            <a:ext cx="5006340" cy="721360"/>
            <a:chOff x="985" y="7709"/>
            <a:chExt cx="7884" cy="1136"/>
          </a:xfrm>
        </p:grpSpPr>
        <p:sp>
          <p:nvSpPr>
            <p:cNvPr id="48" name="AutoShape 25"/>
            <p:cNvSpPr/>
            <p:nvPr>
              <p:custDataLst>
                <p:tags r:id="rId18"/>
              </p:custDataLst>
            </p:nvPr>
          </p:nvSpPr>
          <p:spPr>
            <a:xfrm>
              <a:off x="985" y="7709"/>
              <a:ext cx="686" cy="725"/>
            </a:xfrm>
            <a:prstGeom prst="ellipse">
              <a:avLst/>
            </a:prstGeom>
            <a:solidFill>
              <a:srgbClr val="C00000"/>
            </a:solidFill>
            <a:ln>
              <a:headEnd type="none"/>
              <a:tailEnd type="none"/>
            </a:ln>
          </p:spPr>
        </p:sp>
        <p:sp>
          <p:nvSpPr>
            <p:cNvPr id="49" name="AutoShape 26"/>
            <p:cNvSpPr/>
            <p:nvPr>
              <p:custDataLst>
                <p:tags r:id="rId19"/>
              </p:custDataLst>
            </p:nvPr>
          </p:nvSpPr>
          <p:spPr>
            <a:xfrm>
              <a:off x="1172" y="7906"/>
              <a:ext cx="312" cy="329"/>
            </a:xfrm>
            <a:custGeom>
              <a:avLst/>
              <a:gdLst/>
              <a:ahLst/>
              <a:cxnLst/>
              <a:rect l="l" t="t" r="r" b="b"/>
              <a:pathLst>
                <a:path w="9998" h="10000">
                  <a:moveTo>
                    <a:pt x="9998" y="1875"/>
                  </a:moveTo>
                  <a:cubicBezTo>
                    <a:pt x="9984" y="2213"/>
                    <a:pt x="9880" y="2578"/>
                    <a:pt x="9686" y="2969"/>
                  </a:cubicBezTo>
                  <a:cubicBezTo>
                    <a:pt x="9477" y="3359"/>
                    <a:pt x="9249" y="3730"/>
                    <a:pt x="9002" y="4082"/>
                  </a:cubicBezTo>
                  <a:cubicBezTo>
                    <a:pt x="8742" y="4420"/>
                    <a:pt x="8520" y="4694"/>
                    <a:pt x="8338" y="4902"/>
                  </a:cubicBezTo>
                  <a:cubicBezTo>
                    <a:pt x="8260" y="4993"/>
                    <a:pt x="8169" y="5026"/>
                    <a:pt x="8065" y="5000"/>
                  </a:cubicBezTo>
                  <a:lnTo>
                    <a:pt x="6249" y="5000"/>
                  </a:lnTo>
                  <a:cubicBezTo>
                    <a:pt x="6066" y="5000"/>
                    <a:pt x="5916" y="5058"/>
                    <a:pt x="5800" y="5176"/>
                  </a:cubicBezTo>
                  <a:cubicBezTo>
                    <a:pt x="5682" y="5293"/>
                    <a:pt x="5624" y="5443"/>
                    <a:pt x="5624" y="5625"/>
                  </a:cubicBezTo>
                  <a:cubicBezTo>
                    <a:pt x="5624" y="5807"/>
                    <a:pt x="5682" y="5956"/>
                    <a:pt x="5800" y="6074"/>
                  </a:cubicBezTo>
                  <a:cubicBezTo>
                    <a:pt x="5916" y="6191"/>
                    <a:pt x="6066" y="6250"/>
                    <a:pt x="6249" y="6250"/>
                  </a:cubicBezTo>
                  <a:lnTo>
                    <a:pt x="8123" y="6250"/>
                  </a:lnTo>
                  <a:cubicBezTo>
                    <a:pt x="8657" y="6263"/>
                    <a:pt x="9099" y="6445"/>
                    <a:pt x="9451" y="6797"/>
                  </a:cubicBezTo>
                  <a:cubicBezTo>
                    <a:pt x="9802" y="7148"/>
                    <a:pt x="9984" y="7591"/>
                    <a:pt x="9998" y="8125"/>
                  </a:cubicBezTo>
                  <a:cubicBezTo>
                    <a:pt x="9984" y="8659"/>
                    <a:pt x="9802" y="9101"/>
                    <a:pt x="9451" y="9453"/>
                  </a:cubicBezTo>
                  <a:cubicBezTo>
                    <a:pt x="9099" y="9804"/>
                    <a:pt x="8657" y="9986"/>
                    <a:pt x="8123" y="10000"/>
                  </a:cubicBezTo>
                  <a:lnTo>
                    <a:pt x="2734" y="10000"/>
                  </a:lnTo>
                  <a:cubicBezTo>
                    <a:pt x="2903" y="9804"/>
                    <a:pt x="3098" y="9563"/>
                    <a:pt x="3320" y="9277"/>
                  </a:cubicBezTo>
                  <a:cubicBezTo>
                    <a:pt x="3436" y="9121"/>
                    <a:pt x="3560" y="8945"/>
                    <a:pt x="3691" y="8750"/>
                  </a:cubicBezTo>
                  <a:lnTo>
                    <a:pt x="8123" y="8750"/>
                  </a:lnTo>
                  <a:cubicBezTo>
                    <a:pt x="8305" y="8750"/>
                    <a:pt x="8455" y="8691"/>
                    <a:pt x="8573" y="8574"/>
                  </a:cubicBezTo>
                  <a:cubicBezTo>
                    <a:pt x="8689" y="8456"/>
                    <a:pt x="8748" y="8307"/>
                    <a:pt x="8748" y="8125"/>
                  </a:cubicBezTo>
                  <a:cubicBezTo>
                    <a:pt x="8748" y="7943"/>
                    <a:pt x="8689" y="7793"/>
                    <a:pt x="8573" y="7676"/>
                  </a:cubicBezTo>
                  <a:cubicBezTo>
                    <a:pt x="8455" y="7558"/>
                    <a:pt x="8305" y="7500"/>
                    <a:pt x="8123" y="7500"/>
                  </a:cubicBezTo>
                  <a:lnTo>
                    <a:pt x="6249" y="7500"/>
                  </a:lnTo>
                  <a:cubicBezTo>
                    <a:pt x="5715" y="7486"/>
                    <a:pt x="5272" y="7304"/>
                    <a:pt x="4921" y="6953"/>
                  </a:cubicBezTo>
                  <a:cubicBezTo>
                    <a:pt x="4569" y="6601"/>
                    <a:pt x="4387" y="6159"/>
                    <a:pt x="4374" y="5625"/>
                  </a:cubicBezTo>
                  <a:cubicBezTo>
                    <a:pt x="4387" y="5091"/>
                    <a:pt x="4569" y="4648"/>
                    <a:pt x="4921" y="4297"/>
                  </a:cubicBezTo>
                  <a:cubicBezTo>
                    <a:pt x="5272" y="3945"/>
                    <a:pt x="5715" y="3763"/>
                    <a:pt x="6249" y="3750"/>
                  </a:cubicBezTo>
                  <a:lnTo>
                    <a:pt x="7030" y="3750"/>
                  </a:lnTo>
                  <a:cubicBezTo>
                    <a:pt x="6821" y="3437"/>
                    <a:pt x="6639" y="3118"/>
                    <a:pt x="6483" y="2793"/>
                  </a:cubicBezTo>
                  <a:cubicBezTo>
                    <a:pt x="6339" y="2467"/>
                    <a:pt x="6261" y="2161"/>
                    <a:pt x="6249" y="1875"/>
                  </a:cubicBezTo>
                  <a:cubicBezTo>
                    <a:pt x="6261" y="1341"/>
                    <a:pt x="6444" y="898"/>
                    <a:pt x="6796" y="547"/>
                  </a:cubicBezTo>
                  <a:cubicBezTo>
                    <a:pt x="7147" y="195"/>
                    <a:pt x="7589" y="13"/>
                    <a:pt x="8123" y="0"/>
                  </a:cubicBezTo>
                  <a:cubicBezTo>
                    <a:pt x="8657" y="13"/>
                    <a:pt x="9099" y="195"/>
                    <a:pt x="9451" y="547"/>
                  </a:cubicBezTo>
                  <a:cubicBezTo>
                    <a:pt x="9802" y="898"/>
                    <a:pt x="9984" y="1341"/>
                    <a:pt x="9998" y="1875"/>
                  </a:cubicBezTo>
                  <a:moveTo>
                    <a:pt x="2285" y="9551"/>
                  </a:moveTo>
                  <a:cubicBezTo>
                    <a:pt x="2207" y="9642"/>
                    <a:pt x="2141" y="9714"/>
                    <a:pt x="2089" y="9766"/>
                  </a:cubicBezTo>
                  <a:lnTo>
                    <a:pt x="2050" y="9805"/>
                  </a:lnTo>
                  <a:cubicBezTo>
                    <a:pt x="1920" y="9895"/>
                    <a:pt x="1790" y="9882"/>
                    <a:pt x="1660" y="9766"/>
                  </a:cubicBezTo>
                  <a:cubicBezTo>
                    <a:pt x="1490" y="9583"/>
                    <a:pt x="1275" y="9329"/>
                    <a:pt x="1015" y="9004"/>
                  </a:cubicBezTo>
                  <a:cubicBezTo>
                    <a:pt x="755" y="8678"/>
                    <a:pt x="520" y="8327"/>
                    <a:pt x="312" y="7949"/>
                  </a:cubicBezTo>
                  <a:cubicBezTo>
                    <a:pt x="117" y="7571"/>
                    <a:pt x="13" y="7213"/>
                    <a:pt x="0" y="6875"/>
                  </a:cubicBezTo>
                  <a:cubicBezTo>
                    <a:pt x="13" y="6341"/>
                    <a:pt x="195" y="5898"/>
                    <a:pt x="547" y="5547"/>
                  </a:cubicBezTo>
                  <a:cubicBezTo>
                    <a:pt x="898" y="5195"/>
                    <a:pt x="1341" y="5013"/>
                    <a:pt x="1875" y="5000"/>
                  </a:cubicBezTo>
                  <a:cubicBezTo>
                    <a:pt x="2408" y="5013"/>
                    <a:pt x="2850" y="5195"/>
                    <a:pt x="3202" y="5547"/>
                  </a:cubicBezTo>
                  <a:cubicBezTo>
                    <a:pt x="3554" y="5898"/>
                    <a:pt x="3736" y="6341"/>
                    <a:pt x="3749" y="6875"/>
                  </a:cubicBezTo>
                  <a:cubicBezTo>
                    <a:pt x="3736" y="7174"/>
                    <a:pt x="3651" y="7493"/>
                    <a:pt x="3495" y="7832"/>
                  </a:cubicBezTo>
                  <a:cubicBezTo>
                    <a:pt x="3326" y="8157"/>
                    <a:pt x="3131" y="8476"/>
                    <a:pt x="2910" y="8789"/>
                  </a:cubicBezTo>
                  <a:cubicBezTo>
                    <a:pt x="2688" y="9075"/>
                    <a:pt x="2486" y="9323"/>
                    <a:pt x="2304" y="9531"/>
                  </a:cubicBezTo>
                  <a:lnTo>
                    <a:pt x="2285" y="9551"/>
                  </a:lnTo>
                  <a:moveTo>
                    <a:pt x="2500" y="6875"/>
                  </a:moveTo>
                  <a:cubicBezTo>
                    <a:pt x="2500" y="6693"/>
                    <a:pt x="2441" y="6543"/>
                    <a:pt x="2324" y="6426"/>
                  </a:cubicBezTo>
                  <a:cubicBezTo>
                    <a:pt x="2206" y="6308"/>
                    <a:pt x="2057" y="6250"/>
                    <a:pt x="1875" y="6250"/>
                  </a:cubicBezTo>
                  <a:cubicBezTo>
                    <a:pt x="1692" y="6250"/>
                    <a:pt x="1542" y="6308"/>
                    <a:pt x="1425" y="6426"/>
                  </a:cubicBezTo>
                  <a:cubicBezTo>
                    <a:pt x="1308" y="6543"/>
                    <a:pt x="1250" y="6693"/>
                    <a:pt x="1250" y="6875"/>
                  </a:cubicBezTo>
                  <a:cubicBezTo>
                    <a:pt x="1250" y="7057"/>
                    <a:pt x="1308" y="7206"/>
                    <a:pt x="1425" y="7324"/>
                  </a:cubicBezTo>
                  <a:cubicBezTo>
                    <a:pt x="1542" y="7441"/>
                    <a:pt x="1692" y="7500"/>
                    <a:pt x="1875" y="7500"/>
                  </a:cubicBezTo>
                  <a:cubicBezTo>
                    <a:pt x="2057" y="7500"/>
                    <a:pt x="2206" y="7441"/>
                    <a:pt x="2324" y="7324"/>
                  </a:cubicBezTo>
                  <a:cubicBezTo>
                    <a:pt x="2441" y="7206"/>
                    <a:pt x="2500" y="7057"/>
                    <a:pt x="2500" y="6875"/>
                  </a:cubicBezTo>
                  <a:moveTo>
                    <a:pt x="8123" y="2500"/>
                  </a:moveTo>
                  <a:cubicBezTo>
                    <a:pt x="8305" y="2500"/>
                    <a:pt x="8455" y="2441"/>
                    <a:pt x="8573" y="2324"/>
                  </a:cubicBezTo>
                  <a:cubicBezTo>
                    <a:pt x="8689" y="2206"/>
                    <a:pt x="8748" y="2057"/>
                    <a:pt x="8748" y="1875"/>
                  </a:cubicBezTo>
                  <a:cubicBezTo>
                    <a:pt x="8748" y="1693"/>
                    <a:pt x="8689" y="1543"/>
                    <a:pt x="8573" y="1426"/>
                  </a:cubicBezTo>
                  <a:cubicBezTo>
                    <a:pt x="8455" y="1308"/>
                    <a:pt x="8305" y="1250"/>
                    <a:pt x="8123" y="1250"/>
                  </a:cubicBezTo>
                  <a:cubicBezTo>
                    <a:pt x="7941" y="1250"/>
                    <a:pt x="7791" y="1308"/>
                    <a:pt x="7674" y="1426"/>
                  </a:cubicBezTo>
                  <a:cubicBezTo>
                    <a:pt x="7557" y="1543"/>
                    <a:pt x="7499" y="1693"/>
                    <a:pt x="7499" y="1875"/>
                  </a:cubicBezTo>
                  <a:cubicBezTo>
                    <a:pt x="7499" y="2057"/>
                    <a:pt x="7557" y="2206"/>
                    <a:pt x="7674" y="2324"/>
                  </a:cubicBezTo>
                  <a:cubicBezTo>
                    <a:pt x="7791" y="2441"/>
                    <a:pt x="7941" y="2500"/>
                    <a:pt x="8123" y="2500"/>
                  </a:cubicBezTo>
                </a:path>
              </a:pathLst>
            </a:custGeom>
            <a:solidFill>
              <a:schemeClr val="bg1"/>
            </a:solidFill>
            <a:ln>
              <a:headEnd type="none"/>
              <a:tailEnd type="none"/>
            </a:ln>
          </p:spPr>
        </p:sp>
        <p:sp>
          <p:nvSpPr>
            <p:cNvPr id="50" name="TextBox 27"/>
            <p:cNvSpPr txBox="1"/>
            <p:nvPr>
              <p:custDataLst>
                <p:tags r:id="rId20"/>
              </p:custDataLst>
            </p:nvPr>
          </p:nvSpPr>
          <p:spPr>
            <a:xfrm>
              <a:off x="1889" y="7725"/>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04</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流程编排层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TextBox 28"/>
            <p:cNvSpPr txBox="1"/>
            <p:nvPr>
              <p:custDataLst>
                <p:tags r:id="rId21"/>
              </p:custDataLst>
            </p:nvPr>
          </p:nvSpPr>
          <p:spPr>
            <a:xfrm>
              <a:off x="1889" y="81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Camunda BPMN 定义标准制作工序，ServiceTask 通过 JobWorker</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调用本体服务，根据推理结果动态选择酱汁、奶酪等组件。</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4" name="文本框 53"/>
          <p:cNvSpPr txBox="1"/>
          <p:nvPr/>
        </p:nvSpPr>
        <p:spPr>
          <a:xfrm>
            <a:off x="707390" y="1129665"/>
            <a:ext cx="10822940" cy="583565"/>
          </a:xfrm>
          <a:prstGeom prst="rect">
            <a:avLst/>
          </a:prstGeom>
          <a:noFill/>
        </p:spPr>
        <p:txBody>
          <a:bodyPr wrap="square" rtlCol="0" anchor="t">
            <a:spAutoFit/>
          </a:bodyPr>
          <a:p>
            <a:pPr algn="l">
              <a:defRPr/>
            </a:pPr>
            <a:r>
              <a:rPr 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本体作为语义中枢贯穿全流程：MySQL 承载持久化数据，Ontop 实现关系-语义透明映射，Openllet 提供实时推理能力，Camunda 编排业务逻辑——四层协同使流</a:t>
            </a:r>
            <a:r>
              <a:rPr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程节点具备领域知识感知与动态决策能力。</a:t>
            </a:r>
            <a:endParaRPr lang="zh-CN" alt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5" name="标题 54"/>
          <p:cNvSpPr>
            <a:spLocks noGrp="1"/>
          </p:cNvSpPr>
          <p:nvPr>
            <p:ph type="title"/>
          </p:nvPr>
        </p:nvSpPr>
        <p:spPr/>
        <p:txBody>
          <a:bodyPr>
            <a:normAutofit/>
          </a:bodyPr>
          <a:lstStyle/>
          <a:p>
            <a:r>
              <a:rPr kumimoji="1" lang="zh-CN" altLang="en-US" dirty="0"/>
              <a:t>四层技术架构总览</a:t>
            </a:r>
            <a:r>
              <a:rPr kumimoji="1" lang="en-US" altLang="zh-CN" sz="2000" dirty="0">
                <a:solidFill>
                  <a:srgbClr val="C00000"/>
                </a:solidFill>
                <a:latin typeface="微软雅黑" panose="020B0503020204020204" pitchFamily="34" charset="-122"/>
                <a:ea typeface="微软雅黑" panose="020B0503020204020204" pitchFamily="34" charset="-122"/>
              </a:rPr>
              <a:t>(</a:t>
            </a:r>
            <a:r>
              <a:rPr lang="en-US" sz="200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rPr>
              <a:t>Four-Layer Technical Architecture Overview)</a:t>
            </a:r>
            <a:endParaRPr kumimoji="1" lang="en-US" altLang="zh-CN" sz="2000" dirty="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endParaRPr>
          </a:p>
        </p:txBody>
      </p:sp>
      <p:grpSp>
        <p:nvGrpSpPr>
          <p:cNvPr id="5" name="组合 4"/>
          <p:cNvGrpSpPr/>
          <p:nvPr/>
        </p:nvGrpSpPr>
        <p:grpSpPr>
          <a:xfrm>
            <a:off x="5882005" y="1917700"/>
            <a:ext cx="5523230" cy="4212590"/>
            <a:chOff x="9263" y="3020"/>
            <a:chExt cx="8698" cy="6634"/>
          </a:xfrm>
        </p:grpSpPr>
        <p:pic>
          <p:nvPicPr>
            <p:cNvPr id="4" name="图片 3"/>
            <p:cNvPicPr/>
            <p:nvPr/>
          </p:nvPicPr>
          <p:blipFill>
            <a:blip r:embed="rId22"/>
            <a:stretch>
              <a:fillRect/>
            </a:stretch>
          </p:blipFill>
          <p:spPr>
            <a:xfrm>
              <a:off x="9263" y="3020"/>
              <a:ext cx="8698" cy="6634"/>
            </a:xfrm>
            <a:prstGeom prst="rect">
              <a:avLst/>
            </a:prstGeom>
          </p:spPr>
        </p:pic>
        <p:pic>
          <p:nvPicPr>
            <p:cNvPr id="64" name="图片 63"/>
            <p:cNvPicPr>
              <a:picLocks noChangeAspect="1"/>
            </p:cNvPicPr>
            <p:nvPr/>
          </p:nvPicPr>
          <p:blipFill>
            <a:blip r:embed="rId23"/>
            <a:stretch>
              <a:fillRect/>
            </a:stretch>
          </p:blipFill>
          <p:spPr>
            <a:xfrm>
              <a:off x="9387" y="3359"/>
              <a:ext cx="2211" cy="1025"/>
            </a:xfrm>
            <a:prstGeom prst="rect">
              <a:avLst/>
            </a:prstGeom>
          </p:spPr>
        </p:pic>
        <p:pic>
          <p:nvPicPr>
            <p:cNvPr id="65" name="图片 64"/>
            <p:cNvPicPr>
              <a:picLocks noChangeAspect="1"/>
            </p:cNvPicPr>
            <p:nvPr/>
          </p:nvPicPr>
          <p:blipFill>
            <a:blip r:embed="rId24"/>
            <a:stretch>
              <a:fillRect/>
            </a:stretch>
          </p:blipFill>
          <p:spPr>
            <a:xfrm>
              <a:off x="9715" y="4799"/>
              <a:ext cx="2144" cy="982"/>
            </a:xfrm>
            <a:prstGeom prst="rect">
              <a:avLst/>
            </a:prstGeom>
          </p:spPr>
        </p:pic>
        <p:pic>
          <p:nvPicPr>
            <p:cNvPr id="66" name="图片 65"/>
            <p:cNvPicPr>
              <a:picLocks noChangeAspect="1"/>
            </p:cNvPicPr>
            <p:nvPr/>
          </p:nvPicPr>
          <p:blipFill>
            <a:blip r:embed="rId25"/>
            <a:stretch>
              <a:fillRect/>
            </a:stretch>
          </p:blipFill>
          <p:spPr>
            <a:xfrm>
              <a:off x="9500" y="6648"/>
              <a:ext cx="2213" cy="942"/>
            </a:xfrm>
            <a:prstGeom prst="rect">
              <a:avLst/>
            </a:prstGeom>
          </p:spPr>
        </p:pic>
        <p:pic>
          <p:nvPicPr>
            <p:cNvPr id="67" name="图片 66"/>
            <p:cNvPicPr>
              <a:picLocks noChangeAspect="1"/>
            </p:cNvPicPr>
            <p:nvPr/>
          </p:nvPicPr>
          <p:blipFill>
            <a:blip r:embed="rId26"/>
            <a:stretch>
              <a:fillRect/>
            </a:stretch>
          </p:blipFill>
          <p:spPr>
            <a:xfrm>
              <a:off x="9942" y="8303"/>
              <a:ext cx="1803" cy="98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10"/>
          <p:cNvSpPr/>
          <p:nvPr/>
        </p:nvSpPr>
        <p:spPr>
          <a:xfrm>
            <a:off x="833120" y="1064895"/>
            <a:ext cx="10665460" cy="659765"/>
          </a:xfrm>
          <a:prstGeom prst="rect">
            <a:avLst/>
          </a:prstGeom>
          <a:blipFill rotWithShape="1">
            <a:blip r:embed="rId1">
              <a:alphaModFix amt="100000"/>
              <a:alphaModFix amt="100000"/>
            </a:blip>
            <a:stretch>
              <a:fillRect/>
            </a:stretch>
          </a:blipFill>
          <a:ln>
            <a:headEnd type="none"/>
            <a:tailEnd type="none"/>
          </a:ln>
        </p:spPr>
      </p:sp>
      <p:sp>
        <p:nvSpPr>
          <p:cNvPr id="4" name="标题 3"/>
          <p:cNvSpPr/>
          <p:nvPr>
            <p:ph type="title"/>
          </p:nvPr>
        </p:nvSpPr>
        <p:spPr>
          <a:xfrm>
            <a:off x="335268" y="166371"/>
            <a:ext cx="10179584" cy="871739"/>
          </a:xfrm>
        </p:spPr>
        <p:txBody>
          <a:bodyPr>
            <a:normAutofit/>
          </a:bodyPr>
          <a:p>
            <a:r>
              <a:rPr lang="zh-CN" altLang="en-US"/>
              <a:t>本体-数据库交互机制</a:t>
            </a:r>
            <a:r>
              <a:rPr kumimoji="1" lang="en-US" altLang="zh-CN" sz="2000"/>
              <a:t>(</a:t>
            </a:r>
            <a:r>
              <a:rPr kumimoji="1" lang="en-US" altLang="zh-CN" sz="2000">
                <a:sym typeface="+mn-ea"/>
              </a:rPr>
              <a:t>Ontology-Database Interaction Mechanism)</a:t>
            </a:r>
            <a:endParaRPr kumimoji="1" lang="en-US" altLang="zh-CN" sz="2000"/>
          </a:p>
        </p:txBody>
      </p:sp>
      <p:sp>
        <p:nvSpPr>
          <p:cNvPr id="10" name="AutoShape 9"/>
          <p:cNvSpPr/>
          <p:nvPr>
            <p:custDataLst>
              <p:tags r:id="rId2"/>
            </p:custDataLst>
          </p:nvPr>
        </p:nvSpPr>
        <p:spPr>
          <a:xfrm>
            <a:off x="91313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11" name="AutoShape 10"/>
          <p:cNvSpPr/>
          <p:nvPr>
            <p:custDataLst>
              <p:tags r:id="rId3"/>
            </p:custDataLst>
          </p:nvPr>
        </p:nvSpPr>
        <p:spPr>
          <a:xfrm>
            <a:off x="1151255" y="2231390"/>
            <a:ext cx="419100" cy="457200"/>
          </a:xfrm>
          <a:prstGeom prst="ellipse">
            <a:avLst/>
          </a:prstGeom>
          <a:solidFill>
            <a:srgbClr val="C00000"/>
          </a:solidFill>
          <a:ln>
            <a:headEnd type="none"/>
            <a:tailEnd type="none"/>
          </a:ln>
        </p:spPr>
      </p:sp>
      <p:sp>
        <p:nvSpPr>
          <p:cNvPr id="12" name="AutoShape 11"/>
          <p:cNvSpPr/>
          <p:nvPr>
            <p:custDataLst>
              <p:tags r:id="rId4"/>
            </p:custDataLst>
          </p:nvPr>
        </p:nvSpPr>
        <p:spPr>
          <a:xfrm>
            <a:off x="1265555" y="2356485"/>
            <a:ext cx="190500" cy="207645"/>
          </a:xfrm>
          <a:custGeom>
            <a:avLst/>
            <a:gdLst/>
            <a:ahLst/>
            <a:cxnLst/>
            <a:rect l="l" t="t" r="r" b="b"/>
            <a:pathLst>
              <a:path w="9998" h="10000">
                <a:moveTo>
                  <a:pt x="8123" y="4063"/>
                </a:moveTo>
                <a:cubicBezTo>
                  <a:pt x="8110" y="4974"/>
                  <a:pt x="7850" y="5775"/>
                  <a:pt x="7342" y="6465"/>
                </a:cubicBezTo>
                <a:lnTo>
                  <a:pt x="9822" y="8926"/>
                </a:lnTo>
                <a:cubicBezTo>
                  <a:pt x="9939" y="9056"/>
                  <a:pt x="9998" y="9205"/>
                  <a:pt x="9998" y="9375"/>
                </a:cubicBezTo>
                <a:cubicBezTo>
                  <a:pt x="9998" y="9544"/>
                  <a:pt x="9939" y="9694"/>
                  <a:pt x="9822" y="9824"/>
                </a:cubicBezTo>
                <a:cubicBezTo>
                  <a:pt x="9692" y="9941"/>
                  <a:pt x="9542" y="10000"/>
                  <a:pt x="9373" y="10000"/>
                </a:cubicBezTo>
                <a:cubicBezTo>
                  <a:pt x="9203" y="10000"/>
                  <a:pt x="9054" y="9941"/>
                  <a:pt x="8924" y="9824"/>
                </a:cubicBezTo>
                <a:lnTo>
                  <a:pt x="6464" y="7344"/>
                </a:lnTo>
                <a:cubicBezTo>
                  <a:pt x="5774" y="7851"/>
                  <a:pt x="4973" y="8111"/>
                  <a:pt x="4062" y="8125"/>
                </a:cubicBezTo>
                <a:cubicBezTo>
                  <a:pt x="2916" y="8099"/>
                  <a:pt x="1959" y="7702"/>
                  <a:pt x="1191" y="6934"/>
                </a:cubicBezTo>
                <a:cubicBezTo>
                  <a:pt x="423" y="6165"/>
                  <a:pt x="26" y="5208"/>
                  <a:pt x="0" y="4063"/>
                </a:cubicBezTo>
                <a:cubicBezTo>
                  <a:pt x="26" y="2917"/>
                  <a:pt x="423" y="1959"/>
                  <a:pt x="1191" y="1191"/>
                </a:cubicBezTo>
                <a:cubicBezTo>
                  <a:pt x="1959" y="423"/>
                  <a:pt x="2916" y="26"/>
                  <a:pt x="4062" y="0"/>
                </a:cubicBezTo>
                <a:cubicBezTo>
                  <a:pt x="5207" y="26"/>
                  <a:pt x="6164" y="423"/>
                  <a:pt x="6932" y="1191"/>
                </a:cubicBezTo>
                <a:cubicBezTo>
                  <a:pt x="7700" y="1959"/>
                  <a:pt x="8097" y="2917"/>
                  <a:pt x="8123" y="4063"/>
                </a:cubicBezTo>
                <a:moveTo>
                  <a:pt x="4062" y="6875"/>
                </a:moveTo>
                <a:cubicBezTo>
                  <a:pt x="4569" y="6875"/>
                  <a:pt x="5038" y="6751"/>
                  <a:pt x="5468" y="6504"/>
                </a:cubicBezTo>
                <a:cubicBezTo>
                  <a:pt x="5897" y="6256"/>
                  <a:pt x="6242" y="5911"/>
                  <a:pt x="6503" y="5469"/>
                </a:cubicBezTo>
                <a:cubicBezTo>
                  <a:pt x="6750" y="5026"/>
                  <a:pt x="6874" y="4557"/>
                  <a:pt x="6874" y="4063"/>
                </a:cubicBezTo>
                <a:cubicBezTo>
                  <a:pt x="6874" y="3567"/>
                  <a:pt x="6750" y="3098"/>
                  <a:pt x="6503" y="2656"/>
                </a:cubicBezTo>
                <a:cubicBezTo>
                  <a:pt x="6242" y="2213"/>
                  <a:pt x="5897" y="1868"/>
                  <a:pt x="5468" y="1621"/>
                </a:cubicBezTo>
                <a:cubicBezTo>
                  <a:pt x="5038" y="1373"/>
                  <a:pt x="4569" y="1250"/>
                  <a:pt x="4062" y="1250"/>
                </a:cubicBezTo>
                <a:cubicBezTo>
                  <a:pt x="3554" y="1250"/>
                  <a:pt x="3085" y="1373"/>
                  <a:pt x="2656" y="1621"/>
                </a:cubicBezTo>
                <a:cubicBezTo>
                  <a:pt x="2226" y="1868"/>
                  <a:pt x="1881" y="2213"/>
                  <a:pt x="1621" y="2656"/>
                </a:cubicBezTo>
                <a:cubicBezTo>
                  <a:pt x="1373" y="3098"/>
                  <a:pt x="1250" y="3567"/>
                  <a:pt x="1250" y="4063"/>
                </a:cubicBezTo>
                <a:cubicBezTo>
                  <a:pt x="1250" y="4557"/>
                  <a:pt x="1373" y="5026"/>
                  <a:pt x="1621" y="5469"/>
                </a:cubicBezTo>
                <a:cubicBezTo>
                  <a:pt x="1881" y="5911"/>
                  <a:pt x="2226" y="6256"/>
                  <a:pt x="2656" y="6504"/>
                </a:cubicBezTo>
                <a:cubicBezTo>
                  <a:pt x="3085" y="6751"/>
                  <a:pt x="3554" y="6875"/>
                  <a:pt x="4062" y="6875"/>
                </a:cubicBezTo>
              </a:path>
            </a:pathLst>
          </a:custGeom>
          <a:solidFill>
            <a:srgbClr val="FFFFFF">
              <a:alpha val="100000"/>
            </a:srgbClr>
          </a:solidFill>
          <a:ln>
            <a:headEnd type="none"/>
            <a:tailEnd type="none"/>
          </a:ln>
        </p:spPr>
      </p:sp>
      <p:sp>
        <p:nvSpPr>
          <p:cNvPr id="13" name="TextBox 12"/>
          <p:cNvSpPr txBox="1"/>
          <p:nvPr>
            <p:custDataLst>
              <p:tags r:id="rId5"/>
            </p:custDataLst>
          </p:nvPr>
        </p:nvSpPr>
        <p:spPr>
          <a:xfrm>
            <a:off x="1684020" y="2322830"/>
            <a:ext cx="2171700"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SPARQL查询执行路径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7"/>
          <p:cNvSpPr/>
          <p:nvPr>
            <p:custDataLst>
              <p:tags r:id="rId6"/>
            </p:custDataLst>
          </p:nvPr>
        </p:nvSpPr>
        <p:spPr>
          <a:xfrm>
            <a:off x="1151255" y="5968365"/>
            <a:ext cx="2952115" cy="10160"/>
          </a:xfrm>
          <a:prstGeom prst="line">
            <a:avLst/>
          </a:prstGeom>
          <a:ln w="9525">
            <a:solidFill>
              <a:srgbClr val="ECECEC">
                <a:alpha val="100000"/>
              </a:srgbClr>
            </a:solidFill>
            <a:prstDash val="solid"/>
            <a:headEnd type="none"/>
            <a:tailEnd type="none"/>
          </a:ln>
        </p:spPr>
      </p:sp>
      <p:sp>
        <p:nvSpPr>
          <p:cNvPr id="19" name="TextBox 18"/>
          <p:cNvSpPr txBox="1"/>
          <p:nvPr>
            <p:custDataLst>
              <p:tags r:id="rId7"/>
            </p:custDataLst>
          </p:nvPr>
        </p:nvSpPr>
        <p:spPr>
          <a:xfrm>
            <a:off x="115125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QUERY PATH</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20" name="AutoShape 19"/>
          <p:cNvSpPr/>
          <p:nvPr>
            <p:custDataLst>
              <p:tags r:id="rId8"/>
            </p:custDataLst>
          </p:nvPr>
        </p:nvSpPr>
        <p:spPr>
          <a:xfrm>
            <a:off x="453136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21" name="AutoShape 20"/>
          <p:cNvSpPr/>
          <p:nvPr>
            <p:custDataLst>
              <p:tags r:id="rId9"/>
            </p:custDataLst>
          </p:nvPr>
        </p:nvSpPr>
        <p:spPr>
          <a:xfrm>
            <a:off x="4769485" y="2231390"/>
            <a:ext cx="419100" cy="457200"/>
          </a:xfrm>
          <a:prstGeom prst="ellipse">
            <a:avLst/>
          </a:prstGeom>
          <a:solidFill>
            <a:srgbClr val="C00000"/>
          </a:solidFill>
          <a:ln>
            <a:headEnd type="none"/>
            <a:tailEnd type="none"/>
          </a:ln>
        </p:spPr>
      </p:sp>
      <p:sp>
        <p:nvSpPr>
          <p:cNvPr id="22" name="AutoShape 21"/>
          <p:cNvSpPr/>
          <p:nvPr>
            <p:custDataLst>
              <p:tags r:id="rId10"/>
            </p:custDataLst>
          </p:nvPr>
        </p:nvSpPr>
        <p:spPr>
          <a:xfrm>
            <a:off x="4883785" y="2356485"/>
            <a:ext cx="190500" cy="207645"/>
          </a:xfrm>
          <a:custGeom>
            <a:avLst/>
            <a:gdLst/>
            <a:ahLst/>
            <a:cxnLst/>
            <a:rect l="l" t="t" r="r" b="b"/>
            <a:pathLst>
              <a:path w="9998" h="10000">
                <a:moveTo>
                  <a:pt x="9303" y="5255"/>
                </a:moveTo>
                <a:cubicBezTo>
                  <a:pt x="9766" y="4617"/>
                  <a:pt x="9998" y="3886"/>
                  <a:pt x="9998" y="3064"/>
                </a:cubicBezTo>
                <a:cubicBezTo>
                  <a:pt x="9998" y="2255"/>
                  <a:pt x="9766" y="1532"/>
                  <a:pt x="9303" y="894"/>
                </a:cubicBezTo>
                <a:cubicBezTo>
                  <a:pt x="8872" y="368"/>
                  <a:pt x="8370" y="70"/>
                  <a:pt x="7796" y="0"/>
                </a:cubicBezTo>
                <a:cubicBezTo>
                  <a:pt x="7233" y="-56"/>
                  <a:pt x="6709" y="134"/>
                  <a:pt x="6224" y="574"/>
                </a:cubicBezTo>
                <a:lnTo>
                  <a:pt x="6191" y="596"/>
                </a:lnTo>
                <a:cubicBezTo>
                  <a:pt x="6069" y="709"/>
                  <a:pt x="5998" y="858"/>
                  <a:pt x="5976" y="1043"/>
                </a:cubicBezTo>
                <a:cubicBezTo>
                  <a:pt x="5954" y="1213"/>
                  <a:pt x="5987" y="1383"/>
                  <a:pt x="6075" y="1553"/>
                </a:cubicBezTo>
                <a:cubicBezTo>
                  <a:pt x="6163" y="1695"/>
                  <a:pt x="6273" y="1780"/>
                  <a:pt x="6406" y="1809"/>
                </a:cubicBezTo>
                <a:cubicBezTo>
                  <a:pt x="6549" y="1851"/>
                  <a:pt x="6681" y="1815"/>
                  <a:pt x="6803" y="1702"/>
                </a:cubicBezTo>
                <a:lnTo>
                  <a:pt x="6836" y="1681"/>
                </a:lnTo>
                <a:cubicBezTo>
                  <a:pt x="7112" y="1439"/>
                  <a:pt x="7404" y="1333"/>
                  <a:pt x="7714" y="1362"/>
                </a:cubicBezTo>
                <a:cubicBezTo>
                  <a:pt x="8034" y="1390"/>
                  <a:pt x="8315" y="1553"/>
                  <a:pt x="8558" y="1851"/>
                </a:cubicBezTo>
                <a:cubicBezTo>
                  <a:pt x="8812" y="2205"/>
                  <a:pt x="8939" y="2610"/>
                  <a:pt x="8939" y="3064"/>
                </a:cubicBezTo>
                <a:cubicBezTo>
                  <a:pt x="8939" y="3532"/>
                  <a:pt x="8812" y="3936"/>
                  <a:pt x="8558" y="4277"/>
                </a:cubicBezTo>
                <a:lnTo>
                  <a:pt x="6687" y="6681"/>
                </a:lnTo>
                <a:cubicBezTo>
                  <a:pt x="6411" y="7007"/>
                  <a:pt x="6097" y="7170"/>
                  <a:pt x="5744" y="7170"/>
                </a:cubicBezTo>
                <a:cubicBezTo>
                  <a:pt x="5390" y="7170"/>
                  <a:pt x="5076" y="7007"/>
                  <a:pt x="4800" y="6681"/>
                </a:cubicBezTo>
                <a:cubicBezTo>
                  <a:pt x="4568" y="6369"/>
                  <a:pt x="4442" y="6007"/>
                  <a:pt x="4420" y="5596"/>
                </a:cubicBezTo>
                <a:cubicBezTo>
                  <a:pt x="4398" y="5198"/>
                  <a:pt x="4480" y="4822"/>
                  <a:pt x="4668" y="4468"/>
                </a:cubicBezTo>
                <a:lnTo>
                  <a:pt x="4684" y="4426"/>
                </a:lnTo>
                <a:cubicBezTo>
                  <a:pt x="4761" y="4269"/>
                  <a:pt x="4789" y="4106"/>
                  <a:pt x="4767" y="3936"/>
                </a:cubicBezTo>
                <a:cubicBezTo>
                  <a:pt x="4745" y="3752"/>
                  <a:pt x="4673" y="3603"/>
                  <a:pt x="4552" y="3489"/>
                </a:cubicBezTo>
                <a:cubicBezTo>
                  <a:pt x="4430" y="3375"/>
                  <a:pt x="4303" y="3333"/>
                  <a:pt x="4171" y="3362"/>
                </a:cubicBezTo>
                <a:cubicBezTo>
                  <a:pt x="4027" y="3390"/>
                  <a:pt x="3912" y="3482"/>
                  <a:pt x="3824" y="3638"/>
                </a:cubicBezTo>
                <a:lnTo>
                  <a:pt x="3807" y="3681"/>
                </a:lnTo>
                <a:cubicBezTo>
                  <a:pt x="3465" y="4305"/>
                  <a:pt x="3316" y="4985"/>
                  <a:pt x="3360" y="5723"/>
                </a:cubicBezTo>
                <a:cubicBezTo>
                  <a:pt x="3404" y="6447"/>
                  <a:pt x="3635" y="7085"/>
                  <a:pt x="4055" y="7638"/>
                </a:cubicBezTo>
                <a:cubicBezTo>
                  <a:pt x="4551" y="8234"/>
                  <a:pt x="5114" y="8532"/>
                  <a:pt x="5744" y="8532"/>
                </a:cubicBezTo>
                <a:cubicBezTo>
                  <a:pt x="6384" y="8532"/>
                  <a:pt x="6952" y="8234"/>
                  <a:pt x="7449" y="7638"/>
                </a:cubicBezTo>
                <a:lnTo>
                  <a:pt x="9303" y="5255"/>
                </a:lnTo>
                <a:moveTo>
                  <a:pt x="695" y="4745"/>
                </a:moveTo>
                <a:cubicBezTo>
                  <a:pt x="231" y="5383"/>
                  <a:pt x="0" y="6113"/>
                  <a:pt x="0" y="6936"/>
                </a:cubicBezTo>
                <a:cubicBezTo>
                  <a:pt x="0" y="7744"/>
                  <a:pt x="231" y="8468"/>
                  <a:pt x="695" y="9106"/>
                </a:cubicBezTo>
                <a:cubicBezTo>
                  <a:pt x="1125" y="9631"/>
                  <a:pt x="1628" y="9929"/>
                  <a:pt x="2202" y="10000"/>
                </a:cubicBezTo>
                <a:cubicBezTo>
                  <a:pt x="2764" y="10056"/>
                  <a:pt x="3294" y="9865"/>
                  <a:pt x="3791" y="9426"/>
                </a:cubicBezTo>
                <a:lnTo>
                  <a:pt x="3807" y="9404"/>
                </a:lnTo>
                <a:cubicBezTo>
                  <a:pt x="3928" y="9290"/>
                  <a:pt x="4000" y="9141"/>
                  <a:pt x="4022" y="8957"/>
                </a:cubicBezTo>
                <a:cubicBezTo>
                  <a:pt x="4044" y="8787"/>
                  <a:pt x="4016" y="8617"/>
                  <a:pt x="3940" y="8447"/>
                </a:cubicBezTo>
                <a:cubicBezTo>
                  <a:pt x="3840" y="8305"/>
                  <a:pt x="3724" y="8219"/>
                  <a:pt x="3592" y="8191"/>
                </a:cubicBezTo>
                <a:cubicBezTo>
                  <a:pt x="3448" y="8149"/>
                  <a:pt x="3316" y="8184"/>
                  <a:pt x="3195" y="8298"/>
                </a:cubicBezTo>
                <a:lnTo>
                  <a:pt x="3162" y="8319"/>
                </a:lnTo>
                <a:cubicBezTo>
                  <a:pt x="2886" y="8560"/>
                  <a:pt x="2593" y="8666"/>
                  <a:pt x="2284" y="8638"/>
                </a:cubicBezTo>
                <a:cubicBezTo>
                  <a:pt x="1964" y="8610"/>
                  <a:pt x="1682" y="8447"/>
                  <a:pt x="1440" y="8149"/>
                </a:cubicBezTo>
                <a:cubicBezTo>
                  <a:pt x="1186" y="7794"/>
                  <a:pt x="1059" y="7390"/>
                  <a:pt x="1059" y="6936"/>
                </a:cubicBezTo>
                <a:cubicBezTo>
                  <a:pt x="1059" y="6468"/>
                  <a:pt x="1191" y="6063"/>
                  <a:pt x="1457" y="5723"/>
                </a:cubicBezTo>
                <a:lnTo>
                  <a:pt x="3311" y="3319"/>
                </a:lnTo>
                <a:cubicBezTo>
                  <a:pt x="3586" y="2993"/>
                  <a:pt x="3900" y="2830"/>
                  <a:pt x="4254" y="2830"/>
                </a:cubicBezTo>
                <a:cubicBezTo>
                  <a:pt x="4607" y="2830"/>
                  <a:pt x="4922" y="2993"/>
                  <a:pt x="5198" y="3319"/>
                </a:cubicBezTo>
                <a:cubicBezTo>
                  <a:pt x="5429" y="3631"/>
                  <a:pt x="5556" y="3992"/>
                  <a:pt x="5578" y="4404"/>
                </a:cubicBezTo>
                <a:cubicBezTo>
                  <a:pt x="5600" y="4801"/>
                  <a:pt x="5517" y="5177"/>
                  <a:pt x="5330" y="5532"/>
                </a:cubicBezTo>
                <a:lnTo>
                  <a:pt x="5314" y="5574"/>
                </a:lnTo>
                <a:cubicBezTo>
                  <a:pt x="5236" y="5730"/>
                  <a:pt x="5209" y="5901"/>
                  <a:pt x="5231" y="6085"/>
                </a:cubicBezTo>
                <a:cubicBezTo>
                  <a:pt x="5253" y="6255"/>
                  <a:pt x="5324" y="6397"/>
                  <a:pt x="5446" y="6511"/>
                </a:cubicBezTo>
                <a:cubicBezTo>
                  <a:pt x="5567" y="6624"/>
                  <a:pt x="5694" y="6666"/>
                  <a:pt x="5827" y="6638"/>
                </a:cubicBezTo>
                <a:cubicBezTo>
                  <a:pt x="5970" y="6610"/>
                  <a:pt x="6086" y="6518"/>
                  <a:pt x="6174" y="6362"/>
                </a:cubicBezTo>
                <a:lnTo>
                  <a:pt x="6191" y="6319"/>
                </a:lnTo>
                <a:cubicBezTo>
                  <a:pt x="6533" y="5695"/>
                  <a:pt x="6682" y="5014"/>
                  <a:pt x="6638" y="4277"/>
                </a:cubicBezTo>
                <a:cubicBezTo>
                  <a:pt x="6594" y="3553"/>
                  <a:pt x="6362" y="2914"/>
                  <a:pt x="5943" y="2362"/>
                </a:cubicBezTo>
                <a:cubicBezTo>
                  <a:pt x="5446" y="1766"/>
                  <a:pt x="4883" y="1468"/>
                  <a:pt x="4254" y="1468"/>
                </a:cubicBezTo>
                <a:cubicBezTo>
                  <a:pt x="3614" y="1468"/>
                  <a:pt x="3051" y="1766"/>
                  <a:pt x="2566" y="2362"/>
                </a:cubicBezTo>
              </a:path>
            </a:pathLst>
          </a:custGeom>
          <a:solidFill>
            <a:srgbClr val="FFFFFF">
              <a:alpha val="100000"/>
            </a:srgbClr>
          </a:solidFill>
          <a:ln>
            <a:headEnd type="none"/>
            <a:tailEnd type="none"/>
          </a:ln>
        </p:spPr>
      </p:sp>
      <p:sp>
        <p:nvSpPr>
          <p:cNvPr id="23" name="TextBox 22"/>
          <p:cNvSpPr txBox="1"/>
          <p:nvPr>
            <p:custDataLst>
              <p:tags r:id="rId11"/>
            </p:custDataLst>
          </p:nvPr>
        </p:nvSpPr>
        <p:spPr>
          <a:xfrm>
            <a:off x="5302885" y="2322830"/>
            <a:ext cx="193103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OBDA虚拟映射原理</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AutoShape 27"/>
          <p:cNvSpPr/>
          <p:nvPr>
            <p:custDataLst>
              <p:tags r:id="rId12"/>
            </p:custDataLst>
          </p:nvPr>
        </p:nvSpPr>
        <p:spPr>
          <a:xfrm>
            <a:off x="4769485" y="5968365"/>
            <a:ext cx="2952115" cy="10160"/>
          </a:xfrm>
          <a:prstGeom prst="line">
            <a:avLst/>
          </a:prstGeom>
          <a:ln w="9525">
            <a:solidFill>
              <a:srgbClr val="ECECEC">
                <a:alpha val="100000"/>
              </a:srgbClr>
            </a:solidFill>
            <a:prstDash val="solid"/>
            <a:headEnd type="none"/>
            <a:tailEnd type="none"/>
          </a:ln>
        </p:spPr>
      </p:sp>
      <p:sp>
        <p:nvSpPr>
          <p:cNvPr id="29" name="TextBox 28"/>
          <p:cNvSpPr txBox="1"/>
          <p:nvPr>
            <p:custDataLst>
              <p:tags r:id="rId13"/>
            </p:custDataLst>
          </p:nvPr>
        </p:nvSpPr>
        <p:spPr>
          <a:xfrm>
            <a:off x="476948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MAPPING LAYER</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30" name="AutoShape 29"/>
          <p:cNvSpPr/>
          <p:nvPr>
            <p:custDataLst>
              <p:tags r:id="rId14"/>
            </p:custDataLst>
          </p:nvPr>
        </p:nvSpPr>
        <p:spPr>
          <a:xfrm>
            <a:off x="8150225"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31" name="AutoShape 30"/>
          <p:cNvSpPr/>
          <p:nvPr>
            <p:custDataLst>
              <p:tags r:id="rId15"/>
            </p:custDataLst>
          </p:nvPr>
        </p:nvSpPr>
        <p:spPr>
          <a:xfrm>
            <a:off x="8388350" y="2231390"/>
            <a:ext cx="419100" cy="457200"/>
          </a:xfrm>
          <a:prstGeom prst="ellipse">
            <a:avLst/>
          </a:prstGeom>
          <a:solidFill>
            <a:srgbClr val="C00000"/>
          </a:solidFill>
          <a:ln>
            <a:headEnd type="none"/>
            <a:tailEnd type="none"/>
          </a:ln>
        </p:spPr>
      </p:sp>
      <p:sp>
        <p:nvSpPr>
          <p:cNvPr id="32" name="AutoShape 31"/>
          <p:cNvSpPr/>
          <p:nvPr>
            <p:custDataLst>
              <p:tags r:id="rId16"/>
            </p:custDataLst>
          </p:nvPr>
        </p:nvSpPr>
        <p:spPr>
          <a:xfrm>
            <a:off x="8502650" y="2356485"/>
            <a:ext cx="190500" cy="207645"/>
          </a:xfrm>
          <a:custGeom>
            <a:avLst/>
            <a:gdLst/>
            <a:ahLst/>
            <a:cxnLst/>
            <a:rect l="l" t="t" r="r" b="b"/>
            <a:pathLst>
              <a:path w="9998" h="10000">
                <a:moveTo>
                  <a:pt x="5051" y="895"/>
                </a:moveTo>
                <a:lnTo>
                  <a:pt x="6405" y="1471"/>
                </a:lnTo>
                <a:lnTo>
                  <a:pt x="5051" y="895"/>
                </a:lnTo>
                <a:lnTo>
                  <a:pt x="6405" y="1471"/>
                </a:lnTo>
                <a:lnTo>
                  <a:pt x="4999" y="2107"/>
                </a:lnTo>
                <a:lnTo>
                  <a:pt x="3593" y="1471"/>
                </a:lnTo>
                <a:lnTo>
                  <a:pt x="4947" y="895"/>
                </a:lnTo>
                <a:cubicBezTo>
                  <a:pt x="4981" y="881"/>
                  <a:pt x="5016" y="881"/>
                  <a:pt x="5051" y="895"/>
                </a:cubicBezTo>
                <a:moveTo>
                  <a:pt x="2361" y="1769"/>
                </a:moveTo>
                <a:lnTo>
                  <a:pt x="2361" y="3996"/>
                </a:lnTo>
                <a:lnTo>
                  <a:pt x="2361" y="1769"/>
                </a:lnTo>
                <a:lnTo>
                  <a:pt x="2361" y="3996"/>
                </a:lnTo>
                <a:cubicBezTo>
                  <a:pt x="2337" y="3996"/>
                  <a:pt x="2314" y="4002"/>
                  <a:pt x="2291" y="4016"/>
                </a:cubicBezTo>
                <a:lnTo>
                  <a:pt x="625" y="4732"/>
                </a:lnTo>
                <a:cubicBezTo>
                  <a:pt x="231" y="4930"/>
                  <a:pt x="23" y="5281"/>
                  <a:pt x="0" y="5785"/>
                </a:cubicBezTo>
                <a:lnTo>
                  <a:pt x="0" y="8151"/>
                </a:lnTo>
                <a:cubicBezTo>
                  <a:pt x="11" y="8615"/>
                  <a:pt x="208" y="8953"/>
                  <a:pt x="590" y="9165"/>
                </a:cubicBezTo>
                <a:lnTo>
                  <a:pt x="2256" y="10000"/>
                </a:lnTo>
                <a:cubicBezTo>
                  <a:pt x="2510" y="10132"/>
                  <a:pt x="2771" y="10132"/>
                  <a:pt x="3038" y="10000"/>
                </a:cubicBezTo>
                <a:lnTo>
                  <a:pt x="4999" y="9026"/>
                </a:lnTo>
                <a:lnTo>
                  <a:pt x="6978" y="10000"/>
                </a:lnTo>
                <a:cubicBezTo>
                  <a:pt x="7232" y="10132"/>
                  <a:pt x="7493" y="10132"/>
                  <a:pt x="7759" y="10000"/>
                </a:cubicBezTo>
                <a:lnTo>
                  <a:pt x="9425" y="9165"/>
                </a:lnTo>
                <a:cubicBezTo>
                  <a:pt x="9795" y="8966"/>
                  <a:pt x="9986" y="8628"/>
                  <a:pt x="9998" y="8151"/>
                </a:cubicBezTo>
                <a:lnTo>
                  <a:pt x="9998" y="5785"/>
                </a:lnTo>
                <a:cubicBezTo>
                  <a:pt x="9974" y="5281"/>
                  <a:pt x="9766" y="4930"/>
                  <a:pt x="9373" y="4732"/>
                </a:cubicBezTo>
                <a:lnTo>
                  <a:pt x="7707" y="4016"/>
                </a:lnTo>
                <a:cubicBezTo>
                  <a:pt x="7683" y="4002"/>
                  <a:pt x="7660" y="3996"/>
                  <a:pt x="7637" y="3996"/>
                </a:cubicBezTo>
                <a:cubicBezTo>
                  <a:pt x="7637" y="3996"/>
                  <a:pt x="7637" y="3996"/>
                  <a:pt x="7637" y="3996"/>
                </a:cubicBezTo>
                <a:lnTo>
                  <a:pt x="7637" y="1769"/>
                </a:lnTo>
                <a:cubicBezTo>
                  <a:pt x="7614" y="1265"/>
                  <a:pt x="7406" y="914"/>
                  <a:pt x="7012" y="716"/>
                </a:cubicBezTo>
                <a:lnTo>
                  <a:pt x="5346" y="0"/>
                </a:lnTo>
                <a:cubicBezTo>
                  <a:pt x="5114" y="-106"/>
                  <a:pt x="4883" y="-106"/>
                  <a:pt x="4652" y="0"/>
                </a:cubicBezTo>
                <a:lnTo>
                  <a:pt x="2986" y="716"/>
                </a:lnTo>
                <a:cubicBezTo>
                  <a:pt x="2592" y="914"/>
                  <a:pt x="2383" y="1265"/>
                  <a:pt x="2361" y="1769"/>
                </a:cubicBezTo>
                <a:moveTo>
                  <a:pt x="6804" y="4115"/>
                </a:moveTo>
                <a:lnTo>
                  <a:pt x="5381" y="4732"/>
                </a:lnTo>
                <a:lnTo>
                  <a:pt x="6804" y="4115"/>
                </a:lnTo>
                <a:lnTo>
                  <a:pt x="5381" y="4732"/>
                </a:lnTo>
                <a:lnTo>
                  <a:pt x="5381" y="2962"/>
                </a:lnTo>
                <a:lnTo>
                  <a:pt x="6804" y="2326"/>
                </a:lnTo>
                <a:lnTo>
                  <a:pt x="6804" y="4115"/>
                </a:lnTo>
                <a:moveTo>
                  <a:pt x="2690" y="4911"/>
                </a:moveTo>
                <a:lnTo>
                  <a:pt x="4044" y="5507"/>
                </a:lnTo>
                <a:lnTo>
                  <a:pt x="2690" y="4911"/>
                </a:lnTo>
                <a:lnTo>
                  <a:pt x="4044" y="5507"/>
                </a:lnTo>
                <a:lnTo>
                  <a:pt x="2638" y="6123"/>
                </a:lnTo>
                <a:lnTo>
                  <a:pt x="1232" y="5507"/>
                </a:lnTo>
                <a:lnTo>
                  <a:pt x="2586" y="4911"/>
                </a:lnTo>
                <a:cubicBezTo>
                  <a:pt x="2620" y="4897"/>
                  <a:pt x="2655" y="4897"/>
                  <a:pt x="2690" y="4911"/>
                </a:cubicBezTo>
                <a:moveTo>
                  <a:pt x="3020" y="8966"/>
                </a:moveTo>
                <a:lnTo>
                  <a:pt x="3020" y="6978"/>
                </a:lnTo>
                <a:lnTo>
                  <a:pt x="3020" y="8966"/>
                </a:lnTo>
                <a:lnTo>
                  <a:pt x="3020" y="6978"/>
                </a:lnTo>
                <a:lnTo>
                  <a:pt x="4444" y="6342"/>
                </a:lnTo>
                <a:lnTo>
                  <a:pt x="4444" y="8250"/>
                </a:lnTo>
                <a:lnTo>
                  <a:pt x="3020" y="8966"/>
                </a:lnTo>
                <a:moveTo>
                  <a:pt x="7308" y="4911"/>
                </a:moveTo>
                <a:cubicBezTo>
                  <a:pt x="7342" y="4897"/>
                  <a:pt x="7377" y="4897"/>
                  <a:pt x="7412" y="4911"/>
                </a:cubicBezTo>
                <a:lnTo>
                  <a:pt x="8766" y="5507"/>
                </a:lnTo>
                <a:lnTo>
                  <a:pt x="7360" y="6123"/>
                </a:lnTo>
                <a:lnTo>
                  <a:pt x="5954" y="5507"/>
                </a:lnTo>
                <a:lnTo>
                  <a:pt x="7308" y="4911"/>
                </a:lnTo>
                <a:moveTo>
                  <a:pt x="9078" y="8290"/>
                </a:moveTo>
                <a:lnTo>
                  <a:pt x="7742" y="8966"/>
                </a:lnTo>
                <a:lnTo>
                  <a:pt x="9078" y="8290"/>
                </a:lnTo>
                <a:lnTo>
                  <a:pt x="7742" y="8966"/>
                </a:lnTo>
                <a:lnTo>
                  <a:pt x="7742" y="6978"/>
                </a:lnTo>
                <a:lnTo>
                  <a:pt x="9165" y="6342"/>
                </a:lnTo>
                <a:lnTo>
                  <a:pt x="9165" y="8151"/>
                </a:lnTo>
                <a:cubicBezTo>
                  <a:pt x="9165" y="8217"/>
                  <a:pt x="9136" y="8263"/>
                  <a:pt x="9078" y="8290"/>
                </a:cubicBezTo>
              </a:path>
            </a:pathLst>
          </a:custGeom>
          <a:solidFill>
            <a:srgbClr val="FFFFFF">
              <a:alpha val="100000"/>
            </a:srgbClr>
          </a:solidFill>
          <a:ln>
            <a:headEnd type="none"/>
            <a:tailEnd type="none"/>
          </a:ln>
        </p:spPr>
      </p:sp>
      <p:sp>
        <p:nvSpPr>
          <p:cNvPr id="33" name="TextBox 32"/>
          <p:cNvSpPr txBox="1"/>
          <p:nvPr>
            <p:custDataLst>
              <p:tags r:id="rId17"/>
            </p:custDataLst>
          </p:nvPr>
        </p:nvSpPr>
        <p:spPr>
          <a:xfrm>
            <a:off x="8921750" y="2322830"/>
            <a:ext cx="166941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7+1语言本体结构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37"/>
          <p:cNvSpPr/>
          <p:nvPr>
            <p:custDataLst>
              <p:tags r:id="rId18"/>
            </p:custDataLst>
          </p:nvPr>
        </p:nvSpPr>
        <p:spPr>
          <a:xfrm>
            <a:off x="8388350" y="5968365"/>
            <a:ext cx="2952115" cy="10160"/>
          </a:xfrm>
          <a:prstGeom prst="line">
            <a:avLst/>
          </a:prstGeom>
          <a:ln w="9525">
            <a:solidFill>
              <a:srgbClr val="ECECEC">
                <a:alpha val="100000"/>
              </a:srgbClr>
            </a:solidFill>
            <a:prstDash val="solid"/>
            <a:headEnd type="none"/>
            <a:tailEnd type="none"/>
          </a:ln>
        </p:spPr>
      </p:sp>
      <p:sp>
        <p:nvSpPr>
          <p:cNvPr id="39" name="TextBox 38"/>
          <p:cNvSpPr txBox="1"/>
          <p:nvPr>
            <p:custDataLst>
              <p:tags r:id="rId19"/>
            </p:custDataLst>
          </p:nvPr>
        </p:nvSpPr>
        <p:spPr>
          <a:xfrm>
            <a:off x="8388350"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ONTOLOGY DESIGN</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9" name="TextBox 8"/>
          <p:cNvSpPr txBox="1"/>
          <p:nvPr/>
        </p:nvSpPr>
        <p:spPr>
          <a:xfrm>
            <a:off x="985520" y="1145540"/>
            <a:ext cx="1035494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SPARQL查询经Ontop透明编译为SQL，7+1语言本体同时承载形式化语义与业务约束，OBDA映射使虚拟ABox与MySQL实时同步——</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三者共同实现"用本体语言操作关系数据库"的开发体验。</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custDataLst>
              <p:tags r:id="rId20"/>
            </p:custDataLst>
          </p:nvPr>
        </p:nvSpPr>
        <p:spPr>
          <a:xfrm>
            <a:off x="1035685" y="2804795"/>
            <a:ext cx="3362960" cy="2092960"/>
          </a:xfrm>
          <a:prstGeom prst="rect">
            <a:avLst/>
          </a:prstGeom>
          <a:noFill/>
        </p:spPr>
        <p:txBody>
          <a:bodyPr wrap="square" rtlCol="0">
            <a:no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JobWorker通过BackendService发起</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SPARQL查询，Ontop拦截后将查询计划重写为等价SQL，利用MySQL索引优化执行效率。</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查询结果以Map&lt;String,String&gt;形式返回，</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包含实例IRI、属性值与类型信息，Worker据此完成</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最低价格筛选与标签匹配等业务逻辑。</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defRPr/>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2" name="文本框 41"/>
          <p:cNvSpPr txBox="1"/>
          <p:nvPr>
            <p:custDataLst>
              <p:tags r:id="rId21"/>
            </p:custDataLst>
          </p:nvPr>
        </p:nvSpPr>
        <p:spPr>
          <a:xfrm>
            <a:off x="4568190" y="2745105"/>
            <a:ext cx="3380740" cy="2799715"/>
          </a:xfrm>
          <a:prstGeom prst="rect">
            <a:avLst/>
          </a:prstGeom>
          <a:noFill/>
        </p:spPr>
        <p:txBody>
          <a:bodyPr wrap="square" rtlCol="0">
            <a:sp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Ontop mapping文件声明关系表列到OWL数</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据属性的对应规则，支持多表JOIN</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WHERE条件过滤与数据类型转换，构建虚拟RDF图谱。</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映射层缓存TBox结构但直连ABox数据源，</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确保本体推理基于最新业务数据，避免传统ETL导致的数据延迟与一致性问题。</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charset="0"/>
              <a:buChar char="Ø"/>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22"/>
            </p:custDataLst>
          </p:nvPr>
        </p:nvSpPr>
        <p:spPr>
          <a:xfrm>
            <a:off x="8258175" y="2781935"/>
            <a:ext cx="3357880" cy="2553335"/>
          </a:xfrm>
          <a:prstGeom prst="rect">
            <a:avLst/>
          </a:prstGeom>
          <a:noFill/>
        </p:spPr>
        <p:txBody>
          <a:bodyPr wrap="square" rtlCol="0">
            <a:spAutoFit/>
          </a:bodyPr>
          <a:p>
            <a:pPr marL="342900" indent="-34290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7+1语言</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允许在本体公理中嵌入默认值、约束检查与业务规则片段。</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该语言保持描述逻辑的可判定性，</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Openllet</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可正常进行类层次推理与一致性检测，同时支持</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getBestMatchedType</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等自定义语义查询接口。</a:t>
            </a: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defRPr/>
            </a:pP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10"/>
          <p:cNvSpPr/>
          <p:nvPr/>
        </p:nvSpPr>
        <p:spPr>
          <a:xfrm>
            <a:off x="619125" y="1064895"/>
            <a:ext cx="11207750" cy="74295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pPr algn="l">
              <a:buClrTx/>
              <a:buSzTx/>
              <a:buFontTx/>
            </a:pPr>
            <a:r>
              <a:rPr lang="zh-CN" altLang="en-US"/>
              <a:t>三种使用场景与精度梯度</a:t>
            </a:r>
            <a:r>
              <a:rPr lang="zh-CN" altLang="en-US" sz="2000"/>
              <a:t>（</a:t>
            </a:r>
            <a:r>
              <a:rPr kumimoji="1" lang="en-US" altLang="zh-CN" sz="2000">
                <a:latin typeface="微软雅黑" panose="020B0503020204020204" pitchFamily="34" charset="-122"/>
                <a:ea typeface="微软雅黑" panose="020B0503020204020204" pitchFamily="34" charset="-122"/>
                <a:sym typeface="+mn-ea"/>
              </a:rPr>
              <a:t>Precision Gradient &amp; Application Scenarios）</a:t>
            </a:r>
            <a:endParaRPr kumimoji="1" lang="en-US" altLang="zh-CN" sz="2000">
              <a:latin typeface="微软雅黑" panose="020B0503020204020204" pitchFamily="34" charset="-122"/>
              <a:ea typeface="微软雅黑" panose="020B0503020204020204" pitchFamily="34" charset="-122"/>
              <a:sym typeface="+mn-ea"/>
            </a:endParaRPr>
          </a:p>
        </p:txBody>
      </p:sp>
      <p:grpSp>
        <p:nvGrpSpPr>
          <p:cNvPr id="3" name="组合 2"/>
          <p:cNvGrpSpPr/>
          <p:nvPr/>
        </p:nvGrpSpPr>
        <p:grpSpPr>
          <a:xfrm>
            <a:off x="608809" y="1163372"/>
            <a:ext cx="11263904" cy="5061578"/>
            <a:chOff x="960" y="2941"/>
            <a:chExt cx="17275" cy="7439"/>
          </a:xfrm>
        </p:grpSpPr>
        <p:sp>
          <p:nvSpPr>
            <p:cNvPr id="14" name="AutoShape 14"/>
            <p:cNvSpPr/>
            <p:nvPr/>
          </p:nvSpPr>
          <p:spPr>
            <a:xfrm>
              <a:off x="960"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15" name="AutoShape 15"/>
            <p:cNvSpPr/>
            <p:nvPr/>
          </p:nvSpPr>
          <p:spPr>
            <a:xfrm>
              <a:off x="1335" y="4186"/>
              <a:ext cx="4814" cy="60"/>
            </a:xfrm>
            <a:prstGeom prst="rect">
              <a:avLst/>
            </a:prstGeom>
            <a:solidFill>
              <a:srgbClr val="C00000"/>
            </a:solidFill>
            <a:ln>
              <a:headEnd type="none"/>
              <a:tailEnd type="none"/>
            </a:ln>
          </p:spPr>
          <p:txBody>
            <a:bodyPr/>
            <a:p>
              <a:endParaRPr lang="zh-CN" altLang="en-US"/>
            </a:p>
          </p:txBody>
        </p:sp>
        <p:sp>
          <p:nvSpPr>
            <p:cNvPr id="16" name="AutoShape 16"/>
            <p:cNvSpPr/>
            <p:nvPr/>
          </p:nvSpPr>
          <p:spPr>
            <a:xfrm>
              <a:off x="1335" y="4708"/>
              <a:ext cx="780" cy="780"/>
            </a:xfrm>
            <a:prstGeom prst="ellipse">
              <a:avLst/>
            </a:prstGeom>
            <a:solidFill>
              <a:srgbClr val="C00000"/>
            </a:solidFill>
            <a:ln>
              <a:headEnd type="none"/>
              <a:tailEnd type="none"/>
            </a:ln>
          </p:spPr>
        </p:sp>
        <p:sp>
          <p:nvSpPr>
            <p:cNvPr id="17" name="AutoShape 17"/>
            <p:cNvSpPr/>
            <p:nvPr/>
          </p:nvSpPr>
          <p:spPr>
            <a:xfrm>
              <a:off x="1560" y="4933"/>
              <a:ext cx="330" cy="330"/>
            </a:xfrm>
            <a:custGeom>
              <a:avLst/>
              <a:gdLst/>
              <a:ahLst/>
              <a:cxnLst/>
              <a:rect l="l" t="t" r="r" b="b"/>
              <a:pathLst>
                <a:path w="9998" h="10000">
                  <a:moveTo>
                    <a:pt x="4999" y="0"/>
                  </a:moveTo>
                  <a:cubicBezTo>
                    <a:pt x="5096" y="0"/>
                    <a:pt x="5186" y="20"/>
                    <a:pt x="5270" y="60"/>
                  </a:cubicBezTo>
                  <a:lnTo>
                    <a:pt x="9206" y="1650"/>
                  </a:lnTo>
                  <a:cubicBezTo>
                    <a:pt x="9442" y="1742"/>
                    <a:pt x="9630" y="1888"/>
                    <a:pt x="9769" y="2087"/>
                  </a:cubicBezTo>
                  <a:cubicBezTo>
                    <a:pt x="9921" y="2286"/>
                    <a:pt x="9998" y="2518"/>
                    <a:pt x="9998" y="2783"/>
                  </a:cubicBezTo>
                  <a:cubicBezTo>
                    <a:pt x="10012" y="3459"/>
                    <a:pt x="9894" y="4254"/>
                    <a:pt x="9644" y="5169"/>
                  </a:cubicBezTo>
                  <a:cubicBezTo>
                    <a:pt x="9394" y="6083"/>
                    <a:pt x="8942" y="6971"/>
                    <a:pt x="8290" y="7833"/>
                  </a:cubicBezTo>
                  <a:cubicBezTo>
                    <a:pt x="7651" y="8707"/>
                    <a:pt x="6735" y="9430"/>
                    <a:pt x="5541" y="10000"/>
                  </a:cubicBezTo>
                  <a:cubicBezTo>
                    <a:pt x="5179" y="10159"/>
                    <a:pt x="4818" y="10159"/>
                    <a:pt x="4457" y="10000"/>
                  </a:cubicBezTo>
                  <a:cubicBezTo>
                    <a:pt x="3263" y="9430"/>
                    <a:pt x="2346" y="8707"/>
                    <a:pt x="1708" y="7833"/>
                  </a:cubicBezTo>
                  <a:cubicBezTo>
                    <a:pt x="1055" y="6971"/>
                    <a:pt x="604" y="6083"/>
                    <a:pt x="354" y="5169"/>
                  </a:cubicBezTo>
                  <a:cubicBezTo>
                    <a:pt x="104" y="4254"/>
                    <a:pt x="-14" y="3459"/>
                    <a:pt x="0" y="2783"/>
                  </a:cubicBezTo>
                  <a:cubicBezTo>
                    <a:pt x="0" y="2518"/>
                    <a:pt x="76" y="2286"/>
                    <a:pt x="229" y="2087"/>
                  </a:cubicBezTo>
                  <a:cubicBezTo>
                    <a:pt x="367" y="1888"/>
                    <a:pt x="555" y="1742"/>
                    <a:pt x="792" y="1650"/>
                  </a:cubicBezTo>
                  <a:lnTo>
                    <a:pt x="4728" y="60"/>
                  </a:lnTo>
                  <a:cubicBezTo>
                    <a:pt x="4811" y="20"/>
                    <a:pt x="4901" y="0"/>
                    <a:pt x="4999" y="0"/>
                  </a:cubicBezTo>
                  <a:moveTo>
                    <a:pt x="4999" y="1332"/>
                  </a:moveTo>
                  <a:lnTo>
                    <a:pt x="4999" y="8847"/>
                  </a:lnTo>
                  <a:lnTo>
                    <a:pt x="4999" y="1332"/>
                  </a:lnTo>
                  <a:lnTo>
                    <a:pt x="4999" y="8847"/>
                  </a:lnTo>
                  <a:cubicBezTo>
                    <a:pt x="5943" y="8383"/>
                    <a:pt x="6686" y="7793"/>
                    <a:pt x="7228" y="7078"/>
                  </a:cubicBezTo>
                  <a:cubicBezTo>
                    <a:pt x="7755" y="6362"/>
                    <a:pt x="8130" y="5626"/>
                    <a:pt x="8352" y="4871"/>
                  </a:cubicBezTo>
                  <a:cubicBezTo>
                    <a:pt x="8560" y="4102"/>
                    <a:pt x="8665" y="3413"/>
                    <a:pt x="8665" y="2803"/>
                  </a:cubicBezTo>
                  <a:lnTo>
                    <a:pt x="4999" y="1332"/>
                  </a:lnTo>
                </a:path>
              </a:pathLst>
            </a:custGeom>
            <a:solidFill>
              <a:srgbClr val="FFFFFF">
                <a:alpha val="100000"/>
              </a:srgbClr>
            </a:solidFill>
            <a:ln>
              <a:headEnd type="none"/>
              <a:tailEnd type="none"/>
            </a:ln>
          </p:spPr>
        </p:sp>
        <p:sp>
          <p:nvSpPr>
            <p:cNvPr id="18" name="TextBox 18"/>
            <p:cNvSpPr txBox="1"/>
            <p:nvPr/>
          </p:nvSpPr>
          <p:spPr>
            <a:xfrm>
              <a:off x="2294" y="4695"/>
              <a:ext cx="1102"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100%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19" name="TextBox 19"/>
            <p:cNvSpPr txBox="1"/>
            <p:nvPr/>
          </p:nvSpPr>
          <p:spPr>
            <a:xfrm>
              <a:off x="2294" y="5248"/>
              <a:ext cx="997"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精确推理</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TextBox 20"/>
            <p:cNvSpPr txBox="1"/>
            <p:nvPr/>
          </p:nvSpPr>
          <p:spPr>
            <a:xfrm>
              <a:off x="1353"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100%精确推理场景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Box 22"/>
            <p:cNvSpPr txBox="1"/>
            <p:nvPr/>
          </p:nvSpPr>
          <p:spPr>
            <a:xfrm>
              <a:off x="1563" y="6705"/>
              <a:ext cx="4599" cy="3013"/>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通过大模型录入各类语料打造精确本体，用提示</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词工程确定客户需求后输入本体封装框架，由本体独立完成精确推理。</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适用于金融合规、医疗诊断、安全审计等零容错</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领域，推理结果完全由形式化语义保证，不依赖概率模型。</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5" name="AutoShape 25"/>
            <p:cNvSpPr/>
            <p:nvPr/>
          </p:nvSpPr>
          <p:spPr>
            <a:xfrm>
              <a:off x="6818" y="4171"/>
              <a:ext cx="5559"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26" name="AutoShape 26"/>
            <p:cNvSpPr/>
            <p:nvPr/>
          </p:nvSpPr>
          <p:spPr>
            <a:xfrm>
              <a:off x="7193" y="4186"/>
              <a:ext cx="4814" cy="60"/>
            </a:xfrm>
            <a:prstGeom prst="rect">
              <a:avLst/>
            </a:prstGeom>
            <a:solidFill>
              <a:srgbClr val="C00000"/>
            </a:solidFill>
            <a:ln>
              <a:headEnd type="none"/>
              <a:tailEnd type="none"/>
            </a:ln>
          </p:spPr>
        </p:sp>
        <p:sp>
          <p:nvSpPr>
            <p:cNvPr id="27" name="AutoShape 27"/>
            <p:cNvSpPr/>
            <p:nvPr/>
          </p:nvSpPr>
          <p:spPr>
            <a:xfrm>
              <a:off x="7193" y="4708"/>
              <a:ext cx="780" cy="780"/>
            </a:xfrm>
            <a:prstGeom prst="ellipse">
              <a:avLst/>
            </a:prstGeom>
            <a:solidFill>
              <a:srgbClr val="C00000"/>
            </a:solidFill>
            <a:ln>
              <a:headEnd type="none"/>
              <a:tailEnd type="none"/>
            </a:ln>
          </p:spPr>
        </p:sp>
        <p:sp>
          <p:nvSpPr>
            <p:cNvPr id="28" name="AutoShape 28"/>
            <p:cNvSpPr/>
            <p:nvPr/>
          </p:nvSpPr>
          <p:spPr>
            <a:xfrm>
              <a:off x="7418" y="5563"/>
              <a:ext cx="330" cy="330"/>
            </a:xfrm>
            <a:custGeom>
              <a:avLst/>
              <a:gdLst/>
              <a:ahLst/>
              <a:cxnLst/>
              <a:rect l="l" t="t" r="r" b="b"/>
              <a:pathLst>
                <a:path w="9998" h="10000">
                  <a:moveTo>
                    <a:pt x="1854" y="3779"/>
                  </a:moveTo>
                  <a:cubicBezTo>
                    <a:pt x="2020" y="3256"/>
                    <a:pt x="2284" y="2795"/>
                    <a:pt x="2645" y="2396"/>
                  </a:cubicBezTo>
                  <a:cubicBezTo>
                    <a:pt x="3325" y="1674"/>
                    <a:pt x="4110" y="1313"/>
                    <a:pt x="4999" y="1313"/>
                  </a:cubicBezTo>
                  <a:cubicBezTo>
                    <a:pt x="5887" y="1313"/>
                    <a:pt x="6672" y="1674"/>
                    <a:pt x="7353" y="2396"/>
                  </a:cubicBezTo>
                  <a:lnTo>
                    <a:pt x="7707" y="2788"/>
                  </a:lnTo>
                  <a:lnTo>
                    <a:pt x="6999" y="2788"/>
                  </a:lnTo>
                  <a:cubicBezTo>
                    <a:pt x="6804" y="2788"/>
                    <a:pt x="6644" y="2857"/>
                    <a:pt x="6520" y="2995"/>
                  </a:cubicBezTo>
                  <a:cubicBezTo>
                    <a:pt x="6394" y="3133"/>
                    <a:pt x="6332" y="3310"/>
                    <a:pt x="6332" y="3525"/>
                  </a:cubicBezTo>
                  <a:cubicBezTo>
                    <a:pt x="6332" y="3740"/>
                    <a:pt x="6394" y="3917"/>
                    <a:pt x="6520" y="4055"/>
                  </a:cubicBezTo>
                  <a:cubicBezTo>
                    <a:pt x="6644" y="4193"/>
                    <a:pt x="6804" y="4263"/>
                    <a:pt x="6999" y="4263"/>
                  </a:cubicBezTo>
                  <a:lnTo>
                    <a:pt x="9331" y="4263"/>
                  </a:lnTo>
                  <a:cubicBezTo>
                    <a:pt x="9331" y="4263"/>
                    <a:pt x="9331" y="4263"/>
                    <a:pt x="9331" y="4263"/>
                  </a:cubicBezTo>
                  <a:cubicBezTo>
                    <a:pt x="9331" y="4263"/>
                    <a:pt x="9331" y="4263"/>
                    <a:pt x="9331" y="4263"/>
                  </a:cubicBezTo>
                  <a:cubicBezTo>
                    <a:pt x="9525" y="4263"/>
                    <a:pt x="9685" y="4193"/>
                    <a:pt x="9811" y="4055"/>
                  </a:cubicBezTo>
                  <a:cubicBezTo>
                    <a:pt x="9935" y="3917"/>
                    <a:pt x="9998" y="3740"/>
                    <a:pt x="9998" y="3525"/>
                  </a:cubicBezTo>
                  <a:lnTo>
                    <a:pt x="9998" y="945"/>
                  </a:lnTo>
                  <a:cubicBezTo>
                    <a:pt x="9998" y="729"/>
                    <a:pt x="9935" y="553"/>
                    <a:pt x="9811" y="415"/>
                  </a:cubicBezTo>
                  <a:cubicBezTo>
                    <a:pt x="9685" y="276"/>
                    <a:pt x="9525" y="207"/>
                    <a:pt x="9331" y="207"/>
                  </a:cubicBezTo>
                  <a:cubicBezTo>
                    <a:pt x="9137" y="207"/>
                    <a:pt x="8977" y="276"/>
                    <a:pt x="8852" y="415"/>
                  </a:cubicBezTo>
                  <a:cubicBezTo>
                    <a:pt x="8727" y="553"/>
                    <a:pt x="8665" y="729"/>
                    <a:pt x="8665" y="945"/>
                  </a:cubicBezTo>
                  <a:lnTo>
                    <a:pt x="8665" y="1751"/>
                  </a:lnTo>
                  <a:lnTo>
                    <a:pt x="8290" y="1359"/>
                  </a:lnTo>
                  <a:cubicBezTo>
                    <a:pt x="7679" y="683"/>
                    <a:pt x="6978" y="230"/>
                    <a:pt x="6186" y="0"/>
                  </a:cubicBezTo>
                  <a:cubicBezTo>
                    <a:pt x="5394" y="-215"/>
                    <a:pt x="4603" y="-215"/>
                    <a:pt x="3812" y="0"/>
                  </a:cubicBezTo>
                  <a:cubicBezTo>
                    <a:pt x="3020" y="230"/>
                    <a:pt x="2318" y="683"/>
                    <a:pt x="1708" y="1359"/>
                  </a:cubicBezTo>
                  <a:cubicBezTo>
                    <a:pt x="1194" y="1927"/>
                    <a:pt x="826" y="2565"/>
                    <a:pt x="604" y="3272"/>
                  </a:cubicBezTo>
                  <a:cubicBezTo>
                    <a:pt x="548" y="3471"/>
                    <a:pt x="555" y="3663"/>
                    <a:pt x="625" y="3848"/>
                  </a:cubicBezTo>
                  <a:cubicBezTo>
                    <a:pt x="708" y="4016"/>
                    <a:pt x="833" y="4139"/>
                    <a:pt x="1000" y="4217"/>
                  </a:cubicBezTo>
                  <a:cubicBezTo>
                    <a:pt x="1180" y="4278"/>
                    <a:pt x="1354" y="4270"/>
                    <a:pt x="1521" y="4194"/>
                  </a:cubicBezTo>
                  <a:cubicBezTo>
                    <a:pt x="1673" y="4101"/>
                    <a:pt x="1784" y="3963"/>
                    <a:pt x="1854" y="3779"/>
                  </a:cubicBezTo>
                  <a:moveTo>
                    <a:pt x="479" y="5760"/>
                  </a:moveTo>
                  <a:cubicBezTo>
                    <a:pt x="367" y="5806"/>
                    <a:pt x="270" y="5875"/>
                    <a:pt x="187" y="5968"/>
                  </a:cubicBezTo>
                  <a:cubicBezTo>
                    <a:pt x="103" y="6060"/>
                    <a:pt x="48" y="6167"/>
                    <a:pt x="21" y="6290"/>
                  </a:cubicBezTo>
                  <a:cubicBezTo>
                    <a:pt x="21" y="6305"/>
                    <a:pt x="14" y="6328"/>
                    <a:pt x="0" y="6359"/>
                  </a:cubicBezTo>
                  <a:cubicBezTo>
                    <a:pt x="0" y="6405"/>
                    <a:pt x="0" y="6444"/>
                    <a:pt x="0" y="6475"/>
                  </a:cubicBezTo>
                  <a:lnTo>
                    <a:pt x="0" y="9055"/>
                  </a:lnTo>
                  <a:cubicBezTo>
                    <a:pt x="0" y="9270"/>
                    <a:pt x="62" y="9447"/>
                    <a:pt x="187" y="9585"/>
                  </a:cubicBezTo>
                  <a:cubicBezTo>
                    <a:pt x="312" y="9723"/>
                    <a:pt x="472" y="9793"/>
                    <a:pt x="667" y="9793"/>
                  </a:cubicBezTo>
                  <a:cubicBezTo>
                    <a:pt x="861" y="9793"/>
                    <a:pt x="1020" y="9723"/>
                    <a:pt x="1146" y="9585"/>
                  </a:cubicBezTo>
                  <a:cubicBezTo>
                    <a:pt x="1270" y="9447"/>
                    <a:pt x="1333" y="9270"/>
                    <a:pt x="1333" y="9055"/>
                  </a:cubicBezTo>
                  <a:lnTo>
                    <a:pt x="1333" y="8249"/>
                  </a:lnTo>
                  <a:lnTo>
                    <a:pt x="1708" y="8641"/>
                  </a:lnTo>
                  <a:cubicBezTo>
                    <a:pt x="2318" y="9316"/>
                    <a:pt x="3020" y="9769"/>
                    <a:pt x="3812" y="10000"/>
                  </a:cubicBezTo>
                  <a:cubicBezTo>
                    <a:pt x="4603" y="10215"/>
                    <a:pt x="5394" y="10215"/>
                    <a:pt x="6186" y="10000"/>
                  </a:cubicBezTo>
                  <a:cubicBezTo>
                    <a:pt x="6978" y="9769"/>
                    <a:pt x="7679" y="9316"/>
                    <a:pt x="8290" y="8641"/>
                  </a:cubicBezTo>
                  <a:cubicBezTo>
                    <a:pt x="8804" y="8072"/>
                    <a:pt x="9172" y="7434"/>
                    <a:pt x="9394" y="6728"/>
                  </a:cubicBezTo>
                  <a:cubicBezTo>
                    <a:pt x="9449" y="6528"/>
                    <a:pt x="9442" y="6336"/>
                    <a:pt x="9373" y="6152"/>
                  </a:cubicBezTo>
                  <a:cubicBezTo>
                    <a:pt x="9289" y="5983"/>
                    <a:pt x="9164" y="5860"/>
                    <a:pt x="8998" y="5783"/>
                  </a:cubicBezTo>
                  <a:cubicBezTo>
                    <a:pt x="8817" y="5721"/>
                    <a:pt x="8643" y="5729"/>
                    <a:pt x="8477" y="5806"/>
                  </a:cubicBezTo>
                  <a:cubicBezTo>
                    <a:pt x="8324" y="5898"/>
                    <a:pt x="8213" y="6037"/>
                    <a:pt x="8144" y="6221"/>
                  </a:cubicBezTo>
                  <a:cubicBezTo>
                    <a:pt x="7977" y="6743"/>
                    <a:pt x="7713" y="7204"/>
                    <a:pt x="7353" y="7604"/>
                  </a:cubicBezTo>
                  <a:cubicBezTo>
                    <a:pt x="6672" y="8326"/>
                    <a:pt x="5887" y="8687"/>
                    <a:pt x="4999" y="8687"/>
                  </a:cubicBezTo>
                  <a:cubicBezTo>
                    <a:pt x="4110" y="8687"/>
                    <a:pt x="3325" y="8326"/>
                    <a:pt x="2645" y="7604"/>
                  </a:cubicBezTo>
                  <a:lnTo>
                    <a:pt x="2291" y="7212"/>
                  </a:lnTo>
                  <a:lnTo>
                    <a:pt x="2999" y="7212"/>
                  </a:lnTo>
                  <a:cubicBezTo>
                    <a:pt x="3193" y="7212"/>
                    <a:pt x="3353" y="7143"/>
                    <a:pt x="3478" y="7005"/>
                  </a:cubicBezTo>
                  <a:cubicBezTo>
                    <a:pt x="3603" y="6866"/>
                    <a:pt x="3666" y="6689"/>
                    <a:pt x="3666" y="6475"/>
                  </a:cubicBezTo>
                  <a:cubicBezTo>
                    <a:pt x="3666" y="6259"/>
                    <a:pt x="3603" y="6083"/>
                    <a:pt x="3478" y="5945"/>
                  </a:cubicBezTo>
                  <a:cubicBezTo>
                    <a:pt x="3353" y="5806"/>
                    <a:pt x="3193" y="5737"/>
                    <a:pt x="2999" y="5737"/>
                  </a:cubicBezTo>
                  <a:lnTo>
                    <a:pt x="667" y="5737"/>
                  </a:lnTo>
                  <a:cubicBezTo>
                    <a:pt x="639" y="5737"/>
                    <a:pt x="611" y="5737"/>
                    <a:pt x="583" y="5737"/>
                  </a:cubicBezTo>
                  <a:cubicBezTo>
                    <a:pt x="541" y="5752"/>
                    <a:pt x="507" y="5760"/>
                    <a:pt x="479" y="5760"/>
                  </a:cubicBezTo>
                </a:path>
              </a:pathLst>
            </a:custGeom>
            <a:solidFill>
              <a:srgbClr val="FFFFFF">
                <a:alpha val="100000"/>
              </a:srgbClr>
            </a:solidFill>
            <a:ln>
              <a:headEnd type="none"/>
              <a:tailEnd type="none"/>
            </a:ln>
          </p:spPr>
        </p:sp>
        <p:sp>
          <p:nvSpPr>
            <p:cNvPr id="29" name="TextBox 29"/>
            <p:cNvSpPr txBox="1"/>
            <p:nvPr/>
          </p:nvSpPr>
          <p:spPr>
            <a:xfrm>
              <a:off x="8153"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~95%+</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30" name="TextBox 30"/>
            <p:cNvSpPr txBox="1"/>
            <p:nvPr/>
          </p:nvSpPr>
          <p:spPr>
            <a:xfrm>
              <a:off x="8153"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混合验证</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1" name="TextBox 31"/>
            <p:cNvSpPr txBox="1"/>
            <p:nvPr/>
          </p:nvSpPr>
          <p:spPr>
            <a:xfrm>
              <a:off x="7212"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高准确度混合验证场景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33" name="TextBox 33"/>
            <p:cNvSpPr txBox="1"/>
            <p:nvPr/>
          </p:nvSpPr>
          <p:spPr>
            <a:xfrm>
              <a:off x="7154" y="6705"/>
              <a:ext cx="4599" cy="2350"/>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将精确本体直接导入大模型，由大模型生成初步</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结果后交由本体系统验证合法性，不合法则触发重新生成。</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准确度要求大于90%时采用此模式，兼顾大模型</a:t>
              </a:r>
              <a:r>
                <a:rPr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的灵活性与本体的严格校验，形成生成-验证闭环。</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AutoShape 36"/>
            <p:cNvSpPr/>
            <p:nvPr/>
          </p:nvSpPr>
          <p:spPr>
            <a:xfrm>
              <a:off x="12677"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37" name="AutoShape 37"/>
            <p:cNvSpPr/>
            <p:nvPr/>
          </p:nvSpPr>
          <p:spPr>
            <a:xfrm>
              <a:off x="13052" y="4186"/>
              <a:ext cx="4814" cy="60"/>
            </a:xfrm>
            <a:prstGeom prst="rect">
              <a:avLst/>
            </a:prstGeom>
            <a:solidFill>
              <a:srgbClr val="C00000"/>
            </a:solidFill>
            <a:ln>
              <a:headEnd type="none"/>
              <a:tailEnd type="none"/>
            </a:ln>
          </p:spPr>
        </p:sp>
        <p:sp>
          <p:nvSpPr>
            <p:cNvPr id="38" name="AutoShape 38"/>
            <p:cNvSpPr/>
            <p:nvPr/>
          </p:nvSpPr>
          <p:spPr>
            <a:xfrm>
              <a:off x="13052" y="4875"/>
              <a:ext cx="780" cy="780"/>
            </a:xfrm>
            <a:prstGeom prst="ellipse">
              <a:avLst/>
            </a:prstGeom>
            <a:solidFill>
              <a:srgbClr val="C00000"/>
            </a:solidFill>
            <a:ln>
              <a:headEnd type="none"/>
              <a:tailEnd type="none"/>
            </a:ln>
          </p:spPr>
        </p:sp>
        <p:sp>
          <p:nvSpPr>
            <p:cNvPr id="39" name="AutoShape 39"/>
            <p:cNvSpPr/>
            <p:nvPr/>
          </p:nvSpPr>
          <p:spPr>
            <a:xfrm>
              <a:off x="13277" y="5731"/>
              <a:ext cx="330" cy="330"/>
            </a:xfrm>
            <a:custGeom>
              <a:avLst/>
              <a:gdLst/>
              <a:ahLst/>
              <a:cxnLst/>
              <a:rect l="l" t="t" r="r" b="b"/>
              <a:pathLst>
                <a:path w="9998" h="10000">
                  <a:moveTo>
                    <a:pt x="3031" y="7559"/>
                  </a:moveTo>
                  <a:lnTo>
                    <a:pt x="2421" y="6949"/>
                  </a:lnTo>
                  <a:lnTo>
                    <a:pt x="3031" y="7559"/>
                  </a:lnTo>
                  <a:lnTo>
                    <a:pt x="2421" y="6949"/>
                  </a:lnTo>
                  <a:cubicBezTo>
                    <a:pt x="2250" y="6765"/>
                    <a:pt x="2197" y="6555"/>
                    <a:pt x="2263" y="6319"/>
                  </a:cubicBezTo>
                  <a:cubicBezTo>
                    <a:pt x="2329" y="6135"/>
                    <a:pt x="2407" y="5912"/>
                    <a:pt x="2499" y="5650"/>
                  </a:cubicBezTo>
                  <a:lnTo>
                    <a:pt x="413" y="5650"/>
                  </a:lnTo>
                  <a:cubicBezTo>
                    <a:pt x="229" y="5650"/>
                    <a:pt x="92" y="5571"/>
                    <a:pt x="0" y="5413"/>
                  </a:cubicBezTo>
                  <a:cubicBezTo>
                    <a:pt x="-78" y="5255"/>
                    <a:pt x="-78" y="5098"/>
                    <a:pt x="0" y="4941"/>
                  </a:cubicBezTo>
                  <a:lnTo>
                    <a:pt x="1043" y="3189"/>
                  </a:lnTo>
                  <a:cubicBezTo>
                    <a:pt x="1318" y="2743"/>
                    <a:pt x="1725" y="2513"/>
                    <a:pt x="2263" y="2500"/>
                  </a:cubicBezTo>
                  <a:lnTo>
                    <a:pt x="3877" y="2500"/>
                  </a:lnTo>
                  <a:cubicBezTo>
                    <a:pt x="3929" y="2421"/>
                    <a:pt x="3975" y="2349"/>
                    <a:pt x="4015" y="2283"/>
                  </a:cubicBezTo>
                  <a:cubicBezTo>
                    <a:pt x="4566" y="1495"/>
                    <a:pt x="5170" y="931"/>
                    <a:pt x="5826" y="591"/>
                  </a:cubicBezTo>
                  <a:cubicBezTo>
                    <a:pt x="6482" y="249"/>
                    <a:pt x="7131" y="52"/>
                    <a:pt x="7774" y="0"/>
                  </a:cubicBezTo>
                  <a:cubicBezTo>
                    <a:pt x="8416" y="-39"/>
                    <a:pt x="8981" y="-13"/>
                    <a:pt x="9467" y="79"/>
                  </a:cubicBezTo>
                  <a:cubicBezTo>
                    <a:pt x="9703" y="144"/>
                    <a:pt x="9853" y="295"/>
                    <a:pt x="9919" y="531"/>
                  </a:cubicBezTo>
                  <a:cubicBezTo>
                    <a:pt x="10011" y="1017"/>
                    <a:pt x="10037" y="1581"/>
                    <a:pt x="9998" y="2224"/>
                  </a:cubicBezTo>
                  <a:cubicBezTo>
                    <a:pt x="9945" y="2867"/>
                    <a:pt x="9748" y="3517"/>
                    <a:pt x="9408" y="4173"/>
                  </a:cubicBezTo>
                  <a:cubicBezTo>
                    <a:pt x="9066" y="4829"/>
                    <a:pt x="8502" y="5432"/>
                    <a:pt x="7715" y="5984"/>
                  </a:cubicBezTo>
                  <a:cubicBezTo>
                    <a:pt x="7649" y="6023"/>
                    <a:pt x="7577" y="6069"/>
                    <a:pt x="7499" y="6122"/>
                  </a:cubicBezTo>
                  <a:lnTo>
                    <a:pt x="7499" y="7736"/>
                  </a:lnTo>
                  <a:cubicBezTo>
                    <a:pt x="7485" y="8274"/>
                    <a:pt x="7256" y="8681"/>
                    <a:pt x="6810" y="8957"/>
                  </a:cubicBezTo>
                  <a:lnTo>
                    <a:pt x="5058" y="10000"/>
                  </a:lnTo>
                  <a:cubicBezTo>
                    <a:pt x="4900" y="10078"/>
                    <a:pt x="4743" y="10078"/>
                    <a:pt x="4586" y="10000"/>
                  </a:cubicBezTo>
                  <a:cubicBezTo>
                    <a:pt x="4428" y="9908"/>
                    <a:pt x="4350" y="9770"/>
                    <a:pt x="4350" y="9587"/>
                  </a:cubicBezTo>
                  <a:lnTo>
                    <a:pt x="4350" y="7480"/>
                  </a:lnTo>
                  <a:cubicBezTo>
                    <a:pt x="4074" y="7572"/>
                    <a:pt x="3837" y="7651"/>
                    <a:pt x="3641" y="7717"/>
                  </a:cubicBezTo>
                  <a:cubicBezTo>
                    <a:pt x="3405" y="7782"/>
                    <a:pt x="3201" y="7729"/>
                    <a:pt x="3031" y="7559"/>
                  </a:cubicBezTo>
                  <a:moveTo>
                    <a:pt x="7499" y="3287"/>
                  </a:moveTo>
                  <a:cubicBezTo>
                    <a:pt x="7800" y="3274"/>
                    <a:pt x="8029" y="3143"/>
                    <a:pt x="8187" y="2894"/>
                  </a:cubicBezTo>
                  <a:cubicBezTo>
                    <a:pt x="8318" y="2631"/>
                    <a:pt x="8318" y="2368"/>
                    <a:pt x="8187" y="2106"/>
                  </a:cubicBezTo>
                  <a:cubicBezTo>
                    <a:pt x="8029" y="1856"/>
                    <a:pt x="7800" y="1725"/>
                    <a:pt x="7499" y="1713"/>
                  </a:cubicBezTo>
                  <a:cubicBezTo>
                    <a:pt x="7197" y="1725"/>
                    <a:pt x="6967" y="1856"/>
                    <a:pt x="6810" y="2106"/>
                  </a:cubicBezTo>
                  <a:cubicBezTo>
                    <a:pt x="6678" y="2368"/>
                    <a:pt x="6678" y="2631"/>
                    <a:pt x="6810" y="2894"/>
                  </a:cubicBezTo>
                  <a:cubicBezTo>
                    <a:pt x="6967" y="3143"/>
                    <a:pt x="7197" y="3274"/>
                    <a:pt x="7499" y="3287"/>
                  </a:cubicBezTo>
                </a:path>
              </a:pathLst>
            </a:custGeom>
            <a:solidFill>
              <a:srgbClr val="FFFFFF">
                <a:alpha val="100000"/>
              </a:srgbClr>
            </a:solidFill>
            <a:ln>
              <a:headEnd type="none"/>
              <a:tailEnd type="none"/>
            </a:ln>
          </p:spPr>
        </p:sp>
        <p:sp>
          <p:nvSpPr>
            <p:cNvPr id="40" name="TextBox 40"/>
            <p:cNvSpPr txBox="1"/>
            <p:nvPr/>
          </p:nvSpPr>
          <p:spPr>
            <a:xfrm>
              <a:off x="14011"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41" name="TextBox 41"/>
            <p:cNvSpPr txBox="1"/>
            <p:nvPr/>
          </p:nvSpPr>
          <p:spPr>
            <a:xfrm>
              <a:off x="14011"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快速探索</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2" name="TextBox 42"/>
            <p:cNvSpPr txBox="1"/>
            <p:nvPr/>
          </p:nvSpPr>
          <p:spPr>
            <a:xfrm>
              <a:off x="13070"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低要求快速探索场景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44" name="TextBox 44"/>
            <p:cNvSpPr txBox="1"/>
            <p:nvPr/>
          </p:nvSpPr>
          <p:spPr>
            <a:xfrm>
              <a:off x="13023" y="6705"/>
              <a:ext cx="4599" cy="2817"/>
            </a:xfrm>
            <a:prstGeom prst="rect">
              <a:avLst/>
            </a:prstGeom>
            <a:ln>
              <a:headEnd type="none"/>
              <a:tailEnd type="none"/>
            </a:ln>
          </p:spPr>
          <p:txBody>
            <a:bodyPr vert="horz" wrap="square" lIns="0" tIns="0" rIns="0" bIns="0" rtlCol="0" anchor="t" anchorCtr="0"/>
            <a:lstStyle/>
            <a:p>
              <a:pPr marL="285750" indent="-2857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利用本体打造基础版本导入大模型，由大模型完</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成主要推理任务，本体框架仅做合理性检查而非精确验证。</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适用于创意生成、内部探索、原型验证等容忍度</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较高的场景，以最低成本获得可用结果。</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13" name="TextBox 13"/>
            <p:cNvSpPr txBox="1"/>
            <p:nvPr/>
          </p:nvSpPr>
          <p:spPr>
            <a:xfrm>
              <a:off x="1275" y="2941"/>
              <a:ext cx="16680" cy="604"/>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根据业务准确度要求分为三档：100%精确场景由本体框架独立完成推理；高准确度场景采用大模型生成加本体验证的闭环模式；低要求场景由大模型主导推理、本体仅</a:t>
              </a:r>
              <a:r>
                <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做合理性检查。</a:t>
              </a:r>
              <a:endPar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AutoShape 10"/>
          <p:cNvSpPr/>
          <p:nvPr/>
        </p:nvSpPr>
        <p:spPr>
          <a:xfrm>
            <a:off x="762000" y="1274445"/>
            <a:ext cx="10665460" cy="80137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r>
              <a:rPr lang="zh-CN" altLang="en-US"/>
              <a:t>架构核心价值</a:t>
            </a:r>
            <a:endParaRPr lang="zh-CN" altLang="en-US"/>
          </a:p>
        </p:txBody>
      </p:sp>
      <p:sp>
        <p:nvSpPr>
          <p:cNvPr id="8" name="AutoShape 8"/>
          <p:cNvSpPr/>
          <p:nvPr>
            <p:custDataLst>
              <p:tags r:id="rId2"/>
            </p:custDataLst>
          </p:nvPr>
        </p:nvSpPr>
        <p:spPr>
          <a:xfrm>
            <a:off x="761810"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9" name="AutoShape 9"/>
          <p:cNvSpPr/>
          <p:nvPr>
            <p:custDataLst>
              <p:tags r:id="rId3"/>
            </p:custDataLst>
          </p:nvPr>
        </p:nvSpPr>
        <p:spPr>
          <a:xfrm>
            <a:off x="761810" y="2205335"/>
            <a:ext cx="3402700" cy="9525"/>
          </a:xfrm>
          <a:prstGeom prst="line">
            <a:avLst/>
          </a:prstGeom>
          <a:ln w="28575">
            <a:solidFill>
              <a:srgbClr val="C00000">
                <a:alpha val="100000"/>
              </a:srgbClr>
            </a:solidFill>
            <a:prstDash val="solid"/>
            <a:headEnd type="none"/>
            <a:tailEnd type="none"/>
          </a:ln>
        </p:spPr>
      </p:sp>
      <p:sp>
        <p:nvSpPr>
          <p:cNvPr id="10" name="AutoShape 10"/>
          <p:cNvSpPr/>
          <p:nvPr>
            <p:custDataLst>
              <p:tags r:id="rId4"/>
            </p:custDataLst>
          </p:nvPr>
        </p:nvSpPr>
        <p:spPr>
          <a:xfrm>
            <a:off x="2363512" y="2759065"/>
            <a:ext cx="380905" cy="381000"/>
          </a:xfrm>
          <a:custGeom>
            <a:avLst/>
            <a:gdLst/>
            <a:ahLst/>
            <a:cxnLst/>
            <a:rect l="l" t="t" r="r" b="b"/>
            <a:pathLst>
              <a:path w="9998" h="10000">
                <a:moveTo>
                  <a:pt x="7889" y="0"/>
                </a:moveTo>
                <a:cubicBezTo>
                  <a:pt x="8136" y="-105"/>
                  <a:pt x="8364" y="-52"/>
                  <a:pt x="8573" y="158"/>
                </a:cubicBezTo>
                <a:lnTo>
                  <a:pt x="9822" y="1599"/>
                </a:lnTo>
                <a:cubicBezTo>
                  <a:pt x="9939" y="1749"/>
                  <a:pt x="9998" y="1921"/>
                  <a:pt x="9998" y="2117"/>
                </a:cubicBezTo>
                <a:cubicBezTo>
                  <a:pt x="9998" y="2312"/>
                  <a:pt x="9939" y="2485"/>
                  <a:pt x="9822" y="2635"/>
                </a:cubicBezTo>
                <a:lnTo>
                  <a:pt x="8573" y="4077"/>
                </a:lnTo>
                <a:cubicBezTo>
                  <a:pt x="8364" y="4287"/>
                  <a:pt x="8136" y="4332"/>
                  <a:pt x="7889" y="4212"/>
                </a:cubicBezTo>
                <a:cubicBezTo>
                  <a:pt x="7641" y="4092"/>
                  <a:pt x="7511" y="3874"/>
                  <a:pt x="7499" y="3559"/>
                </a:cubicBezTo>
                <a:lnTo>
                  <a:pt x="7499" y="2838"/>
                </a:lnTo>
                <a:lnTo>
                  <a:pt x="6874" y="2838"/>
                </a:lnTo>
                <a:cubicBezTo>
                  <a:pt x="6665" y="2838"/>
                  <a:pt x="6496" y="2935"/>
                  <a:pt x="6366" y="3131"/>
                </a:cubicBezTo>
                <a:lnTo>
                  <a:pt x="5546" y="4392"/>
                </a:lnTo>
                <a:lnTo>
                  <a:pt x="4765" y="3198"/>
                </a:lnTo>
                <a:lnTo>
                  <a:pt x="5370" y="2252"/>
                </a:lnTo>
                <a:cubicBezTo>
                  <a:pt x="5760" y="1696"/>
                  <a:pt x="6262" y="1411"/>
                  <a:pt x="6874" y="1396"/>
                </a:cubicBezTo>
                <a:lnTo>
                  <a:pt x="7499" y="1396"/>
                </a:lnTo>
                <a:lnTo>
                  <a:pt x="7499" y="676"/>
                </a:lnTo>
                <a:cubicBezTo>
                  <a:pt x="7511" y="360"/>
                  <a:pt x="7641" y="135"/>
                  <a:pt x="7889" y="0"/>
                </a:cubicBezTo>
                <a:moveTo>
                  <a:pt x="3202" y="5608"/>
                </a:moveTo>
                <a:lnTo>
                  <a:pt x="3984" y="6802"/>
                </a:lnTo>
                <a:lnTo>
                  <a:pt x="3202" y="5608"/>
                </a:lnTo>
                <a:lnTo>
                  <a:pt x="3984" y="6802"/>
                </a:lnTo>
                <a:lnTo>
                  <a:pt x="3378" y="7748"/>
                </a:lnTo>
                <a:cubicBezTo>
                  <a:pt x="2987" y="8303"/>
                  <a:pt x="2486" y="8588"/>
                  <a:pt x="1875" y="8604"/>
                </a:cubicBezTo>
                <a:lnTo>
                  <a:pt x="625" y="8604"/>
                </a:lnTo>
                <a:cubicBezTo>
                  <a:pt x="442" y="8604"/>
                  <a:pt x="292" y="8536"/>
                  <a:pt x="176" y="8401"/>
                </a:cubicBezTo>
                <a:cubicBezTo>
                  <a:pt x="58" y="8265"/>
                  <a:pt x="0" y="8093"/>
                  <a:pt x="0" y="7883"/>
                </a:cubicBezTo>
                <a:cubicBezTo>
                  <a:pt x="0" y="7673"/>
                  <a:pt x="58" y="7500"/>
                  <a:pt x="176" y="7365"/>
                </a:cubicBezTo>
                <a:cubicBezTo>
                  <a:pt x="292" y="7229"/>
                  <a:pt x="442" y="7162"/>
                  <a:pt x="625" y="7162"/>
                </a:cubicBezTo>
                <a:lnTo>
                  <a:pt x="1875" y="7162"/>
                </a:lnTo>
                <a:cubicBezTo>
                  <a:pt x="2083" y="7162"/>
                  <a:pt x="2252" y="7064"/>
                  <a:pt x="2382" y="6869"/>
                </a:cubicBezTo>
                <a:lnTo>
                  <a:pt x="3202" y="5608"/>
                </a:lnTo>
                <a:moveTo>
                  <a:pt x="8573" y="9842"/>
                </a:moveTo>
                <a:cubicBezTo>
                  <a:pt x="8364" y="10052"/>
                  <a:pt x="8136" y="10105"/>
                  <a:pt x="7889" y="10000"/>
                </a:cubicBezTo>
                <a:cubicBezTo>
                  <a:pt x="7641" y="9864"/>
                  <a:pt x="7511" y="9639"/>
                  <a:pt x="7499" y="9324"/>
                </a:cubicBezTo>
                <a:lnTo>
                  <a:pt x="7499" y="8604"/>
                </a:lnTo>
                <a:lnTo>
                  <a:pt x="6874" y="8604"/>
                </a:lnTo>
                <a:cubicBezTo>
                  <a:pt x="6262" y="8588"/>
                  <a:pt x="5760" y="8303"/>
                  <a:pt x="5370" y="7748"/>
                </a:cubicBezTo>
                <a:lnTo>
                  <a:pt x="2382" y="3131"/>
                </a:lnTo>
                <a:cubicBezTo>
                  <a:pt x="2252" y="2935"/>
                  <a:pt x="2083" y="2838"/>
                  <a:pt x="1875" y="2838"/>
                </a:cubicBezTo>
                <a:lnTo>
                  <a:pt x="625" y="2838"/>
                </a:lnTo>
                <a:cubicBezTo>
                  <a:pt x="442" y="2838"/>
                  <a:pt x="292" y="2770"/>
                  <a:pt x="176" y="2635"/>
                </a:cubicBezTo>
                <a:cubicBezTo>
                  <a:pt x="58" y="2499"/>
                  <a:pt x="0" y="2327"/>
                  <a:pt x="0" y="2117"/>
                </a:cubicBezTo>
                <a:cubicBezTo>
                  <a:pt x="0" y="1907"/>
                  <a:pt x="58" y="1734"/>
                  <a:pt x="176" y="1599"/>
                </a:cubicBezTo>
                <a:cubicBezTo>
                  <a:pt x="292" y="1463"/>
                  <a:pt x="442" y="1396"/>
                  <a:pt x="625" y="1396"/>
                </a:cubicBezTo>
                <a:lnTo>
                  <a:pt x="1875" y="1396"/>
                </a:lnTo>
                <a:cubicBezTo>
                  <a:pt x="2486" y="1411"/>
                  <a:pt x="2987" y="1696"/>
                  <a:pt x="3378" y="2252"/>
                </a:cubicBezTo>
                <a:lnTo>
                  <a:pt x="6366" y="6869"/>
                </a:lnTo>
                <a:cubicBezTo>
                  <a:pt x="6496" y="7064"/>
                  <a:pt x="6665" y="7162"/>
                  <a:pt x="6874" y="7162"/>
                </a:cubicBezTo>
                <a:lnTo>
                  <a:pt x="7499" y="7162"/>
                </a:lnTo>
                <a:lnTo>
                  <a:pt x="7499" y="6441"/>
                </a:lnTo>
                <a:cubicBezTo>
                  <a:pt x="7511" y="6125"/>
                  <a:pt x="7641" y="5900"/>
                  <a:pt x="7889" y="5766"/>
                </a:cubicBezTo>
                <a:cubicBezTo>
                  <a:pt x="8136" y="5660"/>
                  <a:pt x="8364" y="5713"/>
                  <a:pt x="8573" y="5923"/>
                </a:cubicBezTo>
                <a:lnTo>
                  <a:pt x="9822" y="7365"/>
                </a:lnTo>
                <a:cubicBezTo>
                  <a:pt x="9939" y="7515"/>
                  <a:pt x="9998" y="7687"/>
                  <a:pt x="9998" y="7883"/>
                </a:cubicBezTo>
                <a:cubicBezTo>
                  <a:pt x="9998" y="8078"/>
                  <a:pt x="9939" y="8251"/>
                  <a:pt x="9822" y="8401"/>
                </a:cubicBezTo>
              </a:path>
            </a:pathLst>
          </a:custGeom>
          <a:solidFill>
            <a:srgbClr val="C00000"/>
          </a:solidFill>
          <a:ln>
            <a:headEnd type="none"/>
            <a:tailEnd type="none"/>
          </a:ln>
        </p:spPr>
      </p:sp>
      <p:sp>
        <p:nvSpPr>
          <p:cNvPr id="11" name="TextBox 11"/>
          <p:cNvSpPr txBox="1"/>
          <p:nvPr>
            <p:custDataLst>
              <p:tags r:id="rId5"/>
            </p:custDataLst>
          </p:nvPr>
        </p:nvSpPr>
        <p:spPr>
          <a:xfrm>
            <a:off x="1037966"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业务灵活性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12" name="TextBox 12"/>
          <p:cNvSpPr txBox="1"/>
          <p:nvPr>
            <p:custDataLst>
              <p:tags r:id="rId6"/>
            </p:custDataLst>
          </p:nvPr>
        </p:nvSpPr>
        <p:spPr>
          <a:xfrm>
            <a:off x="912871" y="4298305"/>
            <a:ext cx="3126543" cy="747712"/>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新增披萨类型或配料仅需更新本体文件</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与映射规则</a:t>
            </a:r>
            <a:r>
              <a:rPr lang="zh-CN"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Camunda流程图零修改，知识变更与流程演进完全解耦。</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AutoShape 13"/>
          <p:cNvSpPr/>
          <p:nvPr>
            <p:custDataLst>
              <p:tags r:id="rId7"/>
            </p:custDataLst>
          </p:nvPr>
        </p:nvSpPr>
        <p:spPr>
          <a:xfrm>
            <a:off x="4393052"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14" name="AutoShape 14"/>
          <p:cNvSpPr/>
          <p:nvPr>
            <p:custDataLst>
              <p:tags r:id="rId8"/>
            </p:custDataLst>
          </p:nvPr>
        </p:nvSpPr>
        <p:spPr>
          <a:xfrm>
            <a:off x="4393052" y="2205335"/>
            <a:ext cx="3402700" cy="9525"/>
          </a:xfrm>
          <a:prstGeom prst="line">
            <a:avLst/>
          </a:prstGeom>
          <a:ln w="28575">
            <a:solidFill>
              <a:srgbClr val="C00000">
                <a:alpha val="100000"/>
              </a:srgbClr>
            </a:solidFill>
            <a:prstDash val="solid"/>
            <a:headEnd type="none"/>
            <a:tailEnd type="none"/>
          </a:ln>
        </p:spPr>
      </p:sp>
      <p:sp>
        <p:nvSpPr>
          <p:cNvPr id="15" name="AutoShape 15"/>
          <p:cNvSpPr/>
          <p:nvPr>
            <p:custDataLst>
              <p:tags r:id="rId9"/>
            </p:custDataLst>
          </p:nvPr>
        </p:nvSpPr>
        <p:spPr>
          <a:xfrm>
            <a:off x="5994754" y="2759065"/>
            <a:ext cx="380905" cy="381000"/>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rgbClr val="C00000"/>
          </a:solidFill>
          <a:ln>
            <a:headEnd type="none"/>
            <a:tailEnd type="none"/>
          </a:ln>
        </p:spPr>
      </p:sp>
      <p:sp>
        <p:nvSpPr>
          <p:cNvPr id="16" name="TextBox 16"/>
          <p:cNvSpPr txBox="1"/>
          <p:nvPr>
            <p:custDataLst>
              <p:tags r:id="rId10"/>
            </p:custDataLst>
          </p:nvPr>
        </p:nvSpPr>
        <p:spPr>
          <a:xfrm>
            <a:off x="4669208"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数据一致性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17" name="TextBox 17"/>
          <p:cNvSpPr txBox="1"/>
          <p:nvPr>
            <p:custDataLst>
              <p:tags r:id="rId11"/>
            </p:custDataLst>
          </p:nvPr>
        </p:nvSpPr>
        <p:spPr>
          <a:xfrm>
            <a:off x="4544113" y="4298305"/>
            <a:ext cx="3126543" cy="1031081"/>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本体作为统一语义契约，所有</a:t>
            </a:r>
            <a:endParaRPr 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ServiceTask通过同一SPARQL接口访问数据，消除多源异构导致的数据歧义与同步延迟。</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8"/>
          <p:cNvSpPr/>
          <p:nvPr>
            <p:custDataLst>
              <p:tags r:id="rId12"/>
            </p:custDataLst>
          </p:nvPr>
        </p:nvSpPr>
        <p:spPr>
          <a:xfrm>
            <a:off x="8024294"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19" name="AutoShape 19"/>
          <p:cNvSpPr/>
          <p:nvPr>
            <p:custDataLst>
              <p:tags r:id="rId13"/>
            </p:custDataLst>
          </p:nvPr>
        </p:nvSpPr>
        <p:spPr>
          <a:xfrm>
            <a:off x="8024294" y="2205335"/>
            <a:ext cx="3402700" cy="9525"/>
          </a:xfrm>
          <a:prstGeom prst="line">
            <a:avLst/>
          </a:prstGeom>
          <a:ln w="28575">
            <a:solidFill>
              <a:srgbClr val="C00000">
                <a:alpha val="100000"/>
              </a:srgbClr>
            </a:solidFill>
            <a:prstDash val="solid"/>
            <a:headEnd type="none"/>
            <a:tailEnd type="none"/>
          </a:ln>
        </p:spPr>
      </p:sp>
      <p:sp>
        <p:nvSpPr>
          <p:cNvPr id="20" name="AutoShape 20"/>
          <p:cNvSpPr/>
          <p:nvPr>
            <p:custDataLst>
              <p:tags r:id="rId14"/>
            </p:custDataLst>
          </p:nvPr>
        </p:nvSpPr>
        <p:spPr>
          <a:xfrm>
            <a:off x="9625997" y="2759065"/>
            <a:ext cx="380905" cy="381000"/>
          </a:xfrm>
          <a:custGeom>
            <a:avLst/>
            <a:gdLst/>
            <a:ahLst/>
            <a:cxnLst/>
            <a:rect l="l" t="t" r="r" b="b"/>
            <a:pathLst>
              <a:path w="9998" h="10000">
                <a:moveTo>
                  <a:pt x="4550" y="0"/>
                </a:moveTo>
                <a:cubicBezTo>
                  <a:pt x="4849" y="-132"/>
                  <a:pt x="5155" y="-132"/>
                  <a:pt x="5468" y="0"/>
                </a:cubicBezTo>
                <a:lnTo>
                  <a:pt x="9725" y="2012"/>
                </a:lnTo>
                <a:cubicBezTo>
                  <a:pt x="9893" y="2104"/>
                  <a:pt x="9984" y="2250"/>
                  <a:pt x="9998" y="2450"/>
                </a:cubicBezTo>
                <a:cubicBezTo>
                  <a:pt x="9984" y="2649"/>
                  <a:pt x="9893" y="2795"/>
                  <a:pt x="9725" y="2888"/>
                </a:cubicBezTo>
                <a:lnTo>
                  <a:pt x="5448" y="4900"/>
                </a:lnTo>
                <a:cubicBezTo>
                  <a:pt x="5148" y="5033"/>
                  <a:pt x="4842" y="5033"/>
                  <a:pt x="4530" y="4900"/>
                </a:cubicBezTo>
                <a:lnTo>
                  <a:pt x="273" y="2888"/>
                </a:lnTo>
                <a:cubicBezTo>
                  <a:pt x="104" y="2795"/>
                  <a:pt x="13" y="2649"/>
                  <a:pt x="0" y="2450"/>
                </a:cubicBezTo>
                <a:cubicBezTo>
                  <a:pt x="13" y="2250"/>
                  <a:pt x="104" y="2104"/>
                  <a:pt x="273" y="2012"/>
                </a:cubicBezTo>
                <a:lnTo>
                  <a:pt x="4550" y="0"/>
                </a:lnTo>
                <a:moveTo>
                  <a:pt x="8690" y="4084"/>
                </a:moveTo>
                <a:lnTo>
                  <a:pt x="9725" y="4562"/>
                </a:lnTo>
                <a:lnTo>
                  <a:pt x="8690" y="4084"/>
                </a:lnTo>
                <a:lnTo>
                  <a:pt x="9725" y="4562"/>
                </a:lnTo>
                <a:cubicBezTo>
                  <a:pt x="9893" y="4654"/>
                  <a:pt x="9984" y="4800"/>
                  <a:pt x="9998" y="5000"/>
                </a:cubicBezTo>
                <a:cubicBezTo>
                  <a:pt x="9984" y="5199"/>
                  <a:pt x="9893" y="5345"/>
                  <a:pt x="9725" y="5438"/>
                </a:cubicBezTo>
                <a:lnTo>
                  <a:pt x="5448" y="7450"/>
                </a:lnTo>
                <a:cubicBezTo>
                  <a:pt x="5148" y="7582"/>
                  <a:pt x="4842" y="7582"/>
                  <a:pt x="4530" y="7450"/>
                </a:cubicBezTo>
                <a:lnTo>
                  <a:pt x="273" y="5438"/>
                </a:lnTo>
                <a:cubicBezTo>
                  <a:pt x="104" y="5345"/>
                  <a:pt x="13" y="5199"/>
                  <a:pt x="0" y="5000"/>
                </a:cubicBezTo>
                <a:cubicBezTo>
                  <a:pt x="13" y="4800"/>
                  <a:pt x="104" y="4654"/>
                  <a:pt x="273" y="4562"/>
                </a:cubicBezTo>
                <a:lnTo>
                  <a:pt x="1308" y="4084"/>
                </a:lnTo>
                <a:lnTo>
                  <a:pt x="4276" y="5478"/>
                </a:lnTo>
                <a:cubicBezTo>
                  <a:pt x="4758" y="5690"/>
                  <a:pt x="5240" y="5690"/>
                  <a:pt x="5722" y="5478"/>
                </a:cubicBezTo>
                <a:lnTo>
                  <a:pt x="8690" y="4084"/>
                </a:lnTo>
                <a:moveTo>
                  <a:pt x="5722" y="8028"/>
                </a:moveTo>
                <a:lnTo>
                  <a:pt x="8690" y="6633"/>
                </a:lnTo>
                <a:lnTo>
                  <a:pt x="5722" y="8028"/>
                </a:lnTo>
                <a:lnTo>
                  <a:pt x="8690" y="6633"/>
                </a:lnTo>
                <a:lnTo>
                  <a:pt x="9725" y="7112"/>
                </a:lnTo>
                <a:cubicBezTo>
                  <a:pt x="9893" y="7204"/>
                  <a:pt x="9984" y="7350"/>
                  <a:pt x="9998" y="7550"/>
                </a:cubicBezTo>
                <a:cubicBezTo>
                  <a:pt x="9984" y="7749"/>
                  <a:pt x="9893" y="7895"/>
                  <a:pt x="9725" y="7988"/>
                </a:cubicBezTo>
                <a:lnTo>
                  <a:pt x="5448" y="10000"/>
                </a:lnTo>
                <a:cubicBezTo>
                  <a:pt x="5148" y="10132"/>
                  <a:pt x="4842" y="10132"/>
                  <a:pt x="4530" y="10000"/>
                </a:cubicBezTo>
                <a:lnTo>
                  <a:pt x="273" y="7988"/>
                </a:lnTo>
                <a:cubicBezTo>
                  <a:pt x="104" y="7895"/>
                  <a:pt x="13" y="7749"/>
                  <a:pt x="0" y="7550"/>
                </a:cubicBezTo>
                <a:cubicBezTo>
                  <a:pt x="13" y="7350"/>
                  <a:pt x="104" y="7204"/>
                  <a:pt x="273" y="7112"/>
                </a:cubicBezTo>
                <a:lnTo>
                  <a:pt x="1308" y="6633"/>
                </a:lnTo>
                <a:lnTo>
                  <a:pt x="4276" y="8028"/>
                </a:lnTo>
                <a:cubicBezTo>
                  <a:pt x="4758" y="8240"/>
                  <a:pt x="5240" y="8240"/>
                  <a:pt x="5722" y="8028"/>
                </a:cubicBezTo>
              </a:path>
            </a:pathLst>
          </a:custGeom>
          <a:solidFill>
            <a:srgbClr val="C00000"/>
          </a:solidFill>
          <a:ln>
            <a:headEnd type="none"/>
            <a:tailEnd type="none"/>
          </a:ln>
        </p:spPr>
      </p:sp>
      <p:sp>
        <p:nvSpPr>
          <p:cNvPr id="21" name="TextBox 21"/>
          <p:cNvSpPr txBox="1"/>
          <p:nvPr>
            <p:custDataLst>
              <p:tags r:id="rId15"/>
            </p:custDataLst>
          </p:nvPr>
        </p:nvSpPr>
        <p:spPr>
          <a:xfrm>
            <a:off x="8300451"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系统可维护性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22" name="TextBox 22"/>
          <p:cNvSpPr txBox="1"/>
          <p:nvPr>
            <p:custDataLst>
              <p:tags r:id="rId16"/>
            </p:custDataLst>
          </p:nvPr>
        </p:nvSpPr>
        <p:spPr>
          <a:xfrm>
            <a:off x="8175356" y="4298305"/>
            <a:ext cx="3126543" cy="1031081"/>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四层边界清晰，数据库schema调整仅改</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mapping、流程优化不动本体、本体升级不碰流程定义，各层独立演进互不干扰。</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TextBox 7"/>
          <p:cNvSpPr txBox="1"/>
          <p:nvPr/>
        </p:nvSpPr>
        <p:spPr>
          <a:xfrm>
            <a:off x="981075" y="1416685"/>
            <a:ext cx="1044511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本体驱动架构将领域知识从流程代码中剥离，使业务规则变更收敛于本体层，流程编排专注于控制逻辑，数据访问统一于语义映射——</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三层解耦带来灵活性、一致性与可维护性的系统性提升。</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KSO_WM_DIAGRAM_VIRTUALLY_FRAME" val="{&quot;height&quot;:449.9,&quot;left&quot;:49.2,&quot;top&quot;:75.4,&quot;width&quot;:875.9}"/>
</p:tagLst>
</file>

<file path=ppt/tags/tag3.xml><?xml version="1.0" encoding="utf-8"?>
<p:tagLst xmlns:p="http://schemas.openxmlformats.org/presentationml/2006/main">
  <p:tag name="KSO_WM_DIAGRAM_VIRTUALLY_FRAME" val="{&quot;height&quot;:449.9,&quot;left&quot;:49.2,&quot;top&quot;:75.4,&quot;width&quot;:875.9}"/>
</p:tagLst>
</file>

<file path=ppt/tags/tag4.xml><?xml version="1.0" encoding="utf-8"?>
<p:tagLst xmlns:p="http://schemas.openxmlformats.org/presentationml/2006/main">
  <p:tag name="KSO_WM_DIAGRAM_VIRTUALLY_FRAME" val="{&quot;height&quot;:449.9,&quot;left&quot;:49.2,&quot;top&quot;:75.4,&quot;width&quot;:875.9}"/>
</p:tagLst>
</file>

<file path=ppt/tags/tag5.xml><?xml version="1.0" encoding="utf-8"?>
<p:tagLst xmlns:p="http://schemas.openxmlformats.org/presentationml/2006/main">
  <p:tag name="KSO_WM_DIAGRAM_VIRTUALLY_FRAME" val="{&quot;height&quot;:449.9,&quot;left&quot;:49.2,&quot;top&quot;:75.4,&quot;width&quot;:875.9}"/>
</p:tagLst>
</file>

<file path=ppt/tags/tag6.xml><?xml version="1.0" encoding="utf-8"?>
<p:tagLst xmlns:p="http://schemas.openxmlformats.org/presentationml/2006/main">
  <p:tag name="KSO_WM_DIAGRAM_VIRTUALLY_FRAME" val="{&quot;height&quot;:449.9,&quot;left&quot;:49.2,&quot;top&quot;:75.4,&quot;width&quot;:875.9}"/>
</p:tagLst>
</file>

<file path=ppt/tags/tag7.xml><?xml version="1.0" encoding="utf-8"?>
<p:tagLst xmlns:p="http://schemas.openxmlformats.org/presentationml/2006/main">
  <p:tag name="KSO_WM_DIAGRAM_VIRTUALLY_FRAME" val="{&quot;height&quot;:449.9,&quot;left&quot;:49.2,&quot;top&quot;:75.4,&quot;width&quot;:875.9}"/>
</p:tagLst>
</file>

<file path=ppt/tags/tag8.xml><?xml version="1.0" encoding="utf-8"?>
<p:tagLst xmlns:p="http://schemas.openxmlformats.org/presentationml/2006/main">
  <p:tag name="KSO_WM_DIAGRAM_VIRTUALLY_FRAME" val="{&quot;height&quot;:449.9,&quot;left&quot;:49.2,&quot;top&quot;:75.4,&quot;width&quot;:875.9}"/>
</p:tagLst>
</file>

<file path=ppt/tags/tag9.xml><?xml version="1.0" encoding="utf-8"?>
<p:tagLst xmlns:p="http://schemas.openxmlformats.org/presentationml/2006/main">
  <p:tag name="KSO_WM_DIAGRAM_VIRTUALLY_FRAME" val="{&quot;height&quot;:449.9,&quot;left&quot;:49.2,&quot;top&quot;:75.4,&quot;width&quot;:875.9}"/>
</p:tagLst>
</file>

<file path=ppt/tags/tag10.xml><?xml version="1.0" encoding="utf-8"?>
<p:tagLst xmlns:p="http://schemas.openxmlformats.org/presentationml/2006/main">
  <p:tag name="KSO_WM_DIAGRAM_VIRTUALLY_FRAME" val="{&quot;height&quot;:449.9,&quot;left&quot;:49.2,&quot;top&quot;:75.4,&quot;width&quot;:875.9}"/>
</p:tagLst>
</file>

<file path=ppt/tags/tag11.xml><?xml version="1.0" encoding="utf-8"?>
<p:tagLst xmlns:p="http://schemas.openxmlformats.org/presentationml/2006/main">
  <p:tag name="KSO_WM_DIAGRAM_VIRTUALLY_FRAME" val="{&quot;height&quot;:449.9,&quot;left&quot;:49.2,&quot;top&quot;:75.4,&quot;width&quot;:875.9}"/>
</p:tagLst>
</file>

<file path=ppt/tags/tag12.xml><?xml version="1.0" encoding="utf-8"?>
<p:tagLst xmlns:p="http://schemas.openxmlformats.org/presentationml/2006/main">
  <p:tag name="KSO_WM_DIAGRAM_VIRTUALLY_FRAME" val="{&quot;height&quot;:449.9,&quot;left&quot;:49.2,&quot;top&quot;:75.4,&quot;width&quot;:875.9}"/>
</p:tagLst>
</file>

<file path=ppt/tags/tag13.xml><?xml version="1.0" encoding="utf-8"?>
<p:tagLst xmlns:p="http://schemas.openxmlformats.org/presentationml/2006/main">
  <p:tag name="KSO_WM_DIAGRAM_VIRTUALLY_FRAME" val="{&quot;height&quot;:449.9,&quot;left&quot;:49.2,&quot;top&quot;:75.4,&quot;width&quot;:875.9}"/>
</p:tagLst>
</file>

<file path=ppt/tags/tag14.xml><?xml version="1.0" encoding="utf-8"?>
<p:tagLst xmlns:p="http://schemas.openxmlformats.org/presentationml/2006/main">
  <p:tag name="KSO_WM_DIAGRAM_VIRTUALLY_FRAME" val="{&quot;height&quot;:449.9,&quot;left&quot;:49.2,&quot;top&quot;:75.4,&quot;width&quot;:875.9}"/>
</p:tagLst>
</file>

<file path=ppt/tags/tag15.xml><?xml version="1.0" encoding="utf-8"?>
<p:tagLst xmlns:p="http://schemas.openxmlformats.org/presentationml/2006/main">
  <p:tag name="KSO_WM_DIAGRAM_VIRTUALLY_FRAME" val="{&quot;height&quot;:449.9,&quot;left&quot;:49.2,&quot;top&quot;:75.4,&quot;width&quot;:875.9}"/>
</p:tagLst>
</file>

<file path=ppt/tags/tag16.xml><?xml version="1.0" encoding="utf-8"?>
<p:tagLst xmlns:p="http://schemas.openxmlformats.org/presentationml/2006/main">
  <p:tag name="KSO_WM_DIAGRAM_VIRTUALLY_FRAME" val="{&quot;height&quot;:449.9,&quot;left&quot;:49.2,&quot;top&quot;:75.4,&quot;width&quot;:875.9}"/>
</p:tagLst>
</file>

<file path=ppt/tags/tag17.xml><?xml version="1.0" encoding="utf-8"?>
<p:tagLst xmlns:p="http://schemas.openxmlformats.org/presentationml/2006/main">
  <p:tag name="KSO_WM_DIAGRAM_VIRTUALLY_FRAME" val="{&quot;height&quot;:449.9,&quot;left&quot;:49.2,&quot;top&quot;:75.4,&quot;width&quot;:875.9}"/>
</p:tagLst>
</file>

<file path=ppt/tags/tag18.xml><?xml version="1.0" encoding="utf-8"?>
<p:tagLst xmlns:p="http://schemas.openxmlformats.org/presentationml/2006/main">
  <p:tag name="KSO_WM_DIAGRAM_VIRTUALLY_FRAME" val="{&quot;height&quot;:449.9,&quot;left&quot;:49.2,&quot;top&quot;:75.4,&quot;width&quot;:875.9}"/>
</p:tagLst>
</file>

<file path=ppt/tags/tag19.xml><?xml version="1.0" encoding="utf-8"?>
<p:tagLst xmlns:p="http://schemas.openxmlformats.org/presentationml/2006/main">
  <p:tag name="KSO_WM_DIAGRAM_VIRTUALLY_FRAME" val="{&quot;height&quot;:449.9,&quot;left&quot;:49.2,&quot;top&quot;:75.4,&quot;width&quot;:875.9}"/>
</p:tagLst>
</file>

<file path=ppt/tags/tag20.xml><?xml version="1.0" encoding="utf-8"?>
<p:tagLst xmlns:p="http://schemas.openxmlformats.org/presentationml/2006/main">
  <p:tag name="KSO_WM_DIAGRAM_VIRTUALLY_FRAME" val="{&quot;height&quot;:449.9,&quot;left&quot;:49.2,&quot;top&quot;:75.4,&quot;width&quot;:875.9}"/>
</p:tagLst>
</file>

<file path=ppt/tags/tag21.xml><?xml version="1.0" encoding="utf-8"?>
<p:tagLst xmlns:p="http://schemas.openxmlformats.org/presentationml/2006/main">
  <p:tag name="KSO_WM_DIAGRAM_VIRTUALLY_FRAME" val="{&quot;height&quot;:449.9,&quot;left&quot;:49.2,&quot;top&quot;:75.4,&quot;width&quot;:875.9}"/>
</p:tagLst>
</file>

<file path=ppt/tags/tag22.xml><?xml version="1.0" encoding="utf-8"?>
<p:tagLst xmlns:p="http://schemas.openxmlformats.org/presentationml/2006/main">
  <p:tag name="KSO_WM_DIAGRAM_VIRTUALLY_FRAME" val="{&quot;height&quot;:433.6,&quot;left&quot;:59.985039370078745,&quot;top&quot;:70.39999999999998,&quot;width&quot;:854.6649606299212}"/>
</p:tagLst>
</file>

<file path=ppt/tags/tag23.xml><?xml version="1.0" encoding="utf-8"?>
<p:tagLst xmlns:p="http://schemas.openxmlformats.org/presentationml/2006/main">
  <p:tag name="KSO_WM_DIAGRAM_VIRTUALLY_FRAME" val="{&quot;height&quot;:433.6,&quot;left&quot;:59.985039370078745,&quot;top&quot;:70.39999999999998,&quot;width&quot;:854.6649606299212}"/>
</p:tagLst>
</file>

<file path=ppt/tags/tag24.xml><?xml version="1.0" encoding="utf-8"?>
<p:tagLst xmlns:p="http://schemas.openxmlformats.org/presentationml/2006/main">
  <p:tag name="KSO_WM_DIAGRAM_VIRTUALLY_FRAME" val="{&quot;height&quot;:433.6,&quot;left&quot;:59.985039370078745,&quot;top&quot;:70.39999999999998,&quot;width&quot;:854.6649606299212}"/>
</p:tagLst>
</file>

<file path=ppt/tags/tag25.xml><?xml version="1.0" encoding="utf-8"?>
<p:tagLst xmlns:p="http://schemas.openxmlformats.org/presentationml/2006/main">
  <p:tag name="KSO_WM_DIAGRAM_VIRTUALLY_FRAME" val="{&quot;height&quot;:433.6,&quot;left&quot;:59.985039370078745,&quot;top&quot;:70.39999999999998,&quot;width&quot;:854.6649606299212}"/>
</p:tagLst>
</file>

<file path=ppt/tags/tag26.xml><?xml version="1.0" encoding="utf-8"?>
<p:tagLst xmlns:p="http://schemas.openxmlformats.org/presentationml/2006/main">
  <p:tag name="KSO_WM_DIAGRAM_VIRTUALLY_FRAME" val="{&quot;height&quot;:433.6,&quot;left&quot;:59.985039370078745,&quot;top&quot;:70.39999999999998,&quot;width&quot;:854.6649606299212}"/>
</p:tagLst>
</file>

<file path=ppt/tags/tag27.xml><?xml version="1.0" encoding="utf-8"?>
<p:tagLst xmlns:p="http://schemas.openxmlformats.org/presentationml/2006/main">
  <p:tag name="KSO_WM_DIAGRAM_VIRTUALLY_FRAME" val="{&quot;height&quot;:433.6,&quot;left&quot;:59.985039370078745,&quot;top&quot;:70.39999999999998,&quot;width&quot;:854.6649606299212}"/>
</p:tagLst>
</file>

<file path=ppt/tags/tag28.xml><?xml version="1.0" encoding="utf-8"?>
<p:tagLst xmlns:p="http://schemas.openxmlformats.org/presentationml/2006/main">
  <p:tag name="KSO_WM_DIAGRAM_VIRTUALLY_FRAME" val="{&quot;height&quot;:433.6,&quot;left&quot;:59.985039370078745,&quot;top&quot;:70.39999999999998,&quot;width&quot;:854.6649606299212}"/>
</p:tagLst>
</file>

<file path=ppt/tags/tag29.xml><?xml version="1.0" encoding="utf-8"?>
<p:tagLst xmlns:p="http://schemas.openxmlformats.org/presentationml/2006/main">
  <p:tag name="KSO_WM_DIAGRAM_VIRTUALLY_FRAME" val="{&quot;height&quot;:433.6,&quot;left&quot;:59.985039370078745,&quot;top&quot;:70.39999999999998,&quot;width&quot;:854.6649606299212}"/>
</p:tagLst>
</file>

<file path=ppt/tags/tag30.xml><?xml version="1.0" encoding="utf-8"?>
<p:tagLst xmlns:p="http://schemas.openxmlformats.org/presentationml/2006/main">
  <p:tag name="KSO_WM_DIAGRAM_VIRTUALLY_FRAME" val="{&quot;height&quot;:433.6,&quot;left&quot;:59.985039370078745,&quot;top&quot;:70.39999999999998,&quot;width&quot;:854.6649606299212}"/>
</p:tagLst>
</file>

<file path=ppt/tags/tag31.xml><?xml version="1.0" encoding="utf-8"?>
<p:tagLst xmlns:p="http://schemas.openxmlformats.org/presentationml/2006/main">
  <p:tag name="KSO_WM_DIAGRAM_VIRTUALLY_FRAME" val="{&quot;height&quot;:433.6,&quot;left&quot;:59.985039370078745,&quot;top&quot;:70.39999999999998,&quot;width&quot;:854.6649606299212}"/>
</p:tagLst>
</file>

<file path=ppt/tags/tag32.xml><?xml version="1.0" encoding="utf-8"?>
<p:tagLst xmlns:p="http://schemas.openxmlformats.org/presentationml/2006/main">
  <p:tag name="KSO_WM_DIAGRAM_VIRTUALLY_FRAME" val="{&quot;height&quot;:433.6,&quot;left&quot;:59.985039370078745,&quot;top&quot;:70.39999999999998,&quot;width&quot;:854.6649606299212}"/>
</p:tagLst>
</file>

<file path=ppt/tags/tag33.xml><?xml version="1.0" encoding="utf-8"?>
<p:tagLst xmlns:p="http://schemas.openxmlformats.org/presentationml/2006/main">
  <p:tag name="KSO_WM_DIAGRAM_VIRTUALLY_FRAME" val="{&quot;height&quot;:433.6,&quot;left&quot;:59.985039370078745,&quot;top&quot;:70.39999999999998,&quot;width&quot;:854.6649606299212}"/>
</p:tagLst>
</file>

<file path=ppt/tags/tag34.xml><?xml version="1.0" encoding="utf-8"?>
<p:tagLst xmlns:p="http://schemas.openxmlformats.org/presentationml/2006/main">
  <p:tag name="KSO_WM_DIAGRAM_VIRTUALLY_FRAME" val="{&quot;height&quot;:433.6,&quot;left&quot;:59.985039370078745,&quot;top&quot;:70.39999999999998,&quot;width&quot;:854.6649606299212}"/>
</p:tagLst>
</file>

<file path=ppt/tags/tag35.xml><?xml version="1.0" encoding="utf-8"?>
<p:tagLst xmlns:p="http://schemas.openxmlformats.org/presentationml/2006/main">
  <p:tag name="KSO_WM_DIAGRAM_VIRTUALLY_FRAME" val="{&quot;height&quot;:433.6,&quot;left&quot;:59.985039370078745,&quot;top&quot;:70.39999999999998,&quot;width&quot;:854.6649606299212}"/>
</p:tagLst>
</file>

<file path=ppt/tags/tag36.xml><?xml version="1.0" encoding="utf-8"?>
<p:tagLst xmlns:p="http://schemas.openxmlformats.org/presentationml/2006/main">
  <p:tag name="KSO_WM_DIAGRAM_VIRTUALLY_FRAME" val="{&quot;height&quot;:433.6,&quot;left&quot;:59.985039370078745,&quot;top&quot;:70.39999999999998,&quot;width&quot;:854.6649606299212}"/>
</p:tagLst>
</file>

<file path=ppt/tags/tag37.xml><?xml version="1.0" encoding="utf-8"?>
<p:tagLst xmlns:p="http://schemas.openxmlformats.org/presentationml/2006/main">
  <p:tag name="KSO_WM_DIAGRAM_VIRTUALLY_FRAME" val="{&quot;height&quot;:433.6,&quot;left&quot;:59.985039370078745,&quot;top&quot;:70.39999999999998,&quot;width&quot;:854.6649606299212}"/>
</p:tagLst>
</file>

<file path=ppt/tags/tag38.xml><?xml version="1.0" encoding="utf-8"?>
<p:tagLst xmlns:p="http://schemas.openxmlformats.org/presentationml/2006/main">
  <p:tag name="KSO_WM_DIAGRAM_VIRTUALLY_FRAME" val="{&quot;height&quot;:433.6,&quot;left&quot;:59.985039370078745,&quot;top&quot;:70.39999999999998,&quot;width&quot;:854.6649606299212}"/>
</p:tagLst>
</file>

<file path=ppt/tags/tag39.xml><?xml version="1.0" encoding="utf-8"?>
<p:tagLst xmlns:p="http://schemas.openxmlformats.org/presentationml/2006/main">
  <p:tag name="KSO_WM_DIAGRAM_VIRTUALLY_FRAME" val="{&quot;height&quot;:433.6,&quot;left&quot;:59.985039370078745,&quot;top&quot;:70.39999999999998,&quot;width&quot;:854.6649606299212}"/>
</p:tagLst>
</file>

<file path=ppt/tags/tag40.xml><?xml version="1.0" encoding="utf-8"?>
<p:tagLst xmlns:p="http://schemas.openxmlformats.org/presentationml/2006/main">
  <p:tag name="KSO_WM_DIAGRAM_VIRTUALLY_FRAME" val="{&quot;height&quot;:433.6,&quot;left&quot;:59.985039370078745,&quot;top&quot;:70.39999999999998,&quot;width&quot;:854.6649606299212}"/>
</p:tagLst>
</file>

<file path=ppt/tags/tag41.xml><?xml version="1.0" encoding="utf-8"?>
<p:tagLst xmlns:p="http://schemas.openxmlformats.org/presentationml/2006/main">
  <p:tag name="KSO_WM_DIAGRAM_VIRTUALLY_FRAME" val="{&quot;height&quot;:433.6,&quot;left&quot;:59.985039370078745,&quot;top&quot;:70.39999999999998,&quot;width&quot;:854.6649606299212}"/>
</p:tagLst>
</file>

<file path=ppt/tags/tag42.xml><?xml version="1.0" encoding="utf-8"?>
<p:tagLst xmlns:p="http://schemas.openxmlformats.org/presentationml/2006/main">
  <p:tag name="KSO_WM_DIAGRAM_VIRTUALLY_FRAME" val="{&quot;height&quot;:433.6,&quot;left&quot;:59.985039370078745,&quot;top&quot;:70.39999999999998,&quot;width&quot;:854.6649606299212}"/>
</p:tagLst>
</file>

<file path=ppt/tags/tag43.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4.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5.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7.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8.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9.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0.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1.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2.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3.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4.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5.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7.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1826</Words>
  <Application>WPS 演示</Application>
  <PresentationFormat>自定义</PresentationFormat>
  <Paragraphs>110</Paragraphs>
  <Slides>5</Slides>
  <Notes>4</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0</vt:i4>
      </vt:variant>
      <vt:variant>
        <vt:lpstr>幻灯片标题</vt:lpstr>
      </vt:variant>
      <vt:variant>
        <vt:i4>5</vt:i4>
      </vt:variant>
    </vt:vector>
  </HeadingPairs>
  <TitlesOfParts>
    <vt:vector size="28" baseType="lpstr">
      <vt:lpstr>Arial</vt:lpstr>
      <vt:lpstr>宋体</vt:lpstr>
      <vt:lpstr>Wingdings</vt:lpstr>
      <vt:lpstr>MS PGothic</vt:lpstr>
      <vt:lpstr>Arial Unicode MS</vt:lpstr>
      <vt:lpstr>黑体</vt:lpstr>
      <vt:lpstr>FrutigerNext LT Medium</vt:lpstr>
      <vt:lpstr>华文细黑</vt:lpstr>
      <vt:lpstr>FrutigerNext LT Light</vt:lpstr>
      <vt:lpstr>微软雅黑</vt:lpstr>
      <vt:lpstr>Arial</vt:lpstr>
      <vt:lpstr>Alibaba PuHuiTi 3.0 55 Regular</vt:lpstr>
      <vt:lpstr>Segoe Print</vt:lpstr>
      <vt:lpstr>Poppins</vt:lpstr>
      <vt:lpstr>Wingdings</vt:lpstr>
      <vt:lpstr>Inter</vt:lpstr>
      <vt:lpstr>NumberOnly</vt:lpstr>
      <vt:lpstr>FZYaYiHei GB18030L2 R</vt:lpstr>
      <vt:lpstr>Arial Unicode MS</vt:lpstr>
      <vt:lpstr>Calibri</vt:lpstr>
      <vt:lpstr>Blank</vt:lpstr>
      <vt:lpstr>1_内容Copytext </vt:lpstr>
      <vt:lpstr>Thank you</vt:lpstr>
      <vt:lpstr>本体驱动的智能业务流程架构</vt:lpstr>
      <vt:lpstr>四层技术架构总览(Four-Layer Technical Architecture Overview)</vt:lpstr>
      <vt:lpstr>本体-数据库交互机制(Ontology-Database Interaction Mechanism)</vt:lpstr>
      <vt:lpstr>三种使用场景与精度梯度（Precision Gradient &amp; Application Scenarios）</vt:lpstr>
      <vt:lpstr>架构核心价值</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lidegang1@huawei.com</dc:creator>
  <cp:lastModifiedBy>鹤琳</cp:lastModifiedBy>
  <cp:revision>1124</cp:revision>
  <dcterms:created xsi:type="dcterms:W3CDTF">2020-10-26T08:52:00Z</dcterms:created>
  <dcterms:modified xsi:type="dcterms:W3CDTF">2026-07-27T02:35:47Z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(3)Uj4THT6SZ10V6rDV5l8Y0zcimIzpTikqgJ1doqNWfyXgy8A67N8PS4L9iq5j7RLYyWslMFuR
iYo17vA+K2j8LDxjxL9pJ2AqZCYIZAk/waLpz86fXYswp6oykAJb0LxNEbmQ9YRyv/UjzsG3
jOTZRjilIKGogocuvcwBHx3qs57iP7a9Xo6Ns0/6kzIGLsnSPwcvluIoqxFpvOmHn5BbnBnV
vEyBg0amWaIHUqtqCy</vt:lpwstr>
  </property>
  <property fmtid="{D5CDD505-2E9C-101B-9397-08002B2CF9AE}" pid="6" name="_2015_ms_pID_7253431">
    <vt:lpwstr>5hPRYPBipjmxW3z1T+H5DgWqvRCY6c6e9eKGX0JlVOT336coafsEwG
C8qPcynuS+hccJiF8sy0gtCqpKDS3ZPZynx3owuDv7S25sUHTEE4mA9qlev98c6HOiSY4408
AqxWd4L095nQ54lmh6MqO5SNv+8rlXg3WFDx8ubfmp6KOF93HG3gNJwK/mmGjtm5UDTqZYRk
/iPzQB6Mc/XqQGd0nAMJfeefhbXchoqWhRvN</vt:lpwstr>
  </property>
  <property fmtid="{D5CDD505-2E9C-101B-9397-08002B2CF9AE}" pid="7" name="_2015_ms_pID_7253432">
    <vt:lpwstr>U7NM0BQpI5XU9nFyIts6JLQd4Lem3EG8geW6
0IubTiieegoqWmSdnQ5JIafgyFvKWQBED+y7VWlf7NpDZSqIvYo=</vt:lpwstr>
  </property>
  <property fmtid="{D5CDD505-2E9C-101B-9397-08002B2CF9AE}" pid="8" name="ContentTypeId">
    <vt:lpwstr>0x010100198F2F4BE5E3C642AAC5942B84DD9DF7</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1531796962</vt:lpwstr>
  </property>
  <property fmtid="{D5CDD505-2E9C-101B-9397-08002B2CF9AE}" pid="13" name="KSOProductBuildVer">
    <vt:lpwstr>2052-12.1.0.26895</vt:lpwstr>
  </property>
  <property fmtid="{D5CDD505-2E9C-101B-9397-08002B2CF9AE}" pid="14" name="ICV">
    <vt:lpwstr>7B9DDEC283A24992BF6B48BDA3D0C866_12</vt:lpwstr>
  </property>
</Properties>
</file>